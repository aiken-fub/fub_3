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9"/>
  </p:notesMasterIdLst>
  <p:sldIdLst>
    <p:sldId id="418" r:id="rId2"/>
    <p:sldId id="296" r:id="rId3"/>
    <p:sldId id="1357" r:id="rId4"/>
    <p:sldId id="1361" r:id="rId5"/>
    <p:sldId id="1362" r:id="rId6"/>
    <p:sldId id="2147483610" r:id="rId7"/>
    <p:sldId id="2147483611" r:id="rId8"/>
    <p:sldId id="2147483609" r:id="rId9"/>
    <p:sldId id="1359" r:id="rId10"/>
    <p:sldId id="1364" r:id="rId11"/>
    <p:sldId id="2147483607" r:id="rId12"/>
    <p:sldId id="2147483606" r:id="rId13"/>
    <p:sldId id="1346" r:id="rId14"/>
    <p:sldId id="1347" r:id="rId15"/>
    <p:sldId id="2147483608" r:id="rId16"/>
    <p:sldId id="1348" r:id="rId17"/>
    <p:sldId id="1349"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5087AE6B-0E91-4DA1-892A-0C4DEEA58034}">
          <p14:sldIdLst>
            <p14:sldId id="418"/>
            <p14:sldId id="296"/>
            <p14:sldId id="1357"/>
            <p14:sldId id="1361"/>
            <p14:sldId id="1362"/>
            <p14:sldId id="2147483610"/>
            <p14:sldId id="2147483611"/>
            <p14:sldId id="2147483609"/>
            <p14:sldId id="1359"/>
            <p14:sldId id="1364"/>
            <p14:sldId id="2147483607"/>
            <p14:sldId id="2147483606"/>
          </p14:sldIdLst>
        </p14:section>
        <p14:section name="附件" id="{31E7AE48-5322-4B34-AF89-69157AD1D660}">
          <p14:sldIdLst>
            <p14:sldId id="1346"/>
            <p14:sldId id="1347"/>
            <p14:sldId id="2147483608"/>
            <p14:sldId id="1348"/>
            <p14:sldId id="134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B981"/>
    <a:srgbClr val="ECFDF5"/>
    <a:srgbClr val="DCEBFF"/>
    <a:srgbClr val="F59E0B"/>
    <a:srgbClr val="FFF9E9"/>
    <a:srgbClr val="B99DF9"/>
    <a:srgbClr val="8B5CF6"/>
    <a:srgbClr val="FFE19F"/>
    <a:srgbClr val="85B9FF"/>
    <a:srgbClr val="43EF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47B314-21C6-4165-AD3E-0DFD082B9F42}" v="590" dt="2026-08-12T03:38:43.254"/>
    <p1510:client id="{7687CDCC-4B49-4863-BE93-61AA228C3F05}" v="782" dt="2026-08-12T03:59:16.077"/>
    <p1510:client id="{BFE93EB3-3657-4B5C-95AC-4F6D3635156F}" v="1868" dt="2026-08-12T05:28:52.90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79" autoAdjust="0"/>
    <p:restoredTop sz="79971" autoAdjust="0"/>
  </p:normalViewPr>
  <p:slideViewPr>
    <p:cSldViewPr snapToGrid="0">
      <p:cViewPr>
        <p:scale>
          <a:sx n="95" d="100"/>
          <a:sy n="95" d="100"/>
        </p:scale>
        <p:origin x="1576" y="10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劉銘益" userId="5429a887-6728-486e-958d-4fa260629408" providerId="ADAL" clId="{16EB2953-8B5D-47E6-962F-F9F272EB761B}"/>
    <pc:docChg chg="modSld">
      <pc:chgData name="劉銘益" userId="5429a887-6728-486e-958d-4fa260629408" providerId="ADAL" clId="{16EB2953-8B5D-47E6-962F-F9F272EB761B}" dt="2026-08-12T05:28:52.903" v="4" actId="20577"/>
      <pc:docMkLst>
        <pc:docMk/>
      </pc:docMkLst>
      <pc:sldChg chg="modNotesTx">
        <pc:chgData name="劉銘益" userId="5429a887-6728-486e-958d-4fa260629408" providerId="ADAL" clId="{16EB2953-8B5D-47E6-962F-F9F272EB761B}" dt="2026-08-12T05:28:52.903" v="4" actId="20577"/>
        <pc:sldMkLst>
          <pc:docMk/>
          <pc:sldMk cId="1829064114" sldId="13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D258CB-3F91-41D1-A20E-CAAF443CF2BE}" type="datetimeFigureOut">
              <a:rPr lang="zh-TW" altLang="en-US" smtClean="0"/>
              <a:t>2026/8/12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3988EE-5EFB-417D-B26A-6C297859231B}" type="slidenum">
              <a:rPr lang="zh-TW" altLang="en-US" smtClean="0"/>
              <a:t>‹#›</a:t>
            </a:fld>
            <a:endParaRPr lang="zh-TW" altLang="en-US"/>
          </a:p>
        </p:txBody>
      </p:sp>
    </p:spTree>
    <p:extLst>
      <p:ext uri="{BB962C8B-B14F-4D97-AF65-F5344CB8AC3E}">
        <p14:creationId xmlns:p14="http://schemas.microsoft.com/office/powerpoint/2010/main" val="432011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a:t>副總及各位主管大家好，這場會議的目的主要是想討論</a:t>
            </a:r>
            <a:r>
              <a:rPr lang="en-US" altLang="zh-TW"/>
              <a:t>3</a:t>
            </a:r>
            <a:r>
              <a:rPr lang="zh-TW" altLang="en-US"/>
              <a:t>個議題</a:t>
            </a:r>
            <a:r>
              <a:rPr lang="en-US" altLang="zh-TW"/>
              <a:t>:</a:t>
            </a:r>
          </a:p>
          <a:p>
            <a:r>
              <a:rPr lang="en-US" altLang="zh-TW"/>
              <a:t>1.</a:t>
            </a:r>
            <a:r>
              <a:rPr lang="zh-TW" altLang="en-US"/>
              <a:t>之前副總有請科技科梳理現行知識檢索個案的檢索生成流程，主要是比較個案所用到的技術架構會有什麼不同之處</a:t>
            </a:r>
            <a:endParaRPr lang="en-US" altLang="zh-TW"/>
          </a:p>
          <a:p>
            <a:r>
              <a:rPr lang="en-US" altLang="zh-TW"/>
              <a:t>2.</a:t>
            </a:r>
            <a:r>
              <a:rPr lang="zh-TW" altLang="en-US"/>
              <a:t>是比較思邁跟</a:t>
            </a:r>
            <a:r>
              <a:rPr lang="en-US" altLang="zh-TW"/>
              <a:t>KM</a:t>
            </a:r>
            <a:r>
              <a:rPr lang="zh-TW" altLang="en-US"/>
              <a:t>關鍵差異是甚麼，並評估後續是否繼續</a:t>
            </a:r>
            <a:r>
              <a:rPr lang="en-US" altLang="zh-TW"/>
              <a:t>POC</a:t>
            </a:r>
          </a:p>
          <a:p>
            <a:r>
              <a:rPr lang="en-US" altLang="zh-TW"/>
              <a:t>3.</a:t>
            </a:r>
            <a:r>
              <a:rPr lang="zh-TW" altLang="en-US"/>
              <a:t>針對</a:t>
            </a:r>
            <a:r>
              <a:rPr lang="en-US" altLang="zh-TW"/>
              <a:t>8/28Pipeline</a:t>
            </a:r>
            <a:r>
              <a:rPr lang="zh-TW" altLang="en-US"/>
              <a:t>報告，我們預計以目前的專案進行分類，後續會針對格分類進行模組設計以及整個導入機制的說明</a:t>
            </a:r>
          </a:p>
        </p:txBody>
      </p:sp>
      <p:sp>
        <p:nvSpPr>
          <p:cNvPr id="4" name="投影片編號版面配置區 3"/>
          <p:cNvSpPr>
            <a:spLocks noGrp="1"/>
          </p:cNvSpPr>
          <p:nvPr>
            <p:ph type="sldNum" sz="quarter" idx="5"/>
          </p:nvPr>
        </p:nvSpPr>
        <p:spPr/>
        <p:txBody>
          <a:bodyPr/>
          <a:lstStyle/>
          <a:p>
            <a:fld id="{FE3988EE-5EFB-417D-B26A-6C297859231B}" type="slidenum">
              <a:rPr lang="zh-TW" altLang="en-US" smtClean="0"/>
              <a:t>1</a:t>
            </a:fld>
            <a:endParaRPr lang="zh-TW" altLang="en-US"/>
          </a:p>
        </p:txBody>
      </p:sp>
    </p:spTree>
    <p:extLst>
      <p:ext uri="{BB962C8B-B14F-4D97-AF65-F5344CB8AC3E}">
        <p14:creationId xmlns:p14="http://schemas.microsoft.com/office/powerpoint/2010/main" val="1894054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915E9-E744-E794-4D47-BF09E62CB0C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32952BB-B1BD-F340-32A7-FF7EE5443280}"/>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00A07D5E-B26E-816B-196D-76F43C2D16F8}"/>
              </a:ext>
            </a:extLst>
          </p:cNvPr>
          <p:cNvSpPr>
            <a:spLocks noGrp="1"/>
          </p:cNvSpPr>
          <p:nvPr>
            <p:ph type="body" idx="1"/>
          </p:nvPr>
        </p:nvSpPr>
        <p:spPr/>
        <p:txBody>
          <a:bodyPr/>
          <a:lstStyle/>
          <a:p>
            <a:r>
              <a:rPr lang="zh-TW" altLang="en-US" dirty="0"/>
              <a:t>「目前各專案因知識型態與業務情境不同，採用了不同方案；接下來要進一步確認，這些差異究竟需要多套平台，還是可以收斂成共用能力＋場景化策略。」</a:t>
            </a:r>
            <a:endParaRPr kumimoji="1" lang="zh-TW" altLang="en-US" dirty="0"/>
          </a:p>
        </p:txBody>
      </p:sp>
      <p:sp>
        <p:nvSpPr>
          <p:cNvPr id="4" name="投影片編號版面配置區 3">
            <a:extLst>
              <a:ext uri="{FF2B5EF4-FFF2-40B4-BE49-F238E27FC236}">
                <a16:creationId xmlns:a16="http://schemas.microsoft.com/office/drawing/2014/main" id="{58D7447B-5D8A-F44B-28B2-3353C64EEA5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519132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93B61-D8B5-5C6E-392A-C7E7A199C2C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830D15B-6C7C-B808-E5EC-D8C026D3C4A2}"/>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32284C30-5B52-F335-682F-01FC129B8FF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dirty="0"/>
              <a:t>支援依文件類型（</a:t>
            </a:r>
            <a:r>
              <a:rPr kumimoji="1" lang="en-US" altLang="zh-TW" dirty="0"/>
              <a:t>PDF</a:t>
            </a:r>
            <a:r>
              <a:rPr kumimoji="1" lang="zh-TW" altLang="en-US" dirty="0"/>
              <a:t>、</a:t>
            </a:r>
            <a:r>
              <a:rPr kumimoji="1" lang="en-US" altLang="zh-TW" dirty="0"/>
              <a:t>FAQ</a:t>
            </a:r>
            <a:r>
              <a:rPr kumimoji="1" lang="zh-TW" altLang="en-US" dirty="0"/>
              <a:t>、</a:t>
            </a:r>
            <a:r>
              <a:rPr kumimoji="1" lang="en-US" altLang="zh-TW" dirty="0"/>
              <a:t>SOP</a:t>
            </a:r>
            <a:r>
              <a:rPr kumimoji="1" lang="zh-TW" altLang="en-US" dirty="0"/>
              <a:t>、表格等）套用不同 </a:t>
            </a:r>
            <a:r>
              <a:rPr kumimoji="1" lang="en-US" altLang="zh-TW" dirty="0"/>
              <a:t>Chunk Type</a:t>
            </a:r>
            <a:r>
              <a:rPr kumimoji="1" lang="zh-TW" altLang="en-US" dirty="0"/>
              <a:t>，以預設策略為主。</a:t>
            </a:r>
            <a:endParaRPr kumimoji="1"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dirty="0"/>
              <a:t>KM2.0</a:t>
            </a:r>
            <a:r>
              <a:rPr kumimoji="1" lang="zh-TW" altLang="en-US" dirty="0"/>
              <a:t>意圖理解的部分做一個重新描述：</a:t>
            </a:r>
            <a:r>
              <a:rPr kumimoji="1" lang="en-US" altLang="zh-TW"/>
              <a:t>LLM</a:t>
            </a:r>
            <a:endParaRPr kumimoji="1" lang="zh-TW" altLang="en-US" dirty="0"/>
          </a:p>
        </p:txBody>
      </p:sp>
      <p:sp>
        <p:nvSpPr>
          <p:cNvPr id="4" name="投影片編號版面配置區 3">
            <a:extLst>
              <a:ext uri="{FF2B5EF4-FFF2-40B4-BE49-F238E27FC236}">
                <a16:creationId xmlns:a16="http://schemas.microsoft.com/office/drawing/2014/main" id="{BECFEBAA-2937-DCA3-42F0-EBE7BD1BF0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608252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6BAFC-0F9A-569A-37F6-1DA4E91043C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A641486-1093-35D4-95C4-5C4AB5684E68}"/>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1B46698-7536-8947-675F-30CA1F057F17}"/>
              </a:ext>
            </a:extLst>
          </p:cNvPr>
          <p:cNvSpPr>
            <a:spLocks noGrp="1"/>
          </p:cNvSpPr>
          <p:nvPr>
            <p:ph type="body" idx="1"/>
          </p:nvPr>
        </p:nvSpPr>
        <p:spPr/>
        <p:txBody>
          <a:bodyPr/>
          <a:lstStyle/>
          <a:p>
            <a:r>
              <a:rPr kumimoji="1" lang="zh-TW" altLang="en-US" dirty="0"/>
              <a:t>非舊購</a:t>
            </a:r>
          </a:p>
        </p:txBody>
      </p:sp>
      <p:sp>
        <p:nvSpPr>
          <p:cNvPr id="4" name="投影片編號版面配置區 3">
            <a:extLst>
              <a:ext uri="{FF2B5EF4-FFF2-40B4-BE49-F238E27FC236}">
                <a16:creationId xmlns:a16="http://schemas.microsoft.com/office/drawing/2014/main" id="{E578D716-0687-BBA4-6128-8E4F50729D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646836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FA4BC-4394-54A8-1EF9-ECC6466C698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C277D07-9F57-6116-1961-321271BB17C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2967A17A-0847-9312-822E-F20817213DF0}"/>
              </a:ext>
            </a:extLst>
          </p:cNvPr>
          <p:cNvSpPr>
            <a:spLocks noGrp="1"/>
          </p:cNvSpPr>
          <p:nvPr>
            <p:ph type="body" idx="1"/>
          </p:nvPr>
        </p:nvSpPr>
        <p:spPr/>
        <p:txBody>
          <a:bodyPr/>
          <a:lstStyle/>
          <a:p>
            <a:r>
              <a:rPr kumimoji="1" lang="zh-TW" altLang="en-US" dirty="0"/>
              <a:t>比較項目：</a:t>
            </a:r>
          </a:p>
        </p:txBody>
      </p:sp>
      <p:sp>
        <p:nvSpPr>
          <p:cNvPr id="4" name="投影片編號版面配置區 3">
            <a:extLst>
              <a:ext uri="{FF2B5EF4-FFF2-40B4-BE49-F238E27FC236}">
                <a16:creationId xmlns:a16="http://schemas.microsoft.com/office/drawing/2014/main" id="{C75A91FB-C69A-D7E0-2302-03FF1E4845D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967939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6E333-295A-6970-7E46-B3139530F2D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082B0D3-093E-612D-3C4E-2CB3CE41332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EB201015-2536-4D8E-A5F2-1B95D056D7D0}"/>
              </a:ext>
            </a:extLst>
          </p:cNvPr>
          <p:cNvSpPr>
            <a:spLocks noGrp="1"/>
          </p:cNvSpPr>
          <p:nvPr>
            <p:ph type="body" idx="1"/>
          </p:nvPr>
        </p:nvSpPr>
        <p:spPr/>
        <p:txBody>
          <a:bodyPr/>
          <a:lstStyle/>
          <a:p>
            <a:r>
              <a:rPr kumimoji="1" lang="zh-TW" altLang="en-US" dirty="0"/>
              <a:t>比較項目：</a:t>
            </a:r>
          </a:p>
        </p:txBody>
      </p:sp>
      <p:sp>
        <p:nvSpPr>
          <p:cNvPr id="4" name="投影片編號版面配置區 3">
            <a:extLst>
              <a:ext uri="{FF2B5EF4-FFF2-40B4-BE49-F238E27FC236}">
                <a16:creationId xmlns:a16="http://schemas.microsoft.com/office/drawing/2014/main" id="{D5538D0B-D1E3-D5C1-123E-289795385F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600430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7FFE8-DEC9-EE3F-7C5B-AC1FFAA9685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4947DAB-72CA-CEFD-08B9-36D77462115B}"/>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1896E9C-99BA-2732-12B0-557FE6F2DE9A}"/>
              </a:ext>
            </a:extLst>
          </p:cNvPr>
          <p:cNvSpPr>
            <a:spLocks noGrp="1"/>
          </p:cNvSpPr>
          <p:nvPr>
            <p:ph type="body" idx="1"/>
          </p:nvPr>
        </p:nvSpPr>
        <p:spPr/>
        <p:txBody>
          <a:bodyPr/>
          <a:lstStyle/>
          <a:p>
            <a:r>
              <a:rPr kumimoji="1" lang="zh-TW" altLang="en-US" dirty="0"/>
              <a:t>比較項目：</a:t>
            </a:r>
            <a:endParaRPr kumimoji="1" lang="en-US" altLang="zh-TW" dirty="0"/>
          </a:p>
          <a:p>
            <a:r>
              <a:rPr lang="zh-TW" altLang="en-US" dirty="0"/>
              <a:t>所以第四頁應該</a:t>
            </a:r>
            <a:r>
              <a:rPr lang="zh-TW" altLang="en-US" b="1" dirty="0"/>
              <a:t>回答他的疑問，但回答完立刻把問題提升一層</a:t>
            </a:r>
            <a:r>
              <a:rPr lang="zh-TW" altLang="en-US" dirty="0"/>
              <a:t>：</a:t>
            </a:r>
          </a:p>
          <a:p>
            <a:r>
              <a:rPr lang="zh-TW" altLang="en-US" b="1" dirty="0"/>
              <a:t>不是「</a:t>
            </a:r>
            <a:r>
              <a:rPr lang="en" altLang="zh-TW" b="1" dirty="0"/>
              <a:t>KM2.0 </a:t>
            </a:r>
            <a:r>
              <a:rPr lang="zh-TW" altLang="en-US" b="1" dirty="0"/>
              <a:t>技術好不好」→ 而是「不同業務場景需要什麼能力」。</a:t>
            </a:r>
            <a:endParaRPr lang="zh-TW" altLang="en-US" dirty="0"/>
          </a:p>
          <a:p>
            <a:r>
              <a:rPr lang="zh-TW" altLang="en-US" dirty="0"/>
              <a:t>然後第五頁正式開始做業務場景 </a:t>
            </a:r>
            <a:r>
              <a:rPr lang="en" altLang="zh-TW" dirty="0"/>
              <a:t>Cover Range</a:t>
            </a:r>
            <a:r>
              <a:rPr lang="zh-TW" altLang="en" dirty="0"/>
              <a:t>。</a:t>
            </a:r>
          </a:p>
          <a:p>
            <a:r>
              <a:rPr lang="zh-TW" altLang="en-US" dirty="0"/>
              <a:t>這樣我認為會非常符合你明天想達到的目的。</a:t>
            </a:r>
          </a:p>
          <a:p>
            <a:endParaRPr kumimoji="1" lang="zh-TW" altLang="en-US" dirty="0"/>
          </a:p>
        </p:txBody>
      </p:sp>
      <p:sp>
        <p:nvSpPr>
          <p:cNvPr id="4" name="投影片編號版面配置區 3">
            <a:extLst>
              <a:ext uri="{FF2B5EF4-FFF2-40B4-BE49-F238E27FC236}">
                <a16:creationId xmlns:a16="http://schemas.microsoft.com/office/drawing/2014/main" id="{A221C6E7-1DE6-1FAC-F3D9-5DB6A355A2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291203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E9509-09DB-F266-1279-C808CE9C26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50B90A3-EAA9-644D-5A82-1CAE32048052}"/>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BEAA5B65-5351-74D9-2BB9-9A988CDB762C}"/>
              </a:ext>
            </a:extLst>
          </p:cNvPr>
          <p:cNvSpPr>
            <a:spLocks noGrp="1"/>
          </p:cNvSpPr>
          <p:nvPr>
            <p:ph type="body" idx="1"/>
          </p:nvPr>
        </p:nvSpPr>
        <p:spPr/>
        <p:txBody>
          <a:bodyPr/>
          <a:lstStyle/>
          <a:p>
            <a:r>
              <a:rPr kumimoji="1" lang="zh-TW" altLang="en-US" dirty="0"/>
              <a:t>非舊購</a:t>
            </a:r>
          </a:p>
        </p:txBody>
      </p:sp>
      <p:sp>
        <p:nvSpPr>
          <p:cNvPr id="4" name="投影片編號版面配置區 3">
            <a:extLst>
              <a:ext uri="{FF2B5EF4-FFF2-40B4-BE49-F238E27FC236}">
                <a16:creationId xmlns:a16="http://schemas.microsoft.com/office/drawing/2014/main" id="{5678ADEE-5E18-C750-A40D-335B691B21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489561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1EB08-A528-EFB7-0373-72B0A12FE7D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6F3692-D093-0D5F-42FE-DA8D4376D9F7}"/>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B9DC9798-823F-7960-84CA-DB6D047B4F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a:t>pdf, ppt, pptx, doc, docx, xls, xlsx, html, htm, txt, json, md, jpg, jpeg, png, bmp, dib, webp, tif, tiff</a:t>
            </a:r>
            <a:endParaRPr lang="en-US" altLang="zh-TW" sz="1100">
              <a:solidFill>
                <a:srgbClr val="FF0000"/>
              </a:solidFill>
            </a:endParaRPr>
          </a:p>
          <a:p>
            <a:pPr marL="0" indent="0">
              <a:buNone/>
            </a:pPr>
            <a:endParaRPr lang="en-US" altLang="zh-TW"/>
          </a:p>
        </p:txBody>
      </p:sp>
      <p:sp>
        <p:nvSpPr>
          <p:cNvPr id="4" name="投影片編號版面配置區 3">
            <a:extLst>
              <a:ext uri="{FF2B5EF4-FFF2-40B4-BE49-F238E27FC236}">
                <a16:creationId xmlns:a16="http://schemas.microsoft.com/office/drawing/2014/main" id="{2005BF60-5507-A999-0A3E-BD7967D138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E9157E-5201-478D-84A3-8639E64A782C}"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616870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EA379-821F-C768-704C-6BBB1752F69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4FDBC94-985E-5B56-F892-4316AF32058C}"/>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5F722001-0E55-A1B2-0E97-1AC363E95E92}"/>
              </a:ext>
            </a:extLst>
          </p:cNvPr>
          <p:cNvSpPr>
            <a:spLocks noGrp="1"/>
          </p:cNvSpPr>
          <p:nvPr>
            <p:ph type="body" idx="1"/>
          </p:nvPr>
        </p:nvSpPr>
        <p:spPr/>
        <p:txBody>
          <a:bodyPr/>
          <a:lstStyle/>
          <a:p>
            <a:pPr marL="0" indent="0">
              <a:buNone/>
            </a:pPr>
            <a:r>
              <a:rPr lang="en-US" altLang="zh-TW"/>
              <a:t>1.</a:t>
            </a:r>
            <a:r>
              <a:rPr lang="zh-TW" altLang="en-US"/>
              <a:t>技術架構</a:t>
            </a:r>
            <a:endParaRPr lang="en-US" altLang="zh-TW"/>
          </a:p>
          <a:p>
            <a:pPr marL="0" indent="0">
              <a:buNone/>
            </a:pPr>
            <a:r>
              <a:rPr lang="en-US" altLang="zh-TW"/>
              <a:t>2.</a:t>
            </a:r>
            <a:r>
              <a:rPr lang="zh-TW" altLang="en-US"/>
              <a:t>需求</a:t>
            </a:r>
            <a:endParaRPr lang="en-US" altLang="zh-TW"/>
          </a:p>
          <a:p>
            <a:pPr marL="0" indent="0">
              <a:buNone/>
            </a:pPr>
            <a:r>
              <a:rPr lang="en-US" altLang="zh-TW"/>
              <a:t>3.</a:t>
            </a:r>
            <a:r>
              <a:rPr lang="zh-TW" altLang="en-US"/>
              <a:t>場景</a:t>
            </a:r>
            <a:endParaRPr lang="en-US" altLang="zh-TW"/>
          </a:p>
          <a:p>
            <a:pPr marL="0" indent="0">
              <a:buNone/>
            </a:pPr>
            <a:r>
              <a:rPr lang="en-US" altLang="zh-TW"/>
              <a:t>4.</a:t>
            </a:r>
            <a:r>
              <a:rPr lang="zh-TW" altLang="en-US"/>
              <a:t>現有工具</a:t>
            </a:r>
            <a:endParaRPr lang="en-US" altLang="zh-TW"/>
          </a:p>
        </p:txBody>
      </p:sp>
      <p:sp>
        <p:nvSpPr>
          <p:cNvPr id="4" name="投影片編號版面配置區 3">
            <a:extLst>
              <a:ext uri="{FF2B5EF4-FFF2-40B4-BE49-F238E27FC236}">
                <a16:creationId xmlns:a16="http://schemas.microsoft.com/office/drawing/2014/main" id="{49A55CD2-BEBE-D035-E18B-AC6AD6D5DE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EE9157E-5201-478D-84A3-8639E64A782C}"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51108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A37F1-FAE9-02F2-9591-AD2052F91AB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644598C-77C4-3528-F582-3275252916A7}"/>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C4AB857D-0E5C-BE0E-657E-4BA6D1EF904A}"/>
              </a:ext>
            </a:extLst>
          </p:cNvPr>
          <p:cNvSpPr>
            <a:spLocks noGrp="1"/>
          </p:cNvSpPr>
          <p:nvPr>
            <p:ph type="body" idx="1"/>
          </p:nvPr>
        </p:nvSpPr>
        <p:spPr/>
        <p:txBody>
          <a:bodyPr/>
          <a:lstStyle/>
          <a:p>
            <a:r>
              <a:rPr kumimoji="1" lang="zh-TW" altLang="en-US" dirty="0"/>
              <a:t>非舊購</a:t>
            </a:r>
          </a:p>
        </p:txBody>
      </p:sp>
      <p:sp>
        <p:nvSpPr>
          <p:cNvPr id="4" name="投影片編號版面配置區 3">
            <a:extLst>
              <a:ext uri="{FF2B5EF4-FFF2-40B4-BE49-F238E27FC236}">
                <a16:creationId xmlns:a16="http://schemas.microsoft.com/office/drawing/2014/main" id="{4CB1B6F6-302B-FB97-CF3A-5781A12976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170478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544C-4F91-035F-6D77-34DB3F9F7BC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9ACF1DC-E0BE-E026-5863-18665FEDBE0C}"/>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0D425A8-96BC-E529-B1A9-6FBA7A8C1990}"/>
              </a:ext>
            </a:extLst>
          </p:cNvPr>
          <p:cNvSpPr>
            <a:spLocks noGrp="1"/>
          </p:cNvSpPr>
          <p:nvPr>
            <p:ph type="body" idx="1"/>
          </p:nvPr>
        </p:nvSpPr>
        <p:spPr/>
        <p:txBody>
          <a:bodyPr/>
          <a:lstStyle/>
          <a:p>
            <a:r>
              <a:rPr kumimoji="1" lang="zh-TW" altLang="en-US" dirty="0"/>
              <a:t>非舊購</a:t>
            </a:r>
          </a:p>
        </p:txBody>
      </p:sp>
      <p:sp>
        <p:nvSpPr>
          <p:cNvPr id="4" name="投影片編號版面配置區 3">
            <a:extLst>
              <a:ext uri="{FF2B5EF4-FFF2-40B4-BE49-F238E27FC236}">
                <a16:creationId xmlns:a16="http://schemas.microsoft.com/office/drawing/2014/main" id="{41BFE9F2-DF28-2DAF-A652-EAF333D25C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1706087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C8473-C487-7153-E2DE-3C596586501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3705646-AAA5-CA12-3F8F-23E1193A3B5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8C1EF239-8E54-4C9D-54A6-79C2B6338F75}"/>
              </a:ext>
            </a:extLst>
          </p:cNvPr>
          <p:cNvSpPr>
            <a:spLocks noGrp="1"/>
          </p:cNvSpPr>
          <p:nvPr>
            <p:ph type="body" idx="1"/>
          </p:nvPr>
        </p:nvSpPr>
        <p:spPr/>
        <p:txBody>
          <a:bodyPr/>
          <a:lstStyle/>
          <a:p>
            <a:r>
              <a:rPr kumimoji="1" lang="zh-TW" altLang="en-US"/>
              <a:t>非舊購</a:t>
            </a:r>
          </a:p>
        </p:txBody>
      </p:sp>
      <p:sp>
        <p:nvSpPr>
          <p:cNvPr id="4" name="投影片編號版面配置區 3">
            <a:extLst>
              <a:ext uri="{FF2B5EF4-FFF2-40B4-BE49-F238E27FC236}">
                <a16:creationId xmlns:a16="http://schemas.microsoft.com/office/drawing/2014/main" id="{5D85A7D7-B69D-CF2C-F3CD-8BC45EF6CC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800208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ABA3C-C716-9833-2C88-5DA4C769D8B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06E383D-4E08-1A40-3ACF-A0118B70DD9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96778C9-1E76-0C39-438F-B587247012C9}"/>
              </a:ext>
            </a:extLst>
          </p:cNvPr>
          <p:cNvSpPr>
            <a:spLocks noGrp="1"/>
          </p:cNvSpPr>
          <p:nvPr>
            <p:ph type="body" idx="1"/>
          </p:nvPr>
        </p:nvSpPr>
        <p:spPr/>
        <p:txBody>
          <a:bodyPr/>
          <a:lstStyle/>
          <a:p>
            <a:r>
              <a:rPr kumimoji="1" lang="zh-TW" altLang="en-US" dirty="0"/>
              <a:t>非舊購</a:t>
            </a:r>
          </a:p>
        </p:txBody>
      </p:sp>
      <p:sp>
        <p:nvSpPr>
          <p:cNvPr id="4" name="投影片編號版面配置區 3">
            <a:extLst>
              <a:ext uri="{FF2B5EF4-FFF2-40B4-BE49-F238E27FC236}">
                <a16:creationId xmlns:a16="http://schemas.microsoft.com/office/drawing/2014/main" id="{ABEB999E-6D15-7CD5-0649-B543A13E92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29012165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8417A-D8A5-FB2E-DD07-83432140DEC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D6A92F0-440C-8203-D8E6-4AB119C5415D}"/>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AF3A34B-922F-674F-976A-8F068461C421}"/>
              </a:ext>
            </a:extLst>
          </p:cNvPr>
          <p:cNvSpPr>
            <a:spLocks noGrp="1"/>
          </p:cNvSpPr>
          <p:nvPr>
            <p:ph type="body" idx="1"/>
          </p:nvPr>
        </p:nvSpPr>
        <p:spPr/>
        <p:txBody>
          <a:bodyPr/>
          <a:lstStyle/>
          <a:p>
            <a:r>
              <a:rPr kumimoji="1" lang="zh-TW" altLang="en-US" dirty="0"/>
              <a:t>非舊購</a:t>
            </a:r>
          </a:p>
        </p:txBody>
      </p:sp>
      <p:sp>
        <p:nvSpPr>
          <p:cNvPr id="4" name="投影片編號版面配置區 3">
            <a:extLst>
              <a:ext uri="{FF2B5EF4-FFF2-40B4-BE49-F238E27FC236}">
                <a16:creationId xmlns:a16="http://schemas.microsoft.com/office/drawing/2014/main" id="{53D72B79-1E94-9495-6C82-4822D881B5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31DDF-977F-4A72-B3A1-EF2BFF70D97E}" type="slidenum">
              <a:rPr kumimoji="0" lang="zh-TW" altLang="en-US" sz="1200" b="0" i="0" u="none" strike="noStrike" kern="1200" cap="none" spc="0" normalizeH="0" baseline="0" noProof="0" smtClean="0">
                <a:ln>
                  <a:noFill/>
                </a:ln>
                <a:solidFill>
                  <a:prstClr val="black"/>
                </a:solidFill>
                <a:effectLst/>
                <a:uLnTx/>
                <a:uFillTx/>
                <a:latin typeface="Aptos" panose="0211000402020202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TW" altLang="en-US" sz="1200" b="0" i="0" u="none" strike="noStrike" kern="1200" cap="none" spc="0" normalizeH="0" baseline="0" noProof="0">
              <a:ln>
                <a:noFill/>
              </a:ln>
              <a:solidFill>
                <a:prstClr val="black"/>
              </a:solidFill>
              <a:effectLst/>
              <a:uLnTx/>
              <a:uFillTx/>
              <a:latin typeface="Aptos" panose="02110004020202020204"/>
              <a:ea typeface="新細明體" panose="02020500000000000000" pitchFamily="18" charset="-120"/>
              <a:cs typeface="+mn-cs"/>
            </a:endParaRPr>
          </a:p>
        </p:txBody>
      </p:sp>
    </p:spTree>
    <p:extLst>
      <p:ext uri="{BB962C8B-B14F-4D97-AF65-F5344CB8AC3E}">
        <p14:creationId xmlns:p14="http://schemas.microsoft.com/office/powerpoint/2010/main" val="32802461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封面首頁">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3" name="投影片編號版面配置區 3">
            <a:extLst>
              <a:ext uri="{FF2B5EF4-FFF2-40B4-BE49-F238E27FC236}">
                <a16:creationId xmlns:a16="http://schemas.microsoft.com/office/drawing/2014/main" id="{92333323-A73C-5064-B286-84C9CFCF172F}"/>
              </a:ext>
            </a:extLst>
          </p:cNvPr>
          <p:cNvSpPr txBox="1">
            <a:spLocks/>
          </p:cNvSpPr>
          <p:nvPr userDrawn="1"/>
        </p:nvSpPr>
        <p:spPr>
          <a:xfrm>
            <a:off x="11706044" y="6519625"/>
            <a:ext cx="403891" cy="297280"/>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4094CE0-D024-4FC6-B25F-837FC5BFCD48}" type="slidenum">
              <a:rPr lang="zh-TW" altLang="en-US" sz="1400" smtClean="0">
                <a:solidFill>
                  <a:schemeClr val="bg1"/>
                </a:solidFill>
                <a:latin typeface="Arial" panose="020B0604020202020204" pitchFamily="34" charset="0"/>
                <a:cs typeface="Arial" panose="020B0604020202020204" pitchFamily="34" charset="0"/>
              </a:rPr>
              <a:pPr algn="ctr"/>
              <a:t>‹#›</a:t>
            </a:fld>
            <a:endParaRPr lang="zh-TW" altLang="en-US" sz="1400">
              <a:solidFill>
                <a:schemeClr val="bg1"/>
              </a:solidFill>
              <a:latin typeface="Arial" panose="020B0604020202020204" pitchFamily="34" charset="0"/>
              <a:cs typeface="Arial" panose="020B0604020202020204" pitchFamily="34" charset="0"/>
            </a:endParaRPr>
          </a:p>
        </p:txBody>
      </p:sp>
      <p:sp>
        <p:nvSpPr>
          <p:cNvPr id="12" name="文字版面配置區 5"/>
          <p:cNvSpPr>
            <a:spLocks noGrp="1"/>
          </p:cNvSpPr>
          <p:nvPr>
            <p:ph type="body" sz="quarter" idx="28" hasCustomPrompt="1"/>
          </p:nvPr>
        </p:nvSpPr>
        <p:spPr>
          <a:xfrm>
            <a:off x="8000731" y="3404763"/>
            <a:ext cx="1006908" cy="329074"/>
          </a:xfrm>
          <a:prstGeom prst="rect">
            <a:avLst/>
          </a:prstGeom>
        </p:spPr>
        <p:txBody>
          <a:bodyPr/>
          <a:lstStyle>
            <a:lvl1pPr marL="0" indent="0">
              <a:buNone/>
              <a:defRPr sz="1600" b="0">
                <a:solidFill>
                  <a:srgbClr val="3B99CB"/>
                </a:solidFill>
              </a:defRPr>
            </a:lvl1pPr>
          </a:lstStyle>
          <a:p>
            <a:pPr lvl="0"/>
            <a:r>
              <a:rPr lang="zh-TW" altLang="en-US"/>
              <a:t>日期</a:t>
            </a:r>
          </a:p>
        </p:txBody>
      </p:sp>
      <p:sp>
        <p:nvSpPr>
          <p:cNvPr id="11" name="標題 6"/>
          <p:cNvSpPr>
            <a:spLocks noGrp="1"/>
          </p:cNvSpPr>
          <p:nvPr>
            <p:ph type="title"/>
          </p:nvPr>
        </p:nvSpPr>
        <p:spPr>
          <a:xfrm>
            <a:off x="2936397" y="1961012"/>
            <a:ext cx="6381774" cy="1325563"/>
          </a:xfrm>
        </p:spPr>
        <p:txBody>
          <a:bodyPr/>
          <a:lstStyle>
            <a:lvl1pPr algn="l">
              <a:defRPr>
                <a:solidFill>
                  <a:srgbClr val="008FC7"/>
                </a:solidFill>
              </a:defRPr>
            </a:lvl1pPr>
          </a:lstStyle>
          <a:p>
            <a:r>
              <a:rPr lang="zh-TW" altLang="en-US"/>
              <a:t>按一下以編輯母片標題樣式</a:t>
            </a:r>
          </a:p>
        </p:txBody>
      </p:sp>
      <p:sp>
        <p:nvSpPr>
          <p:cNvPr id="4" name="文字版面配置區 3">
            <a:extLst>
              <a:ext uri="{FF2B5EF4-FFF2-40B4-BE49-F238E27FC236}">
                <a16:creationId xmlns:a16="http://schemas.microsoft.com/office/drawing/2014/main" id="{B83A735C-005B-DF1D-9F29-0A8DB95916D8}"/>
              </a:ext>
            </a:extLst>
          </p:cNvPr>
          <p:cNvSpPr>
            <a:spLocks noGrp="1"/>
          </p:cNvSpPr>
          <p:nvPr>
            <p:ph type="body" sz="quarter" idx="29"/>
          </p:nvPr>
        </p:nvSpPr>
        <p:spPr>
          <a:xfrm>
            <a:off x="2936875" y="3330366"/>
            <a:ext cx="4818272" cy="403471"/>
          </a:xfrm>
          <a:prstGeom prst="rect">
            <a:avLst/>
          </a:prstGeom>
        </p:spPr>
        <p:txBody>
          <a:bodyPr/>
          <a:lstStyle>
            <a:lvl1pPr marL="0" indent="0">
              <a:buNone/>
              <a:defRPr>
                <a:solidFill>
                  <a:schemeClr val="tx1">
                    <a:lumMod val="85000"/>
                    <a:lumOff val="15000"/>
                  </a:schemeClr>
                </a:solidFill>
              </a:defRPr>
            </a:lvl1pPr>
            <a:lvl2pPr marL="457200" indent="0">
              <a:buNone/>
              <a:defRPr>
                <a:solidFill>
                  <a:schemeClr val="tx1">
                    <a:lumMod val="85000"/>
                    <a:lumOff val="15000"/>
                  </a:schemeClr>
                </a:solidFill>
              </a:defRPr>
            </a:lvl2pPr>
            <a:lvl3pPr marL="914400" indent="0">
              <a:buNone/>
              <a:defRPr>
                <a:solidFill>
                  <a:schemeClr val="tx1">
                    <a:lumMod val="85000"/>
                    <a:lumOff val="15000"/>
                  </a:schemeClr>
                </a:solidFill>
              </a:defRPr>
            </a:lvl3pPr>
            <a:lvl4pPr marL="1371600" indent="0">
              <a:buNone/>
              <a:defRPr>
                <a:solidFill>
                  <a:schemeClr val="tx1">
                    <a:lumMod val="85000"/>
                    <a:lumOff val="15000"/>
                  </a:schemeClr>
                </a:solidFill>
              </a:defRPr>
            </a:lvl4pPr>
            <a:lvl5pPr marL="1828800" indent="0">
              <a:buNone/>
              <a:defRPr>
                <a:solidFill>
                  <a:schemeClr val="tx1">
                    <a:lumMod val="85000"/>
                    <a:lumOff val="15000"/>
                  </a:schemeClr>
                </a:solidFill>
              </a:defRPr>
            </a:lvl5pPr>
          </a:lstStyle>
          <a:p>
            <a:pPr lvl="0"/>
            <a:r>
              <a:rPr lang="zh-TW" altLang="en-US"/>
              <a:t>按一下以編輯母片文字樣式</a:t>
            </a:r>
          </a:p>
        </p:txBody>
      </p:sp>
    </p:spTree>
    <p:extLst>
      <p:ext uri="{BB962C8B-B14F-4D97-AF65-F5344CB8AC3E}">
        <p14:creationId xmlns:p14="http://schemas.microsoft.com/office/powerpoint/2010/main" val="1881744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錄頁">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A9044C56-C3A8-40DC-14A3-DDB6A1002766}"/>
              </a:ext>
            </a:extLst>
          </p:cNvPr>
          <p:cNvSpPr>
            <a:spLocks noGrp="1"/>
          </p:cNvSpPr>
          <p:nvPr>
            <p:ph type="body" sz="quarter" idx="21" hasCustomPrompt="1"/>
          </p:nvPr>
        </p:nvSpPr>
        <p:spPr>
          <a:xfrm>
            <a:off x="2087593" y="948906"/>
            <a:ext cx="1428317" cy="664234"/>
          </a:xfrm>
          <a:prstGeom prst="rect">
            <a:avLst/>
          </a:prstGeom>
        </p:spPr>
        <p:txBody>
          <a:bodyPr anchor="b">
            <a:noAutofit/>
          </a:bodyPr>
          <a:lstStyle>
            <a:lvl1pPr marL="0" indent="0" algn="ctr">
              <a:lnSpc>
                <a:spcPts val="2400"/>
              </a:lnSpc>
              <a:buNone/>
              <a:defRPr sz="4000" b="1">
                <a:solidFill>
                  <a:srgbClr val="1492C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目錄</a:t>
            </a:r>
          </a:p>
        </p:txBody>
      </p:sp>
      <p:sp>
        <p:nvSpPr>
          <p:cNvPr id="5" name="Text Placeholder 4">
            <a:extLst>
              <a:ext uri="{FF2B5EF4-FFF2-40B4-BE49-F238E27FC236}">
                <a16:creationId xmlns:a16="http://schemas.microsoft.com/office/drawing/2014/main" id="{CB76F6E7-A0C4-6912-B7A7-D7CCC7E85F40}"/>
              </a:ext>
            </a:extLst>
          </p:cNvPr>
          <p:cNvSpPr>
            <a:spLocks noGrp="1"/>
          </p:cNvSpPr>
          <p:nvPr>
            <p:ph type="body" sz="quarter" idx="3" hasCustomPrompt="1"/>
          </p:nvPr>
        </p:nvSpPr>
        <p:spPr>
          <a:xfrm>
            <a:off x="4038600" y="1390417"/>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1</a:t>
            </a:r>
            <a:endParaRPr lang="zh-TW" altLang="en-US"/>
          </a:p>
        </p:txBody>
      </p:sp>
      <p:sp>
        <p:nvSpPr>
          <p:cNvPr id="7" name="Text Placeholder 4">
            <a:extLst>
              <a:ext uri="{FF2B5EF4-FFF2-40B4-BE49-F238E27FC236}">
                <a16:creationId xmlns:a16="http://schemas.microsoft.com/office/drawing/2014/main" id="{A00300E2-1EEE-4295-850D-1046D0D8FE51}"/>
              </a:ext>
            </a:extLst>
          </p:cNvPr>
          <p:cNvSpPr>
            <a:spLocks noGrp="1"/>
          </p:cNvSpPr>
          <p:nvPr>
            <p:ph type="body" sz="quarter" idx="22" hasCustomPrompt="1"/>
          </p:nvPr>
        </p:nvSpPr>
        <p:spPr>
          <a:xfrm>
            <a:off x="4038600" y="2191316"/>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2</a:t>
            </a:r>
            <a:endParaRPr lang="zh-TW" altLang="en-US"/>
          </a:p>
        </p:txBody>
      </p:sp>
      <p:sp>
        <p:nvSpPr>
          <p:cNvPr id="8" name="Text Placeholder 4">
            <a:extLst>
              <a:ext uri="{FF2B5EF4-FFF2-40B4-BE49-F238E27FC236}">
                <a16:creationId xmlns:a16="http://schemas.microsoft.com/office/drawing/2014/main" id="{34B42142-4A7F-CECD-68F8-23486172E25E}"/>
              </a:ext>
            </a:extLst>
          </p:cNvPr>
          <p:cNvSpPr>
            <a:spLocks noGrp="1"/>
          </p:cNvSpPr>
          <p:nvPr>
            <p:ph type="body" sz="quarter" idx="23" hasCustomPrompt="1"/>
          </p:nvPr>
        </p:nvSpPr>
        <p:spPr>
          <a:xfrm>
            <a:off x="4038600" y="3002771"/>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3</a:t>
            </a:r>
            <a:endParaRPr lang="zh-TW" altLang="en-US"/>
          </a:p>
        </p:txBody>
      </p:sp>
      <p:sp>
        <p:nvSpPr>
          <p:cNvPr id="14" name="Text Placeholder 4">
            <a:extLst>
              <a:ext uri="{FF2B5EF4-FFF2-40B4-BE49-F238E27FC236}">
                <a16:creationId xmlns:a16="http://schemas.microsoft.com/office/drawing/2014/main" id="{1BBF93DC-169C-7381-FDC6-17FFA1287C71}"/>
              </a:ext>
            </a:extLst>
          </p:cNvPr>
          <p:cNvSpPr>
            <a:spLocks noGrp="1"/>
          </p:cNvSpPr>
          <p:nvPr>
            <p:ph type="body" sz="quarter" idx="24" hasCustomPrompt="1"/>
          </p:nvPr>
        </p:nvSpPr>
        <p:spPr>
          <a:xfrm>
            <a:off x="4038600" y="3795900"/>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4</a:t>
            </a:r>
            <a:endParaRPr lang="zh-TW" altLang="en-US"/>
          </a:p>
        </p:txBody>
      </p:sp>
      <p:sp>
        <p:nvSpPr>
          <p:cNvPr id="15" name="Text Placeholder 4">
            <a:extLst>
              <a:ext uri="{FF2B5EF4-FFF2-40B4-BE49-F238E27FC236}">
                <a16:creationId xmlns:a16="http://schemas.microsoft.com/office/drawing/2014/main" id="{A992CA76-FCD1-3855-8958-915675704591}"/>
              </a:ext>
            </a:extLst>
          </p:cNvPr>
          <p:cNvSpPr>
            <a:spLocks noGrp="1"/>
          </p:cNvSpPr>
          <p:nvPr>
            <p:ph type="body" sz="quarter" idx="25" hasCustomPrompt="1"/>
          </p:nvPr>
        </p:nvSpPr>
        <p:spPr>
          <a:xfrm>
            <a:off x="4038600" y="4546032"/>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5</a:t>
            </a:r>
            <a:endParaRPr lang="zh-TW" altLang="en-US"/>
          </a:p>
        </p:txBody>
      </p:sp>
      <p:sp>
        <p:nvSpPr>
          <p:cNvPr id="4" name="Text Placeholder 4">
            <a:extLst>
              <a:ext uri="{FF2B5EF4-FFF2-40B4-BE49-F238E27FC236}">
                <a16:creationId xmlns:a16="http://schemas.microsoft.com/office/drawing/2014/main" id="{B9B8AFBE-FCA8-4E28-1E14-3B45126B761E}"/>
              </a:ext>
            </a:extLst>
          </p:cNvPr>
          <p:cNvSpPr>
            <a:spLocks noGrp="1"/>
          </p:cNvSpPr>
          <p:nvPr>
            <p:ph type="body" sz="quarter" idx="26" hasCustomPrompt="1"/>
          </p:nvPr>
        </p:nvSpPr>
        <p:spPr>
          <a:xfrm>
            <a:off x="2087593" y="1690708"/>
            <a:ext cx="1428317" cy="293367"/>
          </a:xfrm>
          <a:prstGeom prst="rect">
            <a:avLst/>
          </a:prstGeom>
        </p:spPr>
        <p:txBody>
          <a:bodyPr anchor="b">
            <a:noAutofit/>
          </a:bodyPr>
          <a:lstStyle>
            <a:lvl1pPr marL="0" indent="0" algn="ctr">
              <a:lnSpc>
                <a:spcPts val="2400"/>
              </a:lnSpc>
              <a:buNone/>
              <a:defRPr sz="1800" b="1">
                <a:solidFill>
                  <a:srgbClr val="1492C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CONTENTS</a:t>
            </a:r>
            <a:endParaRPr lang="zh-TW" altLang="en-US"/>
          </a:p>
        </p:txBody>
      </p:sp>
      <p:sp>
        <p:nvSpPr>
          <p:cNvPr id="3" name="投影片編號版面配置區 3">
            <a:extLst>
              <a:ext uri="{FF2B5EF4-FFF2-40B4-BE49-F238E27FC236}">
                <a16:creationId xmlns:a16="http://schemas.microsoft.com/office/drawing/2014/main" id="{657F3605-2EB4-044B-A755-F377C5749D8E}"/>
              </a:ext>
            </a:extLst>
          </p:cNvPr>
          <p:cNvSpPr txBox="1">
            <a:spLocks/>
          </p:cNvSpPr>
          <p:nvPr userDrawn="1"/>
        </p:nvSpPr>
        <p:spPr>
          <a:xfrm>
            <a:off x="11706044" y="6519625"/>
            <a:ext cx="403891" cy="297280"/>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4094CE0-D024-4FC6-B25F-837FC5BFCD48}" type="slidenum">
              <a:rPr lang="zh-TW" altLang="en-US" sz="1400" smtClean="0">
                <a:solidFill>
                  <a:schemeClr val="bg1"/>
                </a:solidFill>
                <a:latin typeface="Arial" panose="020B0604020202020204" pitchFamily="34" charset="0"/>
                <a:cs typeface="Arial" panose="020B0604020202020204" pitchFamily="34" charset="0"/>
              </a:rPr>
              <a:pPr algn="ctr"/>
              <a:t>‹#›</a:t>
            </a:fld>
            <a:endParaRPr lang="zh-TW" altLang="en-US" sz="1400">
              <a:solidFill>
                <a:schemeClr val="bg1"/>
              </a:solidFill>
              <a:latin typeface="Arial" panose="020B0604020202020204" pitchFamily="34" charset="0"/>
              <a:cs typeface="Arial" panose="020B0604020202020204" pitchFamily="34" charset="0"/>
            </a:endParaRPr>
          </a:p>
        </p:txBody>
      </p:sp>
      <p:sp>
        <p:nvSpPr>
          <p:cNvPr id="10" name="Text Placeholder 4">
            <a:extLst>
              <a:ext uri="{FF2B5EF4-FFF2-40B4-BE49-F238E27FC236}">
                <a16:creationId xmlns:a16="http://schemas.microsoft.com/office/drawing/2014/main" id="{CB76F6E7-A0C4-6912-B7A7-D7CCC7E85F40}"/>
              </a:ext>
            </a:extLst>
          </p:cNvPr>
          <p:cNvSpPr>
            <a:spLocks noGrp="1"/>
          </p:cNvSpPr>
          <p:nvPr>
            <p:ph type="body" sz="quarter" idx="27" hasCustomPrompt="1"/>
          </p:nvPr>
        </p:nvSpPr>
        <p:spPr>
          <a:xfrm>
            <a:off x="8723812" y="1390417"/>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P.1</a:t>
            </a:r>
            <a:endParaRPr lang="zh-TW" altLang="en-US"/>
          </a:p>
        </p:txBody>
      </p:sp>
      <p:sp>
        <p:nvSpPr>
          <p:cNvPr id="11" name="Text Placeholder 4">
            <a:extLst>
              <a:ext uri="{FF2B5EF4-FFF2-40B4-BE49-F238E27FC236}">
                <a16:creationId xmlns:a16="http://schemas.microsoft.com/office/drawing/2014/main" id="{A00300E2-1EEE-4295-850D-1046D0D8FE51}"/>
              </a:ext>
            </a:extLst>
          </p:cNvPr>
          <p:cNvSpPr>
            <a:spLocks noGrp="1"/>
          </p:cNvSpPr>
          <p:nvPr>
            <p:ph type="body" sz="quarter" idx="28" hasCustomPrompt="1"/>
          </p:nvPr>
        </p:nvSpPr>
        <p:spPr>
          <a:xfrm>
            <a:off x="8723812" y="2191316"/>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P.2</a:t>
            </a:r>
            <a:endParaRPr lang="zh-TW" altLang="en-US"/>
          </a:p>
        </p:txBody>
      </p:sp>
      <p:sp>
        <p:nvSpPr>
          <p:cNvPr id="12" name="Text Placeholder 4">
            <a:extLst>
              <a:ext uri="{FF2B5EF4-FFF2-40B4-BE49-F238E27FC236}">
                <a16:creationId xmlns:a16="http://schemas.microsoft.com/office/drawing/2014/main" id="{34B42142-4A7F-CECD-68F8-23486172E25E}"/>
              </a:ext>
            </a:extLst>
          </p:cNvPr>
          <p:cNvSpPr>
            <a:spLocks noGrp="1"/>
          </p:cNvSpPr>
          <p:nvPr>
            <p:ph type="body" sz="quarter" idx="29" hasCustomPrompt="1"/>
          </p:nvPr>
        </p:nvSpPr>
        <p:spPr>
          <a:xfrm>
            <a:off x="8723812" y="3002771"/>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P.3</a:t>
            </a:r>
            <a:endParaRPr lang="zh-TW" altLang="en-US"/>
          </a:p>
        </p:txBody>
      </p:sp>
      <p:sp>
        <p:nvSpPr>
          <p:cNvPr id="16" name="Text Placeholder 4">
            <a:extLst>
              <a:ext uri="{FF2B5EF4-FFF2-40B4-BE49-F238E27FC236}">
                <a16:creationId xmlns:a16="http://schemas.microsoft.com/office/drawing/2014/main" id="{1BBF93DC-169C-7381-FDC6-17FFA1287C71}"/>
              </a:ext>
            </a:extLst>
          </p:cNvPr>
          <p:cNvSpPr>
            <a:spLocks noGrp="1"/>
          </p:cNvSpPr>
          <p:nvPr>
            <p:ph type="body" sz="quarter" idx="30" hasCustomPrompt="1"/>
          </p:nvPr>
        </p:nvSpPr>
        <p:spPr>
          <a:xfrm>
            <a:off x="8723812" y="3795900"/>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P.4</a:t>
            </a:r>
            <a:endParaRPr lang="zh-TW" altLang="en-US"/>
          </a:p>
        </p:txBody>
      </p:sp>
      <p:sp>
        <p:nvSpPr>
          <p:cNvPr id="17" name="Text Placeholder 4">
            <a:extLst>
              <a:ext uri="{FF2B5EF4-FFF2-40B4-BE49-F238E27FC236}">
                <a16:creationId xmlns:a16="http://schemas.microsoft.com/office/drawing/2014/main" id="{A992CA76-FCD1-3855-8958-915675704591}"/>
              </a:ext>
            </a:extLst>
          </p:cNvPr>
          <p:cNvSpPr>
            <a:spLocks noGrp="1"/>
          </p:cNvSpPr>
          <p:nvPr>
            <p:ph type="body" sz="quarter" idx="31" hasCustomPrompt="1"/>
          </p:nvPr>
        </p:nvSpPr>
        <p:spPr>
          <a:xfrm>
            <a:off x="8723812" y="4546032"/>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P.5</a:t>
            </a:r>
            <a:endParaRPr lang="zh-TW" altLang="en-US"/>
          </a:p>
        </p:txBody>
      </p:sp>
      <p:sp>
        <p:nvSpPr>
          <p:cNvPr id="18" name="Text Placeholder 4">
            <a:extLst>
              <a:ext uri="{FF2B5EF4-FFF2-40B4-BE49-F238E27FC236}">
                <a16:creationId xmlns:a16="http://schemas.microsoft.com/office/drawing/2014/main" id="{A992CA76-FCD1-3855-8958-915675704591}"/>
              </a:ext>
            </a:extLst>
          </p:cNvPr>
          <p:cNvSpPr>
            <a:spLocks noGrp="1"/>
          </p:cNvSpPr>
          <p:nvPr>
            <p:ph type="body" sz="quarter" idx="32" hasCustomPrompt="1"/>
          </p:nvPr>
        </p:nvSpPr>
        <p:spPr>
          <a:xfrm>
            <a:off x="4038600" y="5296164"/>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6</a:t>
            </a:r>
            <a:endParaRPr lang="zh-TW" altLang="en-US"/>
          </a:p>
        </p:txBody>
      </p:sp>
      <p:sp>
        <p:nvSpPr>
          <p:cNvPr id="19" name="Text Placeholder 4">
            <a:extLst>
              <a:ext uri="{FF2B5EF4-FFF2-40B4-BE49-F238E27FC236}">
                <a16:creationId xmlns:a16="http://schemas.microsoft.com/office/drawing/2014/main" id="{A992CA76-FCD1-3855-8958-915675704591}"/>
              </a:ext>
            </a:extLst>
          </p:cNvPr>
          <p:cNvSpPr>
            <a:spLocks noGrp="1"/>
          </p:cNvSpPr>
          <p:nvPr>
            <p:ph type="body" sz="quarter" idx="33" hasCustomPrompt="1"/>
          </p:nvPr>
        </p:nvSpPr>
        <p:spPr>
          <a:xfrm>
            <a:off x="8723812" y="5296164"/>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P.6</a:t>
            </a:r>
            <a:endParaRPr lang="zh-TW" altLang="en-US"/>
          </a:p>
        </p:txBody>
      </p:sp>
      <p:sp>
        <p:nvSpPr>
          <p:cNvPr id="6" name="投影片編號版面配置區 5"/>
          <p:cNvSpPr>
            <a:spLocks noGrp="1"/>
          </p:cNvSpPr>
          <p:nvPr>
            <p:ph type="sldNum" sz="quarter" idx="34"/>
          </p:nvPr>
        </p:nvSpPr>
        <p:spPr/>
        <p:txBody>
          <a:bodyPr/>
          <a:lstStyle/>
          <a:p>
            <a:fld id="{DD1C6579-C6C1-4544-B3E5-F3C792737BFB}" type="slidenum">
              <a:rPr lang="zh-TW" altLang="en-US" smtClean="0"/>
              <a:pPr/>
              <a:t>‹#›</a:t>
            </a:fld>
            <a:endParaRPr lang="zh-TW" altLang="en-US"/>
          </a:p>
        </p:txBody>
      </p:sp>
    </p:spTree>
    <p:extLst>
      <p:ext uri="{BB962C8B-B14F-4D97-AF65-F5344CB8AC3E}">
        <p14:creationId xmlns:p14="http://schemas.microsoft.com/office/powerpoint/2010/main" val="3714047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內頁版型-章節頁">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cxnSp>
        <p:nvCxnSpPr>
          <p:cNvPr id="2" name="直線接點 1">
            <a:extLst>
              <a:ext uri="{FF2B5EF4-FFF2-40B4-BE49-F238E27FC236}">
                <a16:creationId xmlns:a16="http://schemas.microsoft.com/office/drawing/2014/main" id="{C04EC57D-C283-E94C-3F99-DFCE4343989F}"/>
              </a:ext>
            </a:extLst>
          </p:cNvPr>
          <p:cNvCxnSpPr>
            <a:cxnSpLocks/>
          </p:cNvCxnSpPr>
          <p:nvPr userDrawn="1"/>
        </p:nvCxnSpPr>
        <p:spPr bwMode="gray">
          <a:xfrm>
            <a:off x="2109916" y="3252844"/>
            <a:ext cx="567534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投影片編號版面配置區 2"/>
          <p:cNvSpPr>
            <a:spLocks noGrp="1"/>
          </p:cNvSpPr>
          <p:nvPr>
            <p:ph type="sldNum" sz="quarter" idx="25"/>
          </p:nvPr>
        </p:nvSpPr>
        <p:spPr/>
        <p:txBody>
          <a:bodyPr/>
          <a:lstStyle/>
          <a:p>
            <a:fld id="{DD1C6579-C6C1-4544-B3E5-F3C792737BFB}" type="slidenum">
              <a:rPr lang="zh-TW" altLang="en-US" smtClean="0"/>
              <a:pPr/>
              <a:t>‹#›</a:t>
            </a:fld>
            <a:endParaRPr lang="zh-TW" altLang="en-US"/>
          </a:p>
        </p:txBody>
      </p:sp>
      <p:pic>
        <p:nvPicPr>
          <p:cNvPr id="4" name="圖片 3">
            <a:extLst>
              <a:ext uri="{FF2B5EF4-FFF2-40B4-BE49-F238E27FC236}">
                <a16:creationId xmlns:a16="http://schemas.microsoft.com/office/drawing/2014/main" id="{6728EC16-6BD2-61F7-727B-8A6DF90AD9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47723" y="2105935"/>
            <a:ext cx="3528060" cy="2146237"/>
          </a:xfrm>
          <a:prstGeom prst="rect">
            <a:avLst/>
          </a:prstGeom>
        </p:spPr>
      </p:pic>
      <p:pic>
        <p:nvPicPr>
          <p:cNvPr id="7" name="圖片 6">
            <a:extLst>
              <a:ext uri="{FF2B5EF4-FFF2-40B4-BE49-F238E27FC236}">
                <a16:creationId xmlns:a16="http://schemas.microsoft.com/office/drawing/2014/main" id="{C2C62290-5795-E7C0-4C33-5759726E9CC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52526" y="2236851"/>
            <a:ext cx="3528060" cy="2146237"/>
          </a:xfrm>
          <a:prstGeom prst="rect">
            <a:avLst/>
          </a:prstGeom>
        </p:spPr>
      </p:pic>
      <p:cxnSp>
        <p:nvCxnSpPr>
          <p:cNvPr id="8" name="直線接點 7">
            <a:extLst>
              <a:ext uri="{FF2B5EF4-FFF2-40B4-BE49-F238E27FC236}">
                <a16:creationId xmlns:a16="http://schemas.microsoft.com/office/drawing/2014/main" id="{2357A617-E0B2-61B3-A3ED-9863DB4D8FD9}"/>
              </a:ext>
            </a:extLst>
          </p:cNvPr>
          <p:cNvCxnSpPr>
            <a:cxnSpLocks/>
          </p:cNvCxnSpPr>
          <p:nvPr userDrawn="1"/>
        </p:nvCxnSpPr>
        <p:spPr bwMode="gray">
          <a:xfrm>
            <a:off x="2109916" y="3252844"/>
            <a:ext cx="567534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圖片版面配置區 5">
            <a:extLst>
              <a:ext uri="{FF2B5EF4-FFF2-40B4-BE49-F238E27FC236}">
                <a16:creationId xmlns:a16="http://schemas.microsoft.com/office/drawing/2014/main" id="{386CA597-0E1B-8FA6-6B67-CA69FA3F8464}"/>
              </a:ext>
            </a:extLst>
          </p:cNvPr>
          <p:cNvSpPr>
            <a:spLocks noGrp="1"/>
          </p:cNvSpPr>
          <p:nvPr>
            <p:ph type="pic" sz="quarter" idx="23"/>
          </p:nvPr>
        </p:nvSpPr>
        <p:spPr>
          <a:xfrm>
            <a:off x="8412603" y="2122488"/>
            <a:ext cx="2551112" cy="2260600"/>
          </a:xfrm>
          <a:prstGeom prst="rect">
            <a:avLst/>
          </a:prstGeom>
        </p:spPr>
        <p:txBody>
          <a:bodyPr/>
          <a:lstStyle>
            <a:lvl1pPr marL="0" indent="0">
              <a:buNone/>
              <a:defRPr/>
            </a:lvl1pPr>
          </a:lstStyle>
          <a:p>
            <a:endParaRPr lang="zh-TW" altLang="en-US"/>
          </a:p>
        </p:txBody>
      </p:sp>
      <p:sp>
        <p:nvSpPr>
          <p:cNvPr id="11" name="標題 9">
            <a:extLst>
              <a:ext uri="{FF2B5EF4-FFF2-40B4-BE49-F238E27FC236}">
                <a16:creationId xmlns:a16="http://schemas.microsoft.com/office/drawing/2014/main" id="{3D8F54DA-8BF5-23A0-0260-B0C65735490A}"/>
              </a:ext>
            </a:extLst>
          </p:cNvPr>
          <p:cNvSpPr>
            <a:spLocks noGrp="1"/>
          </p:cNvSpPr>
          <p:nvPr>
            <p:ph type="title"/>
          </p:nvPr>
        </p:nvSpPr>
        <p:spPr>
          <a:xfrm>
            <a:off x="1626221" y="2609127"/>
            <a:ext cx="6302814" cy="569927"/>
          </a:xfrm>
        </p:spPr>
        <p:txBody>
          <a:bodyPr>
            <a:noAutofit/>
          </a:bodyPr>
          <a:lstStyle>
            <a:lvl1pPr algn="ctr">
              <a:defRPr sz="4000">
                <a:solidFill>
                  <a:srgbClr val="008FC7"/>
                </a:solidFill>
              </a:defRPr>
            </a:lvl1pPr>
          </a:lstStyle>
          <a:p>
            <a:r>
              <a:rPr lang="zh-TW" altLang="en-US"/>
              <a:t>按一下以編輯母片標題樣式</a:t>
            </a:r>
          </a:p>
        </p:txBody>
      </p:sp>
      <p:sp>
        <p:nvSpPr>
          <p:cNvPr id="12" name="文字版面配置區 11">
            <a:extLst>
              <a:ext uri="{FF2B5EF4-FFF2-40B4-BE49-F238E27FC236}">
                <a16:creationId xmlns:a16="http://schemas.microsoft.com/office/drawing/2014/main" id="{DD78D20C-5E9D-3047-2145-B3E0D8394EF8}"/>
              </a:ext>
            </a:extLst>
          </p:cNvPr>
          <p:cNvSpPr>
            <a:spLocks noGrp="1"/>
          </p:cNvSpPr>
          <p:nvPr>
            <p:ph type="body" sz="quarter" idx="24"/>
          </p:nvPr>
        </p:nvSpPr>
        <p:spPr>
          <a:xfrm>
            <a:off x="2109788" y="3400425"/>
            <a:ext cx="5675312" cy="500063"/>
          </a:xfrm>
          <a:prstGeom prst="rect">
            <a:avLst/>
          </a:prstGeom>
        </p:spPr>
        <p:txBody>
          <a:bodyPr/>
          <a:lstStyle>
            <a:lvl1pPr marL="0" indent="0" algn="ctr">
              <a:buNone/>
              <a:defRPr>
                <a:solidFill>
                  <a:schemeClr val="tx1">
                    <a:lumMod val="85000"/>
                    <a:lumOff val="1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TW" altLang="en-US"/>
              <a:t>編輯母片文字樣式</a:t>
            </a:r>
          </a:p>
        </p:txBody>
      </p:sp>
    </p:spTree>
    <p:extLst>
      <p:ext uri="{BB962C8B-B14F-4D97-AF65-F5344CB8AC3E}">
        <p14:creationId xmlns:p14="http://schemas.microsoft.com/office/powerpoint/2010/main" val="36403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內頁版型-圖左">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cxnSp>
        <p:nvCxnSpPr>
          <p:cNvPr id="50" name="直線接點 49">
            <a:extLst>
              <a:ext uri="{FF2B5EF4-FFF2-40B4-BE49-F238E27FC236}">
                <a16:creationId xmlns:a16="http://schemas.microsoft.com/office/drawing/2014/main" id="{A2160606-55AF-A963-EE40-ECBB0E046A4C}"/>
              </a:ext>
            </a:extLst>
          </p:cNvPr>
          <p:cNvCxnSpPr/>
          <p:nvPr userDrawn="1"/>
        </p:nvCxnSpPr>
        <p:spPr bwMode="gray">
          <a:xfrm flipV="1">
            <a:off x="3923925" y="3535110"/>
            <a:ext cx="7187964" cy="76"/>
          </a:xfrm>
          <a:prstGeom prst="line">
            <a:avLst/>
          </a:prstGeom>
          <a:ln w="12700">
            <a:solidFill>
              <a:srgbClr val="008FCE"/>
            </a:solidFill>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D79C5B00-CD3F-1497-B2E6-1244CDF91B52}"/>
              </a:ext>
            </a:extLst>
          </p:cNvPr>
          <p:cNvCxnSpPr/>
          <p:nvPr userDrawn="1"/>
        </p:nvCxnSpPr>
        <p:spPr bwMode="gray">
          <a:xfrm flipV="1">
            <a:off x="3923925" y="4651943"/>
            <a:ext cx="7187964" cy="76"/>
          </a:xfrm>
          <a:prstGeom prst="line">
            <a:avLst/>
          </a:prstGeom>
          <a:ln w="12700">
            <a:solidFill>
              <a:srgbClr val="008FCE"/>
            </a:solidFill>
          </a:ln>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id="{29B8A114-D1CF-1B5B-F2DB-AFD8C76C4A70}"/>
              </a:ext>
            </a:extLst>
          </p:cNvPr>
          <p:cNvCxnSpPr/>
          <p:nvPr userDrawn="1"/>
        </p:nvCxnSpPr>
        <p:spPr bwMode="gray">
          <a:xfrm flipV="1">
            <a:off x="3923925" y="5894270"/>
            <a:ext cx="7187964" cy="76"/>
          </a:xfrm>
          <a:prstGeom prst="line">
            <a:avLst/>
          </a:prstGeom>
          <a:ln w="12700">
            <a:solidFill>
              <a:srgbClr val="008FCE"/>
            </a:solidFill>
          </a:ln>
        </p:spPr>
        <p:style>
          <a:lnRef idx="1">
            <a:schemeClr val="accent1"/>
          </a:lnRef>
          <a:fillRef idx="0">
            <a:schemeClr val="accent1"/>
          </a:fillRef>
          <a:effectRef idx="0">
            <a:schemeClr val="accent1"/>
          </a:effectRef>
          <a:fontRef idx="minor">
            <a:schemeClr val="tx1"/>
          </a:fontRef>
        </p:style>
      </p:cxnSp>
      <p:sp>
        <p:nvSpPr>
          <p:cNvPr id="6" name="文字版面配置區 5"/>
          <p:cNvSpPr>
            <a:spLocks noGrp="1"/>
          </p:cNvSpPr>
          <p:nvPr>
            <p:ph type="body" sz="quarter" idx="23" hasCustomPrompt="1"/>
          </p:nvPr>
        </p:nvSpPr>
        <p:spPr>
          <a:xfrm>
            <a:off x="3816257" y="2745480"/>
            <a:ext cx="1006908" cy="329074"/>
          </a:xfrm>
          <a:prstGeom prst="rect">
            <a:avLst/>
          </a:prstGeom>
        </p:spPr>
        <p:txBody>
          <a:bodyPr/>
          <a:lstStyle>
            <a:lvl1pPr marL="0" indent="0">
              <a:buNone/>
              <a:defRPr sz="2000" b="1">
                <a:solidFill>
                  <a:srgbClr val="0070C0"/>
                </a:solidFill>
              </a:defRPr>
            </a:lvl1pPr>
          </a:lstStyle>
          <a:p>
            <a:pPr lvl="0"/>
            <a:r>
              <a:rPr lang="zh-TW" altLang="en-US"/>
              <a:t>小標題</a:t>
            </a:r>
          </a:p>
        </p:txBody>
      </p:sp>
      <p:sp>
        <p:nvSpPr>
          <p:cNvPr id="30" name="文字版面配置區 5"/>
          <p:cNvSpPr>
            <a:spLocks noGrp="1"/>
          </p:cNvSpPr>
          <p:nvPr>
            <p:ph type="body" sz="quarter" idx="24" hasCustomPrompt="1"/>
          </p:nvPr>
        </p:nvSpPr>
        <p:spPr>
          <a:xfrm>
            <a:off x="3816257" y="3827237"/>
            <a:ext cx="1006908" cy="329074"/>
          </a:xfrm>
          <a:prstGeom prst="rect">
            <a:avLst/>
          </a:prstGeom>
        </p:spPr>
        <p:txBody>
          <a:bodyPr/>
          <a:lstStyle>
            <a:lvl1pPr marL="0" indent="0">
              <a:buNone/>
              <a:defRPr sz="2000" b="1">
                <a:solidFill>
                  <a:srgbClr val="0070C0"/>
                </a:solidFill>
              </a:defRPr>
            </a:lvl1pPr>
          </a:lstStyle>
          <a:p>
            <a:pPr lvl="0"/>
            <a:r>
              <a:rPr lang="zh-TW" altLang="en-US"/>
              <a:t>小標題</a:t>
            </a:r>
          </a:p>
        </p:txBody>
      </p:sp>
      <p:sp>
        <p:nvSpPr>
          <p:cNvPr id="31" name="文字版面配置區 5"/>
          <p:cNvSpPr>
            <a:spLocks noGrp="1"/>
          </p:cNvSpPr>
          <p:nvPr>
            <p:ph type="body" sz="quarter" idx="25" hasCustomPrompt="1"/>
          </p:nvPr>
        </p:nvSpPr>
        <p:spPr>
          <a:xfrm>
            <a:off x="3816257" y="5069488"/>
            <a:ext cx="1006908" cy="329074"/>
          </a:xfrm>
          <a:prstGeom prst="rect">
            <a:avLst/>
          </a:prstGeom>
        </p:spPr>
        <p:txBody>
          <a:bodyPr/>
          <a:lstStyle>
            <a:lvl1pPr marL="0" indent="0">
              <a:buNone/>
              <a:defRPr sz="2000" b="1">
                <a:solidFill>
                  <a:srgbClr val="0070C0"/>
                </a:solidFill>
              </a:defRPr>
            </a:lvl1pPr>
          </a:lstStyle>
          <a:p>
            <a:pPr lvl="0"/>
            <a:r>
              <a:rPr lang="zh-TW" altLang="en-US"/>
              <a:t>小標題</a:t>
            </a:r>
          </a:p>
        </p:txBody>
      </p:sp>
      <p:sp>
        <p:nvSpPr>
          <p:cNvPr id="32" name="文字版面配置區 5"/>
          <p:cNvSpPr>
            <a:spLocks noGrp="1"/>
          </p:cNvSpPr>
          <p:nvPr>
            <p:ph type="body" sz="quarter" idx="26" hasCustomPrompt="1"/>
          </p:nvPr>
        </p:nvSpPr>
        <p:spPr>
          <a:xfrm>
            <a:off x="5033927" y="2736956"/>
            <a:ext cx="1006908" cy="329074"/>
          </a:xfrm>
          <a:prstGeom prst="rect">
            <a:avLst/>
          </a:prstGeom>
        </p:spPr>
        <p:txBody>
          <a:bodyPr/>
          <a:lstStyle>
            <a:lvl1pPr marL="0" indent="0">
              <a:buNone/>
              <a:defRPr sz="1600" b="1">
                <a:solidFill>
                  <a:srgbClr val="008FC7"/>
                </a:solidFill>
              </a:defRPr>
            </a:lvl1pPr>
          </a:lstStyle>
          <a:p>
            <a:pPr lvl="0"/>
            <a:r>
              <a:rPr lang="zh-TW" altLang="en-US"/>
              <a:t>內文</a:t>
            </a:r>
          </a:p>
        </p:txBody>
      </p:sp>
      <p:sp>
        <p:nvSpPr>
          <p:cNvPr id="33" name="圖片版面配置區 5"/>
          <p:cNvSpPr>
            <a:spLocks noGrp="1"/>
          </p:cNvSpPr>
          <p:nvPr>
            <p:ph type="pic" sz="quarter" idx="27"/>
          </p:nvPr>
        </p:nvSpPr>
        <p:spPr>
          <a:xfrm>
            <a:off x="838976" y="2193936"/>
            <a:ext cx="2551112" cy="3700333"/>
          </a:xfrm>
          <a:prstGeom prst="rect">
            <a:avLst/>
          </a:prstGeom>
        </p:spPr>
        <p:txBody>
          <a:bodyPr/>
          <a:lstStyle>
            <a:lvl1pPr marL="0" indent="0">
              <a:buNone/>
              <a:defRPr/>
            </a:lvl1pPr>
          </a:lstStyle>
          <a:p>
            <a:endParaRPr lang="zh-TW" altLang="en-US"/>
          </a:p>
        </p:txBody>
      </p:sp>
      <p:sp>
        <p:nvSpPr>
          <p:cNvPr id="34" name="文字版面配置區 5"/>
          <p:cNvSpPr>
            <a:spLocks noGrp="1"/>
          </p:cNvSpPr>
          <p:nvPr>
            <p:ph type="body" sz="quarter" idx="28" hasCustomPrompt="1"/>
          </p:nvPr>
        </p:nvSpPr>
        <p:spPr>
          <a:xfrm>
            <a:off x="5033927" y="3157488"/>
            <a:ext cx="1006908" cy="329074"/>
          </a:xfrm>
          <a:prstGeom prst="rect">
            <a:avLst/>
          </a:prstGeom>
        </p:spPr>
        <p:txBody>
          <a:bodyPr/>
          <a:lstStyle>
            <a:lvl1pPr marL="0" indent="0">
              <a:buNone/>
              <a:defRPr sz="1600" b="0">
                <a:solidFill>
                  <a:srgbClr val="232323"/>
                </a:solidFill>
              </a:defRPr>
            </a:lvl1pPr>
          </a:lstStyle>
          <a:p>
            <a:pPr lvl="0"/>
            <a:r>
              <a:rPr lang="zh-TW" altLang="en-US"/>
              <a:t>內文</a:t>
            </a:r>
          </a:p>
        </p:txBody>
      </p:sp>
      <p:sp>
        <p:nvSpPr>
          <p:cNvPr id="37" name="文字版面配置區 5"/>
          <p:cNvSpPr>
            <a:spLocks noGrp="1"/>
          </p:cNvSpPr>
          <p:nvPr>
            <p:ph type="body" sz="quarter" idx="29" hasCustomPrompt="1"/>
          </p:nvPr>
        </p:nvSpPr>
        <p:spPr>
          <a:xfrm>
            <a:off x="9430209" y="3157488"/>
            <a:ext cx="1006908" cy="329074"/>
          </a:xfrm>
          <a:prstGeom prst="rect">
            <a:avLst/>
          </a:prstGeom>
        </p:spPr>
        <p:txBody>
          <a:bodyPr/>
          <a:lstStyle>
            <a:lvl1pPr marL="0" indent="0">
              <a:buNone/>
              <a:defRPr sz="1200" b="0">
                <a:solidFill>
                  <a:srgbClr val="7F7F7F"/>
                </a:solidFill>
              </a:defRPr>
            </a:lvl1pPr>
          </a:lstStyle>
          <a:p>
            <a:pPr lvl="0"/>
            <a:r>
              <a:rPr lang="zh-TW" altLang="en-US"/>
              <a:t>註解</a:t>
            </a:r>
          </a:p>
        </p:txBody>
      </p:sp>
      <p:sp>
        <p:nvSpPr>
          <p:cNvPr id="38" name="文字版面配置區 5"/>
          <p:cNvSpPr>
            <a:spLocks noGrp="1"/>
          </p:cNvSpPr>
          <p:nvPr>
            <p:ph type="body" sz="quarter" idx="30" hasCustomPrompt="1"/>
          </p:nvPr>
        </p:nvSpPr>
        <p:spPr>
          <a:xfrm>
            <a:off x="5033927" y="3813942"/>
            <a:ext cx="1006908" cy="329074"/>
          </a:xfrm>
          <a:prstGeom prst="rect">
            <a:avLst/>
          </a:prstGeom>
        </p:spPr>
        <p:txBody>
          <a:bodyPr/>
          <a:lstStyle>
            <a:lvl1pPr marL="0" indent="0">
              <a:buNone/>
              <a:defRPr sz="1600" b="1">
                <a:solidFill>
                  <a:srgbClr val="008FC7"/>
                </a:solidFill>
              </a:defRPr>
            </a:lvl1pPr>
          </a:lstStyle>
          <a:p>
            <a:pPr lvl="0"/>
            <a:r>
              <a:rPr lang="zh-TW" altLang="en-US"/>
              <a:t>內文</a:t>
            </a:r>
          </a:p>
        </p:txBody>
      </p:sp>
      <p:sp>
        <p:nvSpPr>
          <p:cNvPr id="39" name="文字版面配置區 5"/>
          <p:cNvSpPr>
            <a:spLocks noGrp="1"/>
          </p:cNvSpPr>
          <p:nvPr>
            <p:ph type="body" sz="quarter" idx="31" hasCustomPrompt="1"/>
          </p:nvPr>
        </p:nvSpPr>
        <p:spPr>
          <a:xfrm>
            <a:off x="5033927" y="4234474"/>
            <a:ext cx="1006908" cy="329074"/>
          </a:xfrm>
          <a:prstGeom prst="rect">
            <a:avLst/>
          </a:prstGeom>
        </p:spPr>
        <p:txBody>
          <a:bodyPr/>
          <a:lstStyle>
            <a:lvl1pPr marL="0" indent="0">
              <a:buNone/>
              <a:defRPr sz="1600" b="0">
                <a:solidFill>
                  <a:srgbClr val="232323"/>
                </a:solidFill>
              </a:defRPr>
            </a:lvl1pPr>
          </a:lstStyle>
          <a:p>
            <a:pPr lvl="0"/>
            <a:r>
              <a:rPr lang="zh-TW" altLang="en-US"/>
              <a:t>內文</a:t>
            </a:r>
          </a:p>
        </p:txBody>
      </p:sp>
      <p:sp>
        <p:nvSpPr>
          <p:cNvPr id="40" name="文字版面配置區 5"/>
          <p:cNvSpPr>
            <a:spLocks noGrp="1"/>
          </p:cNvSpPr>
          <p:nvPr>
            <p:ph type="body" sz="quarter" idx="32" hasCustomPrompt="1"/>
          </p:nvPr>
        </p:nvSpPr>
        <p:spPr>
          <a:xfrm>
            <a:off x="9430209" y="4234474"/>
            <a:ext cx="1006908" cy="329074"/>
          </a:xfrm>
          <a:prstGeom prst="rect">
            <a:avLst/>
          </a:prstGeom>
        </p:spPr>
        <p:txBody>
          <a:bodyPr/>
          <a:lstStyle>
            <a:lvl1pPr marL="0" indent="0">
              <a:buNone/>
              <a:defRPr sz="1200" b="0">
                <a:solidFill>
                  <a:srgbClr val="7F7F7F"/>
                </a:solidFill>
              </a:defRPr>
            </a:lvl1pPr>
          </a:lstStyle>
          <a:p>
            <a:pPr lvl="0"/>
            <a:r>
              <a:rPr lang="zh-TW" altLang="en-US"/>
              <a:t>註解</a:t>
            </a:r>
          </a:p>
        </p:txBody>
      </p:sp>
      <p:sp>
        <p:nvSpPr>
          <p:cNvPr id="41" name="文字版面配置區 5"/>
          <p:cNvSpPr>
            <a:spLocks noGrp="1"/>
          </p:cNvSpPr>
          <p:nvPr>
            <p:ph type="body" sz="quarter" idx="33" hasCustomPrompt="1"/>
          </p:nvPr>
        </p:nvSpPr>
        <p:spPr>
          <a:xfrm>
            <a:off x="5033927" y="5066861"/>
            <a:ext cx="1006908" cy="329074"/>
          </a:xfrm>
          <a:prstGeom prst="rect">
            <a:avLst/>
          </a:prstGeom>
        </p:spPr>
        <p:txBody>
          <a:bodyPr/>
          <a:lstStyle>
            <a:lvl1pPr marL="0" indent="0">
              <a:buNone/>
              <a:defRPr sz="1600" b="1">
                <a:solidFill>
                  <a:srgbClr val="008FC7"/>
                </a:solidFill>
              </a:defRPr>
            </a:lvl1pPr>
          </a:lstStyle>
          <a:p>
            <a:pPr lvl="0"/>
            <a:r>
              <a:rPr lang="zh-TW" altLang="en-US"/>
              <a:t>內文</a:t>
            </a:r>
          </a:p>
        </p:txBody>
      </p:sp>
      <p:sp>
        <p:nvSpPr>
          <p:cNvPr id="42" name="文字版面配置區 5"/>
          <p:cNvSpPr>
            <a:spLocks noGrp="1"/>
          </p:cNvSpPr>
          <p:nvPr>
            <p:ph type="body" sz="quarter" idx="34" hasCustomPrompt="1"/>
          </p:nvPr>
        </p:nvSpPr>
        <p:spPr>
          <a:xfrm>
            <a:off x="5033927" y="5487393"/>
            <a:ext cx="1006908" cy="329074"/>
          </a:xfrm>
          <a:prstGeom prst="rect">
            <a:avLst/>
          </a:prstGeom>
        </p:spPr>
        <p:txBody>
          <a:bodyPr/>
          <a:lstStyle>
            <a:lvl1pPr marL="0" indent="0">
              <a:buNone/>
              <a:defRPr sz="1600" b="0">
                <a:solidFill>
                  <a:srgbClr val="232323"/>
                </a:solidFill>
              </a:defRPr>
            </a:lvl1pPr>
          </a:lstStyle>
          <a:p>
            <a:pPr lvl="0"/>
            <a:r>
              <a:rPr lang="zh-TW" altLang="en-US"/>
              <a:t>內文</a:t>
            </a:r>
          </a:p>
        </p:txBody>
      </p:sp>
      <p:sp>
        <p:nvSpPr>
          <p:cNvPr id="44" name="文字版面配置區 5"/>
          <p:cNvSpPr>
            <a:spLocks noGrp="1"/>
          </p:cNvSpPr>
          <p:nvPr>
            <p:ph type="body" sz="quarter" idx="35" hasCustomPrompt="1"/>
          </p:nvPr>
        </p:nvSpPr>
        <p:spPr>
          <a:xfrm>
            <a:off x="9430209" y="5487393"/>
            <a:ext cx="1006908" cy="329074"/>
          </a:xfrm>
          <a:prstGeom prst="rect">
            <a:avLst/>
          </a:prstGeom>
        </p:spPr>
        <p:txBody>
          <a:bodyPr/>
          <a:lstStyle>
            <a:lvl1pPr marL="0" indent="0">
              <a:buNone/>
              <a:defRPr sz="1200" b="0">
                <a:solidFill>
                  <a:srgbClr val="7F7F7F"/>
                </a:solidFill>
              </a:defRPr>
            </a:lvl1pPr>
          </a:lstStyle>
          <a:p>
            <a:pPr lvl="0"/>
            <a:r>
              <a:rPr lang="zh-TW" altLang="en-US"/>
              <a:t>註解</a:t>
            </a:r>
          </a:p>
        </p:txBody>
      </p:sp>
      <p:sp>
        <p:nvSpPr>
          <p:cNvPr id="2" name="標題 1"/>
          <p:cNvSpPr>
            <a:spLocks noGrp="1"/>
          </p:cNvSpPr>
          <p:nvPr>
            <p:ph type="title"/>
          </p:nvPr>
        </p:nvSpPr>
        <p:spPr>
          <a:xfrm>
            <a:off x="1408073" y="497145"/>
            <a:ext cx="9239412" cy="542339"/>
          </a:xfrm>
        </p:spPr>
        <p:txBody>
          <a:bodyPr/>
          <a:lstStyle>
            <a:lvl1pPr algn="l">
              <a:defRPr>
                <a:solidFill>
                  <a:srgbClr val="008FC7"/>
                </a:solidFill>
              </a:defRPr>
            </a:lvl1pPr>
          </a:lstStyle>
          <a:p>
            <a:r>
              <a:rPr lang="zh-TW" altLang="en-US"/>
              <a:t>按一下以編輯母片標題樣式</a:t>
            </a:r>
          </a:p>
        </p:txBody>
      </p:sp>
      <p:sp>
        <p:nvSpPr>
          <p:cNvPr id="3" name="投影片編號版面配置區 2"/>
          <p:cNvSpPr>
            <a:spLocks noGrp="1"/>
          </p:cNvSpPr>
          <p:nvPr>
            <p:ph type="sldNum" sz="quarter" idx="36"/>
          </p:nvPr>
        </p:nvSpPr>
        <p:spPr/>
        <p:txBody>
          <a:bodyPr/>
          <a:lstStyle/>
          <a:p>
            <a:fld id="{DD1C6579-C6C1-4544-B3E5-F3C792737BFB}" type="slidenum">
              <a:rPr lang="zh-TW" altLang="en-US" smtClean="0"/>
              <a:pPr/>
              <a:t>‹#›</a:t>
            </a:fld>
            <a:endParaRPr lang="zh-TW" altLang="en-US"/>
          </a:p>
        </p:txBody>
      </p:sp>
      <p:sp>
        <p:nvSpPr>
          <p:cNvPr id="84" name="文字版面配置區 3">
            <a:extLst>
              <a:ext uri="{FF2B5EF4-FFF2-40B4-BE49-F238E27FC236}">
                <a16:creationId xmlns:a16="http://schemas.microsoft.com/office/drawing/2014/main" id="{CB52433A-16BB-D475-83A3-AC90D32E3E52}"/>
              </a:ext>
            </a:extLst>
          </p:cNvPr>
          <p:cNvSpPr>
            <a:spLocks noGrp="1"/>
          </p:cNvSpPr>
          <p:nvPr>
            <p:ph type="body" sz="quarter" idx="37"/>
          </p:nvPr>
        </p:nvSpPr>
        <p:spPr>
          <a:xfrm>
            <a:off x="1408073" y="1144940"/>
            <a:ext cx="6319206" cy="403471"/>
          </a:xfrm>
          <a:prstGeom prst="rect">
            <a:avLst/>
          </a:prstGeom>
        </p:spPr>
        <p:txBody>
          <a:bodyPr/>
          <a:lstStyle>
            <a:lvl1pPr marL="0" indent="0">
              <a:buNone/>
              <a:defRPr sz="1800">
                <a:solidFill>
                  <a:schemeClr val="tx1">
                    <a:lumMod val="85000"/>
                    <a:lumOff val="15000"/>
                  </a:schemeClr>
                </a:solidFill>
              </a:defRPr>
            </a:lvl1pPr>
            <a:lvl2pPr marL="457200" indent="0">
              <a:buNone/>
              <a:defRPr>
                <a:solidFill>
                  <a:schemeClr val="tx1">
                    <a:lumMod val="85000"/>
                    <a:lumOff val="15000"/>
                  </a:schemeClr>
                </a:solidFill>
              </a:defRPr>
            </a:lvl2pPr>
            <a:lvl3pPr marL="914400" indent="0">
              <a:buNone/>
              <a:defRPr>
                <a:solidFill>
                  <a:schemeClr val="tx1">
                    <a:lumMod val="85000"/>
                    <a:lumOff val="15000"/>
                  </a:schemeClr>
                </a:solidFill>
              </a:defRPr>
            </a:lvl3pPr>
            <a:lvl4pPr marL="1371600" indent="0">
              <a:buNone/>
              <a:defRPr>
                <a:solidFill>
                  <a:schemeClr val="tx1">
                    <a:lumMod val="85000"/>
                    <a:lumOff val="15000"/>
                  </a:schemeClr>
                </a:solidFill>
              </a:defRPr>
            </a:lvl4pPr>
            <a:lvl5pPr marL="1828800" indent="0">
              <a:buNone/>
              <a:defRPr>
                <a:solidFill>
                  <a:schemeClr val="tx1">
                    <a:lumMod val="85000"/>
                    <a:lumOff val="15000"/>
                  </a:schemeClr>
                </a:solidFill>
              </a:defRPr>
            </a:lvl5pPr>
          </a:lstStyle>
          <a:p>
            <a:pPr lvl="0"/>
            <a:r>
              <a:rPr lang="zh-TW" altLang="en-US"/>
              <a:t>按一下以編輯母片文字樣式</a:t>
            </a:r>
          </a:p>
        </p:txBody>
      </p:sp>
      <p:grpSp>
        <p:nvGrpSpPr>
          <p:cNvPr id="4" name="群組 3">
            <a:extLst>
              <a:ext uri="{FF2B5EF4-FFF2-40B4-BE49-F238E27FC236}">
                <a16:creationId xmlns:a16="http://schemas.microsoft.com/office/drawing/2014/main" id="{49A9E196-C014-F207-4262-B85F73AAE7A2}"/>
              </a:ext>
            </a:extLst>
          </p:cNvPr>
          <p:cNvGrpSpPr/>
          <p:nvPr userDrawn="1"/>
        </p:nvGrpSpPr>
        <p:grpSpPr>
          <a:xfrm>
            <a:off x="-1785668" y="0"/>
            <a:ext cx="1761000" cy="6858000"/>
            <a:chOff x="-1785668" y="0"/>
            <a:chExt cx="1761000" cy="6858000"/>
          </a:xfrm>
        </p:grpSpPr>
        <p:sp>
          <p:nvSpPr>
            <p:cNvPr id="5" name="矩形 4">
              <a:extLst>
                <a:ext uri="{FF2B5EF4-FFF2-40B4-BE49-F238E27FC236}">
                  <a16:creationId xmlns:a16="http://schemas.microsoft.com/office/drawing/2014/main" id="{A805C029-4481-4FBC-E8A1-5F6B97DBADA8}"/>
                </a:ext>
              </a:extLst>
            </p:cNvPr>
            <p:cNvSpPr/>
            <p:nvPr/>
          </p:nvSpPr>
          <p:spPr>
            <a:xfrm>
              <a:off x="-1785668" y="0"/>
              <a:ext cx="173014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 name="群組 6">
              <a:extLst>
                <a:ext uri="{FF2B5EF4-FFF2-40B4-BE49-F238E27FC236}">
                  <a16:creationId xmlns:a16="http://schemas.microsoft.com/office/drawing/2014/main" id="{0BB33B9D-A26F-5C03-256E-13C27A67ABF9}"/>
                </a:ext>
              </a:extLst>
            </p:cNvPr>
            <p:cNvGrpSpPr/>
            <p:nvPr/>
          </p:nvGrpSpPr>
          <p:grpSpPr>
            <a:xfrm>
              <a:off x="-1664884" y="4899626"/>
              <a:ext cx="1640216" cy="845815"/>
              <a:chOff x="5394551" y="3637348"/>
              <a:chExt cx="3439477" cy="1743227"/>
            </a:xfrm>
          </p:grpSpPr>
          <p:grpSp>
            <p:nvGrpSpPr>
              <p:cNvPr id="53" name="群組 52">
                <a:extLst>
                  <a:ext uri="{FF2B5EF4-FFF2-40B4-BE49-F238E27FC236}">
                    <a16:creationId xmlns:a16="http://schemas.microsoft.com/office/drawing/2014/main" id="{38EED8F5-A457-785D-4FBF-2255DB6A2938}"/>
                  </a:ext>
                </a:extLst>
              </p:cNvPr>
              <p:cNvGrpSpPr/>
              <p:nvPr/>
            </p:nvGrpSpPr>
            <p:grpSpPr>
              <a:xfrm>
                <a:off x="5394551" y="3702294"/>
                <a:ext cx="2405597" cy="433894"/>
                <a:chOff x="5394551" y="3702294"/>
                <a:chExt cx="2405597" cy="433894"/>
              </a:xfrm>
            </p:grpSpPr>
            <p:sp>
              <p:nvSpPr>
                <p:cNvPr id="82" name="橢圓 81">
                  <a:extLst>
                    <a:ext uri="{FF2B5EF4-FFF2-40B4-BE49-F238E27FC236}">
                      <a16:creationId xmlns:a16="http://schemas.microsoft.com/office/drawing/2014/main" id="{F995233A-4CF1-CD72-67CD-61878BAFE281}"/>
                    </a:ext>
                  </a:extLst>
                </p:cNvPr>
                <p:cNvSpPr/>
                <p:nvPr/>
              </p:nvSpPr>
              <p:spPr>
                <a:xfrm>
                  <a:off x="5919539" y="3702294"/>
                  <a:ext cx="409998" cy="409998"/>
                </a:xfrm>
                <a:prstGeom prst="ellipse">
                  <a:avLst/>
                </a:prstGeom>
                <a:solidFill>
                  <a:srgbClr val="FF89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83" name="橢圓 82">
                  <a:extLst>
                    <a:ext uri="{FF2B5EF4-FFF2-40B4-BE49-F238E27FC236}">
                      <a16:creationId xmlns:a16="http://schemas.microsoft.com/office/drawing/2014/main" id="{556981EE-F696-B56C-E9D4-9893D5A7079D}"/>
                    </a:ext>
                  </a:extLst>
                </p:cNvPr>
                <p:cNvSpPr/>
                <p:nvPr/>
              </p:nvSpPr>
              <p:spPr>
                <a:xfrm>
                  <a:off x="6409743" y="3708894"/>
                  <a:ext cx="409998" cy="409998"/>
                </a:xfrm>
                <a:prstGeom prst="ellipse">
                  <a:avLst/>
                </a:prstGeom>
                <a:solidFill>
                  <a:srgbClr val="E58B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52" name="橢圓 151">
                  <a:extLst>
                    <a:ext uri="{FF2B5EF4-FFF2-40B4-BE49-F238E27FC236}">
                      <a16:creationId xmlns:a16="http://schemas.microsoft.com/office/drawing/2014/main" id="{EB8166F1-B945-F019-3C4F-9D67F4A1A0FA}"/>
                    </a:ext>
                  </a:extLst>
                </p:cNvPr>
                <p:cNvSpPr/>
                <p:nvPr/>
              </p:nvSpPr>
              <p:spPr>
                <a:xfrm>
                  <a:off x="6899947" y="3721732"/>
                  <a:ext cx="409998" cy="409998"/>
                </a:xfrm>
                <a:prstGeom prst="ellipse">
                  <a:avLst/>
                </a:prstGeom>
                <a:solidFill>
                  <a:srgbClr val="D83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53" name="橢圓 152">
                  <a:extLst>
                    <a:ext uri="{FF2B5EF4-FFF2-40B4-BE49-F238E27FC236}">
                      <a16:creationId xmlns:a16="http://schemas.microsoft.com/office/drawing/2014/main" id="{28074114-F729-3449-E115-DF2BCA24E2F9}"/>
                    </a:ext>
                  </a:extLst>
                </p:cNvPr>
                <p:cNvSpPr/>
                <p:nvPr/>
              </p:nvSpPr>
              <p:spPr>
                <a:xfrm>
                  <a:off x="7390150" y="3726190"/>
                  <a:ext cx="409998" cy="409998"/>
                </a:xfrm>
                <a:prstGeom prst="ellipse">
                  <a:avLst/>
                </a:prstGeom>
                <a:solidFill>
                  <a:srgbClr val="864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54" name="橢圓 153">
                  <a:extLst>
                    <a:ext uri="{FF2B5EF4-FFF2-40B4-BE49-F238E27FC236}">
                      <a16:creationId xmlns:a16="http://schemas.microsoft.com/office/drawing/2014/main" id="{D247D93A-6D7D-583E-453E-DA79242389D3}"/>
                    </a:ext>
                  </a:extLst>
                </p:cNvPr>
                <p:cNvSpPr/>
                <p:nvPr userDrawn="1"/>
              </p:nvSpPr>
              <p:spPr>
                <a:xfrm>
                  <a:off x="5394551" y="3702294"/>
                  <a:ext cx="409999" cy="409999"/>
                </a:xfrm>
                <a:prstGeom prst="ellipse">
                  <a:avLst/>
                </a:prstGeom>
                <a:solidFill>
                  <a:srgbClr val="F7C2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grpSp>
          <p:sp>
            <p:nvSpPr>
              <p:cNvPr id="54" name="橢圓 53">
                <a:extLst>
                  <a:ext uri="{FF2B5EF4-FFF2-40B4-BE49-F238E27FC236}">
                    <a16:creationId xmlns:a16="http://schemas.microsoft.com/office/drawing/2014/main" id="{A94B3A09-21E1-A86F-548D-2AA294A7C7A4}"/>
                  </a:ext>
                </a:extLst>
              </p:cNvPr>
              <p:cNvSpPr/>
              <p:nvPr/>
            </p:nvSpPr>
            <p:spPr>
              <a:xfrm>
                <a:off x="5919539" y="3983759"/>
                <a:ext cx="409998" cy="409998"/>
              </a:xfrm>
              <a:prstGeom prst="ellipse">
                <a:avLst/>
              </a:prstGeom>
              <a:solidFill>
                <a:srgbClr val="FF9F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55" name="橢圓 54">
                <a:extLst>
                  <a:ext uri="{FF2B5EF4-FFF2-40B4-BE49-F238E27FC236}">
                    <a16:creationId xmlns:a16="http://schemas.microsoft.com/office/drawing/2014/main" id="{EDD283C8-FC62-65B4-5083-0E19A4EF24F5}"/>
                  </a:ext>
                </a:extLst>
              </p:cNvPr>
              <p:cNvSpPr/>
              <p:nvPr/>
            </p:nvSpPr>
            <p:spPr>
              <a:xfrm>
                <a:off x="6409743" y="3990359"/>
                <a:ext cx="409998" cy="409998"/>
              </a:xfrm>
              <a:prstGeom prst="ellipse">
                <a:avLst/>
              </a:prstGeom>
              <a:solidFill>
                <a:srgbClr val="EAA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56" name="橢圓 55">
                <a:extLst>
                  <a:ext uri="{FF2B5EF4-FFF2-40B4-BE49-F238E27FC236}">
                    <a16:creationId xmlns:a16="http://schemas.microsoft.com/office/drawing/2014/main" id="{1BCDFE57-1100-B39B-974F-7E7C1FE95351}"/>
                  </a:ext>
                </a:extLst>
              </p:cNvPr>
              <p:cNvSpPr/>
              <p:nvPr/>
            </p:nvSpPr>
            <p:spPr>
              <a:xfrm>
                <a:off x="6899947" y="4003197"/>
                <a:ext cx="409998" cy="409998"/>
              </a:xfrm>
              <a:prstGeom prst="ellipse">
                <a:avLst/>
              </a:prstGeom>
              <a:solidFill>
                <a:srgbClr val="E06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57" name="橢圓 56">
                <a:extLst>
                  <a:ext uri="{FF2B5EF4-FFF2-40B4-BE49-F238E27FC236}">
                    <a16:creationId xmlns:a16="http://schemas.microsoft.com/office/drawing/2014/main" id="{44C29C7A-C58B-BA06-8868-F7EA83CFD4C9}"/>
                  </a:ext>
                </a:extLst>
              </p:cNvPr>
              <p:cNvSpPr/>
              <p:nvPr/>
            </p:nvSpPr>
            <p:spPr>
              <a:xfrm>
                <a:off x="7390150" y="4007655"/>
                <a:ext cx="409998" cy="409998"/>
              </a:xfrm>
              <a:prstGeom prst="ellipse">
                <a:avLst/>
              </a:prstGeom>
              <a:solidFill>
                <a:srgbClr val="9F6A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58" name="橢圓 57">
                <a:extLst>
                  <a:ext uri="{FF2B5EF4-FFF2-40B4-BE49-F238E27FC236}">
                    <a16:creationId xmlns:a16="http://schemas.microsoft.com/office/drawing/2014/main" id="{A0ADE9A6-067F-DA14-C137-D90A6DE86BC4}"/>
                  </a:ext>
                </a:extLst>
              </p:cNvPr>
              <p:cNvSpPr/>
              <p:nvPr/>
            </p:nvSpPr>
            <p:spPr>
              <a:xfrm>
                <a:off x="5919539" y="4276019"/>
                <a:ext cx="409998" cy="409998"/>
              </a:xfrm>
              <a:prstGeom prst="ellipse">
                <a:avLst/>
              </a:prstGeom>
              <a:solidFill>
                <a:srgbClr val="FFB2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60" name="橢圓 59">
                <a:extLst>
                  <a:ext uri="{FF2B5EF4-FFF2-40B4-BE49-F238E27FC236}">
                    <a16:creationId xmlns:a16="http://schemas.microsoft.com/office/drawing/2014/main" id="{B03F1D51-25F3-896B-BD20-209A37AAB5BE}"/>
                  </a:ext>
                </a:extLst>
              </p:cNvPr>
              <p:cNvSpPr/>
              <p:nvPr/>
            </p:nvSpPr>
            <p:spPr>
              <a:xfrm>
                <a:off x="6409743" y="4282619"/>
                <a:ext cx="409998" cy="409998"/>
              </a:xfrm>
              <a:prstGeom prst="ellipse">
                <a:avLst/>
              </a:prstGeom>
              <a:solidFill>
                <a:srgbClr val="EF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61" name="橢圓 60">
                <a:extLst>
                  <a:ext uri="{FF2B5EF4-FFF2-40B4-BE49-F238E27FC236}">
                    <a16:creationId xmlns:a16="http://schemas.microsoft.com/office/drawing/2014/main" id="{C7F26109-1CE4-A04B-82F4-09A07E26F518}"/>
                  </a:ext>
                </a:extLst>
              </p:cNvPr>
              <p:cNvSpPr/>
              <p:nvPr/>
            </p:nvSpPr>
            <p:spPr>
              <a:xfrm>
                <a:off x="6899947" y="4295457"/>
                <a:ext cx="409998" cy="409998"/>
              </a:xfrm>
              <a:prstGeom prst="ellipse">
                <a:avLst/>
              </a:prstGeom>
              <a:solidFill>
                <a:srgbClr val="E78C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62" name="橢圓 61">
                <a:extLst>
                  <a:ext uri="{FF2B5EF4-FFF2-40B4-BE49-F238E27FC236}">
                    <a16:creationId xmlns:a16="http://schemas.microsoft.com/office/drawing/2014/main" id="{8426D093-2058-38ED-D77F-7BFD37783C67}"/>
                  </a:ext>
                </a:extLst>
              </p:cNvPr>
              <p:cNvSpPr/>
              <p:nvPr/>
            </p:nvSpPr>
            <p:spPr>
              <a:xfrm>
                <a:off x="7390150" y="4299915"/>
                <a:ext cx="409998" cy="409998"/>
              </a:xfrm>
              <a:prstGeom prst="ellipse">
                <a:avLst/>
              </a:prstGeom>
              <a:solidFill>
                <a:srgbClr val="B78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63" name="橢圓 62">
                <a:extLst>
                  <a:ext uri="{FF2B5EF4-FFF2-40B4-BE49-F238E27FC236}">
                    <a16:creationId xmlns:a16="http://schemas.microsoft.com/office/drawing/2014/main" id="{55D80836-E439-0C20-4920-AC1477C0EB2A}"/>
                  </a:ext>
                </a:extLst>
              </p:cNvPr>
              <p:cNvSpPr/>
              <p:nvPr/>
            </p:nvSpPr>
            <p:spPr>
              <a:xfrm>
                <a:off x="5919539" y="4554005"/>
                <a:ext cx="409998" cy="409998"/>
              </a:xfrm>
              <a:prstGeom prst="ellipse">
                <a:avLst/>
              </a:prstGeom>
              <a:solidFill>
                <a:srgbClr val="FFCA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64" name="橢圓 63">
                <a:extLst>
                  <a:ext uri="{FF2B5EF4-FFF2-40B4-BE49-F238E27FC236}">
                    <a16:creationId xmlns:a16="http://schemas.microsoft.com/office/drawing/2014/main" id="{59B689AC-B1E9-F12C-EBF4-EF79181A9049}"/>
                  </a:ext>
                </a:extLst>
              </p:cNvPr>
              <p:cNvSpPr/>
              <p:nvPr/>
            </p:nvSpPr>
            <p:spPr>
              <a:xfrm>
                <a:off x="6409743" y="4560605"/>
                <a:ext cx="409998" cy="409998"/>
              </a:xfrm>
              <a:prstGeom prst="ellipse">
                <a:avLst/>
              </a:prstGeom>
              <a:solidFill>
                <a:srgbClr val="F4D1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66" name="橢圓 65">
                <a:extLst>
                  <a:ext uri="{FF2B5EF4-FFF2-40B4-BE49-F238E27FC236}">
                    <a16:creationId xmlns:a16="http://schemas.microsoft.com/office/drawing/2014/main" id="{FF378EAA-3ED1-BD1B-D412-2B72DCDA2EA5}"/>
                  </a:ext>
                </a:extLst>
              </p:cNvPr>
              <p:cNvSpPr/>
              <p:nvPr/>
            </p:nvSpPr>
            <p:spPr>
              <a:xfrm>
                <a:off x="6899947" y="4573443"/>
                <a:ext cx="409998" cy="409998"/>
              </a:xfrm>
              <a:prstGeom prst="ellipse">
                <a:avLst/>
              </a:prstGeom>
              <a:solidFill>
                <a:srgbClr val="EFB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67" name="橢圓 66">
                <a:extLst>
                  <a:ext uri="{FF2B5EF4-FFF2-40B4-BE49-F238E27FC236}">
                    <a16:creationId xmlns:a16="http://schemas.microsoft.com/office/drawing/2014/main" id="{B5C4D8A4-51BA-1DC0-4D8F-7350B7340479}"/>
                  </a:ext>
                </a:extLst>
              </p:cNvPr>
              <p:cNvSpPr/>
              <p:nvPr/>
            </p:nvSpPr>
            <p:spPr>
              <a:xfrm>
                <a:off x="7390150" y="4577901"/>
                <a:ext cx="409998" cy="409998"/>
              </a:xfrm>
              <a:prstGeom prst="ellipse">
                <a:avLst/>
              </a:prstGeom>
              <a:solidFill>
                <a:srgbClr val="CFB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68" name="橢圓 67">
                <a:extLst>
                  <a:ext uri="{FF2B5EF4-FFF2-40B4-BE49-F238E27FC236}">
                    <a16:creationId xmlns:a16="http://schemas.microsoft.com/office/drawing/2014/main" id="{56B278A5-336A-E3B6-7E12-9FB5F6E20B9C}"/>
                  </a:ext>
                </a:extLst>
              </p:cNvPr>
              <p:cNvSpPr/>
              <p:nvPr/>
            </p:nvSpPr>
            <p:spPr>
              <a:xfrm>
                <a:off x="5919539" y="4858289"/>
                <a:ext cx="409998" cy="409998"/>
              </a:xfrm>
              <a:prstGeom prst="ellipse">
                <a:avLst/>
              </a:prstGeom>
              <a:solidFill>
                <a:srgbClr val="FFDE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69" name="橢圓 68">
                <a:extLst>
                  <a:ext uri="{FF2B5EF4-FFF2-40B4-BE49-F238E27FC236}">
                    <a16:creationId xmlns:a16="http://schemas.microsoft.com/office/drawing/2014/main" id="{3E68FEF4-74AB-DE7C-FC1F-6278D879C36A}"/>
                  </a:ext>
                </a:extLst>
              </p:cNvPr>
              <p:cNvSpPr/>
              <p:nvPr/>
            </p:nvSpPr>
            <p:spPr>
              <a:xfrm>
                <a:off x="6409743" y="4864889"/>
                <a:ext cx="409998" cy="409998"/>
              </a:xfrm>
              <a:prstGeom prst="ellipse">
                <a:avLst/>
              </a:prstGeom>
              <a:solidFill>
                <a:srgbClr val="FAE8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70" name="橢圓 69">
                <a:extLst>
                  <a:ext uri="{FF2B5EF4-FFF2-40B4-BE49-F238E27FC236}">
                    <a16:creationId xmlns:a16="http://schemas.microsoft.com/office/drawing/2014/main" id="{67BA17D7-B5D4-873C-78B4-DA66C020D474}"/>
                  </a:ext>
                </a:extLst>
              </p:cNvPr>
              <p:cNvSpPr/>
              <p:nvPr/>
            </p:nvSpPr>
            <p:spPr>
              <a:xfrm>
                <a:off x="6899947" y="4877727"/>
                <a:ext cx="409998" cy="409998"/>
              </a:xfrm>
              <a:prstGeom prst="ellipse">
                <a:avLst/>
              </a:prstGeom>
              <a:solidFill>
                <a:srgbClr val="F7D9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71" name="橢圓 70">
                <a:extLst>
                  <a:ext uri="{FF2B5EF4-FFF2-40B4-BE49-F238E27FC236}">
                    <a16:creationId xmlns:a16="http://schemas.microsoft.com/office/drawing/2014/main" id="{747A6095-EF48-4304-E0DB-4AFB82575E86}"/>
                  </a:ext>
                </a:extLst>
              </p:cNvPr>
              <p:cNvSpPr/>
              <p:nvPr/>
            </p:nvSpPr>
            <p:spPr>
              <a:xfrm>
                <a:off x="7390150" y="4882185"/>
                <a:ext cx="409998" cy="409998"/>
              </a:xfrm>
              <a:prstGeom prst="ellipse">
                <a:avLst/>
              </a:prstGeom>
              <a:solidFill>
                <a:srgbClr val="E7DA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grpSp>
            <p:nvGrpSpPr>
              <p:cNvPr id="72" name="群組 71">
                <a:extLst>
                  <a:ext uri="{FF2B5EF4-FFF2-40B4-BE49-F238E27FC236}">
                    <a16:creationId xmlns:a16="http://schemas.microsoft.com/office/drawing/2014/main" id="{A6DEE91F-4CCF-EDF1-1F03-0E7C3A6673B6}"/>
                  </a:ext>
                </a:extLst>
              </p:cNvPr>
              <p:cNvGrpSpPr/>
              <p:nvPr/>
            </p:nvGrpSpPr>
            <p:grpSpPr>
              <a:xfrm>
                <a:off x="7794669" y="3637348"/>
                <a:ext cx="1039359" cy="1743227"/>
                <a:chOff x="7794669" y="3637348"/>
                <a:chExt cx="1039359" cy="1743227"/>
              </a:xfrm>
            </p:grpSpPr>
            <p:sp>
              <p:nvSpPr>
                <p:cNvPr id="77" name="矩形 76">
                  <a:extLst>
                    <a:ext uri="{FF2B5EF4-FFF2-40B4-BE49-F238E27FC236}">
                      <a16:creationId xmlns:a16="http://schemas.microsoft.com/office/drawing/2014/main" id="{7D110C43-4F90-EC85-5DA9-F8C21747B404}"/>
                    </a:ext>
                  </a:extLst>
                </p:cNvPr>
                <p:cNvSpPr/>
                <p:nvPr/>
              </p:nvSpPr>
              <p:spPr>
                <a:xfrm>
                  <a:off x="7794669" y="3637348"/>
                  <a:ext cx="1039359" cy="507463"/>
                </a:xfrm>
                <a:prstGeom prst="rect">
                  <a:avLst/>
                </a:prstGeom>
              </p:spPr>
              <p:txBody>
                <a:bodyPr wrap="none">
                  <a:spAutoFit/>
                </a:bodyPr>
                <a:lstStyle/>
                <a:p>
                  <a:r>
                    <a:rPr lang="en-US" altLang="zh-TW" sz="1000">
                      <a:solidFill>
                        <a:schemeClr val="bg1">
                          <a:lumMod val="50000"/>
                        </a:schemeClr>
                      </a:solidFill>
                      <a:latin typeface="roboto" panose="02000000000000000000" pitchFamily="2" charset="0"/>
                    </a:rPr>
                    <a:t>100%</a:t>
                  </a:r>
                  <a:endParaRPr lang="zh-TW" altLang="en-US" sz="1000">
                    <a:solidFill>
                      <a:schemeClr val="bg1">
                        <a:lumMod val="50000"/>
                      </a:schemeClr>
                    </a:solidFill>
                  </a:endParaRPr>
                </a:p>
              </p:txBody>
            </p:sp>
            <p:sp>
              <p:nvSpPr>
                <p:cNvPr id="78" name="矩形 77">
                  <a:extLst>
                    <a:ext uri="{FF2B5EF4-FFF2-40B4-BE49-F238E27FC236}">
                      <a16:creationId xmlns:a16="http://schemas.microsoft.com/office/drawing/2014/main" id="{A533FA25-AD4D-CAA9-BA40-A279290D8249}"/>
                    </a:ext>
                  </a:extLst>
                </p:cNvPr>
                <p:cNvSpPr/>
                <p:nvPr/>
              </p:nvSpPr>
              <p:spPr>
                <a:xfrm>
                  <a:off x="7881232" y="3958675"/>
                  <a:ext cx="888094" cy="507462"/>
                </a:xfrm>
                <a:prstGeom prst="rect">
                  <a:avLst/>
                </a:prstGeom>
              </p:spPr>
              <p:txBody>
                <a:bodyPr wrap="none">
                  <a:spAutoFit/>
                </a:bodyPr>
                <a:lstStyle/>
                <a:p>
                  <a:r>
                    <a:rPr lang="en-US" altLang="zh-TW" sz="1000">
                      <a:solidFill>
                        <a:schemeClr val="bg1">
                          <a:lumMod val="50000"/>
                        </a:schemeClr>
                      </a:solidFill>
                      <a:latin typeface="roboto" panose="02000000000000000000" pitchFamily="2" charset="0"/>
                    </a:rPr>
                    <a:t>80%</a:t>
                  </a:r>
                  <a:endParaRPr lang="zh-TW" altLang="en-US" sz="1000">
                    <a:solidFill>
                      <a:schemeClr val="bg1">
                        <a:lumMod val="50000"/>
                      </a:schemeClr>
                    </a:solidFill>
                  </a:endParaRPr>
                </a:p>
              </p:txBody>
            </p:sp>
            <p:sp>
              <p:nvSpPr>
                <p:cNvPr id="79" name="矩形 78">
                  <a:extLst>
                    <a:ext uri="{FF2B5EF4-FFF2-40B4-BE49-F238E27FC236}">
                      <a16:creationId xmlns:a16="http://schemas.microsoft.com/office/drawing/2014/main" id="{80FE7B01-C054-CDDD-1DFC-5633195A1610}"/>
                    </a:ext>
                  </a:extLst>
                </p:cNvPr>
                <p:cNvSpPr/>
                <p:nvPr/>
              </p:nvSpPr>
              <p:spPr>
                <a:xfrm>
                  <a:off x="7881232" y="4259239"/>
                  <a:ext cx="888094" cy="507462"/>
                </a:xfrm>
                <a:prstGeom prst="rect">
                  <a:avLst/>
                </a:prstGeom>
              </p:spPr>
              <p:txBody>
                <a:bodyPr wrap="none">
                  <a:spAutoFit/>
                </a:bodyPr>
                <a:lstStyle/>
                <a:p>
                  <a:r>
                    <a:rPr lang="en-US" altLang="zh-TW" sz="1000">
                      <a:solidFill>
                        <a:schemeClr val="bg1">
                          <a:lumMod val="50000"/>
                        </a:schemeClr>
                      </a:solidFill>
                      <a:latin typeface="roboto" panose="02000000000000000000" pitchFamily="2" charset="0"/>
                    </a:rPr>
                    <a:t>60%</a:t>
                  </a:r>
                  <a:endParaRPr lang="zh-TW" altLang="en-US" sz="1000">
                    <a:solidFill>
                      <a:schemeClr val="bg1">
                        <a:lumMod val="50000"/>
                      </a:schemeClr>
                    </a:solidFill>
                  </a:endParaRPr>
                </a:p>
              </p:txBody>
            </p:sp>
            <p:sp>
              <p:nvSpPr>
                <p:cNvPr id="80" name="矩形 79">
                  <a:extLst>
                    <a:ext uri="{FF2B5EF4-FFF2-40B4-BE49-F238E27FC236}">
                      <a16:creationId xmlns:a16="http://schemas.microsoft.com/office/drawing/2014/main" id="{2E7BF55F-3FF7-4D15-9806-78662E703301}"/>
                    </a:ext>
                  </a:extLst>
                </p:cNvPr>
                <p:cNvSpPr/>
                <p:nvPr/>
              </p:nvSpPr>
              <p:spPr>
                <a:xfrm>
                  <a:off x="7881232" y="4549392"/>
                  <a:ext cx="888094" cy="507462"/>
                </a:xfrm>
                <a:prstGeom prst="rect">
                  <a:avLst/>
                </a:prstGeom>
              </p:spPr>
              <p:txBody>
                <a:bodyPr wrap="none">
                  <a:spAutoFit/>
                </a:bodyPr>
                <a:lstStyle/>
                <a:p>
                  <a:r>
                    <a:rPr lang="en-US" altLang="zh-TW" sz="1000">
                      <a:solidFill>
                        <a:schemeClr val="bg1">
                          <a:lumMod val="50000"/>
                        </a:schemeClr>
                      </a:solidFill>
                      <a:latin typeface="roboto" panose="02000000000000000000" pitchFamily="2" charset="0"/>
                    </a:rPr>
                    <a:t>40%</a:t>
                  </a:r>
                  <a:endParaRPr lang="zh-TW" altLang="en-US" sz="1000">
                    <a:solidFill>
                      <a:schemeClr val="bg1">
                        <a:lumMod val="50000"/>
                      </a:schemeClr>
                    </a:solidFill>
                  </a:endParaRPr>
                </a:p>
              </p:txBody>
            </p:sp>
            <p:sp>
              <p:nvSpPr>
                <p:cNvPr id="81" name="矩形 80">
                  <a:extLst>
                    <a:ext uri="{FF2B5EF4-FFF2-40B4-BE49-F238E27FC236}">
                      <a16:creationId xmlns:a16="http://schemas.microsoft.com/office/drawing/2014/main" id="{C9E86D4A-9021-B71E-17E5-D4813C4F304A}"/>
                    </a:ext>
                  </a:extLst>
                </p:cNvPr>
                <p:cNvSpPr/>
                <p:nvPr/>
              </p:nvSpPr>
              <p:spPr>
                <a:xfrm>
                  <a:off x="7881232" y="4873113"/>
                  <a:ext cx="888094" cy="507462"/>
                </a:xfrm>
                <a:prstGeom prst="rect">
                  <a:avLst/>
                </a:prstGeom>
              </p:spPr>
              <p:txBody>
                <a:bodyPr wrap="none">
                  <a:spAutoFit/>
                </a:bodyPr>
                <a:lstStyle/>
                <a:p>
                  <a:r>
                    <a:rPr lang="en-US" altLang="zh-TW" sz="1000">
                      <a:solidFill>
                        <a:schemeClr val="bg1">
                          <a:lumMod val="50000"/>
                        </a:schemeClr>
                      </a:solidFill>
                      <a:latin typeface="roboto" panose="02000000000000000000" pitchFamily="2" charset="0"/>
                    </a:rPr>
                    <a:t>20%</a:t>
                  </a:r>
                  <a:endParaRPr lang="zh-TW" altLang="en-US" sz="1000">
                    <a:solidFill>
                      <a:schemeClr val="bg1">
                        <a:lumMod val="50000"/>
                      </a:schemeClr>
                    </a:solidFill>
                  </a:endParaRPr>
                </a:p>
              </p:txBody>
            </p:sp>
          </p:grpSp>
          <p:sp>
            <p:nvSpPr>
              <p:cNvPr id="73" name="橢圓 72">
                <a:extLst>
                  <a:ext uri="{FF2B5EF4-FFF2-40B4-BE49-F238E27FC236}">
                    <a16:creationId xmlns:a16="http://schemas.microsoft.com/office/drawing/2014/main" id="{1B36346B-E39F-2777-DBD1-45EF8E954662}"/>
                  </a:ext>
                </a:extLst>
              </p:cNvPr>
              <p:cNvSpPr/>
              <p:nvPr userDrawn="1"/>
            </p:nvSpPr>
            <p:spPr>
              <a:xfrm>
                <a:off x="5394551" y="3983759"/>
                <a:ext cx="409999" cy="409997"/>
              </a:xfrm>
              <a:prstGeom prst="ellipse">
                <a:avLst/>
              </a:prstGeom>
              <a:solidFill>
                <a:srgbClr val="F9CE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74" name="橢圓 73">
                <a:extLst>
                  <a:ext uri="{FF2B5EF4-FFF2-40B4-BE49-F238E27FC236}">
                    <a16:creationId xmlns:a16="http://schemas.microsoft.com/office/drawing/2014/main" id="{22623D87-18A0-0214-8FBF-CAA0E989EAB5}"/>
                  </a:ext>
                </a:extLst>
              </p:cNvPr>
              <p:cNvSpPr/>
              <p:nvPr userDrawn="1"/>
            </p:nvSpPr>
            <p:spPr>
              <a:xfrm>
                <a:off x="5394551" y="4276020"/>
                <a:ext cx="409999" cy="409997"/>
              </a:xfrm>
              <a:prstGeom prst="ellipse">
                <a:avLst/>
              </a:prstGeom>
              <a:solidFill>
                <a:srgbClr val="FADA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75" name="橢圓 74">
                <a:extLst>
                  <a:ext uri="{FF2B5EF4-FFF2-40B4-BE49-F238E27FC236}">
                    <a16:creationId xmlns:a16="http://schemas.microsoft.com/office/drawing/2014/main" id="{3020F963-CB5A-5FA0-6620-A142FB5135EA}"/>
                  </a:ext>
                </a:extLst>
              </p:cNvPr>
              <p:cNvSpPr/>
              <p:nvPr userDrawn="1"/>
            </p:nvSpPr>
            <p:spPr>
              <a:xfrm>
                <a:off x="5394551" y="4554006"/>
                <a:ext cx="409999" cy="409997"/>
              </a:xfrm>
              <a:prstGeom prst="ellipse">
                <a:avLst/>
              </a:prstGeom>
              <a:solidFill>
                <a:srgbClr val="FCE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76" name="橢圓 75">
                <a:extLst>
                  <a:ext uri="{FF2B5EF4-FFF2-40B4-BE49-F238E27FC236}">
                    <a16:creationId xmlns:a16="http://schemas.microsoft.com/office/drawing/2014/main" id="{F7AEBE9F-DDFD-D1CF-5E28-74D60BDE40F0}"/>
                  </a:ext>
                </a:extLst>
              </p:cNvPr>
              <p:cNvSpPr/>
              <p:nvPr userDrawn="1"/>
            </p:nvSpPr>
            <p:spPr>
              <a:xfrm>
                <a:off x="5394551" y="4858288"/>
                <a:ext cx="409999" cy="409997"/>
              </a:xfrm>
              <a:prstGeom prst="ellipse">
                <a:avLst/>
              </a:prstGeom>
              <a:solidFill>
                <a:srgbClr val="FDF3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grpSp>
        <p:grpSp>
          <p:nvGrpSpPr>
            <p:cNvPr id="8" name="群組 7">
              <a:extLst>
                <a:ext uri="{FF2B5EF4-FFF2-40B4-BE49-F238E27FC236}">
                  <a16:creationId xmlns:a16="http://schemas.microsoft.com/office/drawing/2014/main" id="{D613847E-C937-D6A9-B48C-7CA3B0D4C710}"/>
                </a:ext>
              </a:extLst>
            </p:cNvPr>
            <p:cNvGrpSpPr/>
            <p:nvPr/>
          </p:nvGrpSpPr>
          <p:grpSpPr>
            <a:xfrm>
              <a:off x="-1573701" y="153674"/>
              <a:ext cx="1412331" cy="1485543"/>
              <a:chOff x="-1888440" y="943599"/>
              <a:chExt cx="1694797" cy="1955431"/>
            </a:xfrm>
          </p:grpSpPr>
          <p:sp>
            <p:nvSpPr>
              <p:cNvPr id="46" name="橢圓 45">
                <a:extLst>
                  <a:ext uri="{FF2B5EF4-FFF2-40B4-BE49-F238E27FC236}">
                    <a16:creationId xmlns:a16="http://schemas.microsoft.com/office/drawing/2014/main" id="{5C006141-F5BF-0877-FEE4-5F843278C4BF}"/>
                  </a:ext>
                </a:extLst>
              </p:cNvPr>
              <p:cNvSpPr/>
              <p:nvPr/>
            </p:nvSpPr>
            <p:spPr>
              <a:xfrm>
                <a:off x="-1232597" y="2261704"/>
                <a:ext cx="300946" cy="342185"/>
              </a:xfrm>
              <a:prstGeom prst="ellipse">
                <a:avLst/>
              </a:prstGeom>
              <a:solidFill>
                <a:srgbClr val="0F9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p>
            </p:txBody>
          </p:sp>
          <p:sp>
            <p:nvSpPr>
              <p:cNvPr id="47" name="橢圓 46">
                <a:extLst>
                  <a:ext uri="{FF2B5EF4-FFF2-40B4-BE49-F238E27FC236}">
                    <a16:creationId xmlns:a16="http://schemas.microsoft.com/office/drawing/2014/main" id="{264E5FC9-DDC4-7B07-9F2B-29CC015AFAAB}"/>
                  </a:ext>
                </a:extLst>
              </p:cNvPr>
              <p:cNvSpPr/>
              <p:nvPr/>
            </p:nvSpPr>
            <p:spPr>
              <a:xfrm>
                <a:off x="-1680680" y="2261704"/>
                <a:ext cx="300946" cy="342185"/>
              </a:xfrm>
              <a:prstGeom prst="ellipse">
                <a:avLst/>
              </a:prstGeom>
              <a:solidFill>
                <a:srgbClr val="149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48" name="文字方塊 47">
                <a:extLst>
                  <a:ext uri="{FF2B5EF4-FFF2-40B4-BE49-F238E27FC236}">
                    <a16:creationId xmlns:a16="http://schemas.microsoft.com/office/drawing/2014/main" id="{744D183C-831F-11BA-545B-3729E10541A0}"/>
                  </a:ext>
                </a:extLst>
              </p:cNvPr>
              <p:cNvSpPr txBox="1"/>
              <p:nvPr/>
            </p:nvSpPr>
            <p:spPr>
              <a:xfrm>
                <a:off x="-1761424" y="1847619"/>
                <a:ext cx="1053440" cy="405129"/>
              </a:xfrm>
              <a:prstGeom prst="rect">
                <a:avLst/>
              </a:prstGeom>
              <a:noFill/>
            </p:spPr>
            <p:txBody>
              <a:bodyPr wrap="square" rtlCol="0">
                <a:spAutoFit/>
              </a:bodyPr>
              <a:lstStyle/>
              <a:p>
                <a:r>
                  <a:rPr lang="zh-TW" altLang="en-US" sz="1400" b="1">
                    <a:solidFill>
                      <a:schemeClr val="tx1"/>
                    </a:solidFill>
                    <a:latin typeface="微軟正黑體" panose="020B0604030504040204" pitchFamily="34" charset="-120"/>
                    <a:ea typeface="微軟正黑體" panose="020B0604030504040204" pitchFamily="34" charset="-120"/>
                  </a:rPr>
                  <a:t>主色</a:t>
                </a:r>
              </a:p>
            </p:txBody>
          </p:sp>
          <p:sp>
            <p:nvSpPr>
              <p:cNvPr id="49" name="矩形 48">
                <a:extLst>
                  <a:ext uri="{FF2B5EF4-FFF2-40B4-BE49-F238E27FC236}">
                    <a16:creationId xmlns:a16="http://schemas.microsoft.com/office/drawing/2014/main" id="{A2032A01-24E2-957B-97B7-25E5866469BA}"/>
                  </a:ext>
                </a:extLst>
              </p:cNvPr>
              <p:cNvSpPr/>
              <p:nvPr/>
            </p:nvSpPr>
            <p:spPr>
              <a:xfrm>
                <a:off x="-1709375" y="2580580"/>
                <a:ext cx="394723" cy="318449"/>
              </a:xfrm>
              <a:prstGeom prst="rect">
                <a:avLst/>
              </a:prstGeom>
            </p:spPr>
            <p:txBody>
              <a:bodyPr wrap="none">
                <a:spAutoFit/>
              </a:bodyPr>
              <a:lstStyle/>
              <a:p>
                <a:r>
                  <a:rPr lang="en-US" altLang="zh-TW" sz="972" b="1">
                    <a:solidFill>
                      <a:srgbClr val="0C0E1F"/>
                    </a:solidFill>
                    <a:latin typeface="roboto" panose="02000000000000000000" pitchFamily="2" charset="0"/>
                  </a:rPr>
                  <a:t>01</a:t>
                </a:r>
                <a:endParaRPr lang="zh-TW" altLang="en-US" sz="972" b="1"/>
              </a:p>
            </p:txBody>
          </p:sp>
          <p:sp>
            <p:nvSpPr>
              <p:cNvPr id="51" name="矩形 50">
                <a:extLst>
                  <a:ext uri="{FF2B5EF4-FFF2-40B4-BE49-F238E27FC236}">
                    <a16:creationId xmlns:a16="http://schemas.microsoft.com/office/drawing/2014/main" id="{912204E4-5811-18B6-1A50-57C409EF1748}"/>
                  </a:ext>
                </a:extLst>
              </p:cNvPr>
              <p:cNvSpPr/>
              <p:nvPr/>
            </p:nvSpPr>
            <p:spPr>
              <a:xfrm>
                <a:off x="-1250342" y="2580581"/>
                <a:ext cx="394723" cy="318449"/>
              </a:xfrm>
              <a:prstGeom prst="rect">
                <a:avLst/>
              </a:prstGeom>
            </p:spPr>
            <p:txBody>
              <a:bodyPr wrap="none">
                <a:spAutoFit/>
              </a:bodyPr>
              <a:lstStyle/>
              <a:p>
                <a:r>
                  <a:rPr lang="en-US" altLang="zh-TW" sz="972" b="1">
                    <a:solidFill>
                      <a:srgbClr val="0C0E1F"/>
                    </a:solidFill>
                    <a:latin typeface="roboto" panose="02000000000000000000" pitchFamily="2" charset="0"/>
                  </a:rPr>
                  <a:t>02</a:t>
                </a:r>
                <a:endParaRPr lang="zh-TW" altLang="en-US" sz="972" b="1"/>
              </a:p>
            </p:txBody>
          </p:sp>
          <p:sp>
            <p:nvSpPr>
              <p:cNvPr id="52" name="文字方塊 51">
                <a:extLst>
                  <a:ext uri="{FF2B5EF4-FFF2-40B4-BE49-F238E27FC236}">
                    <a16:creationId xmlns:a16="http://schemas.microsoft.com/office/drawing/2014/main" id="{D49A4CCF-9741-61FB-B91F-91C8226381C1}"/>
                  </a:ext>
                </a:extLst>
              </p:cNvPr>
              <p:cNvSpPr txBox="1"/>
              <p:nvPr/>
            </p:nvSpPr>
            <p:spPr>
              <a:xfrm>
                <a:off x="-1888440" y="943599"/>
                <a:ext cx="1694797" cy="405129"/>
              </a:xfrm>
              <a:prstGeom prst="rect">
                <a:avLst/>
              </a:prstGeom>
              <a:noFill/>
            </p:spPr>
            <p:txBody>
              <a:bodyPr wrap="square" rtlCol="0">
                <a:spAutoFit/>
              </a:bodyPr>
              <a:lstStyle/>
              <a:p>
                <a:r>
                  <a:rPr lang="zh-TW" altLang="en-US" sz="1400" b="1">
                    <a:solidFill>
                      <a:schemeClr val="tx1"/>
                    </a:solidFill>
                    <a:latin typeface="微軟正黑體" panose="020B0604030504040204" pitchFamily="34" charset="-120"/>
                    <a:ea typeface="微軟正黑體" panose="020B0604030504040204" pitchFamily="34" charset="-120"/>
                  </a:rPr>
                  <a:t>色彩使用說明</a:t>
                </a:r>
              </a:p>
            </p:txBody>
          </p:sp>
        </p:grpSp>
        <p:sp>
          <p:nvSpPr>
            <p:cNvPr id="9" name="矩形 8">
              <a:extLst>
                <a:ext uri="{FF2B5EF4-FFF2-40B4-BE49-F238E27FC236}">
                  <a16:creationId xmlns:a16="http://schemas.microsoft.com/office/drawing/2014/main" id="{BDB2DB7A-B9EF-3A2C-01F7-D47653A132D3}"/>
                </a:ext>
              </a:extLst>
            </p:cNvPr>
            <p:cNvSpPr/>
            <p:nvPr/>
          </p:nvSpPr>
          <p:spPr>
            <a:xfrm>
              <a:off x="-1702286" y="5700044"/>
              <a:ext cx="328936" cy="241926"/>
            </a:xfrm>
            <a:prstGeom prst="rect">
              <a:avLst/>
            </a:prstGeom>
          </p:spPr>
          <p:txBody>
            <a:bodyPr wrap="none">
              <a:spAutoFit/>
            </a:bodyPr>
            <a:lstStyle/>
            <a:p>
              <a:r>
                <a:rPr lang="en-US" altLang="zh-TW" sz="972" b="1">
                  <a:solidFill>
                    <a:srgbClr val="0C0E1F"/>
                  </a:solidFill>
                  <a:latin typeface="roboto" panose="02000000000000000000" pitchFamily="2" charset="0"/>
                </a:rPr>
                <a:t>06</a:t>
              </a:r>
              <a:endParaRPr lang="zh-TW" altLang="en-US" sz="972" b="1"/>
            </a:p>
          </p:txBody>
        </p:sp>
        <p:sp>
          <p:nvSpPr>
            <p:cNvPr id="10" name="矩形 9">
              <a:extLst>
                <a:ext uri="{FF2B5EF4-FFF2-40B4-BE49-F238E27FC236}">
                  <a16:creationId xmlns:a16="http://schemas.microsoft.com/office/drawing/2014/main" id="{AE08E296-B6B9-997F-22CD-9A460F771ABD}"/>
                </a:ext>
              </a:extLst>
            </p:cNvPr>
            <p:cNvSpPr/>
            <p:nvPr/>
          </p:nvSpPr>
          <p:spPr>
            <a:xfrm>
              <a:off x="-1483628" y="5700044"/>
              <a:ext cx="328936" cy="241926"/>
            </a:xfrm>
            <a:prstGeom prst="rect">
              <a:avLst/>
            </a:prstGeom>
          </p:spPr>
          <p:txBody>
            <a:bodyPr wrap="none">
              <a:spAutoFit/>
            </a:bodyPr>
            <a:lstStyle/>
            <a:p>
              <a:r>
                <a:rPr lang="en-US" altLang="zh-TW" sz="972" b="1">
                  <a:solidFill>
                    <a:srgbClr val="0C0E1F"/>
                  </a:solidFill>
                  <a:latin typeface="roboto" panose="02000000000000000000" pitchFamily="2" charset="0"/>
                </a:rPr>
                <a:t>07</a:t>
              </a:r>
              <a:endParaRPr lang="zh-TW" altLang="en-US" sz="972" b="1"/>
            </a:p>
          </p:txBody>
        </p:sp>
        <p:sp>
          <p:nvSpPr>
            <p:cNvPr id="11" name="矩形 10">
              <a:extLst>
                <a:ext uri="{FF2B5EF4-FFF2-40B4-BE49-F238E27FC236}">
                  <a16:creationId xmlns:a16="http://schemas.microsoft.com/office/drawing/2014/main" id="{0CD465D5-3066-C83F-055E-CCCBF4FB9D52}"/>
                </a:ext>
              </a:extLst>
            </p:cNvPr>
            <p:cNvSpPr/>
            <p:nvPr/>
          </p:nvSpPr>
          <p:spPr>
            <a:xfrm>
              <a:off x="-1243130" y="5700044"/>
              <a:ext cx="328936" cy="241926"/>
            </a:xfrm>
            <a:prstGeom prst="rect">
              <a:avLst/>
            </a:prstGeom>
          </p:spPr>
          <p:txBody>
            <a:bodyPr wrap="none">
              <a:spAutoFit/>
            </a:bodyPr>
            <a:lstStyle/>
            <a:p>
              <a:r>
                <a:rPr lang="en-US" altLang="zh-TW" sz="972" b="1">
                  <a:solidFill>
                    <a:srgbClr val="0C0E1F"/>
                  </a:solidFill>
                  <a:latin typeface="roboto" panose="02000000000000000000" pitchFamily="2" charset="0"/>
                </a:rPr>
                <a:t>08</a:t>
              </a:r>
              <a:endParaRPr lang="zh-TW" altLang="en-US" sz="972" b="1"/>
            </a:p>
          </p:txBody>
        </p:sp>
        <p:sp>
          <p:nvSpPr>
            <p:cNvPr id="12" name="矩形 11">
              <a:extLst>
                <a:ext uri="{FF2B5EF4-FFF2-40B4-BE49-F238E27FC236}">
                  <a16:creationId xmlns:a16="http://schemas.microsoft.com/office/drawing/2014/main" id="{60BDADD5-7E48-CFAB-280D-E4D89538F02A}"/>
                </a:ext>
              </a:extLst>
            </p:cNvPr>
            <p:cNvSpPr/>
            <p:nvPr/>
          </p:nvSpPr>
          <p:spPr>
            <a:xfrm>
              <a:off x="-1015108" y="5700044"/>
              <a:ext cx="328936" cy="241926"/>
            </a:xfrm>
            <a:prstGeom prst="rect">
              <a:avLst/>
            </a:prstGeom>
          </p:spPr>
          <p:txBody>
            <a:bodyPr wrap="none">
              <a:spAutoFit/>
            </a:bodyPr>
            <a:lstStyle/>
            <a:p>
              <a:r>
                <a:rPr lang="en-US" altLang="zh-TW" sz="972" b="1">
                  <a:solidFill>
                    <a:srgbClr val="0C0E1F"/>
                  </a:solidFill>
                  <a:latin typeface="roboto" panose="02000000000000000000" pitchFamily="2" charset="0"/>
                </a:rPr>
                <a:t>09</a:t>
              </a:r>
              <a:endParaRPr lang="zh-TW" altLang="en-US" sz="972" b="1"/>
            </a:p>
          </p:txBody>
        </p:sp>
        <p:grpSp>
          <p:nvGrpSpPr>
            <p:cNvPr id="13" name="群組 12">
              <a:extLst>
                <a:ext uri="{FF2B5EF4-FFF2-40B4-BE49-F238E27FC236}">
                  <a16:creationId xmlns:a16="http://schemas.microsoft.com/office/drawing/2014/main" id="{364D488B-A88C-57CC-C6B9-F496B7A09E06}"/>
                </a:ext>
              </a:extLst>
            </p:cNvPr>
            <p:cNvGrpSpPr/>
            <p:nvPr/>
          </p:nvGrpSpPr>
          <p:grpSpPr>
            <a:xfrm>
              <a:off x="-1460871" y="2728878"/>
              <a:ext cx="1022091" cy="781606"/>
              <a:chOff x="-1753046" y="4692207"/>
              <a:chExt cx="1332283" cy="1030796"/>
            </a:xfrm>
          </p:grpSpPr>
          <p:sp>
            <p:nvSpPr>
              <p:cNvPr id="26" name="橢圓 25">
                <a:extLst>
                  <a:ext uri="{FF2B5EF4-FFF2-40B4-BE49-F238E27FC236}">
                    <a16:creationId xmlns:a16="http://schemas.microsoft.com/office/drawing/2014/main" id="{C78B11AD-2032-EA3A-A8E1-D44995C74F40}"/>
                  </a:ext>
                </a:extLst>
              </p:cNvPr>
              <p:cNvSpPr/>
              <p:nvPr/>
            </p:nvSpPr>
            <p:spPr>
              <a:xfrm>
                <a:off x="-1243720" y="5088658"/>
                <a:ext cx="336496" cy="336496"/>
              </a:xfrm>
              <a:prstGeom prst="ellipse">
                <a:avLst/>
              </a:prstGeom>
              <a:solidFill>
                <a:srgbClr val="004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27" name="橢圓 26">
                <a:extLst>
                  <a:ext uri="{FF2B5EF4-FFF2-40B4-BE49-F238E27FC236}">
                    <a16:creationId xmlns:a16="http://schemas.microsoft.com/office/drawing/2014/main" id="{17CF2431-2F87-8FAD-09A4-5C91947E3202}"/>
                  </a:ext>
                </a:extLst>
              </p:cNvPr>
              <p:cNvSpPr/>
              <p:nvPr/>
            </p:nvSpPr>
            <p:spPr>
              <a:xfrm>
                <a:off x="-827077" y="5086996"/>
                <a:ext cx="336496" cy="3364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28" name="橢圓 27">
                <a:extLst>
                  <a:ext uri="{FF2B5EF4-FFF2-40B4-BE49-F238E27FC236}">
                    <a16:creationId xmlns:a16="http://schemas.microsoft.com/office/drawing/2014/main" id="{F7D576BB-DAC5-DD87-6838-3534D9434EEA}"/>
                  </a:ext>
                </a:extLst>
              </p:cNvPr>
              <p:cNvSpPr/>
              <p:nvPr/>
            </p:nvSpPr>
            <p:spPr>
              <a:xfrm>
                <a:off x="-1682637" y="5090729"/>
                <a:ext cx="336496" cy="336496"/>
              </a:xfrm>
              <a:prstGeom prst="ellipse">
                <a:avLst/>
              </a:prstGeom>
              <a:solidFill>
                <a:srgbClr val="00D4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29" name="矩形 28">
                <a:extLst>
                  <a:ext uri="{FF2B5EF4-FFF2-40B4-BE49-F238E27FC236}">
                    <a16:creationId xmlns:a16="http://schemas.microsoft.com/office/drawing/2014/main" id="{65E0C00C-055C-0A22-7822-E2EEE24A0316}"/>
                  </a:ext>
                </a:extLst>
              </p:cNvPr>
              <p:cNvSpPr/>
              <p:nvPr/>
            </p:nvSpPr>
            <p:spPr>
              <a:xfrm>
                <a:off x="-1753046" y="4943350"/>
                <a:ext cx="240794" cy="324721"/>
              </a:xfrm>
              <a:prstGeom prst="rect">
                <a:avLst/>
              </a:prstGeom>
            </p:spPr>
            <p:txBody>
              <a:bodyPr wrap="none">
                <a:spAutoFit/>
              </a:bodyPr>
              <a:lstStyle/>
              <a:p>
                <a:endParaRPr lang="zh-TW" altLang="en-US" sz="1000">
                  <a:solidFill>
                    <a:schemeClr val="bg1">
                      <a:lumMod val="50000"/>
                    </a:schemeClr>
                  </a:solidFill>
                </a:endParaRPr>
              </a:p>
            </p:txBody>
          </p:sp>
          <p:sp>
            <p:nvSpPr>
              <p:cNvPr id="35" name="矩形 34">
                <a:extLst>
                  <a:ext uri="{FF2B5EF4-FFF2-40B4-BE49-F238E27FC236}">
                    <a16:creationId xmlns:a16="http://schemas.microsoft.com/office/drawing/2014/main" id="{EBF7585B-3A63-2214-CF74-E345E61DB234}"/>
                  </a:ext>
                </a:extLst>
              </p:cNvPr>
              <p:cNvSpPr/>
              <p:nvPr/>
            </p:nvSpPr>
            <p:spPr>
              <a:xfrm>
                <a:off x="-1709377" y="5403947"/>
                <a:ext cx="428764" cy="319056"/>
              </a:xfrm>
              <a:prstGeom prst="rect">
                <a:avLst/>
              </a:prstGeom>
            </p:spPr>
            <p:txBody>
              <a:bodyPr wrap="none">
                <a:spAutoFit/>
              </a:bodyPr>
              <a:lstStyle/>
              <a:p>
                <a:r>
                  <a:rPr lang="en-US" altLang="zh-TW" sz="972" b="1">
                    <a:solidFill>
                      <a:srgbClr val="0C0E1F"/>
                    </a:solidFill>
                    <a:latin typeface="roboto" panose="02000000000000000000" pitchFamily="2" charset="0"/>
                  </a:rPr>
                  <a:t>03</a:t>
                </a:r>
                <a:endParaRPr lang="zh-TW" altLang="en-US" sz="972" b="1"/>
              </a:p>
            </p:txBody>
          </p:sp>
          <p:sp>
            <p:nvSpPr>
              <p:cNvPr id="36" name="矩形 35">
                <a:extLst>
                  <a:ext uri="{FF2B5EF4-FFF2-40B4-BE49-F238E27FC236}">
                    <a16:creationId xmlns:a16="http://schemas.microsoft.com/office/drawing/2014/main" id="{377C7FEC-0D4E-840B-305B-0806135EECC8}"/>
                  </a:ext>
                </a:extLst>
              </p:cNvPr>
              <p:cNvSpPr/>
              <p:nvPr/>
            </p:nvSpPr>
            <p:spPr>
              <a:xfrm>
                <a:off x="-1272620" y="5403947"/>
                <a:ext cx="428764" cy="319056"/>
              </a:xfrm>
              <a:prstGeom prst="rect">
                <a:avLst/>
              </a:prstGeom>
            </p:spPr>
            <p:txBody>
              <a:bodyPr wrap="none">
                <a:spAutoFit/>
              </a:bodyPr>
              <a:lstStyle/>
              <a:p>
                <a:r>
                  <a:rPr lang="en-US" altLang="zh-TW" sz="972" b="1">
                    <a:solidFill>
                      <a:srgbClr val="0C0E1F"/>
                    </a:solidFill>
                    <a:latin typeface="roboto" panose="02000000000000000000" pitchFamily="2" charset="0"/>
                  </a:rPr>
                  <a:t>04</a:t>
                </a:r>
                <a:endParaRPr lang="zh-TW" altLang="en-US" sz="972" b="1"/>
              </a:p>
            </p:txBody>
          </p:sp>
          <p:sp>
            <p:nvSpPr>
              <p:cNvPr id="43" name="矩形 42">
                <a:extLst>
                  <a:ext uri="{FF2B5EF4-FFF2-40B4-BE49-F238E27FC236}">
                    <a16:creationId xmlns:a16="http://schemas.microsoft.com/office/drawing/2014/main" id="{6F05121D-80ED-E089-146C-2716266BBA26}"/>
                  </a:ext>
                </a:extLst>
              </p:cNvPr>
              <p:cNvSpPr/>
              <p:nvPr/>
            </p:nvSpPr>
            <p:spPr>
              <a:xfrm>
                <a:off x="-849527" y="5403947"/>
                <a:ext cx="428764" cy="319056"/>
              </a:xfrm>
              <a:prstGeom prst="rect">
                <a:avLst/>
              </a:prstGeom>
            </p:spPr>
            <p:txBody>
              <a:bodyPr wrap="none">
                <a:spAutoFit/>
              </a:bodyPr>
              <a:lstStyle/>
              <a:p>
                <a:r>
                  <a:rPr lang="en-US" altLang="zh-TW" sz="972" b="1">
                    <a:solidFill>
                      <a:srgbClr val="0C0E1F"/>
                    </a:solidFill>
                    <a:latin typeface="roboto" panose="02000000000000000000" pitchFamily="2" charset="0"/>
                  </a:rPr>
                  <a:t>05</a:t>
                </a:r>
                <a:endParaRPr lang="zh-TW" altLang="en-US" sz="972" b="1"/>
              </a:p>
            </p:txBody>
          </p:sp>
          <p:sp>
            <p:nvSpPr>
              <p:cNvPr id="45" name="矩形 44">
                <a:extLst>
                  <a:ext uri="{FF2B5EF4-FFF2-40B4-BE49-F238E27FC236}">
                    <a16:creationId xmlns:a16="http://schemas.microsoft.com/office/drawing/2014/main" id="{69F0D174-75BB-C4F4-91B7-03E5B50D9661}"/>
                  </a:ext>
                </a:extLst>
              </p:cNvPr>
              <p:cNvSpPr/>
              <p:nvPr/>
            </p:nvSpPr>
            <p:spPr>
              <a:xfrm>
                <a:off x="-1753043" y="4692207"/>
                <a:ext cx="1135013" cy="392288"/>
              </a:xfrm>
              <a:prstGeom prst="rect">
                <a:avLst/>
              </a:prstGeom>
            </p:spPr>
            <p:txBody>
              <a:bodyPr wrap="none">
                <a:spAutoFit/>
              </a:bodyPr>
              <a:lstStyle/>
              <a:p>
                <a:r>
                  <a:rPr lang="zh-TW" altLang="en-US" sz="1333" b="1">
                    <a:solidFill>
                      <a:srgbClr val="0C0E1F"/>
                    </a:solidFill>
                    <a:latin typeface="roboto" panose="02000000000000000000" pitchFamily="2" charset="0"/>
                  </a:rPr>
                  <a:t>一級輔色</a:t>
                </a:r>
                <a:endParaRPr lang="zh-TW" altLang="en-US" sz="1333" b="1"/>
              </a:p>
            </p:txBody>
          </p:sp>
        </p:grpSp>
        <p:sp>
          <p:nvSpPr>
            <p:cNvPr id="14" name="矩形 13">
              <a:extLst>
                <a:ext uri="{FF2B5EF4-FFF2-40B4-BE49-F238E27FC236}">
                  <a16:creationId xmlns:a16="http://schemas.microsoft.com/office/drawing/2014/main" id="{7CC102B1-BA92-3CFE-74B3-5B87E4B7F241}"/>
                </a:ext>
              </a:extLst>
            </p:cNvPr>
            <p:cNvSpPr/>
            <p:nvPr/>
          </p:nvSpPr>
          <p:spPr>
            <a:xfrm>
              <a:off x="-1460869" y="4589324"/>
              <a:ext cx="870751" cy="297454"/>
            </a:xfrm>
            <a:prstGeom prst="rect">
              <a:avLst/>
            </a:prstGeom>
          </p:spPr>
          <p:txBody>
            <a:bodyPr wrap="none">
              <a:spAutoFit/>
            </a:bodyPr>
            <a:lstStyle/>
            <a:p>
              <a:r>
                <a:rPr lang="zh-TW" altLang="en-US" sz="1333" b="1">
                  <a:solidFill>
                    <a:srgbClr val="0C0E1F"/>
                  </a:solidFill>
                  <a:latin typeface="roboto" panose="02000000000000000000" pitchFamily="2" charset="0"/>
                </a:rPr>
                <a:t>二級輔色</a:t>
              </a:r>
              <a:endParaRPr lang="zh-TW" altLang="en-US" sz="1333" b="1"/>
            </a:p>
          </p:txBody>
        </p:sp>
        <p:grpSp>
          <p:nvGrpSpPr>
            <p:cNvPr id="15" name="群組 14">
              <a:extLst>
                <a:ext uri="{FF2B5EF4-FFF2-40B4-BE49-F238E27FC236}">
                  <a16:creationId xmlns:a16="http://schemas.microsoft.com/office/drawing/2014/main" id="{0EC2EC11-C1A8-8060-D52E-710BFE5AA284}"/>
                </a:ext>
              </a:extLst>
            </p:cNvPr>
            <p:cNvGrpSpPr/>
            <p:nvPr/>
          </p:nvGrpSpPr>
          <p:grpSpPr>
            <a:xfrm>
              <a:off x="-1505076" y="1647620"/>
              <a:ext cx="1365645" cy="908113"/>
              <a:chOff x="-1505076" y="1647620"/>
              <a:chExt cx="1365645" cy="908113"/>
            </a:xfrm>
          </p:grpSpPr>
          <p:sp>
            <p:nvSpPr>
              <p:cNvPr id="24" name="矩形 23">
                <a:extLst>
                  <a:ext uri="{FF2B5EF4-FFF2-40B4-BE49-F238E27FC236}">
                    <a16:creationId xmlns:a16="http://schemas.microsoft.com/office/drawing/2014/main" id="{0FB4CFF0-ED40-EFD9-2A20-92E27D3B5777}"/>
                  </a:ext>
                </a:extLst>
              </p:cNvPr>
              <p:cNvSpPr/>
              <p:nvPr/>
            </p:nvSpPr>
            <p:spPr>
              <a:xfrm>
                <a:off x="-1477264" y="1647620"/>
                <a:ext cx="1337833" cy="246221"/>
              </a:xfrm>
              <a:prstGeom prst="rect">
                <a:avLst/>
              </a:prstGeom>
            </p:spPr>
            <p:txBody>
              <a:bodyPr wrap="square">
                <a:spAutoFit/>
              </a:bodyPr>
              <a:lstStyle/>
              <a:p>
                <a:r>
                  <a:rPr lang="zh-TW" altLang="en-US" sz="1000" b="1">
                    <a:solidFill>
                      <a:schemeClr val="tx1"/>
                    </a:solidFill>
                    <a:latin typeface="微軟正黑體" panose="020B0604030504040204" pitchFamily="34" charset="-120"/>
                    <a:ea typeface="微軟正黑體" panose="020B0604030504040204" pitchFamily="34" charset="-120"/>
                  </a:rPr>
                  <a:t>使用範圍</a:t>
                </a:r>
                <a:r>
                  <a:rPr lang="en-US" altLang="zh-TW" sz="1000" b="1">
                    <a:solidFill>
                      <a:schemeClr val="tx1"/>
                    </a:solidFill>
                    <a:latin typeface="微軟正黑體" panose="020B0604030504040204" pitchFamily="34" charset="-120"/>
                    <a:ea typeface="微軟正黑體" panose="020B0604030504040204" pitchFamily="34" charset="-120"/>
                  </a:rPr>
                  <a:t>:</a:t>
                </a:r>
                <a:endParaRPr lang="zh-TW" altLang="en-US" sz="1000" b="1">
                  <a:solidFill>
                    <a:schemeClr val="tx1"/>
                  </a:solidFill>
                  <a:latin typeface="微軟正黑體" panose="020B0604030504040204" pitchFamily="34" charset="-120"/>
                  <a:ea typeface="微軟正黑體" panose="020B0604030504040204" pitchFamily="34" charset="-120"/>
                </a:endParaRPr>
              </a:p>
            </p:txBody>
          </p:sp>
          <p:sp>
            <p:nvSpPr>
              <p:cNvPr id="25" name="文字方塊 24">
                <a:extLst>
                  <a:ext uri="{FF2B5EF4-FFF2-40B4-BE49-F238E27FC236}">
                    <a16:creationId xmlns:a16="http://schemas.microsoft.com/office/drawing/2014/main" id="{D52B943D-B17B-734C-1CB1-9B3155C7C1BC}"/>
                  </a:ext>
                </a:extLst>
              </p:cNvPr>
              <p:cNvSpPr txBox="1"/>
              <p:nvPr/>
            </p:nvSpPr>
            <p:spPr>
              <a:xfrm>
                <a:off x="-1505076" y="1847847"/>
                <a:ext cx="1297652" cy="707886"/>
              </a:xfrm>
              <a:prstGeom prst="rect">
                <a:avLst/>
              </a:prstGeom>
              <a:noFill/>
            </p:spPr>
            <p:txBody>
              <a:bodyPr wrap="square" rtlCol="0">
                <a:spAutoFit/>
              </a:bodyPr>
              <a:lstStyle/>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封面、封底、</a:t>
                </a:r>
                <a:endParaRPr lang="en-US" altLang="zh-TW" sz="1000">
                  <a:solidFill>
                    <a:srgbClr val="494A57"/>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內頁色塊、線條</a:t>
                </a:r>
                <a:endParaRPr lang="en-US" altLang="zh-TW" sz="1000">
                  <a:solidFill>
                    <a:srgbClr val="494A57"/>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副標、小標</a:t>
                </a:r>
                <a:endParaRPr lang="en-US" altLang="zh-TW" sz="1000">
                  <a:solidFill>
                    <a:srgbClr val="494A57"/>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圖表</a:t>
                </a:r>
                <a:endParaRPr lang="en-US" altLang="zh-TW" sz="1000">
                  <a:solidFill>
                    <a:srgbClr val="494A57"/>
                  </a:solidFill>
                  <a:latin typeface="微軟正黑體" panose="020B0604030504040204" pitchFamily="34" charset="-120"/>
                  <a:ea typeface="微軟正黑體" panose="020B0604030504040204" pitchFamily="34" charset="-120"/>
                </a:endParaRPr>
              </a:p>
            </p:txBody>
          </p:sp>
        </p:grpSp>
        <p:sp>
          <p:nvSpPr>
            <p:cNvPr id="16" name="矩形 15">
              <a:extLst>
                <a:ext uri="{FF2B5EF4-FFF2-40B4-BE49-F238E27FC236}">
                  <a16:creationId xmlns:a16="http://schemas.microsoft.com/office/drawing/2014/main" id="{8E072323-5F2D-BFA9-05BB-85DE6BDD416D}"/>
                </a:ext>
              </a:extLst>
            </p:cNvPr>
            <p:cNvSpPr/>
            <p:nvPr/>
          </p:nvSpPr>
          <p:spPr>
            <a:xfrm>
              <a:off x="-1583111" y="386680"/>
              <a:ext cx="1337833" cy="246221"/>
            </a:xfrm>
            <a:prstGeom prst="rect">
              <a:avLst/>
            </a:prstGeom>
          </p:spPr>
          <p:txBody>
            <a:bodyPr wrap="square">
              <a:spAutoFit/>
            </a:bodyPr>
            <a:lstStyle/>
            <a:p>
              <a:r>
                <a:rPr lang="zh-TW" altLang="en-US" sz="1000" b="1">
                  <a:solidFill>
                    <a:schemeClr val="tx1"/>
                  </a:solidFill>
                  <a:latin typeface="微軟正黑體" panose="020B0604030504040204" pitchFamily="34" charset="-120"/>
                  <a:ea typeface="微軟正黑體" panose="020B0604030504040204" pitchFamily="34" charset="-120"/>
                </a:rPr>
                <a:t>請使用滴管吸取顏色</a:t>
              </a:r>
            </a:p>
          </p:txBody>
        </p:sp>
        <p:cxnSp>
          <p:nvCxnSpPr>
            <p:cNvPr id="17" name="直線接點 16">
              <a:extLst>
                <a:ext uri="{FF2B5EF4-FFF2-40B4-BE49-F238E27FC236}">
                  <a16:creationId xmlns:a16="http://schemas.microsoft.com/office/drawing/2014/main" id="{989441EC-98CC-A3F0-3F9F-803AC54EAF9B}"/>
                </a:ext>
              </a:extLst>
            </p:cNvPr>
            <p:cNvCxnSpPr/>
            <p:nvPr/>
          </p:nvCxnSpPr>
          <p:spPr>
            <a:xfrm>
              <a:off x="-1664884" y="2566796"/>
              <a:ext cx="14656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接點 17">
              <a:extLst>
                <a:ext uri="{FF2B5EF4-FFF2-40B4-BE49-F238E27FC236}">
                  <a16:creationId xmlns:a16="http://schemas.microsoft.com/office/drawing/2014/main" id="{8B0FF61D-BFFD-1D22-28B3-E25D668699B9}"/>
                </a:ext>
              </a:extLst>
            </p:cNvPr>
            <p:cNvCxnSpPr/>
            <p:nvPr/>
          </p:nvCxnSpPr>
          <p:spPr>
            <a:xfrm>
              <a:off x="-1664884" y="4463784"/>
              <a:ext cx="1465635"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51EDD727-ECBD-4E30-2EE0-C22BE1A71D43}"/>
                </a:ext>
              </a:extLst>
            </p:cNvPr>
            <p:cNvSpPr txBox="1"/>
            <p:nvPr/>
          </p:nvSpPr>
          <p:spPr>
            <a:xfrm>
              <a:off x="-1512101" y="3772970"/>
              <a:ext cx="1389760" cy="553998"/>
            </a:xfrm>
            <a:prstGeom prst="rect">
              <a:avLst/>
            </a:prstGeom>
            <a:noFill/>
          </p:spPr>
          <p:txBody>
            <a:bodyPr wrap="square" rtlCol="0">
              <a:spAutoFit/>
            </a:bodyPr>
            <a:lstStyle/>
            <a:p>
              <a:pPr marL="171450" indent="-171450">
                <a:buFont typeface="Arial" panose="020B0604020202020204" pitchFamily="34" charset="0"/>
                <a:buChar char="•"/>
              </a:pPr>
              <a:r>
                <a:rPr lang="en-US" altLang="zh-TW" sz="1000">
                  <a:solidFill>
                    <a:srgbClr val="494A57"/>
                  </a:solidFill>
                  <a:latin typeface="微軟正黑體" panose="020B0604030504040204" pitchFamily="34" charset="-120"/>
                  <a:ea typeface="微軟正黑體" panose="020B0604030504040204" pitchFamily="34" charset="-120"/>
                </a:rPr>
                <a:t>Flat Icon</a:t>
              </a:r>
              <a:r>
                <a:rPr lang="zh-TW" altLang="en-US" sz="1000">
                  <a:solidFill>
                    <a:srgbClr val="494A57"/>
                  </a:solidFill>
                  <a:latin typeface="微軟正黑體" panose="020B0604030504040204" pitchFamily="34" charset="-120"/>
                  <a:ea typeface="微軟正黑體" panose="020B0604030504040204" pitchFamily="34" charset="-120"/>
                </a:rPr>
                <a:t>、圖表、</a:t>
              </a:r>
              <a:endParaRPr lang="en-US" altLang="zh-TW" sz="1000">
                <a:solidFill>
                  <a:srgbClr val="494A57"/>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en-US" altLang="zh-TW" sz="1000">
                  <a:solidFill>
                    <a:srgbClr val="494A57"/>
                  </a:solidFill>
                  <a:latin typeface="微軟正黑體" panose="020B0604030504040204" pitchFamily="34" charset="-120"/>
                  <a:ea typeface="微軟正黑體" panose="020B0604030504040204" pitchFamily="34" charset="-120"/>
                </a:rPr>
                <a:t>Smart Art</a:t>
              </a:r>
            </a:p>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優先使用一級輔色</a:t>
              </a:r>
              <a:endParaRPr lang="en-US" altLang="zh-TW" sz="1000">
                <a:solidFill>
                  <a:srgbClr val="494A57"/>
                </a:solidFill>
                <a:latin typeface="微軟正黑體" panose="020B0604030504040204" pitchFamily="34" charset="-120"/>
                <a:ea typeface="微軟正黑體" panose="020B0604030504040204" pitchFamily="34" charset="-120"/>
              </a:endParaRPr>
            </a:p>
          </p:txBody>
        </p:sp>
        <p:sp>
          <p:nvSpPr>
            <p:cNvPr id="20" name="文字方塊 19">
              <a:extLst>
                <a:ext uri="{FF2B5EF4-FFF2-40B4-BE49-F238E27FC236}">
                  <a16:creationId xmlns:a16="http://schemas.microsoft.com/office/drawing/2014/main" id="{B6CC3134-344B-7B1A-83CB-7352DD2E5BD9}"/>
                </a:ext>
              </a:extLst>
            </p:cNvPr>
            <p:cNvSpPr txBox="1"/>
            <p:nvPr/>
          </p:nvSpPr>
          <p:spPr>
            <a:xfrm>
              <a:off x="-1500011" y="6022946"/>
              <a:ext cx="1360580" cy="707886"/>
            </a:xfrm>
            <a:prstGeom prst="rect">
              <a:avLst/>
            </a:prstGeom>
            <a:noFill/>
          </p:spPr>
          <p:txBody>
            <a:bodyPr wrap="square" rtlCol="0">
              <a:spAutoFit/>
            </a:bodyPr>
            <a:lstStyle/>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殊情況需使用較多顏色時，二級輔色可使用</a:t>
              </a:r>
              <a:r>
                <a:rPr lang="en-US" altLang="zh-TW" sz="1000">
                  <a:solidFill>
                    <a:srgbClr val="494A57"/>
                  </a:solidFill>
                  <a:latin typeface="微軟正黑體" panose="020B0604030504040204" pitchFamily="34" charset="-120"/>
                  <a:ea typeface="微軟正黑體" panose="020B0604030504040204" pitchFamily="34" charset="-120"/>
                </a:rPr>
                <a:t>5</a:t>
              </a:r>
              <a:r>
                <a:rPr lang="zh-TW" altLang="en-US" sz="1000">
                  <a:solidFill>
                    <a:srgbClr val="494A57"/>
                  </a:solidFill>
                  <a:latin typeface="微軟正黑體" panose="020B0604030504040204" pitchFamily="34" charset="-120"/>
                  <a:ea typeface="微軟正黑體" panose="020B0604030504040204" pitchFamily="34" charset="-120"/>
                </a:rPr>
                <a:t>種顏色的漸層色階</a:t>
              </a:r>
            </a:p>
          </p:txBody>
        </p:sp>
        <p:sp>
          <p:nvSpPr>
            <p:cNvPr id="21" name="矩形 20">
              <a:extLst>
                <a:ext uri="{FF2B5EF4-FFF2-40B4-BE49-F238E27FC236}">
                  <a16:creationId xmlns:a16="http://schemas.microsoft.com/office/drawing/2014/main" id="{BB9D013A-B3F1-8BF8-2D66-63D02E544481}"/>
                </a:ext>
              </a:extLst>
            </p:cNvPr>
            <p:cNvSpPr/>
            <p:nvPr/>
          </p:nvSpPr>
          <p:spPr>
            <a:xfrm>
              <a:off x="-1477264" y="3580165"/>
              <a:ext cx="1337833" cy="246221"/>
            </a:xfrm>
            <a:prstGeom prst="rect">
              <a:avLst/>
            </a:prstGeom>
          </p:spPr>
          <p:txBody>
            <a:bodyPr wrap="square">
              <a:spAutoFit/>
            </a:bodyPr>
            <a:lstStyle/>
            <a:p>
              <a:r>
                <a:rPr lang="zh-TW" altLang="en-US" sz="1000" b="1">
                  <a:solidFill>
                    <a:schemeClr val="tx1"/>
                  </a:solidFill>
                  <a:latin typeface="微軟正黑體" panose="020B0604030504040204" pitchFamily="34" charset="-120"/>
                  <a:ea typeface="微軟正黑體" panose="020B0604030504040204" pitchFamily="34" charset="-120"/>
                </a:rPr>
                <a:t>使用範圍</a:t>
              </a:r>
              <a:r>
                <a:rPr lang="en-US" altLang="zh-TW" sz="1000" b="1">
                  <a:solidFill>
                    <a:schemeClr val="tx1"/>
                  </a:solidFill>
                  <a:latin typeface="微軟正黑體" panose="020B0604030504040204" pitchFamily="34" charset="-120"/>
                  <a:ea typeface="微軟正黑體" panose="020B0604030504040204" pitchFamily="34" charset="-120"/>
                </a:rPr>
                <a:t>:</a:t>
              </a:r>
              <a:endParaRPr lang="zh-TW" altLang="en-US" sz="1000" b="1">
                <a:solidFill>
                  <a:schemeClr val="tx1"/>
                </a:solidFill>
                <a:latin typeface="微軟正黑體" panose="020B0604030504040204" pitchFamily="34" charset="-120"/>
                <a:ea typeface="微軟正黑體" panose="020B0604030504040204" pitchFamily="34" charset="-120"/>
              </a:endParaRPr>
            </a:p>
          </p:txBody>
        </p:sp>
        <p:sp>
          <p:nvSpPr>
            <p:cNvPr id="22" name="矩形 21">
              <a:extLst>
                <a:ext uri="{FF2B5EF4-FFF2-40B4-BE49-F238E27FC236}">
                  <a16:creationId xmlns:a16="http://schemas.microsoft.com/office/drawing/2014/main" id="{589DED42-485E-004A-1DB9-0FF51F66A7DA}"/>
                </a:ext>
              </a:extLst>
            </p:cNvPr>
            <p:cNvSpPr/>
            <p:nvPr/>
          </p:nvSpPr>
          <p:spPr>
            <a:xfrm>
              <a:off x="-1610923" y="166653"/>
              <a:ext cx="1365645" cy="47128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B589875A-FBD5-3009-408A-F2B95A9C5CCE}"/>
                </a:ext>
              </a:extLst>
            </p:cNvPr>
            <p:cNvSpPr/>
            <p:nvPr userDrawn="1"/>
          </p:nvSpPr>
          <p:spPr>
            <a:xfrm>
              <a:off x="-775454" y="5700044"/>
              <a:ext cx="328936" cy="241926"/>
            </a:xfrm>
            <a:prstGeom prst="rect">
              <a:avLst/>
            </a:prstGeom>
          </p:spPr>
          <p:txBody>
            <a:bodyPr wrap="none">
              <a:spAutoFit/>
            </a:bodyPr>
            <a:lstStyle/>
            <a:p>
              <a:r>
                <a:rPr lang="en-US" altLang="zh-TW" sz="972" b="1">
                  <a:solidFill>
                    <a:srgbClr val="0C0E1F"/>
                  </a:solidFill>
                  <a:latin typeface="roboto" panose="02000000000000000000" pitchFamily="2" charset="0"/>
                </a:rPr>
                <a:t>10</a:t>
              </a:r>
              <a:endParaRPr lang="zh-TW" altLang="en-US" sz="972" b="1"/>
            </a:p>
          </p:txBody>
        </p:sp>
      </p:grpSp>
    </p:spTree>
    <p:extLst>
      <p:ext uri="{BB962C8B-B14F-4D97-AF65-F5344CB8AC3E}">
        <p14:creationId xmlns:p14="http://schemas.microsoft.com/office/powerpoint/2010/main" val="2818092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內頁版型-四Icon圖+標題文字">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cxnSp>
        <p:nvCxnSpPr>
          <p:cNvPr id="33" name="直線接點 32">
            <a:extLst>
              <a:ext uri="{FF2B5EF4-FFF2-40B4-BE49-F238E27FC236}">
                <a16:creationId xmlns:a16="http://schemas.microsoft.com/office/drawing/2014/main" id="{9FFC406D-C76E-68F5-C099-B005D0957FA5}"/>
              </a:ext>
            </a:extLst>
          </p:cNvPr>
          <p:cNvCxnSpPr/>
          <p:nvPr userDrawn="1"/>
        </p:nvCxnSpPr>
        <p:spPr>
          <a:xfrm>
            <a:off x="691022" y="3905108"/>
            <a:ext cx="10872000" cy="0"/>
          </a:xfrm>
          <a:prstGeom prst="line">
            <a:avLst/>
          </a:prstGeom>
          <a:ln>
            <a:solidFill>
              <a:srgbClr val="008FCB"/>
            </a:solidFill>
          </a:ln>
        </p:spPr>
        <p:style>
          <a:lnRef idx="1">
            <a:schemeClr val="accent1"/>
          </a:lnRef>
          <a:fillRef idx="0">
            <a:schemeClr val="accent1"/>
          </a:fillRef>
          <a:effectRef idx="0">
            <a:schemeClr val="accent1"/>
          </a:effectRef>
          <a:fontRef idx="minor">
            <a:schemeClr val="tx1"/>
          </a:fontRef>
        </p:style>
      </p:cxnSp>
      <p:sp>
        <p:nvSpPr>
          <p:cNvPr id="30" name="橢圓 29">
            <a:extLst>
              <a:ext uri="{FF2B5EF4-FFF2-40B4-BE49-F238E27FC236}">
                <a16:creationId xmlns:a16="http://schemas.microsoft.com/office/drawing/2014/main" id="{DA4858CE-7D3C-602B-4F13-F20CC3C5DF00}"/>
              </a:ext>
            </a:extLst>
          </p:cNvPr>
          <p:cNvSpPr/>
          <p:nvPr userDrawn="1"/>
        </p:nvSpPr>
        <p:spPr>
          <a:xfrm>
            <a:off x="4569316" y="2420983"/>
            <a:ext cx="2778609" cy="2778609"/>
          </a:xfrm>
          <a:prstGeom prst="ellipse">
            <a:avLst/>
          </a:prstGeom>
          <a:solidFill>
            <a:srgbClr val="FBFB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4" name="直線接點 33">
            <a:extLst>
              <a:ext uri="{FF2B5EF4-FFF2-40B4-BE49-F238E27FC236}">
                <a16:creationId xmlns:a16="http://schemas.microsoft.com/office/drawing/2014/main" id="{61A745E0-3D05-9466-A627-88326EF17FAB}"/>
              </a:ext>
            </a:extLst>
          </p:cNvPr>
          <p:cNvCxnSpPr>
            <a:cxnSpLocks/>
          </p:cNvCxnSpPr>
          <p:nvPr userDrawn="1"/>
        </p:nvCxnSpPr>
        <p:spPr>
          <a:xfrm>
            <a:off x="5944318" y="1787743"/>
            <a:ext cx="0" cy="680395"/>
          </a:xfrm>
          <a:prstGeom prst="line">
            <a:avLst/>
          </a:prstGeom>
          <a:ln>
            <a:solidFill>
              <a:srgbClr val="008FCB"/>
            </a:solidFill>
          </a:ln>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7F94CC48-150F-04A0-7DB8-DA76CAC9F1CD}"/>
              </a:ext>
            </a:extLst>
          </p:cNvPr>
          <p:cNvCxnSpPr>
            <a:cxnSpLocks/>
          </p:cNvCxnSpPr>
          <p:nvPr userDrawn="1"/>
        </p:nvCxnSpPr>
        <p:spPr>
          <a:xfrm>
            <a:off x="5944318" y="5296053"/>
            <a:ext cx="0" cy="680395"/>
          </a:xfrm>
          <a:prstGeom prst="line">
            <a:avLst/>
          </a:prstGeom>
          <a:ln>
            <a:solidFill>
              <a:srgbClr val="008FCB"/>
            </a:solidFill>
          </a:ln>
        </p:spPr>
        <p:style>
          <a:lnRef idx="1">
            <a:schemeClr val="accent1"/>
          </a:lnRef>
          <a:fillRef idx="0">
            <a:schemeClr val="accent1"/>
          </a:fillRef>
          <a:effectRef idx="0">
            <a:schemeClr val="accent1"/>
          </a:effectRef>
          <a:fontRef idx="minor">
            <a:schemeClr val="tx1"/>
          </a:fontRef>
        </p:style>
      </p:cxnSp>
      <p:sp>
        <p:nvSpPr>
          <p:cNvPr id="44" name="Text Placeholder 4">
            <a:extLst>
              <a:ext uri="{FF2B5EF4-FFF2-40B4-BE49-F238E27FC236}">
                <a16:creationId xmlns:a16="http://schemas.microsoft.com/office/drawing/2014/main" id="{CFD5E1F9-04A0-F07F-E374-AEF7CCBBC0A3}"/>
              </a:ext>
            </a:extLst>
          </p:cNvPr>
          <p:cNvSpPr>
            <a:spLocks noGrp="1"/>
          </p:cNvSpPr>
          <p:nvPr userDrawn="1">
            <p:ph type="body" sz="quarter" idx="21" hasCustomPrompt="1"/>
          </p:nvPr>
        </p:nvSpPr>
        <p:spPr>
          <a:xfrm>
            <a:off x="1285924" y="406904"/>
            <a:ext cx="5459933" cy="659975"/>
          </a:xfrm>
          <a:prstGeom prst="rect">
            <a:avLst/>
          </a:prstGeom>
        </p:spPr>
        <p:txBody>
          <a:bodyPr anchor="b">
            <a:noAutofit/>
          </a:bodyPr>
          <a:lstStyle>
            <a:lvl1pPr marL="0" indent="0" algn="l">
              <a:lnSpc>
                <a:spcPts val="2400"/>
              </a:lnSpc>
              <a:buNone/>
              <a:defRPr sz="3200" b="1" u="none">
                <a:solidFill>
                  <a:srgbClr val="1492C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TW" altLang="en-US">
                <a:solidFill>
                  <a:srgbClr val="008FC7"/>
                </a:solidFill>
              </a:rPr>
              <a:t>按一下以編輯標題樣式</a:t>
            </a:r>
          </a:p>
        </p:txBody>
      </p:sp>
      <p:sp>
        <p:nvSpPr>
          <p:cNvPr id="46" name="橢圓 45">
            <a:extLst>
              <a:ext uri="{FF2B5EF4-FFF2-40B4-BE49-F238E27FC236}">
                <a16:creationId xmlns:a16="http://schemas.microsoft.com/office/drawing/2014/main" id="{81F182AE-3100-883E-5CB9-BFC34A6B8E2F}"/>
              </a:ext>
            </a:extLst>
          </p:cNvPr>
          <p:cNvSpPr/>
          <p:nvPr userDrawn="1"/>
        </p:nvSpPr>
        <p:spPr>
          <a:xfrm>
            <a:off x="1268000" y="1597056"/>
            <a:ext cx="1043486" cy="1043486"/>
          </a:xfrm>
          <a:prstGeom prst="ellipse">
            <a:avLst/>
          </a:prstGeom>
          <a:solidFill>
            <a:srgbClr val="009E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54" name="橢圓 53">
            <a:extLst>
              <a:ext uri="{FF2B5EF4-FFF2-40B4-BE49-F238E27FC236}">
                <a16:creationId xmlns:a16="http://schemas.microsoft.com/office/drawing/2014/main" id="{98656966-994D-C6E5-6586-2E94B95276AA}"/>
              </a:ext>
            </a:extLst>
          </p:cNvPr>
          <p:cNvSpPr/>
          <p:nvPr userDrawn="1"/>
        </p:nvSpPr>
        <p:spPr>
          <a:xfrm>
            <a:off x="7543875" y="1597056"/>
            <a:ext cx="1043486" cy="1043486"/>
          </a:xfrm>
          <a:prstGeom prst="ellipse">
            <a:avLst/>
          </a:prstGeom>
          <a:solidFill>
            <a:srgbClr val="008F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58" name="矩形 57">
            <a:extLst>
              <a:ext uri="{FF2B5EF4-FFF2-40B4-BE49-F238E27FC236}">
                <a16:creationId xmlns:a16="http://schemas.microsoft.com/office/drawing/2014/main" id="{F173BBBE-081C-E0C2-719F-2167187C38DD}"/>
              </a:ext>
            </a:extLst>
          </p:cNvPr>
          <p:cNvSpPr/>
          <p:nvPr userDrawn="1"/>
        </p:nvSpPr>
        <p:spPr bwMode="gray">
          <a:xfrm>
            <a:off x="8743170" y="1822598"/>
            <a:ext cx="2203687" cy="523220"/>
          </a:xfrm>
          <a:prstGeom prst="rect">
            <a:avLst/>
          </a:prstGeom>
        </p:spPr>
        <p:txBody>
          <a:bodyPr wrap="square">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zh-TW" altLang="en-US" sz="2800" b="1" i="0" u="none" strike="noStrike" kern="1200" cap="none" spc="0" normalizeH="0" baseline="0" noProof="0">
                <a:ln>
                  <a:noFill/>
                </a:ln>
                <a:solidFill>
                  <a:srgbClr val="008FC8"/>
                </a:solidFill>
                <a:effectLst/>
                <a:uLnTx/>
                <a:uFillTx/>
                <a:latin typeface="微軟正黑體" panose="020B0604030504040204" pitchFamily="34" charset="-120"/>
                <a:ea typeface="微軟正黑體" panose="020B0604030504040204" pitchFamily="34" charset="-120"/>
                <a:cs typeface="+mn-cs"/>
              </a:rPr>
              <a:t>副標題</a:t>
            </a:r>
          </a:p>
        </p:txBody>
      </p:sp>
      <p:sp>
        <p:nvSpPr>
          <p:cNvPr id="60" name="橢圓 59">
            <a:extLst>
              <a:ext uri="{FF2B5EF4-FFF2-40B4-BE49-F238E27FC236}">
                <a16:creationId xmlns:a16="http://schemas.microsoft.com/office/drawing/2014/main" id="{44A2097D-0E50-616C-D771-E1EAE053C49C}"/>
              </a:ext>
            </a:extLst>
          </p:cNvPr>
          <p:cNvSpPr/>
          <p:nvPr userDrawn="1"/>
        </p:nvSpPr>
        <p:spPr>
          <a:xfrm>
            <a:off x="1268000" y="4528702"/>
            <a:ext cx="1043486" cy="1043486"/>
          </a:xfrm>
          <a:prstGeom prst="ellipse">
            <a:avLst/>
          </a:prstGeom>
          <a:solidFill>
            <a:srgbClr val="00D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TW" altLang="en-US">
              <a:solidFill>
                <a:srgbClr val="00D4F0"/>
              </a:solidFill>
            </a:endParaRPr>
          </a:p>
        </p:txBody>
      </p:sp>
      <p:sp>
        <p:nvSpPr>
          <p:cNvPr id="66" name="橢圓 65">
            <a:extLst>
              <a:ext uri="{FF2B5EF4-FFF2-40B4-BE49-F238E27FC236}">
                <a16:creationId xmlns:a16="http://schemas.microsoft.com/office/drawing/2014/main" id="{90179A8C-D2E2-1004-98E7-253EF632095A}"/>
              </a:ext>
            </a:extLst>
          </p:cNvPr>
          <p:cNvSpPr/>
          <p:nvPr userDrawn="1"/>
        </p:nvSpPr>
        <p:spPr>
          <a:xfrm>
            <a:off x="7543875" y="4528702"/>
            <a:ext cx="1043486" cy="1043486"/>
          </a:xfrm>
          <a:prstGeom prst="ellipse">
            <a:avLst/>
          </a:prstGeom>
          <a:solidFill>
            <a:srgbClr val="01507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zh-TW" altLang="en-US"/>
          </a:p>
        </p:txBody>
      </p:sp>
      <p:sp>
        <p:nvSpPr>
          <p:cNvPr id="59" name="文字版面配置區 5"/>
          <p:cNvSpPr>
            <a:spLocks noGrp="1"/>
          </p:cNvSpPr>
          <p:nvPr userDrawn="1">
            <p:ph type="body" sz="quarter" idx="26" hasCustomPrompt="1"/>
          </p:nvPr>
        </p:nvSpPr>
        <p:spPr>
          <a:xfrm>
            <a:off x="2502061" y="2495076"/>
            <a:ext cx="1006908" cy="329074"/>
          </a:xfrm>
          <a:prstGeom prst="rect">
            <a:avLst/>
          </a:prstGeom>
        </p:spPr>
        <p:txBody>
          <a:bodyPr/>
          <a:lstStyle>
            <a:lvl1pPr marL="0" indent="0">
              <a:buNone/>
              <a:defRPr sz="2000" b="1">
                <a:solidFill>
                  <a:srgbClr val="00A59B"/>
                </a:solidFill>
              </a:defRPr>
            </a:lvl1pPr>
          </a:lstStyle>
          <a:p>
            <a:pPr lvl="0"/>
            <a:r>
              <a:rPr lang="zh-TW" altLang="en-US"/>
              <a:t>小標題</a:t>
            </a:r>
          </a:p>
        </p:txBody>
      </p:sp>
      <p:sp>
        <p:nvSpPr>
          <p:cNvPr id="70" name="文字版面配置區 5"/>
          <p:cNvSpPr>
            <a:spLocks noGrp="1"/>
          </p:cNvSpPr>
          <p:nvPr userDrawn="1">
            <p:ph type="body" sz="quarter" idx="28" hasCustomPrompt="1"/>
          </p:nvPr>
        </p:nvSpPr>
        <p:spPr>
          <a:xfrm>
            <a:off x="2502061" y="2915608"/>
            <a:ext cx="1006908" cy="329074"/>
          </a:xfrm>
          <a:prstGeom prst="rect">
            <a:avLst/>
          </a:prstGeom>
        </p:spPr>
        <p:txBody>
          <a:bodyPr/>
          <a:lstStyle>
            <a:lvl1pPr marL="0" indent="0">
              <a:buNone/>
              <a:defRPr sz="1600" b="0">
                <a:solidFill>
                  <a:srgbClr val="232323"/>
                </a:solidFill>
              </a:defRPr>
            </a:lvl1pPr>
          </a:lstStyle>
          <a:p>
            <a:pPr lvl="0"/>
            <a:r>
              <a:rPr lang="zh-TW" altLang="en-US"/>
              <a:t>內文</a:t>
            </a:r>
          </a:p>
        </p:txBody>
      </p:sp>
      <p:sp>
        <p:nvSpPr>
          <p:cNvPr id="77" name="文字版面配置區 5"/>
          <p:cNvSpPr>
            <a:spLocks noGrp="1"/>
          </p:cNvSpPr>
          <p:nvPr userDrawn="1">
            <p:ph type="body" sz="quarter" idx="29" hasCustomPrompt="1"/>
          </p:nvPr>
        </p:nvSpPr>
        <p:spPr>
          <a:xfrm>
            <a:off x="8873607" y="2495076"/>
            <a:ext cx="1006908" cy="329074"/>
          </a:xfrm>
          <a:prstGeom prst="rect">
            <a:avLst/>
          </a:prstGeom>
        </p:spPr>
        <p:txBody>
          <a:bodyPr/>
          <a:lstStyle>
            <a:lvl1pPr marL="0" indent="0">
              <a:buNone/>
              <a:defRPr sz="2000" b="1">
                <a:solidFill>
                  <a:srgbClr val="008FC8"/>
                </a:solidFill>
              </a:defRPr>
            </a:lvl1pPr>
          </a:lstStyle>
          <a:p>
            <a:pPr lvl="0"/>
            <a:r>
              <a:rPr lang="zh-TW" altLang="en-US"/>
              <a:t>小標題</a:t>
            </a:r>
          </a:p>
        </p:txBody>
      </p:sp>
      <p:sp>
        <p:nvSpPr>
          <p:cNvPr id="84" name="文字版面配置區 5"/>
          <p:cNvSpPr>
            <a:spLocks noGrp="1"/>
          </p:cNvSpPr>
          <p:nvPr userDrawn="1">
            <p:ph type="body" sz="quarter" idx="30" hasCustomPrompt="1"/>
          </p:nvPr>
        </p:nvSpPr>
        <p:spPr>
          <a:xfrm>
            <a:off x="8873607" y="2915608"/>
            <a:ext cx="1006908" cy="329074"/>
          </a:xfrm>
          <a:prstGeom prst="rect">
            <a:avLst/>
          </a:prstGeom>
        </p:spPr>
        <p:txBody>
          <a:bodyPr/>
          <a:lstStyle>
            <a:lvl1pPr marL="0" indent="0">
              <a:buNone/>
              <a:defRPr sz="1600" b="0">
                <a:solidFill>
                  <a:srgbClr val="232323"/>
                </a:solidFill>
              </a:defRPr>
            </a:lvl1pPr>
          </a:lstStyle>
          <a:p>
            <a:pPr lvl="0"/>
            <a:r>
              <a:rPr lang="zh-TW" altLang="en-US"/>
              <a:t>內文</a:t>
            </a:r>
          </a:p>
        </p:txBody>
      </p:sp>
      <p:sp>
        <p:nvSpPr>
          <p:cNvPr id="85" name="文字版面配置區 5"/>
          <p:cNvSpPr>
            <a:spLocks noGrp="1"/>
          </p:cNvSpPr>
          <p:nvPr userDrawn="1">
            <p:ph type="body" sz="quarter" idx="31" hasCustomPrompt="1"/>
          </p:nvPr>
        </p:nvSpPr>
        <p:spPr>
          <a:xfrm>
            <a:off x="2467294" y="1805240"/>
            <a:ext cx="1430418" cy="449941"/>
          </a:xfrm>
          <a:prstGeom prst="rect">
            <a:avLst/>
          </a:prstGeom>
        </p:spPr>
        <p:txBody>
          <a:bodyPr/>
          <a:lstStyle>
            <a:lvl1pPr marL="0" indent="0">
              <a:buNone/>
              <a:defRPr sz="2800" b="1">
                <a:solidFill>
                  <a:srgbClr val="00A59B"/>
                </a:solidFill>
              </a:defRPr>
            </a:lvl1pPr>
          </a:lstStyle>
          <a:p>
            <a:pPr lvl="0"/>
            <a:r>
              <a:rPr lang="zh-TW" altLang="en-US"/>
              <a:t>副標題</a:t>
            </a:r>
          </a:p>
        </p:txBody>
      </p:sp>
      <p:sp>
        <p:nvSpPr>
          <p:cNvPr id="86" name="文字版面配置區 5"/>
          <p:cNvSpPr>
            <a:spLocks noGrp="1"/>
          </p:cNvSpPr>
          <p:nvPr userDrawn="1">
            <p:ph type="body" sz="quarter" idx="32" hasCustomPrompt="1"/>
          </p:nvPr>
        </p:nvSpPr>
        <p:spPr>
          <a:xfrm>
            <a:off x="2467294" y="4803971"/>
            <a:ext cx="1430418" cy="431887"/>
          </a:xfrm>
          <a:prstGeom prst="rect">
            <a:avLst/>
          </a:prstGeom>
        </p:spPr>
        <p:txBody>
          <a:bodyPr/>
          <a:lstStyle>
            <a:lvl1pPr marL="0" indent="0">
              <a:buNone/>
              <a:defRPr sz="2800" b="1">
                <a:solidFill>
                  <a:srgbClr val="5AE3F5"/>
                </a:solidFill>
              </a:defRPr>
            </a:lvl1pPr>
          </a:lstStyle>
          <a:p>
            <a:pPr lvl="0"/>
            <a:r>
              <a:rPr lang="zh-TW" altLang="en-US"/>
              <a:t>副標題</a:t>
            </a:r>
          </a:p>
        </p:txBody>
      </p:sp>
      <p:sp>
        <p:nvSpPr>
          <p:cNvPr id="87" name="文字版面配置區 5"/>
          <p:cNvSpPr>
            <a:spLocks noGrp="1"/>
          </p:cNvSpPr>
          <p:nvPr userDrawn="1">
            <p:ph type="body" sz="quarter" idx="33" hasCustomPrompt="1"/>
          </p:nvPr>
        </p:nvSpPr>
        <p:spPr>
          <a:xfrm>
            <a:off x="2512919" y="5472904"/>
            <a:ext cx="1006908" cy="329074"/>
          </a:xfrm>
          <a:prstGeom prst="rect">
            <a:avLst/>
          </a:prstGeom>
        </p:spPr>
        <p:txBody>
          <a:bodyPr/>
          <a:lstStyle>
            <a:lvl1pPr marL="0" indent="0">
              <a:buNone/>
              <a:defRPr sz="2000" b="1">
                <a:solidFill>
                  <a:srgbClr val="5AE3F5"/>
                </a:solidFill>
              </a:defRPr>
            </a:lvl1pPr>
          </a:lstStyle>
          <a:p>
            <a:pPr lvl="0"/>
            <a:r>
              <a:rPr lang="zh-TW" altLang="en-US"/>
              <a:t>小標題</a:t>
            </a:r>
          </a:p>
        </p:txBody>
      </p:sp>
      <p:sp>
        <p:nvSpPr>
          <p:cNvPr id="88" name="文字版面配置區 5"/>
          <p:cNvSpPr>
            <a:spLocks noGrp="1"/>
          </p:cNvSpPr>
          <p:nvPr userDrawn="1">
            <p:ph type="body" sz="quarter" idx="34" hasCustomPrompt="1"/>
          </p:nvPr>
        </p:nvSpPr>
        <p:spPr>
          <a:xfrm>
            <a:off x="2512919" y="5893436"/>
            <a:ext cx="1006908" cy="329074"/>
          </a:xfrm>
          <a:prstGeom prst="rect">
            <a:avLst/>
          </a:prstGeom>
        </p:spPr>
        <p:txBody>
          <a:bodyPr/>
          <a:lstStyle>
            <a:lvl1pPr marL="0" indent="0">
              <a:buNone/>
              <a:defRPr sz="1600" b="0">
                <a:solidFill>
                  <a:srgbClr val="232323"/>
                </a:solidFill>
              </a:defRPr>
            </a:lvl1pPr>
          </a:lstStyle>
          <a:p>
            <a:pPr lvl="0"/>
            <a:r>
              <a:rPr lang="zh-TW" altLang="en-US"/>
              <a:t>內文</a:t>
            </a:r>
          </a:p>
        </p:txBody>
      </p:sp>
      <p:sp>
        <p:nvSpPr>
          <p:cNvPr id="89" name="文字版面配置區 5"/>
          <p:cNvSpPr>
            <a:spLocks noGrp="1"/>
          </p:cNvSpPr>
          <p:nvPr userDrawn="1">
            <p:ph type="body" sz="quarter" idx="35" hasCustomPrompt="1"/>
          </p:nvPr>
        </p:nvSpPr>
        <p:spPr>
          <a:xfrm>
            <a:off x="8879907" y="4803971"/>
            <a:ext cx="1430418" cy="431887"/>
          </a:xfrm>
          <a:prstGeom prst="rect">
            <a:avLst/>
          </a:prstGeom>
        </p:spPr>
        <p:txBody>
          <a:bodyPr/>
          <a:lstStyle>
            <a:lvl1pPr marL="0" indent="0">
              <a:buNone/>
              <a:defRPr sz="2800" b="1">
                <a:solidFill>
                  <a:srgbClr val="015075"/>
                </a:solidFill>
              </a:defRPr>
            </a:lvl1pPr>
          </a:lstStyle>
          <a:p>
            <a:pPr lvl="0"/>
            <a:r>
              <a:rPr lang="zh-TW" altLang="en-US"/>
              <a:t>副標題</a:t>
            </a:r>
          </a:p>
        </p:txBody>
      </p:sp>
      <p:sp>
        <p:nvSpPr>
          <p:cNvPr id="90" name="文字版面配置區 5"/>
          <p:cNvSpPr>
            <a:spLocks noGrp="1"/>
          </p:cNvSpPr>
          <p:nvPr userDrawn="1">
            <p:ph type="body" sz="quarter" idx="36" hasCustomPrompt="1"/>
          </p:nvPr>
        </p:nvSpPr>
        <p:spPr>
          <a:xfrm>
            <a:off x="8925532" y="5472904"/>
            <a:ext cx="1006908" cy="329074"/>
          </a:xfrm>
          <a:prstGeom prst="rect">
            <a:avLst/>
          </a:prstGeom>
        </p:spPr>
        <p:txBody>
          <a:bodyPr/>
          <a:lstStyle>
            <a:lvl1pPr marL="0" indent="0">
              <a:buNone/>
              <a:defRPr sz="2000" b="1">
                <a:solidFill>
                  <a:srgbClr val="015075"/>
                </a:solidFill>
              </a:defRPr>
            </a:lvl1pPr>
          </a:lstStyle>
          <a:p>
            <a:pPr lvl="0"/>
            <a:r>
              <a:rPr lang="zh-TW" altLang="en-US"/>
              <a:t>小標題</a:t>
            </a:r>
          </a:p>
        </p:txBody>
      </p:sp>
      <p:sp>
        <p:nvSpPr>
          <p:cNvPr id="91" name="文字版面配置區 5"/>
          <p:cNvSpPr>
            <a:spLocks noGrp="1"/>
          </p:cNvSpPr>
          <p:nvPr userDrawn="1">
            <p:ph type="body" sz="quarter" idx="37" hasCustomPrompt="1"/>
          </p:nvPr>
        </p:nvSpPr>
        <p:spPr>
          <a:xfrm>
            <a:off x="8925532" y="5893436"/>
            <a:ext cx="1006908" cy="329074"/>
          </a:xfrm>
          <a:prstGeom prst="rect">
            <a:avLst/>
          </a:prstGeom>
        </p:spPr>
        <p:txBody>
          <a:bodyPr/>
          <a:lstStyle>
            <a:lvl1pPr marL="0" indent="0">
              <a:buNone/>
              <a:defRPr sz="1600" b="0">
                <a:solidFill>
                  <a:srgbClr val="232323"/>
                </a:solidFill>
              </a:defRPr>
            </a:lvl1pPr>
          </a:lstStyle>
          <a:p>
            <a:pPr lvl="0"/>
            <a:r>
              <a:rPr lang="zh-TW" altLang="en-US"/>
              <a:t>內文</a:t>
            </a:r>
          </a:p>
        </p:txBody>
      </p:sp>
      <p:sp>
        <p:nvSpPr>
          <p:cNvPr id="93" name="圖片版面配置區 4"/>
          <p:cNvSpPr>
            <a:spLocks noGrp="1"/>
          </p:cNvSpPr>
          <p:nvPr>
            <p:ph type="pic" sz="quarter" idx="39"/>
          </p:nvPr>
        </p:nvSpPr>
        <p:spPr>
          <a:xfrm>
            <a:off x="4606925" y="2495550"/>
            <a:ext cx="2820988" cy="2703513"/>
          </a:xfrm>
          <a:prstGeom prst="rect">
            <a:avLst/>
          </a:prstGeom>
        </p:spPr>
        <p:txBody>
          <a:bodyPr/>
          <a:lstStyle>
            <a:lvl1pPr marL="0" indent="0">
              <a:buNone/>
              <a:defRPr/>
            </a:lvl1pPr>
          </a:lstStyle>
          <a:p>
            <a:endParaRPr lang="zh-TW" altLang="en-US"/>
          </a:p>
        </p:txBody>
      </p:sp>
      <p:sp>
        <p:nvSpPr>
          <p:cNvPr id="94" name="文字版面配置區 5"/>
          <p:cNvSpPr>
            <a:spLocks noGrp="1"/>
          </p:cNvSpPr>
          <p:nvPr>
            <p:ph type="body" sz="quarter" idx="38" hasCustomPrompt="1"/>
          </p:nvPr>
        </p:nvSpPr>
        <p:spPr>
          <a:xfrm>
            <a:off x="5360691" y="4528702"/>
            <a:ext cx="1313455" cy="329074"/>
          </a:xfrm>
          <a:prstGeom prst="rect">
            <a:avLst/>
          </a:prstGeom>
        </p:spPr>
        <p:txBody>
          <a:bodyPr/>
          <a:lstStyle>
            <a:lvl1pPr marL="0" indent="0">
              <a:buNone/>
              <a:defRPr sz="2000" b="1">
                <a:solidFill>
                  <a:srgbClr val="008FC8"/>
                </a:solidFill>
              </a:defRPr>
            </a:lvl1pPr>
          </a:lstStyle>
          <a:p>
            <a:pPr lvl="0"/>
            <a:r>
              <a:rPr lang="zh-TW" altLang="en-US"/>
              <a:t>標題樣式</a:t>
            </a:r>
          </a:p>
        </p:txBody>
      </p:sp>
      <p:sp>
        <p:nvSpPr>
          <p:cNvPr id="4" name="文字版面配置區 3"/>
          <p:cNvSpPr>
            <a:spLocks noGrp="1"/>
          </p:cNvSpPr>
          <p:nvPr>
            <p:ph type="body" sz="quarter" idx="40"/>
          </p:nvPr>
        </p:nvSpPr>
        <p:spPr>
          <a:xfrm>
            <a:off x="6790344" y="692732"/>
            <a:ext cx="4270375" cy="374147"/>
          </a:xfrm>
          <a:prstGeom prst="rect">
            <a:avLst/>
          </a:prstGeom>
        </p:spPr>
        <p:txBody>
          <a:bodyPr/>
          <a:lstStyle>
            <a:lvl1pPr marL="0" indent="0">
              <a:buNone/>
              <a:defRPr sz="1800">
                <a:solidFill>
                  <a:schemeClr val="tx1">
                    <a:lumMod val="85000"/>
                    <a:lumOff val="1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zh-TW" altLang="en-US"/>
              <a:t>編輯母片文字樣式</a:t>
            </a:r>
          </a:p>
        </p:txBody>
      </p:sp>
      <p:sp>
        <p:nvSpPr>
          <p:cNvPr id="3" name="投影片編號版面配置區 2"/>
          <p:cNvSpPr>
            <a:spLocks noGrp="1"/>
          </p:cNvSpPr>
          <p:nvPr>
            <p:ph type="sldNum" sz="quarter" idx="41"/>
          </p:nvPr>
        </p:nvSpPr>
        <p:spPr/>
        <p:txBody>
          <a:bodyPr/>
          <a:lstStyle/>
          <a:p>
            <a:fld id="{DD1C6579-C6C1-4544-B3E5-F3C792737BFB}" type="slidenum">
              <a:rPr lang="zh-TW" altLang="en-US" smtClean="0"/>
              <a:pPr/>
              <a:t>‹#›</a:t>
            </a:fld>
            <a:endParaRPr lang="zh-TW" altLang="en-US"/>
          </a:p>
        </p:txBody>
      </p:sp>
    </p:spTree>
    <p:extLst>
      <p:ext uri="{BB962C8B-B14F-4D97-AF65-F5344CB8AC3E}">
        <p14:creationId xmlns:p14="http://schemas.microsoft.com/office/powerpoint/2010/main" val="194072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內頁版型-章節頁">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cxnSp>
        <p:nvCxnSpPr>
          <p:cNvPr id="2" name="直線接點 1">
            <a:extLst>
              <a:ext uri="{FF2B5EF4-FFF2-40B4-BE49-F238E27FC236}">
                <a16:creationId xmlns:a16="http://schemas.microsoft.com/office/drawing/2014/main" id="{C04EC57D-C283-E94C-3F99-DFCE4343989F}"/>
              </a:ext>
            </a:extLst>
          </p:cNvPr>
          <p:cNvCxnSpPr>
            <a:cxnSpLocks/>
          </p:cNvCxnSpPr>
          <p:nvPr userDrawn="1"/>
        </p:nvCxnSpPr>
        <p:spPr bwMode="gray">
          <a:xfrm>
            <a:off x="2109916" y="3252844"/>
            <a:ext cx="567534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投影片編號版面配置區 2"/>
          <p:cNvSpPr>
            <a:spLocks noGrp="1"/>
          </p:cNvSpPr>
          <p:nvPr>
            <p:ph type="sldNum" sz="quarter" idx="25"/>
          </p:nvPr>
        </p:nvSpPr>
        <p:spPr/>
        <p:txBody>
          <a:bodyPr/>
          <a:lstStyle/>
          <a:p>
            <a:fld id="{DD1C6579-C6C1-4544-B3E5-F3C792737BFB}" type="slidenum">
              <a:rPr lang="zh-TW" altLang="en-US" smtClean="0"/>
              <a:pPr/>
              <a:t>‹#›</a:t>
            </a:fld>
            <a:endParaRPr lang="zh-TW" altLang="en-US"/>
          </a:p>
        </p:txBody>
      </p:sp>
      <p:sp>
        <p:nvSpPr>
          <p:cNvPr id="4" name="標題 2">
            <a:extLst>
              <a:ext uri="{FF2B5EF4-FFF2-40B4-BE49-F238E27FC236}">
                <a16:creationId xmlns:a16="http://schemas.microsoft.com/office/drawing/2014/main" id="{C3D00940-C735-421C-0C4A-D8A19DEED152}"/>
              </a:ext>
            </a:extLst>
          </p:cNvPr>
          <p:cNvSpPr>
            <a:spLocks noGrp="1"/>
          </p:cNvSpPr>
          <p:nvPr>
            <p:ph type="title"/>
          </p:nvPr>
        </p:nvSpPr>
        <p:spPr>
          <a:xfrm>
            <a:off x="2109789" y="2609128"/>
            <a:ext cx="5675311" cy="686164"/>
          </a:xfrm>
        </p:spPr>
        <p:txBody>
          <a:bodyPr>
            <a:normAutofit/>
          </a:bodyPr>
          <a:lstStyle/>
          <a:p>
            <a:r>
              <a:rPr lang="zh-TW" altLang="en-US" sz="3200"/>
              <a:t>常用母片版式</a:t>
            </a:r>
          </a:p>
        </p:txBody>
      </p:sp>
      <p:sp>
        <p:nvSpPr>
          <p:cNvPr id="7" name="文字版面配置區 3">
            <a:extLst>
              <a:ext uri="{FF2B5EF4-FFF2-40B4-BE49-F238E27FC236}">
                <a16:creationId xmlns:a16="http://schemas.microsoft.com/office/drawing/2014/main" id="{AD10C5BD-BDF4-1147-E31F-E0F80DB4BA99}"/>
              </a:ext>
            </a:extLst>
          </p:cNvPr>
          <p:cNvSpPr>
            <a:spLocks noGrp="1"/>
          </p:cNvSpPr>
          <p:nvPr>
            <p:ph type="body" sz="quarter" idx="24"/>
          </p:nvPr>
        </p:nvSpPr>
        <p:spPr>
          <a:xfrm>
            <a:off x="2109788" y="3400425"/>
            <a:ext cx="5675312" cy="500063"/>
          </a:xfrm>
          <a:prstGeom prst="rect">
            <a:avLst/>
          </a:prstGeom>
        </p:spPr>
        <p:txBody>
          <a:bodyPr/>
          <a:lstStyle/>
          <a:p>
            <a:r>
              <a:rPr lang="zh-TW" altLang="en-US" sz="1800"/>
              <a:t>版型可自行編輯替換</a:t>
            </a:r>
          </a:p>
          <a:p>
            <a:endParaRPr lang="zh-TW" altLang="en-US" sz="1800"/>
          </a:p>
        </p:txBody>
      </p:sp>
      <p:grpSp>
        <p:nvGrpSpPr>
          <p:cNvPr id="8" name="群組 7">
            <a:extLst>
              <a:ext uri="{FF2B5EF4-FFF2-40B4-BE49-F238E27FC236}">
                <a16:creationId xmlns:a16="http://schemas.microsoft.com/office/drawing/2014/main" id="{18F72FE2-CCBC-C7FF-78B1-40E21EF5D618}"/>
              </a:ext>
            </a:extLst>
          </p:cNvPr>
          <p:cNvGrpSpPr/>
          <p:nvPr userDrawn="1"/>
        </p:nvGrpSpPr>
        <p:grpSpPr>
          <a:xfrm>
            <a:off x="2569029" y="3191828"/>
            <a:ext cx="4868092" cy="121920"/>
            <a:chOff x="2569029" y="3191828"/>
            <a:chExt cx="4868092" cy="121920"/>
          </a:xfrm>
        </p:grpSpPr>
        <p:cxnSp>
          <p:nvCxnSpPr>
            <p:cNvPr id="9" name="直線接點 8">
              <a:extLst>
                <a:ext uri="{FF2B5EF4-FFF2-40B4-BE49-F238E27FC236}">
                  <a16:creationId xmlns:a16="http://schemas.microsoft.com/office/drawing/2014/main" id="{7D452DCA-972F-95F9-5F79-DB39878272A5}"/>
                </a:ext>
              </a:extLst>
            </p:cNvPr>
            <p:cNvCxnSpPr/>
            <p:nvPr/>
          </p:nvCxnSpPr>
          <p:spPr>
            <a:xfrm>
              <a:off x="2690949" y="3252844"/>
              <a:ext cx="4659085" cy="0"/>
            </a:xfrm>
            <a:prstGeom prst="line">
              <a:avLst/>
            </a:prstGeom>
            <a:ln w="38100">
              <a:gradFill>
                <a:gsLst>
                  <a:gs pos="33000">
                    <a:srgbClr val="0490C7"/>
                  </a:gs>
                  <a:gs pos="69000">
                    <a:srgbClr val="58E1B3"/>
                  </a:gs>
                </a:gsLst>
                <a:lin ang="2700000" scaled="0"/>
              </a:gradFill>
            </a:ln>
          </p:spPr>
          <p:style>
            <a:lnRef idx="1">
              <a:schemeClr val="accent1"/>
            </a:lnRef>
            <a:fillRef idx="0">
              <a:schemeClr val="accent1"/>
            </a:fillRef>
            <a:effectRef idx="0">
              <a:schemeClr val="accent1"/>
            </a:effectRef>
            <a:fontRef idx="minor">
              <a:schemeClr val="tx1"/>
            </a:fontRef>
          </p:style>
        </p:cxnSp>
        <p:sp>
          <p:nvSpPr>
            <p:cNvPr id="11" name="橢圓 10">
              <a:extLst>
                <a:ext uri="{FF2B5EF4-FFF2-40B4-BE49-F238E27FC236}">
                  <a16:creationId xmlns:a16="http://schemas.microsoft.com/office/drawing/2014/main" id="{937C6337-DF0F-6F86-253B-C49A8B988918}"/>
                </a:ext>
              </a:extLst>
            </p:cNvPr>
            <p:cNvSpPr/>
            <p:nvPr/>
          </p:nvSpPr>
          <p:spPr>
            <a:xfrm>
              <a:off x="7315201" y="3191828"/>
              <a:ext cx="121920" cy="121920"/>
            </a:xfrm>
            <a:prstGeom prst="ellipse">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橢圓 11">
              <a:extLst>
                <a:ext uri="{FF2B5EF4-FFF2-40B4-BE49-F238E27FC236}">
                  <a16:creationId xmlns:a16="http://schemas.microsoft.com/office/drawing/2014/main" id="{C4C7FC12-6008-5B23-E7B1-F9A213BA282E}"/>
                </a:ext>
              </a:extLst>
            </p:cNvPr>
            <p:cNvSpPr/>
            <p:nvPr/>
          </p:nvSpPr>
          <p:spPr>
            <a:xfrm>
              <a:off x="2569029" y="3191828"/>
              <a:ext cx="121920" cy="121920"/>
            </a:xfrm>
            <a:prstGeom prst="ellipse">
              <a:avLst/>
            </a:prstGeom>
            <a:solidFill>
              <a:schemeClr val="bg1"/>
            </a:solidFill>
            <a:ln w="28575">
              <a:solidFill>
                <a:srgbClr val="0490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14" name="圖片版面配置區 10">
            <a:extLst>
              <a:ext uri="{FF2B5EF4-FFF2-40B4-BE49-F238E27FC236}">
                <a16:creationId xmlns:a16="http://schemas.microsoft.com/office/drawing/2014/main" id="{E5C7CBF4-1AA5-0A55-921D-394EC57294B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8412603" y="2122488"/>
            <a:ext cx="2551112" cy="2260600"/>
          </a:xfrm>
          <a:prstGeom prst="rect">
            <a:avLst/>
          </a:prstGeom>
        </p:spPr>
      </p:pic>
      <p:grpSp>
        <p:nvGrpSpPr>
          <p:cNvPr id="15" name="群組 14">
            <a:extLst>
              <a:ext uri="{FF2B5EF4-FFF2-40B4-BE49-F238E27FC236}">
                <a16:creationId xmlns:a16="http://schemas.microsoft.com/office/drawing/2014/main" id="{13C482E5-1A2E-54C2-4550-CFA7FD047676}"/>
              </a:ext>
            </a:extLst>
          </p:cNvPr>
          <p:cNvGrpSpPr/>
          <p:nvPr userDrawn="1"/>
        </p:nvGrpSpPr>
        <p:grpSpPr>
          <a:xfrm>
            <a:off x="8241068" y="1939856"/>
            <a:ext cx="2874173" cy="2604379"/>
            <a:chOff x="8241068" y="1939856"/>
            <a:chExt cx="2874173" cy="2604379"/>
          </a:xfrm>
        </p:grpSpPr>
        <p:sp>
          <p:nvSpPr>
            <p:cNvPr id="16" name="橢圓 15">
              <a:extLst>
                <a:ext uri="{FF2B5EF4-FFF2-40B4-BE49-F238E27FC236}">
                  <a16:creationId xmlns:a16="http://schemas.microsoft.com/office/drawing/2014/main" id="{AB6ACB38-0D39-1E3A-74E5-446E6AD85B38}"/>
                </a:ext>
              </a:extLst>
            </p:cNvPr>
            <p:cNvSpPr/>
            <p:nvPr/>
          </p:nvSpPr>
          <p:spPr>
            <a:xfrm>
              <a:off x="10993321" y="1939856"/>
              <a:ext cx="121920" cy="121920"/>
            </a:xfrm>
            <a:prstGeom prst="ellipse">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橢圓 16">
              <a:extLst>
                <a:ext uri="{FF2B5EF4-FFF2-40B4-BE49-F238E27FC236}">
                  <a16:creationId xmlns:a16="http://schemas.microsoft.com/office/drawing/2014/main" id="{5B5DC3B1-B652-6E0D-43C2-45F5F1583405}"/>
                </a:ext>
              </a:extLst>
            </p:cNvPr>
            <p:cNvSpPr/>
            <p:nvPr/>
          </p:nvSpPr>
          <p:spPr>
            <a:xfrm>
              <a:off x="8241068" y="4422315"/>
              <a:ext cx="121920" cy="121920"/>
            </a:xfrm>
            <a:prstGeom prst="ellipse">
              <a:avLst/>
            </a:prstGeom>
            <a:solidFill>
              <a:schemeClr val="bg1"/>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直線接點 17">
              <a:extLst>
                <a:ext uri="{FF2B5EF4-FFF2-40B4-BE49-F238E27FC236}">
                  <a16:creationId xmlns:a16="http://schemas.microsoft.com/office/drawing/2014/main" id="{5BC2655A-C2F7-80CC-6476-6AF5D2CDE897}"/>
                </a:ext>
              </a:extLst>
            </p:cNvPr>
            <p:cNvCxnSpPr>
              <a:stCxn id="16" idx="2"/>
            </p:cNvCxnSpPr>
            <p:nvPr/>
          </p:nvCxnSpPr>
          <p:spPr>
            <a:xfrm flipH="1">
              <a:off x="9913545" y="2000816"/>
              <a:ext cx="1079776" cy="0"/>
            </a:xfrm>
            <a:prstGeom prst="line">
              <a:avLst/>
            </a:prstGeom>
            <a:ln w="28575">
              <a:solidFill>
                <a:srgbClr val="58E1B3"/>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9CD248B1-8F93-9076-14DA-67D2232CB227}"/>
                </a:ext>
              </a:extLst>
            </p:cNvPr>
            <p:cNvCxnSpPr>
              <a:stCxn id="16" idx="4"/>
            </p:cNvCxnSpPr>
            <p:nvPr/>
          </p:nvCxnSpPr>
          <p:spPr>
            <a:xfrm>
              <a:off x="11054281" y="2061776"/>
              <a:ext cx="0" cy="934921"/>
            </a:xfrm>
            <a:prstGeom prst="line">
              <a:avLst/>
            </a:prstGeom>
            <a:ln w="28575">
              <a:solidFill>
                <a:srgbClr val="58E1B3"/>
              </a:solidFill>
            </a:ln>
          </p:spPr>
          <p:style>
            <a:lnRef idx="1">
              <a:schemeClr val="accent1"/>
            </a:lnRef>
            <a:fillRef idx="0">
              <a:schemeClr val="accent1"/>
            </a:fillRef>
            <a:effectRef idx="0">
              <a:schemeClr val="accent1"/>
            </a:effectRef>
            <a:fontRef idx="minor">
              <a:schemeClr val="tx1"/>
            </a:fontRef>
          </p:style>
        </p:cxnSp>
        <p:cxnSp>
          <p:nvCxnSpPr>
            <p:cNvPr id="20" name="直線接點 19">
              <a:extLst>
                <a:ext uri="{FF2B5EF4-FFF2-40B4-BE49-F238E27FC236}">
                  <a16:creationId xmlns:a16="http://schemas.microsoft.com/office/drawing/2014/main" id="{E5D1987D-9A0D-DADE-BB7C-D2A7AB79EA2C}"/>
                </a:ext>
              </a:extLst>
            </p:cNvPr>
            <p:cNvCxnSpPr/>
            <p:nvPr/>
          </p:nvCxnSpPr>
          <p:spPr>
            <a:xfrm flipH="1">
              <a:off x="8362988" y="4483275"/>
              <a:ext cx="1079776" cy="0"/>
            </a:xfrm>
            <a:prstGeom prst="line">
              <a:avLst/>
            </a:prstGeom>
            <a:ln w="28575">
              <a:solidFill>
                <a:srgbClr val="58E1B3"/>
              </a:solidFill>
            </a:ln>
          </p:spPr>
          <p:style>
            <a:lnRef idx="1">
              <a:schemeClr val="accent1"/>
            </a:lnRef>
            <a:fillRef idx="0">
              <a:schemeClr val="accent1"/>
            </a:fillRef>
            <a:effectRef idx="0">
              <a:schemeClr val="accent1"/>
            </a:effectRef>
            <a:fontRef idx="minor">
              <a:schemeClr val="tx1"/>
            </a:fontRef>
          </p:style>
        </p:cxnSp>
        <p:cxnSp>
          <p:nvCxnSpPr>
            <p:cNvPr id="21" name="直線接點 20">
              <a:extLst>
                <a:ext uri="{FF2B5EF4-FFF2-40B4-BE49-F238E27FC236}">
                  <a16:creationId xmlns:a16="http://schemas.microsoft.com/office/drawing/2014/main" id="{EA2BF614-B8F3-FCAF-D82F-0C0C56D2B4BD}"/>
                </a:ext>
              </a:extLst>
            </p:cNvPr>
            <p:cNvCxnSpPr/>
            <p:nvPr/>
          </p:nvCxnSpPr>
          <p:spPr>
            <a:xfrm>
              <a:off x="8302028" y="4182701"/>
              <a:ext cx="0" cy="239614"/>
            </a:xfrm>
            <a:prstGeom prst="line">
              <a:avLst/>
            </a:prstGeom>
            <a:ln w="28575">
              <a:solidFill>
                <a:srgbClr val="58E1B3"/>
              </a:solidFill>
            </a:ln>
          </p:spPr>
          <p:style>
            <a:lnRef idx="1">
              <a:schemeClr val="accent1"/>
            </a:lnRef>
            <a:fillRef idx="0">
              <a:schemeClr val="accent1"/>
            </a:fillRef>
            <a:effectRef idx="0">
              <a:schemeClr val="accent1"/>
            </a:effectRef>
            <a:fontRef idx="minor">
              <a:schemeClr val="tx1"/>
            </a:fontRef>
          </p:style>
        </p:cxnSp>
      </p:grpSp>
      <p:pic>
        <p:nvPicPr>
          <p:cNvPr id="22" name="圖片 21">
            <a:extLst>
              <a:ext uri="{FF2B5EF4-FFF2-40B4-BE49-F238E27FC236}">
                <a16:creationId xmlns:a16="http://schemas.microsoft.com/office/drawing/2014/main" id="{365E72BA-664B-E357-CAB7-FE6A4D8268C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247723" y="2105935"/>
            <a:ext cx="3528060" cy="2146237"/>
          </a:xfrm>
          <a:prstGeom prst="rect">
            <a:avLst/>
          </a:prstGeom>
        </p:spPr>
      </p:pic>
      <p:pic>
        <p:nvPicPr>
          <p:cNvPr id="23" name="圖片 22">
            <a:extLst>
              <a:ext uri="{FF2B5EF4-FFF2-40B4-BE49-F238E27FC236}">
                <a16:creationId xmlns:a16="http://schemas.microsoft.com/office/drawing/2014/main" id="{87875571-088A-8B1F-8BCA-D32C7769D5D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52526" y="2236851"/>
            <a:ext cx="3528060" cy="2146237"/>
          </a:xfrm>
          <a:prstGeom prst="rect">
            <a:avLst/>
          </a:prstGeom>
        </p:spPr>
      </p:pic>
    </p:spTree>
    <p:extLst>
      <p:ext uri="{BB962C8B-B14F-4D97-AF65-F5344CB8AC3E}">
        <p14:creationId xmlns:p14="http://schemas.microsoft.com/office/powerpoint/2010/main" val="631342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封底頁">
    <p:bg>
      <p:bgPr>
        <a:solidFill>
          <a:schemeClr val="bg1"/>
        </a:solidFill>
        <a:effectLst/>
      </p:bgPr>
    </p:bg>
    <p:spTree>
      <p:nvGrpSpPr>
        <p:cNvPr id="1" name=""/>
        <p:cNvGrpSpPr/>
        <p:nvPr/>
      </p:nvGrpSpPr>
      <p:grpSpPr>
        <a:xfrm>
          <a:off x="0" y="0"/>
          <a:ext cx="0" cy="0"/>
          <a:chOff x="0" y="0"/>
          <a:chExt cx="0" cy="0"/>
        </a:xfrm>
      </p:grpSpPr>
      <p:pic>
        <p:nvPicPr>
          <p:cNvPr id="2" name="圖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9" name="群組 8"/>
          <p:cNvGrpSpPr/>
          <p:nvPr userDrawn="1"/>
        </p:nvGrpSpPr>
        <p:grpSpPr>
          <a:xfrm>
            <a:off x="2859266" y="1948451"/>
            <a:ext cx="6473468" cy="3195378"/>
            <a:chOff x="2461527" y="1853997"/>
            <a:chExt cx="6528331" cy="3290132"/>
          </a:xfrm>
        </p:grpSpPr>
        <p:pic>
          <p:nvPicPr>
            <p:cNvPr id="3" name="圖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61527" y="1853997"/>
              <a:ext cx="1531158" cy="1356605"/>
            </a:xfrm>
            <a:prstGeom prst="rect">
              <a:avLst/>
            </a:prstGeom>
          </p:spPr>
        </p:pic>
        <p:pic>
          <p:nvPicPr>
            <p:cNvPr id="4" name="圖片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02244" y="3506225"/>
              <a:ext cx="2387614" cy="1637904"/>
            </a:xfrm>
            <a:prstGeom prst="rect">
              <a:avLst/>
            </a:prstGeom>
          </p:spPr>
        </p:pic>
        <p:sp>
          <p:nvSpPr>
            <p:cNvPr id="8" name="文字方塊 7"/>
            <p:cNvSpPr txBox="1"/>
            <p:nvPr userDrawn="1"/>
          </p:nvSpPr>
          <p:spPr>
            <a:xfrm>
              <a:off x="3631474" y="2847703"/>
              <a:ext cx="4685212" cy="1045781"/>
            </a:xfrm>
            <a:prstGeom prst="rect">
              <a:avLst/>
            </a:prstGeom>
            <a:noFill/>
          </p:spPr>
          <p:txBody>
            <a:bodyPr wrap="square" rtlCol="0">
              <a:spAutoFit/>
            </a:bodyPr>
            <a:lstStyle/>
            <a:p>
              <a:r>
                <a:rPr lang="en-US" altLang="zh-TW" sz="6000" b="1">
                  <a:solidFill>
                    <a:srgbClr val="00A59B"/>
                  </a:solidFill>
                </a:rPr>
                <a:t>Thank You</a:t>
              </a:r>
              <a:endParaRPr lang="zh-TW" altLang="en-US" sz="6000" b="1">
                <a:solidFill>
                  <a:srgbClr val="00A59B"/>
                </a:solidFill>
              </a:endParaRPr>
            </a:p>
          </p:txBody>
        </p:sp>
      </p:grpSp>
    </p:spTree>
    <p:extLst>
      <p:ext uri="{BB962C8B-B14F-4D97-AF65-F5344CB8AC3E}">
        <p14:creationId xmlns:p14="http://schemas.microsoft.com/office/powerpoint/2010/main" val="2140297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內頁版型-有標題樣式">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72" name="Text Placeholder 4">
            <a:extLst>
              <a:ext uri="{FF2B5EF4-FFF2-40B4-BE49-F238E27FC236}">
                <a16:creationId xmlns:a16="http://schemas.microsoft.com/office/drawing/2014/main" id="{6C199072-AEAE-96BE-D5C7-2FE6FF157132}"/>
              </a:ext>
            </a:extLst>
          </p:cNvPr>
          <p:cNvSpPr>
            <a:spLocks noGrp="1"/>
          </p:cNvSpPr>
          <p:nvPr>
            <p:ph type="body" sz="quarter" idx="21" hasCustomPrompt="1"/>
          </p:nvPr>
        </p:nvSpPr>
        <p:spPr>
          <a:xfrm>
            <a:off x="1269740" y="201823"/>
            <a:ext cx="6319206" cy="659975"/>
          </a:xfrm>
          <a:prstGeom prst="rect">
            <a:avLst/>
          </a:prstGeom>
        </p:spPr>
        <p:txBody>
          <a:bodyPr anchor="b">
            <a:noAutofit/>
          </a:bodyPr>
          <a:lstStyle>
            <a:lvl1pPr marL="0" indent="0" algn="l">
              <a:lnSpc>
                <a:spcPts val="2400"/>
              </a:lnSpc>
              <a:buNone/>
              <a:defRPr sz="3200" b="1" u="none">
                <a:solidFill>
                  <a:srgbClr val="1492C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TW" altLang="en-US">
                <a:solidFill>
                  <a:srgbClr val="008FC7"/>
                </a:solidFill>
              </a:rPr>
              <a:t>按一下以編輯母片標題樣式</a:t>
            </a:r>
          </a:p>
        </p:txBody>
      </p:sp>
      <p:sp>
        <p:nvSpPr>
          <p:cNvPr id="4" name="投影片編號版面配置區 3"/>
          <p:cNvSpPr>
            <a:spLocks noGrp="1"/>
          </p:cNvSpPr>
          <p:nvPr>
            <p:ph type="sldNum" sz="quarter" idx="23"/>
          </p:nvPr>
        </p:nvSpPr>
        <p:spPr/>
        <p:txBody>
          <a:bodyPr/>
          <a:lstStyle/>
          <a:p>
            <a:fld id="{DD1C6579-C6C1-4544-B3E5-F3C792737BFB}" type="slidenum">
              <a:rPr lang="zh-TW" altLang="en-US" smtClean="0"/>
              <a:pPr/>
              <a:t>‹#›</a:t>
            </a:fld>
            <a:endParaRPr lang="zh-TW" altLang="en-US"/>
          </a:p>
        </p:txBody>
      </p:sp>
      <p:sp>
        <p:nvSpPr>
          <p:cNvPr id="2" name="文字版面配置區 3">
            <a:extLst>
              <a:ext uri="{FF2B5EF4-FFF2-40B4-BE49-F238E27FC236}">
                <a16:creationId xmlns:a16="http://schemas.microsoft.com/office/drawing/2014/main" id="{847EE38B-2FEB-3666-AC09-CAC3B1077629}"/>
              </a:ext>
            </a:extLst>
          </p:cNvPr>
          <p:cNvSpPr>
            <a:spLocks noGrp="1"/>
          </p:cNvSpPr>
          <p:nvPr>
            <p:ph type="body" sz="quarter" idx="29"/>
          </p:nvPr>
        </p:nvSpPr>
        <p:spPr>
          <a:xfrm>
            <a:off x="1269740" y="952926"/>
            <a:ext cx="6319206" cy="403471"/>
          </a:xfrm>
          <a:prstGeom prst="rect">
            <a:avLst/>
          </a:prstGeom>
        </p:spPr>
        <p:txBody>
          <a:bodyPr/>
          <a:lstStyle>
            <a:lvl1pPr marL="0" indent="0">
              <a:buNone/>
              <a:defRPr sz="1800">
                <a:solidFill>
                  <a:schemeClr val="tx1">
                    <a:lumMod val="85000"/>
                    <a:lumOff val="15000"/>
                  </a:schemeClr>
                </a:solidFill>
              </a:defRPr>
            </a:lvl1pPr>
            <a:lvl2pPr marL="457200" indent="0">
              <a:buNone/>
              <a:defRPr>
                <a:solidFill>
                  <a:schemeClr val="tx1">
                    <a:lumMod val="85000"/>
                    <a:lumOff val="15000"/>
                  </a:schemeClr>
                </a:solidFill>
              </a:defRPr>
            </a:lvl2pPr>
            <a:lvl3pPr marL="914400" indent="0">
              <a:buNone/>
              <a:defRPr>
                <a:solidFill>
                  <a:schemeClr val="tx1">
                    <a:lumMod val="85000"/>
                    <a:lumOff val="15000"/>
                  </a:schemeClr>
                </a:solidFill>
              </a:defRPr>
            </a:lvl3pPr>
            <a:lvl4pPr marL="1371600" indent="0">
              <a:buNone/>
              <a:defRPr>
                <a:solidFill>
                  <a:schemeClr val="tx1">
                    <a:lumMod val="85000"/>
                    <a:lumOff val="15000"/>
                  </a:schemeClr>
                </a:solidFill>
              </a:defRPr>
            </a:lvl4pPr>
            <a:lvl5pPr marL="1828800" indent="0">
              <a:buNone/>
              <a:defRPr>
                <a:solidFill>
                  <a:schemeClr val="tx1">
                    <a:lumMod val="85000"/>
                    <a:lumOff val="15000"/>
                  </a:schemeClr>
                </a:solidFill>
              </a:defRPr>
            </a:lvl5pPr>
          </a:lstStyle>
          <a:p>
            <a:pPr lvl="0"/>
            <a:r>
              <a:rPr lang="zh-TW" altLang="en-US"/>
              <a:t>按一下以編輯母片文字樣式</a:t>
            </a:r>
          </a:p>
        </p:txBody>
      </p:sp>
    </p:spTree>
    <p:extLst>
      <p:ext uri="{BB962C8B-B14F-4D97-AF65-F5344CB8AC3E}">
        <p14:creationId xmlns:p14="http://schemas.microsoft.com/office/powerpoint/2010/main" val="1483358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F15828-2044-E6CC-C1E8-A1F6927BA29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3B5EB72-8A91-C61D-25C0-3F9FBE98C9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E51FB42-3F29-D159-F0AC-94BB0747CE2A}"/>
              </a:ext>
            </a:extLst>
          </p:cNvPr>
          <p:cNvSpPr>
            <a:spLocks noGrp="1"/>
          </p:cNvSpPr>
          <p:nvPr>
            <p:ph type="dt" sz="half" idx="10"/>
          </p:nvPr>
        </p:nvSpPr>
        <p:spPr/>
        <p:txBody>
          <a:bodyPr/>
          <a:lstStyle/>
          <a:p>
            <a:fld id="{31EE97E7-E6FD-4CEE-8E02-C8B27A031B4D}" type="datetimeFigureOut">
              <a:rPr lang="zh-TW" altLang="en-US" smtClean="0"/>
              <a:t>2026/8/12</a:t>
            </a:fld>
            <a:endParaRPr lang="zh-TW" altLang="en-US"/>
          </a:p>
        </p:txBody>
      </p:sp>
      <p:sp>
        <p:nvSpPr>
          <p:cNvPr id="5" name="頁尾版面配置區 4">
            <a:extLst>
              <a:ext uri="{FF2B5EF4-FFF2-40B4-BE49-F238E27FC236}">
                <a16:creationId xmlns:a16="http://schemas.microsoft.com/office/drawing/2014/main" id="{170135C2-C72F-1191-5159-5472E7EF54C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752E671-F3F5-C05F-617D-6931B1C38AB0}"/>
              </a:ext>
            </a:extLst>
          </p:cNvPr>
          <p:cNvSpPr>
            <a:spLocks noGrp="1"/>
          </p:cNvSpPr>
          <p:nvPr>
            <p:ph type="sldNum" sz="quarter" idx="12"/>
          </p:nvPr>
        </p:nvSpPr>
        <p:spPr/>
        <p:txBody>
          <a:bodyPr/>
          <a:lstStyle/>
          <a:p>
            <a:fld id="{DD21E9C5-006B-4817-B658-52E0D1C3ABAD}" type="slidenum">
              <a:rPr lang="zh-TW" altLang="en-US" smtClean="0"/>
              <a:t>‹#›</a:t>
            </a:fld>
            <a:endParaRPr lang="zh-TW" altLang="en-US"/>
          </a:p>
        </p:txBody>
      </p:sp>
    </p:spTree>
    <p:extLst>
      <p:ext uri="{BB962C8B-B14F-4D97-AF65-F5344CB8AC3E}">
        <p14:creationId xmlns:p14="http://schemas.microsoft.com/office/powerpoint/2010/main" val="3128819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內頁版型-有標題樣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23E32C13-15C5-88F2-E564-E878156F89C8}"/>
              </a:ext>
            </a:extLst>
          </p:cNvPr>
          <p:cNvSpPr txBox="1">
            <a:spLocks/>
          </p:cNvSpPr>
          <p:nvPr userDrawn="1"/>
        </p:nvSpPr>
        <p:spPr>
          <a:xfrm>
            <a:off x="11706044" y="6519625"/>
            <a:ext cx="403891" cy="297280"/>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4094CE0-D024-4FC6-B25F-837FC5BFCD48}" type="slidenum">
              <a:rPr lang="zh-TW" altLang="en-US" sz="1400" smtClean="0">
                <a:solidFill>
                  <a:srgbClr val="1492C3"/>
                </a:solidFill>
                <a:latin typeface="Arial" panose="020B0604020202020204" pitchFamily="34" charset="0"/>
                <a:cs typeface="Arial" panose="020B0604020202020204" pitchFamily="34" charset="0"/>
              </a:rPr>
              <a:pPr algn="ctr"/>
              <a:t>‹#›</a:t>
            </a:fld>
            <a:endParaRPr lang="zh-TW" altLang="en-US" sz="1400">
              <a:solidFill>
                <a:srgbClr val="1492C3"/>
              </a:solidFill>
              <a:latin typeface="Arial" panose="020B0604020202020204" pitchFamily="34" charset="0"/>
              <a:cs typeface="Arial" panose="020B0604020202020204" pitchFamily="34" charset="0"/>
            </a:endParaRPr>
          </a:p>
        </p:txBody>
      </p:sp>
      <p:sp>
        <p:nvSpPr>
          <p:cNvPr id="6" name="文字版面配置區 5">
            <a:extLst>
              <a:ext uri="{FF2B5EF4-FFF2-40B4-BE49-F238E27FC236}">
                <a16:creationId xmlns:a16="http://schemas.microsoft.com/office/drawing/2014/main" id="{D613489B-F1F5-45B9-5E53-A14E9851EF53}"/>
              </a:ext>
            </a:extLst>
          </p:cNvPr>
          <p:cNvSpPr>
            <a:spLocks noGrp="1"/>
          </p:cNvSpPr>
          <p:nvPr>
            <p:ph type="body" sz="quarter" idx="10" hasCustomPrompt="1"/>
          </p:nvPr>
        </p:nvSpPr>
        <p:spPr>
          <a:xfrm>
            <a:off x="2427288" y="1229533"/>
            <a:ext cx="6319206" cy="438053"/>
          </a:xfrm>
          <a:prstGeom prst="rect">
            <a:avLst/>
          </a:prstGeom>
        </p:spPr>
        <p:txBody>
          <a:bodyPr/>
          <a:lstStyle>
            <a:lvl1pPr marL="0" indent="0">
              <a:buFontTx/>
              <a:buNone/>
              <a:defRPr>
                <a:solidFill>
                  <a:schemeClr val="tx1">
                    <a:lumMod val="85000"/>
                    <a:lumOff val="15000"/>
                  </a:schemeClr>
                </a:solidFill>
              </a:defRPr>
            </a:lvl1pPr>
          </a:lstStyle>
          <a:p>
            <a:pPr lvl="0"/>
            <a:r>
              <a:rPr lang="zh-TW" altLang="en-US"/>
              <a:t>按一下以編輯子標題樣式</a:t>
            </a:r>
          </a:p>
        </p:txBody>
      </p:sp>
      <p:sp>
        <p:nvSpPr>
          <p:cNvPr id="4" name="標題 1">
            <a:extLst>
              <a:ext uri="{FF2B5EF4-FFF2-40B4-BE49-F238E27FC236}">
                <a16:creationId xmlns:a16="http://schemas.microsoft.com/office/drawing/2014/main" id="{F4A50BCB-0F6F-C499-0C3B-15E5EBB92095}"/>
              </a:ext>
            </a:extLst>
          </p:cNvPr>
          <p:cNvSpPr>
            <a:spLocks noGrp="1"/>
          </p:cNvSpPr>
          <p:nvPr>
            <p:ph type="title" hasCustomPrompt="1"/>
          </p:nvPr>
        </p:nvSpPr>
        <p:spPr>
          <a:xfrm>
            <a:off x="2427981" y="417269"/>
            <a:ext cx="6026904" cy="601289"/>
          </a:xfrm>
          <a:prstGeom prst="rect">
            <a:avLst/>
          </a:prstGeom>
        </p:spPr>
        <p:txBody>
          <a:bodyPr/>
          <a:lstStyle>
            <a:lvl1pPr algn="l">
              <a:defRPr sz="4000">
                <a:solidFill>
                  <a:srgbClr val="008FC7"/>
                </a:solidFill>
              </a:defRPr>
            </a:lvl1pPr>
          </a:lstStyle>
          <a:p>
            <a:r>
              <a:rPr lang="zh-TW" altLang="en-US"/>
              <a:t>按一下以編輯標題樣式</a:t>
            </a:r>
          </a:p>
        </p:txBody>
      </p:sp>
    </p:spTree>
    <p:extLst>
      <p:ext uri="{BB962C8B-B14F-4D97-AF65-F5344CB8AC3E}">
        <p14:creationId xmlns:p14="http://schemas.microsoft.com/office/powerpoint/2010/main" val="1449767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內頁版型-有標題樣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投影片編號版面配置區 3">
            <a:extLst>
              <a:ext uri="{FF2B5EF4-FFF2-40B4-BE49-F238E27FC236}">
                <a16:creationId xmlns:a16="http://schemas.microsoft.com/office/drawing/2014/main" id="{23E32C13-15C5-88F2-E564-E878156F89C8}"/>
              </a:ext>
            </a:extLst>
          </p:cNvPr>
          <p:cNvSpPr txBox="1">
            <a:spLocks/>
          </p:cNvSpPr>
          <p:nvPr userDrawn="1"/>
        </p:nvSpPr>
        <p:spPr>
          <a:xfrm>
            <a:off x="11706044" y="6519625"/>
            <a:ext cx="403891" cy="297280"/>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4094CE0-D024-4FC6-B25F-837FC5BFCD48}" type="slidenum">
              <a:rPr lang="zh-TW" altLang="en-US" sz="1400" smtClean="0">
                <a:solidFill>
                  <a:srgbClr val="1492C3"/>
                </a:solidFill>
                <a:latin typeface="Arial" panose="020B0604020202020204" pitchFamily="34" charset="0"/>
                <a:cs typeface="Arial" panose="020B0604020202020204" pitchFamily="34" charset="0"/>
              </a:rPr>
              <a:pPr algn="ctr"/>
              <a:t>‹#›</a:t>
            </a:fld>
            <a:endParaRPr lang="zh-TW" altLang="en-US" sz="1400">
              <a:solidFill>
                <a:srgbClr val="1492C3"/>
              </a:solidFill>
              <a:latin typeface="Arial" panose="020B0604020202020204" pitchFamily="34" charset="0"/>
              <a:cs typeface="Arial" panose="020B0604020202020204" pitchFamily="34" charset="0"/>
            </a:endParaRPr>
          </a:p>
        </p:txBody>
      </p:sp>
      <p:sp>
        <p:nvSpPr>
          <p:cNvPr id="4" name="標題 1">
            <a:extLst>
              <a:ext uri="{FF2B5EF4-FFF2-40B4-BE49-F238E27FC236}">
                <a16:creationId xmlns:a16="http://schemas.microsoft.com/office/drawing/2014/main" id="{F4A50BCB-0F6F-C499-0C3B-15E5EBB92095}"/>
              </a:ext>
            </a:extLst>
          </p:cNvPr>
          <p:cNvSpPr>
            <a:spLocks noGrp="1"/>
          </p:cNvSpPr>
          <p:nvPr>
            <p:ph type="title" hasCustomPrompt="1"/>
          </p:nvPr>
        </p:nvSpPr>
        <p:spPr>
          <a:xfrm>
            <a:off x="1410063" y="417269"/>
            <a:ext cx="9459219" cy="601289"/>
          </a:xfrm>
          <a:prstGeom prst="rect">
            <a:avLst/>
          </a:prstGeom>
        </p:spPr>
        <p:txBody>
          <a:bodyPr/>
          <a:lstStyle>
            <a:lvl1pPr algn="l">
              <a:defRPr sz="3200" baseline="0">
                <a:solidFill>
                  <a:srgbClr val="008FC7"/>
                </a:solidFill>
                <a:latin typeface="Arial" panose="020B0604020202020204" pitchFamily="34" charset="0"/>
              </a:defRPr>
            </a:lvl1pPr>
          </a:lstStyle>
          <a:p>
            <a:r>
              <a:rPr lang="zh-TW" altLang="en-US"/>
              <a:t>按一下以編輯標題樣式</a:t>
            </a:r>
          </a:p>
        </p:txBody>
      </p:sp>
    </p:spTree>
    <p:extLst>
      <p:ext uri="{BB962C8B-B14F-4D97-AF65-F5344CB8AC3E}">
        <p14:creationId xmlns:p14="http://schemas.microsoft.com/office/powerpoint/2010/main" val="9618590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65" name="投影片編號版面配置區 64"/>
          <p:cNvSpPr>
            <a:spLocks noGrp="1"/>
          </p:cNvSpPr>
          <p:nvPr>
            <p:ph type="sldNum" sz="quarter" idx="4"/>
          </p:nvPr>
        </p:nvSpPr>
        <p:spPr>
          <a:xfrm>
            <a:off x="11524890" y="6356350"/>
            <a:ext cx="439947" cy="365125"/>
          </a:xfrm>
          <a:prstGeom prst="rect">
            <a:avLst/>
          </a:prstGeom>
        </p:spPr>
        <p:txBody>
          <a:bodyPr vert="horz" lIns="91440" tIns="45720" rIns="91440" bIns="45720" rtlCol="0" anchor="ctr"/>
          <a:lstStyle>
            <a:lvl1pPr algn="r">
              <a:defRPr sz="1400">
                <a:solidFill>
                  <a:srgbClr val="008FC7"/>
                </a:solidFill>
              </a:defRPr>
            </a:lvl1pPr>
          </a:lstStyle>
          <a:p>
            <a:fld id="{DD1C6579-C6C1-4544-B3E5-F3C792737BFB}" type="slidenum">
              <a:rPr lang="zh-TW" altLang="en-US" smtClean="0"/>
              <a:pPr/>
              <a:t>‹#›</a:t>
            </a:fld>
            <a:endParaRPr lang="zh-TW" altLang="en-US"/>
          </a:p>
        </p:txBody>
      </p:sp>
      <p:grpSp>
        <p:nvGrpSpPr>
          <p:cNvPr id="128" name="群組 127"/>
          <p:cNvGrpSpPr/>
          <p:nvPr userDrawn="1"/>
        </p:nvGrpSpPr>
        <p:grpSpPr>
          <a:xfrm>
            <a:off x="-1785668" y="0"/>
            <a:ext cx="1761000" cy="6858000"/>
            <a:chOff x="-1785668" y="0"/>
            <a:chExt cx="1761000" cy="6858000"/>
          </a:xfrm>
        </p:grpSpPr>
        <p:sp>
          <p:nvSpPr>
            <p:cNvPr id="129" name="矩形 128"/>
            <p:cNvSpPr/>
            <p:nvPr/>
          </p:nvSpPr>
          <p:spPr>
            <a:xfrm>
              <a:off x="-1785668" y="0"/>
              <a:ext cx="173014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30" name="群組 129">
              <a:extLst>
                <a:ext uri="{FF2B5EF4-FFF2-40B4-BE49-F238E27FC236}">
                  <a16:creationId xmlns:a16="http://schemas.microsoft.com/office/drawing/2014/main" id="{0CFF4DB5-D689-240F-EF81-1F9E56F3CDE2}"/>
                </a:ext>
              </a:extLst>
            </p:cNvPr>
            <p:cNvGrpSpPr/>
            <p:nvPr/>
          </p:nvGrpSpPr>
          <p:grpSpPr>
            <a:xfrm>
              <a:off x="-1664884" y="4899626"/>
              <a:ext cx="1640216" cy="845815"/>
              <a:chOff x="5394551" y="3637348"/>
              <a:chExt cx="3439477" cy="1743227"/>
            </a:xfrm>
          </p:grpSpPr>
          <p:grpSp>
            <p:nvGrpSpPr>
              <p:cNvPr id="163" name="群組 162">
                <a:extLst>
                  <a:ext uri="{FF2B5EF4-FFF2-40B4-BE49-F238E27FC236}">
                    <a16:creationId xmlns:a16="http://schemas.microsoft.com/office/drawing/2014/main" id="{D0534335-A7DE-39E1-906C-AB4568BD0083}"/>
                  </a:ext>
                </a:extLst>
              </p:cNvPr>
              <p:cNvGrpSpPr/>
              <p:nvPr/>
            </p:nvGrpSpPr>
            <p:grpSpPr>
              <a:xfrm>
                <a:off x="5394551" y="3702294"/>
                <a:ext cx="2405597" cy="433894"/>
                <a:chOff x="5394551" y="3702294"/>
                <a:chExt cx="2405597" cy="433894"/>
              </a:xfrm>
            </p:grpSpPr>
            <p:sp>
              <p:nvSpPr>
                <p:cNvPr id="190" name="橢圓 189">
                  <a:extLst>
                    <a:ext uri="{FF2B5EF4-FFF2-40B4-BE49-F238E27FC236}">
                      <a16:creationId xmlns:a16="http://schemas.microsoft.com/office/drawing/2014/main" id="{ADE55B1D-195E-81A7-7234-8856307B9636}"/>
                    </a:ext>
                  </a:extLst>
                </p:cNvPr>
                <p:cNvSpPr/>
                <p:nvPr/>
              </p:nvSpPr>
              <p:spPr>
                <a:xfrm>
                  <a:off x="5919539" y="3702294"/>
                  <a:ext cx="409998" cy="409998"/>
                </a:xfrm>
                <a:prstGeom prst="ellipse">
                  <a:avLst/>
                </a:prstGeom>
                <a:solidFill>
                  <a:srgbClr val="FF89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91" name="橢圓 190">
                  <a:extLst>
                    <a:ext uri="{FF2B5EF4-FFF2-40B4-BE49-F238E27FC236}">
                      <a16:creationId xmlns:a16="http://schemas.microsoft.com/office/drawing/2014/main" id="{276FEBC1-22F0-8865-9A5D-E2A149390854}"/>
                    </a:ext>
                  </a:extLst>
                </p:cNvPr>
                <p:cNvSpPr/>
                <p:nvPr/>
              </p:nvSpPr>
              <p:spPr>
                <a:xfrm>
                  <a:off x="6409743" y="3708894"/>
                  <a:ext cx="409998" cy="409998"/>
                </a:xfrm>
                <a:prstGeom prst="ellipse">
                  <a:avLst/>
                </a:prstGeom>
                <a:solidFill>
                  <a:srgbClr val="E58B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92" name="橢圓 191">
                  <a:extLst>
                    <a:ext uri="{FF2B5EF4-FFF2-40B4-BE49-F238E27FC236}">
                      <a16:creationId xmlns:a16="http://schemas.microsoft.com/office/drawing/2014/main" id="{08693067-5644-89D0-176F-4D5E883B94D2}"/>
                    </a:ext>
                  </a:extLst>
                </p:cNvPr>
                <p:cNvSpPr/>
                <p:nvPr/>
              </p:nvSpPr>
              <p:spPr>
                <a:xfrm>
                  <a:off x="6899947" y="3721732"/>
                  <a:ext cx="409998" cy="409998"/>
                </a:xfrm>
                <a:prstGeom prst="ellipse">
                  <a:avLst/>
                </a:prstGeom>
                <a:solidFill>
                  <a:srgbClr val="D83F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93" name="橢圓 192">
                  <a:extLst>
                    <a:ext uri="{FF2B5EF4-FFF2-40B4-BE49-F238E27FC236}">
                      <a16:creationId xmlns:a16="http://schemas.microsoft.com/office/drawing/2014/main" id="{97C5EB28-005A-3196-1752-074D445093D2}"/>
                    </a:ext>
                  </a:extLst>
                </p:cNvPr>
                <p:cNvSpPr/>
                <p:nvPr/>
              </p:nvSpPr>
              <p:spPr>
                <a:xfrm>
                  <a:off x="7390150" y="3726190"/>
                  <a:ext cx="409998" cy="409998"/>
                </a:xfrm>
                <a:prstGeom prst="ellipse">
                  <a:avLst/>
                </a:prstGeom>
                <a:solidFill>
                  <a:srgbClr val="8645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94" name="橢圓 193">
                  <a:extLst>
                    <a:ext uri="{FF2B5EF4-FFF2-40B4-BE49-F238E27FC236}">
                      <a16:creationId xmlns:a16="http://schemas.microsoft.com/office/drawing/2014/main" id="{ADE55B1D-195E-81A7-7234-8856307B9636}"/>
                    </a:ext>
                  </a:extLst>
                </p:cNvPr>
                <p:cNvSpPr/>
                <p:nvPr userDrawn="1"/>
              </p:nvSpPr>
              <p:spPr>
                <a:xfrm>
                  <a:off x="5394551" y="3702294"/>
                  <a:ext cx="409999" cy="409999"/>
                </a:xfrm>
                <a:prstGeom prst="ellipse">
                  <a:avLst/>
                </a:prstGeom>
                <a:solidFill>
                  <a:srgbClr val="F7C2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grpSp>
          <p:sp>
            <p:nvSpPr>
              <p:cNvPr id="164" name="橢圓 163">
                <a:extLst>
                  <a:ext uri="{FF2B5EF4-FFF2-40B4-BE49-F238E27FC236}">
                    <a16:creationId xmlns:a16="http://schemas.microsoft.com/office/drawing/2014/main" id="{1A4A6E12-91F1-82F3-17A2-ED8E622C3F8B}"/>
                  </a:ext>
                </a:extLst>
              </p:cNvPr>
              <p:cNvSpPr/>
              <p:nvPr/>
            </p:nvSpPr>
            <p:spPr>
              <a:xfrm>
                <a:off x="5919539" y="3983759"/>
                <a:ext cx="409998" cy="409998"/>
              </a:xfrm>
              <a:prstGeom prst="ellipse">
                <a:avLst/>
              </a:prstGeom>
              <a:solidFill>
                <a:srgbClr val="FF9F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65" name="橢圓 164">
                <a:extLst>
                  <a:ext uri="{FF2B5EF4-FFF2-40B4-BE49-F238E27FC236}">
                    <a16:creationId xmlns:a16="http://schemas.microsoft.com/office/drawing/2014/main" id="{1F71A3B8-4ABD-466D-8F01-3AF3BCF545DA}"/>
                  </a:ext>
                </a:extLst>
              </p:cNvPr>
              <p:cNvSpPr/>
              <p:nvPr/>
            </p:nvSpPr>
            <p:spPr>
              <a:xfrm>
                <a:off x="6409743" y="3990359"/>
                <a:ext cx="409998" cy="409998"/>
              </a:xfrm>
              <a:prstGeom prst="ellipse">
                <a:avLst/>
              </a:prstGeom>
              <a:solidFill>
                <a:srgbClr val="EAA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66" name="橢圓 165">
                <a:extLst>
                  <a:ext uri="{FF2B5EF4-FFF2-40B4-BE49-F238E27FC236}">
                    <a16:creationId xmlns:a16="http://schemas.microsoft.com/office/drawing/2014/main" id="{95ADDB6B-3243-6788-B149-339153E651E6}"/>
                  </a:ext>
                </a:extLst>
              </p:cNvPr>
              <p:cNvSpPr/>
              <p:nvPr/>
            </p:nvSpPr>
            <p:spPr>
              <a:xfrm>
                <a:off x="6899947" y="4003197"/>
                <a:ext cx="409998" cy="409998"/>
              </a:xfrm>
              <a:prstGeom prst="ellipse">
                <a:avLst/>
              </a:prstGeom>
              <a:solidFill>
                <a:srgbClr val="E066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67" name="橢圓 166">
                <a:extLst>
                  <a:ext uri="{FF2B5EF4-FFF2-40B4-BE49-F238E27FC236}">
                    <a16:creationId xmlns:a16="http://schemas.microsoft.com/office/drawing/2014/main" id="{54F094E2-92EC-E813-CFBC-476767309CEE}"/>
                  </a:ext>
                </a:extLst>
              </p:cNvPr>
              <p:cNvSpPr/>
              <p:nvPr/>
            </p:nvSpPr>
            <p:spPr>
              <a:xfrm>
                <a:off x="7390150" y="4007655"/>
                <a:ext cx="409998" cy="409998"/>
              </a:xfrm>
              <a:prstGeom prst="ellipse">
                <a:avLst/>
              </a:prstGeom>
              <a:solidFill>
                <a:srgbClr val="9F6A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68" name="橢圓 167">
                <a:extLst>
                  <a:ext uri="{FF2B5EF4-FFF2-40B4-BE49-F238E27FC236}">
                    <a16:creationId xmlns:a16="http://schemas.microsoft.com/office/drawing/2014/main" id="{124D2B6F-C090-9F25-E955-A50EB95A24EF}"/>
                  </a:ext>
                </a:extLst>
              </p:cNvPr>
              <p:cNvSpPr/>
              <p:nvPr/>
            </p:nvSpPr>
            <p:spPr>
              <a:xfrm>
                <a:off x="5919539" y="4276019"/>
                <a:ext cx="409998" cy="409998"/>
              </a:xfrm>
              <a:prstGeom prst="ellipse">
                <a:avLst/>
              </a:prstGeom>
              <a:solidFill>
                <a:srgbClr val="FFB2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69" name="橢圓 168">
                <a:extLst>
                  <a:ext uri="{FF2B5EF4-FFF2-40B4-BE49-F238E27FC236}">
                    <a16:creationId xmlns:a16="http://schemas.microsoft.com/office/drawing/2014/main" id="{B04F04CB-509D-4CB5-52E7-3D96236C1CAD}"/>
                  </a:ext>
                </a:extLst>
              </p:cNvPr>
              <p:cNvSpPr/>
              <p:nvPr/>
            </p:nvSpPr>
            <p:spPr>
              <a:xfrm>
                <a:off x="6409743" y="4282619"/>
                <a:ext cx="409998" cy="409998"/>
              </a:xfrm>
              <a:prstGeom prst="ellipse">
                <a:avLst/>
              </a:prstGeom>
              <a:solidFill>
                <a:srgbClr val="EFB9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70" name="橢圓 169">
                <a:extLst>
                  <a:ext uri="{FF2B5EF4-FFF2-40B4-BE49-F238E27FC236}">
                    <a16:creationId xmlns:a16="http://schemas.microsoft.com/office/drawing/2014/main" id="{769DFCC5-C266-9199-C464-C5E20719F993}"/>
                  </a:ext>
                </a:extLst>
              </p:cNvPr>
              <p:cNvSpPr/>
              <p:nvPr/>
            </p:nvSpPr>
            <p:spPr>
              <a:xfrm>
                <a:off x="6899947" y="4295457"/>
                <a:ext cx="409998" cy="409998"/>
              </a:xfrm>
              <a:prstGeom prst="ellipse">
                <a:avLst/>
              </a:prstGeom>
              <a:solidFill>
                <a:srgbClr val="E78C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71" name="橢圓 170">
                <a:extLst>
                  <a:ext uri="{FF2B5EF4-FFF2-40B4-BE49-F238E27FC236}">
                    <a16:creationId xmlns:a16="http://schemas.microsoft.com/office/drawing/2014/main" id="{F77D5CA9-8F62-3FD4-9C63-D1D5C49715A7}"/>
                  </a:ext>
                </a:extLst>
              </p:cNvPr>
              <p:cNvSpPr/>
              <p:nvPr/>
            </p:nvSpPr>
            <p:spPr>
              <a:xfrm>
                <a:off x="7390150" y="4299915"/>
                <a:ext cx="409998" cy="409998"/>
              </a:xfrm>
              <a:prstGeom prst="ellipse">
                <a:avLst/>
              </a:prstGeom>
              <a:solidFill>
                <a:srgbClr val="B78F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72" name="橢圓 171">
                <a:extLst>
                  <a:ext uri="{FF2B5EF4-FFF2-40B4-BE49-F238E27FC236}">
                    <a16:creationId xmlns:a16="http://schemas.microsoft.com/office/drawing/2014/main" id="{7B62595B-50EF-29CF-DE1A-740CE8D796D5}"/>
                  </a:ext>
                </a:extLst>
              </p:cNvPr>
              <p:cNvSpPr/>
              <p:nvPr/>
            </p:nvSpPr>
            <p:spPr>
              <a:xfrm>
                <a:off x="5919539" y="4554005"/>
                <a:ext cx="409998" cy="409998"/>
              </a:xfrm>
              <a:prstGeom prst="ellipse">
                <a:avLst/>
              </a:prstGeom>
              <a:solidFill>
                <a:srgbClr val="FFCA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73" name="橢圓 172">
                <a:extLst>
                  <a:ext uri="{FF2B5EF4-FFF2-40B4-BE49-F238E27FC236}">
                    <a16:creationId xmlns:a16="http://schemas.microsoft.com/office/drawing/2014/main" id="{CD3A8E02-85B9-0BE1-B995-FBDC133F0857}"/>
                  </a:ext>
                </a:extLst>
              </p:cNvPr>
              <p:cNvSpPr/>
              <p:nvPr/>
            </p:nvSpPr>
            <p:spPr>
              <a:xfrm>
                <a:off x="6409743" y="4560605"/>
                <a:ext cx="409998" cy="409998"/>
              </a:xfrm>
              <a:prstGeom prst="ellipse">
                <a:avLst/>
              </a:prstGeom>
              <a:solidFill>
                <a:srgbClr val="F4D1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74" name="橢圓 173">
                <a:extLst>
                  <a:ext uri="{FF2B5EF4-FFF2-40B4-BE49-F238E27FC236}">
                    <a16:creationId xmlns:a16="http://schemas.microsoft.com/office/drawing/2014/main" id="{9DE980D4-5D72-EC6D-BA46-0C8923F7090F}"/>
                  </a:ext>
                </a:extLst>
              </p:cNvPr>
              <p:cNvSpPr/>
              <p:nvPr/>
            </p:nvSpPr>
            <p:spPr>
              <a:xfrm>
                <a:off x="6899947" y="4573443"/>
                <a:ext cx="409998" cy="409998"/>
              </a:xfrm>
              <a:prstGeom prst="ellipse">
                <a:avLst/>
              </a:prstGeom>
              <a:solidFill>
                <a:srgbClr val="EFB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75" name="橢圓 174">
                <a:extLst>
                  <a:ext uri="{FF2B5EF4-FFF2-40B4-BE49-F238E27FC236}">
                    <a16:creationId xmlns:a16="http://schemas.microsoft.com/office/drawing/2014/main" id="{A64D9105-5177-F792-FB6E-E3BC2AA9807D}"/>
                  </a:ext>
                </a:extLst>
              </p:cNvPr>
              <p:cNvSpPr/>
              <p:nvPr/>
            </p:nvSpPr>
            <p:spPr>
              <a:xfrm>
                <a:off x="7390150" y="4577901"/>
                <a:ext cx="409998" cy="409998"/>
              </a:xfrm>
              <a:prstGeom prst="ellipse">
                <a:avLst/>
              </a:prstGeom>
              <a:solidFill>
                <a:srgbClr val="CFB4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76" name="橢圓 175">
                <a:extLst>
                  <a:ext uri="{FF2B5EF4-FFF2-40B4-BE49-F238E27FC236}">
                    <a16:creationId xmlns:a16="http://schemas.microsoft.com/office/drawing/2014/main" id="{E6A5AB07-8589-B0C9-0AC6-191764B516BF}"/>
                  </a:ext>
                </a:extLst>
              </p:cNvPr>
              <p:cNvSpPr/>
              <p:nvPr/>
            </p:nvSpPr>
            <p:spPr>
              <a:xfrm>
                <a:off x="5919539" y="4858289"/>
                <a:ext cx="409998" cy="409998"/>
              </a:xfrm>
              <a:prstGeom prst="ellipse">
                <a:avLst/>
              </a:prstGeom>
              <a:solidFill>
                <a:srgbClr val="FFDE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77" name="橢圓 176">
                <a:extLst>
                  <a:ext uri="{FF2B5EF4-FFF2-40B4-BE49-F238E27FC236}">
                    <a16:creationId xmlns:a16="http://schemas.microsoft.com/office/drawing/2014/main" id="{F8456F83-3B4B-6ACE-B829-602CD67248DC}"/>
                  </a:ext>
                </a:extLst>
              </p:cNvPr>
              <p:cNvSpPr/>
              <p:nvPr/>
            </p:nvSpPr>
            <p:spPr>
              <a:xfrm>
                <a:off x="6409743" y="4864889"/>
                <a:ext cx="409998" cy="409998"/>
              </a:xfrm>
              <a:prstGeom prst="ellipse">
                <a:avLst/>
              </a:prstGeom>
              <a:solidFill>
                <a:srgbClr val="FAE8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78" name="橢圓 177">
                <a:extLst>
                  <a:ext uri="{FF2B5EF4-FFF2-40B4-BE49-F238E27FC236}">
                    <a16:creationId xmlns:a16="http://schemas.microsoft.com/office/drawing/2014/main" id="{AD5DF275-909A-971F-1B97-2A7AD2E0BF11}"/>
                  </a:ext>
                </a:extLst>
              </p:cNvPr>
              <p:cNvSpPr/>
              <p:nvPr/>
            </p:nvSpPr>
            <p:spPr>
              <a:xfrm>
                <a:off x="6899947" y="4877727"/>
                <a:ext cx="409998" cy="409998"/>
              </a:xfrm>
              <a:prstGeom prst="ellipse">
                <a:avLst/>
              </a:prstGeom>
              <a:solidFill>
                <a:srgbClr val="F7D9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79" name="橢圓 178">
                <a:extLst>
                  <a:ext uri="{FF2B5EF4-FFF2-40B4-BE49-F238E27FC236}">
                    <a16:creationId xmlns:a16="http://schemas.microsoft.com/office/drawing/2014/main" id="{D2A2126A-1012-3C55-9803-4B938412ACC7}"/>
                  </a:ext>
                </a:extLst>
              </p:cNvPr>
              <p:cNvSpPr/>
              <p:nvPr/>
            </p:nvSpPr>
            <p:spPr>
              <a:xfrm>
                <a:off x="7390150" y="4882185"/>
                <a:ext cx="409998" cy="409998"/>
              </a:xfrm>
              <a:prstGeom prst="ellipse">
                <a:avLst/>
              </a:prstGeom>
              <a:solidFill>
                <a:srgbClr val="E7DA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grpSp>
            <p:nvGrpSpPr>
              <p:cNvPr id="180" name="群組 179">
                <a:extLst>
                  <a:ext uri="{FF2B5EF4-FFF2-40B4-BE49-F238E27FC236}">
                    <a16:creationId xmlns:a16="http://schemas.microsoft.com/office/drawing/2014/main" id="{04DD7590-87E8-4562-A800-605C3D8D6317}"/>
                  </a:ext>
                </a:extLst>
              </p:cNvPr>
              <p:cNvGrpSpPr/>
              <p:nvPr/>
            </p:nvGrpSpPr>
            <p:grpSpPr>
              <a:xfrm>
                <a:off x="7794669" y="3637348"/>
                <a:ext cx="1039359" cy="1743227"/>
                <a:chOff x="7794669" y="3637348"/>
                <a:chExt cx="1039359" cy="1743227"/>
              </a:xfrm>
            </p:grpSpPr>
            <p:sp>
              <p:nvSpPr>
                <p:cNvPr id="185" name="矩形 184">
                  <a:extLst>
                    <a:ext uri="{FF2B5EF4-FFF2-40B4-BE49-F238E27FC236}">
                      <a16:creationId xmlns:a16="http://schemas.microsoft.com/office/drawing/2014/main" id="{82D1B314-BEC5-8D80-8819-3AFD3FF205A0}"/>
                    </a:ext>
                  </a:extLst>
                </p:cNvPr>
                <p:cNvSpPr/>
                <p:nvPr/>
              </p:nvSpPr>
              <p:spPr>
                <a:xfrm>
                  <a:off x="7794669" y="3637348"/>
                  <a:ext cx="1039359" cy="507463"/>
                </a:xfrm>
                <a:prstGeom prst="rect">
                  <a:avLst/>
                </a:prstGeom>
              </p:spPr>
              <p:txBody>
                <a:bodyPr wrap="none">
                  <a:spAutoFit/>
                </a:bodyPr>
                <a:lstStyle/>
                <a:p>
                  <a:r>
                    <a:rPr lang="en-US" altLang="zh-TW" sz="1000">
                      <a:solidFill>
                        <a:schemeClr val="bg1">
                          <a:lumMod val="50000"/>
                        </a:schemeClr>
                      </a:solidFill>
                      <a:latin typeface="roboto" panose="02000000000000000000" pitchFamily="2" charset="0"/>
                    </a:rPr>
                    <a:t>100%</a:t>
                  </a:r>
                  <a:endParaRPr lang="zh-TW" altLang="en-US" sz="1000">
                    <a:solidFill>
                      <a:schemeClr val="bg1">
                        <a:lumMod val="50000"/>
                      </a:schemeClr>
                    </a:solidFill>
                  </a:endParaRPr>
                </a:p>
              </p:txBody>
            </p:sp>
            <p:sp>
              <p:nvSpPr>
                <p:cNvPr id="186" name="矩形 185">
                  <a:extLst>
                    <a:ext uri="{FF2B5EF4-FFF2-40B4-BE49-F238E27FC236}">
                      <a16:creationId xmlns:a16="http://schemas.microsoft.com/office/drawing/2014/main" id="{B8391EAE-1D81-794D-C920-0AA149025AFC}"/>
                    </a:ext>
                  </a:extLst>
                </p:cNvPr>
                <p:cNvSpPr/>
                <p:nvPr/>
              </p:nvSpPr>
              <p:spPr>
                <a:xfrm>
                  <a:off x="7881232" y="3958675"/>
                  <a:ext cx="888094" cy="507462"/>
                </a:xfrm>
                <a:prstGeom prst="rect">
                  <a:avLst/>
                </a:prstGeom>
              </p:spPr>
              <p:txBody>
                <a:bodyPr wrap="none">
                  <a:spAutoFit/>
                </a:bodyPr>
                <a:lstStyle/>
                <a:p>
                  <a:r>
                    <a:rPr lang="en-US" altLang="zh-TW" sz="1000">
                      <a:solidFill>
                        <a:schemeClr val="bg1">
                          <a:lumMod val="50000"/>
                        </a:schemeClr>
                      </a:solidFill>
                      <a:latin typeface="roboto" panose="02000000000000000000" pitchFamily="2" charset="0"/>
                    </a:rPr>
                    <a:t>80%</a:t>
                  </a:r>
                  <a:endParaRPr lang="zh-TW" altLang="en-US" sz="1000">
                    <a:solidFill>
                      <a:schemeClr val="bg1">
                        <a:lumMod val="50000"/>
                      </a:schemeClr>
                    </a:solidFill>
                  </a:endParaRPr>
                </a:p>
              </p:txBody>
            </p:sp>
            <p:sp>
              <p:nvSpPr>
                <p:cNvPr id="187" name="矩形 186">
                  <a:extLst>
                    <a:ext uri="{FF2B5EF4-FFF2-40B4-BE49-F238E27FC236}">
                      <a16:creationId xmlns:a16="http://schemas.microsoft.com/office/drawing/2014/main" id="{7BE7AC0A-DB0A-D46C-4509-E9B547B96064}"/>
                    </a:ext>
                  </a:extLst>
                </p:cNvPr>
                <p:cNvSpPr/>
                <p:nvPr/>
              </p:nvSpPr>
              <p:spPr>
                <a:xfrm>
                  <a:off x="7881232" y="4259239"/>
                  <a:ext cx="888094" cy="507462"/>
                </a:xfrm>
                <a:prstGeom prst="rect">
                  <a:avLst/>
                </a:prstGeom>
              </p:spPr>
              <p:txBody>
                <a:bodyPr wrap="none">
                  <a:spAutoFit/>
                </a:bodyPr>
                <a:lstStyle/>
                <a:p>
                  <a:r>
                    <a:rPr lang="en-US" altLang="zh-TW" sz="1000">
                      <a:solidFill>
                        <a:schemeClr val="bg1">
                          <a:lumMod val="50000"/>
                        </a:schemeClr>
                      </a:solidFill>
                      <a:latin typeface="roboto" panose="02000000000000000000" pitchFamily="2" charset="0"/>
                    </a:rPr>
                    <a:t>60%</a:t>
                  </a:r>
                  <a:endParaRPr lang="zh-TW" altLang="en-US" sz="1000">
                    <a:solidFill>
                      <a:schemeClr val="bg1">
                        <a:lumMod val="50000"/>
                      </a:schemeClr>
                    </a:solidFill>
                  </a:endParaRPr>
                </a:p>
              </p:txBody>
            </p:sp>
            <p:sp>
              <p:nvSpPr>
                <p:cNvPr id="188" name="矩形 187">
                  <a:extLst>
                    <a:ext uri="{FF2B5EF4-FFF2-40B4-BE49-F238E27FC236}">
                      <a16:creationId xmlns:a16="http://schemas.microsoft.com/office/drawing/2014/main" id="{3B68F212-F81D-A1D5-7785-7444EAA46D34}"/>
                    </a:ext>
                  </a:extLst>
                </p:cNvPr>
                <p:cNvSpPr/>
                <p:nvPr/>
              </p:nvSpPr>
              <p:spPr>
                <a:xfrm>
                  <a:off x="7881232" y="4549392"/>
                  <a:ext cx="888094" cy="507462"/>
                </a:xfrm>
                <a:prstGeom prst="rect">
                  <a:avLst/>
                </a:prstGeom>
              </p:spPr>
              <p:txBody>
                <a:bodyPr wrap="none">
                  <a:spAutoFit/>
                </a:bodyPr>
                <a:lstStyle/>
                <a:p>
                  <a:r>
                    <a:rPr lang="en-US" altLang="zh-TW" sz="1000">
                      <a:solidFill>
                        <a:schemeClr val="bg1">
                          <a:lumMod val="50000"/>
                        </a:schemeClr>
                      </a:solidFill>
                      <a:latin typeface="roboto" panose="02000000000000000000" pitchFamily="2" charset="0"/>
                    </a:rPr>
                    <a:t>40%</a:t>
                  </a:r>
                  <a:endParaRPr lang="zh-TW" altLang="en-US" sz="1000">
                    <a:solidFill>
                      <a:schemeClr val="bg1">
                        <a:lumMod val="50000"/>
                      </a:schemeClr>
                    </a:solidFill>
                  </a:endParaRPr>
                </a:p>
              </p:txBody>
            </p:sp>
            <p:sp>
              <p:nvSpPr>
                <p:cNvPr id="189" name="矩形 188">
                  <a:extLst>
                    <a:ext uri="{FF2B5EF4-FFF2-40B4-BE49-F238E27FC236}">
                      <a16:creationId xmlns:a16="http://schemas.microsoft.com/office/drawing/2014/main" id="{FB7D6327-2F12-05AE-A2D0-51DC3EF64B3C}"/>
                    </a:ext>
                  </a:extLst>
                </p:cNvPr>
                <p:cNvSpPr/>
                <p:nvPr/>
              </p:nvSpPr>
              <p:spPr>
                <a:xfrm>
                  <a:off x="7881232" y="4873113"/>
                  <a:ext cx="888094" cy="507462"/>
                </a:xfrm>
                <a:prstGeom prst="rect">
                  <a:avLst/>
                </a:prstGeom>
              </p:spPr>
              <p:txBody>
                <a:bodyPr wrap="none">
                  <a:spAutoFit/>
                </a:bodyPr>
                <a:lstStyle/>
                <a:p>
                  <a:r>
                    <a:rPr lang="en-US" altLang="zh-TW" sz="1000">
                      <a:solidFill>
                        <a:schemeClr val="bg1">
                          <a:lumMod val="50000"/>
                        </a:schemeClr>
                      </a:solidFill>
                      <a:latin typeface="roboto" panose="02000000000000000000" pitchFamily="2" charset="0"/>
                    </a:rPr>
                    <a:t>20%</a:t>
                  </a:r>
                  <a:endParaRPr lang="zh-TW" altLang="en-US" sz="1000">
                    <a:solidFill>
                      <a:schemeClr val="bg1">
                        <a:lumMod val="50000"/>
                      </a:schemeClr>
                    </a:solidFill>
                  </a:endParaRPr>
                </a:p>
              </p:txBody>
            </p:sp>
          </p:grpSp>
          <p:sp>
            <p:nvSpPr>
              <p:cNvPr id="181" name="橢圓 180">
                <a:extLst>
                  <a:ext uri="{FF2B5EF4-FFF2-40B4-BE49-F238E27FC236}">
                    <a16:creationId xmlns:a16="http://schemas.microsoft.com/office/drawing/2014/main" id="{1A4A6E12-91F1-82F3-17A2-ED8E622C3F8B}"/>
                  </a:ext>
                </a:extLst>
              </p:cNvPr>
              <p:cNvSpPr/>
              <p:nvPr userDrawn="1"/>
            </p:nvSpPr>
            <p:spPr>
              <a:xfrm>
                <a:off x="5394551" y="3983759"/>
                <a:ext cx="409999" cy="409997"/>
              </a:xfrm>
              <a:prstGeom prst="ellipse">
                <a:avLst/>
              </a:prstGeom>
              <a:solidFill>
                <a:srgbClr val="F9CE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82" name="橢圓 181">
                <a:extLst>
                  <a:ext uri="{FF2B5EF4-FFF2-40B4-BE49-F238E27FC236}">
                    <a16:creationId xmlns:a16="http://schemas.microsoft.com/office/drawing/2014/main" id="{124D2B6F-C090-9F25-E955-A50EB95A24EF}"/>
                  </a:ext>
                </a:extLst>
              </p:cNvPr>
              <p:cNvSpPr/>
              <p:nvPr userDrawn="1"/>
            </p:nvSpPr>
            <p:spPr>
              <a:xfrm>
                <a:off x="5394551" y="4276020"/>
                <a:ext cx="409999" cy="409997"/>
              </a:xfrm>
              <a:prstGeom prst="ellipse">
                <a:avLst/>
              </a:prstGeom>
              <a:solidFill>
                <a:srgbClr val="FADA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83" name="橢圓 182">
                <a:extLst>
                  <a:ext uri="{FF2B5EF4-FFF2-40B4-BE49-F238E27FC236}">
                    <a16:creationId xmlns:a16="http://schemas.microsoft.com/office/drawing/2014/main" id="{7B62595B-50EF-29CF-DE1A-740CE8D796D5}"/>
                  </a:ext>
                </a:extLst>
              </p:cNvPr>
              <p:cNvSpPr/>
              <p:nvPr userDrawn="1"/>
            </p:nvSpPr>
            <p:spPr>
              <a:xfrm>
                <a:off x="5394551" y="4554006"/>
                <a:ext cx="409999" cy="409997"/>
              </a:xfrm>
              <a:prstGeom prst="ellipse">
                <a:avLst/>
              </a:prstGeom>
              <a:solidFill>
                <a:srgbClr val="FCE6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84" name="橢圓 183">
                <a:extLst>
                  <a:ext uri="{FF2B5EF4-FFF2-40B4-BE49-F238E27FC236}">
                    <a16:creationId xmlns:a16="http://schemas.microsoft.com/office/drawing/2014/main" id="{E6A5AB07-8589-B0C9-0AC6-191764B516BF}"/>
                  </a:ext>
                </a:extLst>
              </p:cNvPr>
              <p:cNvSpPr/>
              <p:nvPr userDrawn="1"/>
            </p:nvSpPr>
            <p:spPr>
              <a:xfrm>
                <a:off x="5394551" y="4858288"/>
                <a:ext cx="409999" cy="409997"/>
              </a:xfrm>
              <a:prstGeom prst="ellipse">
                <a:avLst/>
              </a:prstGeom>
              <a:solidFill>
                <a:srgbClr val="FDF3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grpSp>
        <p:grpSp>
          <p:nvGrpSpPr>
            <p:cNvPr id="131" name="群組 130">
              <a:extLst>
                <a:ext uri="{FF2B5EF4-FFF2-40B4-BE49-F238E27FC236}">
                  <a16:creationId xmlns:a16="http://schemas.microsoft.com/office/drawing/2014/main" id="{5021FB62-E753-16C4-81CE-A25E93D65B30}"/>
                </a:ext>
              </a:extLst>
            </p:cNvPr>
            <p:cNvGrpSpPr/>
            <p:nvPr/>
          </p:nvGrpSpPr>
          <p:grpSpPr>
            <a:xfrm>
              <a:off x="-1573701" y="153674"/>
              <a:ext cx="1412331" cy="1485543"/>
              <a:chOff x="-1888440" y="943599"/>
              <a:chExt cx="1694797" cy="1955431"/>
            </a:xfrm>
          </p:grpSpPr>
          <p:sp>
            <p:nvSpPr>
              <p:cNvPr id="157" name="橢圓 156">
                <a:extLst>
                  <a:ext uri="{FF2B5EF4-FFF2-40B4-BE49-F238E27FC236}">
                    <a16:creationId xmlns:a16="http://schemas.microsoft.com/office/drawing/2014/main" id="{8E9A88B6-20FF-ACF7-9980-65954FE3554C}"/>
                  </a:ext>
                </a:extLst>
              </p:cNvPr>
              <p:cNvSpPr/>
              <p:nvPr/>
            </p:nvSpPr>
            <p:spPr>
              <a:xfrm>
                <a:off x="-1232597" y="2261704"/>
                <a:ext cx="300946" cy="342185"/>
              </a:xfrm>
              <a:prstGeom prst="ellipse">
                <a:avLst/>
              </a:prstGeom>
              <a:solidFill>
                <a:srgbClr val="0F9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p>
            </p:txBody>
          </p:sp>
          <p:sp>
            <p:nvSpPr>
              <p:cNvPr id="158" name="橢圓 157">
                <a:extLst>
                  <a:ext uri="{FF2B5EF4-FFF2-40B4-BE49-F238E27FC236}">
                    <a16:creationId xmlns:a16="http://schemas.microsoft.com/office/drawing/2014/main" id="{E09208FC-1A63-3174-8728-2421077E4D5E}"/>
                  </a:ext>
                </a:extLst>
              </p:cNvPr>
              <p:cNvSpPr/>
              <p:nvPr/>
            </p:nvSpPr>
            <p:spPr>
              <a:xfrm>
                <a:off x="-1680680" y="2261704"/>
                <a:ext cx="300946" cy="342185"/>
              </a:xfrm>
              <a:prstGeom prst="ellipse">
                <a:avLst/>
              </a:prstGeom>
              <a:solidFill>
                <a:srgbClr val="149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59" name="文字方塊 158">
                <a:extLst>
                  <a:ext uri="{FF2B5EF4-FFF2-40B4-BE49-F238E27FC236}">
                    <a16:creationId xmlns:a16="http://schemas.microsoft.com/office/drawing/2014/main" id="{FA5AFF4A-6FDF-18D4-0F01-A5742D211E26}"/>
                  </a:ext>
                </a:extLst>
              </p:cNvPr>
              <p:cNvSpPr txBox="1"/>
              <p:nvPr/>
            </p:nvSpPr>
            <p:spPr>
              <a:xfrm>
                <a:off x="-1761424" y="1847619"/>
                <a:ext cx="1053440" cy="405129"/>
              </a:xfrm>
              <a:prstGeom prst="rect">
                <a:avLst/>
              </a:prstGeom>
              <a:noFill/>
            </p:spPr>
            <p:txBody>
              <a:bodyPr wrap="square" rtlCol="0">
                <a:spAutoFit/>
              </a:bodyPr>
              <a:lstStyle/>
              <a:p>
                <a:r>
                  <a:rPr lang="zh-TW" altLang="en-US" sz="1400" b="1">
                    <a:solidFill>
                      <a:schemeClr val="tx1"/>
                    </a:solidFill>
                    <a:latin typeface="微軟正黑體" panose="020B0604030504040204" pitchFamily="34" charset="-120"/>
                    <a:ea typeface="微軟正黑體" panose="020B0604030504040204" pitchFamily="34" charset="-120"/>
                  </a:rPr>
                  <a:t>主色</a:t>
                </a:r>
              </a:p>
            </p:txBody>
          </p:sp>
          <p:sp>
            <p:nvSpPr>
              <p:cNvPr id="160" name="矩形 159">
                <a:extLst>
                  <a:ext uri="{FF2B5EF4-FFF2-40B4-BE49-F238E27FC236}">
                    <a16:creationId xmlns:a16="http://schemas.microsoft.com/office/drawing/2014/main" id="{644C36AC-6DD1-6FAD-DBAD-5B63477380D0}"/>
                  </a:ext>
                </a:extLst>
              </p:cNvPr>
              <p:cNvSpPr/>
              <p:nvPr/>
            </p:nvSpPr>
            <p:spPr>
              <a:xfrm>
                <a:off x="-1709375" y="2580580"/>
                <a:ext cx="394723" cy="318449"/>
              </a:xfrm>
              <a:prstGeom prst="rect">
                <a:avLst/>
              </a:prstGeom>
            </p:spPr>
            <p:txBody>
              <a:bodyPr wrap="none">
                <a:spAutoFit/>
              </a:bodyPr>
              <a:lstStyle/>
              <a:p>
                <a:r>
                  <a:rPr lang="en-US" altLang="zh-TW" sz="972" b="1">
                    <a:solidFill>
                      <a:srgbClr val="0C0E1F"/>
                    </a:solidFill>
                    <a:latin typeface="roboto" panose="02000000000000000000" pitchFamily="2" charset="0"/>
                  </a:rPr>
                  <a:t>01</a:t>
                </a:r>
                <a:endParaRPr lang="zh-TW" altLang="en-US" sz="972" b="1"/>
              </a:p>
            </p:txBody>
          </p:sp>
          <p:sp>
            <p:nvSpPr>
              <p:cNvPr id="161" name="矩形 160">
                <a:extLst>
                  <a:ext uri="{FF2B5EF4-FFF2-40B4-BE49-F238E27FC236}">
                    <a16:creationId xmlns:a16="http://schemas.microsoft.com/office/drawing/2014/main" id="{13238D3E-88E7-C0A9-3FC7-F4D2AE039DAE}"/>
                  </a:ext>
                </a:extLst>
              </p:cNvPr>
              <p:cNvSpPr/>
              <p:nvPr/>
            </p:nvSpPr>
            <p:spPr>
              <a:xfrm>
                <a:off x="-1250342" y="2580581"/>
                <a:ext cx="394723" cy="318449"/>
              </a:xfrm>
              <a:prstGeom prst="rect">
                <a:avLst/>
              </a:prstGeom>
            </p:spPr>
            <p:txBody>
              <a:bodyPr wrap="none">
                <a:spAutoFit/>
              </a:bodyPr>
              <a:lstStyle/>
              <a:p>
                <a:r>
                  <a:rPr lang="en-US" altLang="zh-TW" sz="972" b="1">
                    <a:solidFill>
                      <a:srgbClr val="0C0E1F"/>
                    </a:solidFill>
                    <a:latin typeface="roboto" panose="02000000000000000000" pitchFamily="2" charset="0"/>
                  </a:rPr>
                  <a:t>02</a:t>
                </a:r>
                <a:endParaRPr lang="zh-TW" altLang="en-US" sz="972" b="1"/>
              </a:p>
            </p:txBody>
          </p:sp>
          <p:sp>
            <p:nvSpPr>
              <p:cNvPr id="162" name="文字方塊 161">
                <a:extLst>
                  <a:ext uri="{FF2B5EF4-FFF2-40B4-BE49-F238E27FC236}">
                    <a16:creationId xmlns:a16="http://schemas.microsoft.com/office/drawing/2014/main" id="{FA5AFF4A-6FDF-18D4-0F01-A5742D211E26}"/>
                  </a:ext>
                </a:extLst>
              </p:cNvPr>
              <p:cNvSpPr txBox="1"/>
              <p:nvPr/>
            </p:nvSpPr>
            <p:spPr>
              <a:xfrm>
                <a:off x="-1888440" y="943599"/>
                <a:ext cx="1694797" cy="405129"/>
              </a:xfrm>
              <a:prstGeom prst="rect">
                <a:avLst/>
              </a:prstGeom>
              <a:noFill/>
            </p:spPr>
            <p:txBody>
              <a:bodyPr wrap="square" rtlCol="0">
                <a:spAutoFit/>
              </a:bodyPr>
              <a:lstStyle/>
              <a:p>
                <a:r>
                  <a:rPr lang="zh-TW" altLang="en-US" sz="1400" b="1">
                    <a:solidFill>
                      <a:schemeClr val="tx1"/>
                    </a:solidFill>
                    <a:latin typeface="微軟正黑體" panose="020B0604030504040204" pitchFamily="34" charset="-120"/>
                    <a:ea typeface="微軟正黑體" panose="020B0604030504040204" pitchFamily="34" charset="-120"/>
                  </a:rPr>
                  <a:t>色彩使用說明</a:t>
                </a:r>
              </a:p>
            </p:txBody>
          </p:sp>
        </p:grpSp>
        <p:sp>
          <p:nvSpPr>
            <p:cNvPr id="132" name="矩形 131">
              <a:extLst>
                <a:ext uri="{FF2B5EF4-FFF2-40B4-BE49-F238E27FC236}">
                  <a16:creationId xmlns:a16="http://schemas.microsoft.com/office/drawing/2014/main" id="{771E93AF-07E7-79EB-B06D-26811E190CEC}"/>
                </a:ext>
              </a:extLst>
            </p:cNvPr>
            <p:cNvSpPr/>
            <p:nvPr/>
          </p:nvSpPr>
          <p:spPr>
            <a:xfrm>
              <a:off x="-1702286" y="5700044"/>
              <a:ext cx="328936" cy="241926"/>
            </a:xfrm>
            <a:prstGeom prst="rect">
              <a:avLst/>
            </a:prstGeom>
          </p:spPr>
          <p:txBody>
            <a:bodyPr wrap="none">
              <a:spAutoFit/>
            </a:bodyPr>
            <a:lstStyle/>
            <a:p>
              <a:r>
                <a:rPr lang="en-US" altLang="zh-TW" sz="972" b="1">
                  <a:solidFill>
                    <a:srgbClr val="0C0E1F"/>
                  </a:solidFill>
                  <a:latin typeface="roboto" panose="02000000000000000000" pitchFamily="2" charset="0"/>
                </a:rPr>
                <a:t>06</a:t>
              </a:r>
              <a:endParaRPr lang="zh-TW" altLang="en-US" sz="972" b="1"/>
            </a:p>
          </p:txBody>
        </p:sp>
        <p:sp>
          <p:nvSpPr>
            <p:cNvPr id="133" name="矩形 132">
              <a:extLst>
                <a:ext uri="{FF2B5EF4-FFF2-40B4-BE49-F238E27FC236}">
                  <a16:creationId xmlns:a16="http://schemas.microsoft.com/office/drawing/2014/main" id="{B524EAA4-00D0-E3E5-B8F6-15703E80FA1A}"/>
                </a:ext>
              </a:extLst>
            </p:cNvPr>
            <p:cNvSpPr/>
            <p:nvPr/>
          </p:nvSpPr>
          <p:spPr>
            <a:xfrm>
              <a:off x="-1483628" y="5700044"/>
              <a:ext cx="328936" cy="241926"/>
            </a:xfrm>
            <a:prstGeom prst="rect">
              <a:avLst/>
            </a:prstGeom>
          </p:spPr>
          <p:txBody>
            <a:bodyPr wrap="none">
              <a:spAutoFit/>
            </a:bodyPr>
            <a:lstStyle/>
            <a:p>
              <a:r>
                <a:rPr lang="en-US" altLang="zh-TW" sz="972" b="1">
                  <a:solidFill>
                    <a:srgbClr val="0C0E1F"/>
                  </a:solidFill>
                  <a:latin typeface="roboto" panose="02000000000000000000" pitchFamily="2" charset="0"/>
                </a:rPr>
                <a:t>07</a:t>
              </a:r>
              <a:endParaRPr lang="zh-TW" altLang="en-US" sz="972" b="1"/>
            </a:p>
          </p:txBody>
        </p:sp>
        <p:sp>
          <p:nvSpPr>
            <p:cNvPr id="134" name="矩形 133">
              <a:extLst>
                <a:ext uri="{FF2B5EF4-FFF2-40B4-BE49-F238E27FC236}">
                  <a16:creationId xmlns:a16="http://schemas.microsoft.com/office/drawing/2014/main" id="{348E330F-ACEF-075F-D231-B318B9E92CA5}"/>
                </a:ext>
              </a:extLst>
            </p:cNvPr>
            <p:cNvSpPr/>
            <p:nvPr/>
          </p:nvSpPr>
          <p:spPr>
            <a:xfrm>
              <a:off x="-1243130" y="5700044"/>
              <a:ext cx="328936" cy="241926"/>
            </a:xfrm>
            <a:prstGeom prst="rect">
              <a:avLst/>
            </a:prstGeom>
          </p:spPr>
          <p:txBody>
            <a:bodyPr wrap="none">
              <a:spAutoFit/>
            </a:bodyPr>
            <a:lstStyle/>
            <a:p>
              <a:r>
                <a:rPr lang="en-US" altLang="zh-TW" sz="972" b="1">
                  <a:solidFill>
                    <a:srgbClr val="0C0E1F"/>
                  </a:solidFill>
                  <a:latin typeface="roboto" panose="02000000000000000000" pitchFamily="2" charset="0"/>
                </a:rPr>
                <a:t>08</a:t>
              </a:r>
              <a:endParaRPr lang="zh-TW" altLang="en-US" sz="972" b="1"/>
            </a:p>
          </p:txBody>
        </p:sp>
        <p:sp>
          <p:nvSpPr>
            <p:cNvPr id="135" name="矩形 134">
              <a:extLst>
                <a:ext uri="{FF2B5EF4-FFF2-40B4-BE49-F238E27FC236}">
                  <a16:creationId xmlns:a16="http://schemas.microsoft.com/office/drawing/2014/main" id="{7C7BAE48-9F3A-495D-2BDF-E5F0E42888E1}"/>
                </a:ext>
              </a:extLst>
            </p:cNvPr>
            <p:cNvSpPr/>
            <p:nvPr/>
          </p:nvSpPr>
          <p:spPr>
            <a:xfrm>
              <a:off x="-1015108" y="5700044"/>
              <a:ext cx="328936" cy="241926"/>
            </a:xfrm>
            <a:prstGeom prst="rect">
              <a:avLst/>
            </a:prstGeom>
          </p:spPr>
          <p:txBody>
            <a:bodyPr wrap="none">
              <a:spAutoFit/>
            </a:bodyPr>
            <a:lstStyle/>
            <a:p>
              <a:r>
                <a:rPr lang="en-US" altLang="zh-TW" sz="972" b="1">
                  <a:solidFill>
                    <a:srgbClr val="0C0E1F"/>
                  </a:solidFill>
                  <a:latin typeface="roboto" panose="02000000000000000000" pitchFamily="2" charset="0"/>
                </a:rPr>
                <a:t>09</a:t>
              </a:r>
              <a:endParaRPr lang="zh-TW" altLang="en-US" sz="972" b="1"/>
            </a:p>
          </p:txBody>
        </p:sp>
        <p:grpSp>
          <p:nvGrpSpPr>
            <p:cNvPr id="136" name="群組 135">
              <a:extLst>
                <a:ext uri="{FF2B5EF4-FFF2-40B4-BE49-F238E27FC236}">
                  <a16:creationId xmlns:a16="http://schemas.microsoft.com/office/drawing/2014/main" id="{9B4F52CB-2E03-CB96-2BF5-275FD7B63BD2}"/>
                </a:ext>
              </a:extLst>
            </p:cNvPr>
            <p:cNvGrpSpPr/>
            <p:nvPr/>
          </p:nvGrpSpPr>
          <p:grpSpPr>
            <a:xfrm>
              <a:off x="-1460871" y="2728878"/>
              <a:ext cx="1022091" cy="781606"/>
              <a:chOff x="-1753046" y="4692207"/>
              <a:chExt cx="1332283" cy="1030796"/>
            </a:xfrm>
          </p:grpSpPr>
          <p:sp>
            <p:nvSpPr>
              <p:cNvPr id="149" name="橢圓 148">
                <a:extLst>
                  <a:ext uri="{FF2B5EF4-FFF2-40B4-BE49-F238E27FC236}">
                    <a16:creationId xmlns:a16="http://schemas.microsoft.com/office/drawing/2014/main" id="{C691FCCE-EBDA-7688-CA60-8C60353B65B5}"/>
                  </a:ext>
                </a:extLst>
              </p:cNvPr>
              <p:cNvSpPr/>
              <p:nvPr/>
            </p:nvSpPr>
            <p:spPr>
              <a:xfrm>
                <a:off x="-1243720" y="5088658"/>
                <a:ext cx="336496" cy="336496"/>
              </a:xfrm>
              <a:prstGeom prst="ellipse">
                <a:avLst/>
              </a:prstGeom>
              <a:solidFill>
                <a:srgbClr val="004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50" name="橢圓 149">
                <a:extLst>
                  <a:ext uri="{FF2B5EF4-FFF2-40B4-BE49-F238E27FC236}">
                    <a16:creationId xmlns:a16="http://schemas.microsoft.com/office/drawing/2014/main" id="{0E84E4DC-7524-1C0D-EBD7-59169EFDAF44}"/>
                  </a:ext>
                </a:extLst>
              </p:cNvPr>
              <p:cNvSpPr/>
              <p:nvPr/>
            </p:nvSpPr>
            <p:spPr>
              <a:xfrm>
                <a:off x="-827077" y="5086996"/>
                <a:ext cx="336496" cy="3364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51" name="橢圓 150">
                <a:extLst>
                  <a:ext uri="{FF2B5EF4-FFF2-40B4-BE49-F238E27FC236}">
                    <a16:creationId xmlns:a16="http://schemas.microsoft.com/office/drawing/2014/main" id="{E72F0E8C-BA12-391A-EF1D-329E1138B4B8}"/>
                  </a:ext>
                </a:extLst>
              </p:cNvPr>
              <p:cNvSpPr/>
              <p:nvPr/>
            </p:nvSpPr>
            <p:spPr>
              <a:xfrm>
                <a:off x="-1682637" y="5090729"/>
                <a:ext cx="336496" cy="336496"/>
              </a:xfrm>
              <a:prstGeom prst="ellipse">
                <a:avLst/>
              </a:prstGeom>
              <a:solidFill>
                <a:srgbClr val="00D4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972">
                  <a:solidFill>
                    <a:schemeClr val="tx1">
                      <a:lumMod val="95000"/>
                      <a:lumOff val="5000"/>
                    </a:schemeClr>
                  </a:solidFill>
                </a:endParaRPr>
              </a:p>
            </p:txBody>
          </p:sp>
          <p:sp>
            <p:nvSpPr>
              <p:cNvPr id="152" name="矩形 151">
                <a:extLst>
                  <a:ext uri="{FF2B5EF4-FFF2-40B4-BE49-F238E27FC236}">
                    <a16:creationId xmlns:a16="http://schemas.microsoft.com/office/drawing/2014/main" id="{234D6673-1EEF-3915-F810-E7C59B9D3B8F}"/>
                  </a:ext>
                </a:extLst>
              </p:cNvPr>
              <p:cNvSpPr/>
              <p:nvPr/>
            </p:nvSpPr>
            <p:spPr>
              <a:xfrm>
                <a:off x="-1753046" y="4943350"/>
                <a:ext cx="240794" cy="324721"/>
              </a:xfrm>
              <a:prstGeom prst="rect">
                <a:avLst/>
              </a:prstGeom>
            </p:spPr>
            <p:txBody>
              <a:bodyPr wrap="none">
                <a:spAutoFit/>
              </a:bodyPr>
              <a:lstStyle/>
              <a:p>
                <a:endParaRPr lang="zh-TW" altLang="en-US" sz="1000">
                  <a:solidFill>
                    <a:schemeClr val="bg1">
                      <a:lumMod val="50000"/>
                    </a:schemeClr>
                  </a:solidFill>
                </a:endParaRPr>
              </a:p>
            </p:txBody>
          </p:sp>
          <p:sp>
            <p:nvSpPr>
              <p:cNvPr id="153" name="矩形 152">
                <a:extLst>
                  <a:ext uri="{FF2B5EF4-FFF2-40B4-BE49-F238E27FC236}">
                    <a16:creationId xmlns:a16="http://schemas.microsoft.com/office/drawing/2014/main" id="{326D3D5F-0CAF-DEA0-594D-090A507E52B8}"/>
                  </a:ext>
                </a:extLst>
              </p:cNvPr>
              <p:cNvSpPr/>
              <p:nvPr/>
            </p:nvSpPr>
            <p:spPr>
              <a:xfrm>
                <a:off x="-1709377" y="5403947"/>
                <a:ext cx="428764" cy="319056"/>
              </a:xfrm>
              <a:prstGeom prst="rect">
                <a:avLst/>
              </a:prstGeom>
            </p:spPr>
            <p:txBody>
              <a:bodyPr wrap="none">
                <a:spAutoFit/>
              </a:bodyPr>
              <a:lstStyle/>
              <a:p>
                <a:r>
                  <a:rPr lang="en-US" altLang="zh-TW" sz="972" b="1">
                    <a:solidFill>
                      <a:srgbClr val="0C0E1F"/>
                    </a:solidFill>
                    <a:latin typeface="roboto" panose="02000000000000000000" pitchFamily="2" charset="0"/>
                  </a:rPr>
                  <a:t>03</a:t>
                </a:r>
                <a:endParaRPr lang="zh-TW" altLang="en-US" sz="972" b="1"/>
              </a:p>
            </p:txBody>
          </p:sp>
          <p:sp>
            <p:nvSpPr>
              <p:cNvPr id="154" name="矩形 153">
                <a:extLst>
                  <a:ext uri="{FF2B5EF4-FFF2-40B4-BE49-F238E27FC236}">
                    <a16:creationId xmlns:a16="http://schemas.microsoft.com/office/drawing/2014/main" id="{213DAB81-750D-ABE6-A596-6662C5BCE881}"/>
                  </a:ext>
                </a:extLst>
              </p:cNvPr>
              <p:cNvSpPr/>
              <p:nvPr/>
            </p:nvSpPr>
            <p:spPr>
              <a:xfrm>
                <a:off x="-1272620" y="5403947"/>
                <a:ext cx="428764" cy="319056"/>
              </a:xfrm>
              <a:prstGeom prst="rect">
                <a:avLst/>
              </a:prstGeom>
            </p:spPr>
            <p:txBody>
              <a:bodyPr wrap="none">
                <a:spAutoFit/>
              </a:bodyPr>
              <a:lstStyle/>
              <a:p>
                <a:r>
                  <a:rPr lang="en-US" altLang="zh-TW" sz="972" b="1">
                    <a:solidFill>
                      <a:srgbClr val="0C0E1F"/>
                    </a:solidFill>
                    <a:latin typeface="roboto" panose="02000000000000000000" pitchFamily="2" charset="0"/>
                  </a:rPr>
                  <a:t>04</a:t>
                </a:r>
                <a:endParaRPr lang="zh-TW" altLang="en-US" sz="972" b="1"/>
              </a:p>
            </p:txBody>
          </p:sp>
          <p:sp>
            <p:nvSpPr>
              <p:cNvPr id="155" name="矩形 154">
                <a:extLst>
                  <a:ext uri="{FF2B5EF4-FFF2-40B4-BE49-F238E27FC236}">
                    <a16:creationId xmlns:a16="http://schemas.microsoft.com/office/drawing/2014/main" id="{FD22D2CA-8D8E-E40E-7B24-2917D3812EBB}"/>
                  </a:ext>
                </a:extLst>
              </p:cNvPr>
              <p:cNvSpPr/>
              <p:nvPr/>
            </p:nvSpPr>
            <p:spPr>
              <a:xfrm>
                <a:off x="-849527" y="5403947"/>
                <a:ext cx="428764" cy="319056"/>
              </a:xfrm>
              <a:prstGeom prst="rect">
                <a:avLst/>
              </a:prstGeom>
            </p:spPr>
            <p:txBody>
              <a:bodyPr wrap="none">
                <a:spAutoFit/>
              </a:bodyPr>
              <a:lstStyle/>
              <a:p>
                <a:r>
                  <a:rPr lang="en-US" altLang="zh-TW" sz="972" b="1">
                    <a:solidFill>
                      <a:srgbClr val="0C0E1F"/>
                    </a:solidFill>
                    <a:latin typeface="roboto" panose="02000000000000000000" pitchFamily="2" charset="0"/>
                  </a:rPr>
                  <a:t>05</a:t>
                </a:r>
                <a:endParaRPr lang="zh-TW" altLang="en-US" sz="972" b="1"/>
              </a:p>
            </p:txBody>
          </p:sp>
          <p:sp>
            <p:nvSpPr>
              <p:cNvPr id="156" name="矩形 155">
                <a:extLst>
                  <a:ext uri="{FF2B5EF4-FFF2-40B4-BE49-F238E27FC236}">
                    <a16:creationId xmlns:a16="http://schemas.microsoft.com/office/drawing/2014/main" id="{4E812AE3-F24B-4E0D-CDF0-C96DED778245}"/>
                  </a:ext>
                </a:extLst>
              </p:cNvPr>
              <p:cNvSpPr/>
              <p:nvPr/>
            </p:nvSpPr>
            <p:spPr>
              <a:xfrm>
                <a:off x="-1753043" y="4692207"/>
                <a:ext cx="1135013" cy="392288"/>
              </a:xfrm>
              <a:prstGeom prst="rect">
                <a:avLst/>
              </a:prstGeom>
            </p:spPr>
            <p:txBody>
              <a:bodyPr wrap="none">
                <a:spAutoFit/>
              </a:bodyPr>
              <a:lstStyle/>
              <a:p>
                <a:r>
                  <a:rPr lang="zh-TW" altLang="en-US" sz="1333" b="1">
                    <a:solidFill>
                      <a:srgbClr val="0C0E1F"/>
                    </a:solidFill>
                    <a:latin typeface="roboto" panose="02000000000000000000" pitchFamily="2" charset="0"/>
                  </a:rPr>
                  <a:t>一級輔色</a:t>
                </a:r>
                <a:endParaRPr lang="zh-TW" altLang="en-US" sz="1333" b="1"/>
              </a:p>
            </p:txBody>
          </p:sp>
        </p:grpSp>
        <p:sp>
          <p:nvSpPr>
            <p:cNvPr id="137" name="矩形 136">
              <a:extLst>
                <a:ext uri="{FF2B5EF4-FFF2-40B4-BE49-F238E27FC236}">
                  <a16:creationId xmlns:a16="http://schemas.microsoft.com/office/drawing/2014/main" id="{30A18CF7-6E86-3A86-AFF0-BEA5836F9C34}"/>
                </a:ext>
              </a:extLst>
            </p:cNvPr>
            <p:cNvSpPr/>
            <p:nvPr/>
          </p:nvSpPr>
          <p:spPr>
            <a:xfrm>
              <a:off x="-1460869" y="4589324"/>
              <a:ext cx="870751" cy="297454"/>
            </a:xfrm>
            <a:prstGeom prst="rect">
              <a:avLst/>
            </a:prstGeom>
          </p:spPr>
          <p:txBody>
            <a:bodyPr wrap="none">
              <a:spAutoFit/>
            </a:bodyPr>
            <a:lstStyle/>
            <a:p>
              <a:r>
                <a:rPr lang="zh-TW" altLang="en-US" sz="1333" b="1">
                  <a:solidFill>
                    <a:srgbClr val="0C0E1F"/>
                  </a:solidFill>
                  <a:latin typeface="roboto" panose="02000000000000000000" pitchFamily="2" charset="0"/>
                </a:rPr>
                <a:t>二級輔色</a:t>
              </a:r>
              <a:endParaRPr lang="zh-TW" altLang="en-US" sz="1333" b="1"/>
            </a:p>
          </p:txBody>
        </p:sp>
        <p:grpSp>
          <p:nvGrpSpPr>
            <p:cNvPr id="138" name="群組 137"/>
            <p:cNvGrpSpPr/>
            <p:nvPr/>
          </p:nvGrpSpPr>
          <p:grpSpPr>
            <a:xfrm>
              <a:off x="-1505076" y="1647620"/>
              <a:ext cx="1365645" cy="908113"/>
              <a:chOff x="-1505076" y="1647620"/>
              <a:chExt cx="1365645" cy="908113"/>
            </a:xfrm>
          </p:grpSpPr>
          <p:sp>
            <p:nvSpPr>
              <p:cNvPr id="147" name="矩形 146">
                <a:extLst>
                  <a:ext uri="{FF2B5EF4-FFF2-40B4-BE49-F238E27FC236}">
                    <a16:creationId xmlns:a16="http://schemas.microsoft.com/office/drawing/2014/main" id="{4F7E6C0C-CF97-E934-03B7-629DA630927A}"/>
                  </a:ext>
                </a:extLst>
              </p:cNvPr>
              <p:cNvSpPr/>
              <p:nvPr/>
            </p:nvSpPr>
            <p:spPr>
              <a:xfrm>
                <a:off x="-1477264" y="1647620"/>
                <a:ext cx="1337833" cy="246221"/>
              </a:xfrm>
              <a:prstGeom prst="rect">
                <a:avLst/>
              </a:prstGeom>
            </p:spPr>
            <p:txBody>
              <a:bodyPr wrap="square">
                <a:spAutoFit/>
              </a:bodyPr>
              <a:lstStyle/>
              <a:p>
                <a:r>
                  <a:rPr lang="zh-TW" altLang="en-US" sz="1000" b="1">
                    <a:solidFill>
                      <a:schemeClr val="tx1"/>
                    </a:solidFill>
                    <a:latin typeface="微軟正黑體" panose="020B0604030504040204" pitchFamily="34" charset="-120"/>
                    <a:ea typeface="微軟正黑體" panose="020B0604030504040204" pitchFamily="34" charset="-120"/>
                  </a:rPr>
                  <a:t>使用範圍</a:t>
                </a:r>
                <a:r>
                  <a:rPr lang="en-US" altLang="zh-TW" sz="1000" b="1">
                    <a:solidFill>
                      <a:schemeClr val="tx1"/>
                    </a:solidFill>
                    <a:latin typeface="微軟正黑體" panose="020B0604030504040204" pitchFamily="34" charset="-120"/>
                    <a:ea typeface="微軟正黑體" panose="020B0604030504040204" pitchFamily="34" charset="-120"/>
                  </a:rPr>
                  <a:t>:</a:t>
                </a:r>
                <a:endParaRPr lang="zh-TW" altLang="en-US" sz="1000" b="1">
                  <a:solidFill>
                    <a:schemeClr val="tx1"/>
                  </a:solidFill>
                  <a:latin typeface="微軟正黑體" panose="020B0604030504040204" pitchFamily="34" charset="-120"/>
                  <a:ea typeface="微軟正黑體" panose="020B0604030504040204" pitchFamily="34" charset="-120"/>
                </a:endParaRPr>
              </a:p>
            </p:txBody>
          </p:sp>
          <p:sp>
            <p:nvSpPr>
              <p:cNvPr id="148" name="文字方塊 147">
                <a:extLst>
                  <a:ext uri="{FF2B5EF4-FFF2-40B4-BE49-F238E27FC236}">
                    <a16:creationId xmlns:a16="http://schemas.microsoft.com/office/drawing/2014/main" id="{E3337979-08D6-D36A-995F-44AAFEDFAAC8}"/>
                  </a:ext>
                </a:extLst>
              </p:cNvPr>
              <p:cNvSpPr txBox="1"/>
              <p:nvPr/>
            </p:nvSpPr>
            <p:spPr>
              <a:xfrm>
                <a:off x="-1505076" y="1847847"/>
                <a:ext cx="1297652" cy="707886"/>
              </a:xfrm>
              <a:prstGeom prst="rect">
                <a:avLst/>
              </a:prstGeom>
              <a:noFill/>
            </p:spPr>
            <p:txBody>
              <a:bodyPr wrap="square" rtlCol="0">
                <a:spAutoFit/>
              </a:bodyPr>
              <a:lstStyle/>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封面、封底、</a:t>
                </a:r>
                <a:endParaRPr lang="en-US" altLang="zh-TW" sz="1000">
                  <a:solidFill>
                    <a:srgbClr val="494A57"/>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內頁色塊、線條</a:t>
                </a:r>
                <a:endParaRPr lang="en-US" altLang="zh-TW" sz="1000">
                  <a:solidFill>
                    <a:srgbClr val="494A57"/>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副標、小標</a:t>
                </a:r>
                <a:endParaRPr lang="en-US" altLang="zh-TW" sz="1000">
                  <a:solidFill>
                    <a:srgbClr val="494A57"/>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圖表</a:t>
                </a:r>
                <a:endParaRPr lang="en-US" altLang="zh-TW" sz="1000">
                  <a:solidFill>
                    <a:srgbClr val="494A57"/>
                  </a:solidFill>
                  <a:latin typeface="微軟正黑體" panose="020B0604030504040204" pitchFamily="34" charset="-120"/>
                  <a:ea typeface="微軟正黑體" panose="020B0604030504040204" pitchFamily="34" charset="-120"/>
                </a:endParaRPr>
              </a:p>
            </p:txBody>
          </p:sp>
        </p:grpSp>
        <p:sp>
          <p:nvSpPr>
            <p:cNvPr id="139" name="矩形 138">
              <a:extLst>
                <a:ext uri="{FF2B5EF4-FFF2-40B4-BE49-F238E27FC236}">
                  <a16:creationId xmlns:a16="http://schemas.microsoft.com/office/drawing/2014/main" id="{4F7E6C0C-CF97-E934-03B7-629DA630927A}"/>
                </a:ext>
              </a:extLst>
            </p:cNvPr>
            <p:cNvSpPr/>
            <p:nvPr/>
          </p:nvSpPr>
          <p:spPr>
            <a:xfrm>
              <a:off x="-1583111" y="386680"/>
              <a:ext cx="1337833" cy="246221"/>
            </a:xfrm>
            <a:prstGeom prst="rect">
              <a:avLst/>
            </a:prstGeom>
          </p:spPr>
          <p:txBody>
            <a:bodyPr wrap="square">
              <a:spAutoFit/>
            </a:bodyPr>
            <a:lstStyle/>
            <a:p>
              <a:r>
                <a:rPr lang="zh-TW" altLang="en-US" sz="1000" b="1">
                  <a:solidFill>
                    <a:schemeClr val="tx1"/>
                  </a:solidFill>
                  <a:latin typeface="微軟正黑體" panose="020B0604030504040204" pitchFamily="34" charset="-120"/>
                  <a:ea typeface="微軟正黑體" panose="020B0604030504040204" pitchFamily="34" charset="-120"/>
                </a:rPr>
                <a:t>請使用滴管吸取顏色</a:t>
              </a:r>
            </a:p>
          </p:txBody>
        </p:sp>
        <p:cxnSp>
          <p:nvCxnSpPr>
            <p:cNvPr id="140" name="直線接點 139"/>
            <p:cNvCxnSpPr/>
            <p:nvPr/>
          </p:nvCxnSpPr>
          <p:spPr>
            <a:xfrm>
              <a:off x="-1664884" y="2566796"/>
              <a:ext cx="14656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直線接點 140"/>
            <p:cNvCxnSpPr/>
            <p:nvPr/>
          </p:nvCxnSpPr>
          <p:spPr>
            <a:xfrm>
              <a:off x="-1664884" y="4463784"/>
              <a:ext cx="1465635" cy="0"/>
            </a:xfrm>
            <a:prstGeom prst="line">
              <a:avLst/>
            </a:prstGeom>
          </p:spPr>
          <p:style>
            <a:lnRef idx="1">
              <a:schemeClr val="accent1"/>
            </a:lnRef>
            <a:fillRef idx="0">
              <a:schemeClr val="accent1"/>
            </a:fillRef>
            <a:effectRef idx="0">
              <a:schemeClr val="accent1"/>
            </a:effectRef>
            <a:fontRef idx="minor">
              <a:schemeClr val="tx1"/>
            </a:fontRef>
          </p:style>
        </p:cxnSp>
        <p:sp>
          <p:nvSpPr>
            <p:cNvPr id="142" name="文字方塊 141">
              <a:extLst>
                <a:ext uri="{FF2B5EF4-FFF2-40B4-BE49-F238E27FC236}">
                  <a16:creationId xmlns:a16="http://schemas.microsoft.com/office/drawing/2014/main" id="{4B39F137-906A-513D-6575-F9448357149C}"/>
                </a:ext>
              </a:extLst>
            </p:cNvPr>
            <p:cNvSpPr txBox="1"/>
            <p:nvPr/>
          </p:nvSpPr>
          <p:spPr>
            <a:xfrm>
              <a:off x="-1512101" y="3772970"/>
              <a:ext cx="1389760" cy="553998"/>
            </a:xfrm>
            <a:prstGeom prst="rect">
              <a:avLst/>
            </a:prstGeom>
            <a:noFill/>
          </p:spPr>
          <p:txBody>
            <a:bodyPr wrap="square" rtlCol="0">
              <a:spAutoFit/>
            </a:bodyPr>
            <a:lstStyle/>
            <a:p>
              <a:pPr marL="171450" indent="-171450">
                <a:buFont typeface="Arial" panose="020B0604020202020204" pitchFamily="34" charset="0"/>
                <a:buChar char="•"/>
              </a:pPr>
              <a:r>
                <a:rPr lang="en-US" altLang="zh-TW" sz="1000">
                  <a:solidFill>
                    <a:srgbClr val="494A57"/>
                  </a:solidFill>
                  <a:latin typeface="微軟正黑體" panose="020B0604030504040204" pitchFamily="34" charset="-120"/>
                  <a:ea typeface="微軟正黑體" panose="020B0604030504040204" pitchFamily="34" charset="-120"/>
                </a:rPr>
                <a:t>Flat Icon</a:t>
              </a:r>
              <a:r>
                <a:rPr lang="zh-TW" altLang="en-US" sz="1000">
                  <a:solidFill>
                    <a:srgbClr val="494A57"/>
                  </a:solidFill>
                  <a:latin typeface="微軟正黑體" panose="020B0604030504040204" pitchFamily="34" charset="-120"/>
                  <a:ea typeface="微軟正黑體" panose="020B0604030504040204" pitchFamily="34" charset="-120"/>
                </a:rPr>
                <a:t>、圖表、</a:t>
              </a:r>
              <a:endParaRPr lang="en-US" altLang="zh-TW" sz="1000">
                <a:solidFill>
                  <a:srgbClr val="494A57"/>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en-US" altLang="zh-TW" sz="1000">
                  <a:solidFill>
                    <a:srgbClr val="494A57"/>
                  </a:solidFill>
                  <a:latin typeface="微軟正黑體" panose="020B0604030504040204" pitchFamily="34" charset="-120"/>
                  <a:ea typeface="微軟正黑體" panose="020B0604030504040204" pitchFamily="34" charset="-120"/>
                </a:rPr>
                <a:t>Smart Art</a:t>
              </a:r>
            </a:p>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優先使用一級輔色</a:t>
              </a:r>
              <a:endParaRPr lang="en-US" altLang="zh-TW" sz="1000">
                <a:solidFill>
                  <a:srgbClr val="494A57"/>
                </a:solidFill>
                <a:latin typeface="微軟正黑體" panose="020B0604030504040204" pitchFamily="34" charset="-120"/>
                <a:ea typeface="微軟正黑體" panose="020B0604030504040204" pitchFamily="34" charset="-120"/>
              </a:endParaRPr>
            </a:p>
          </p:txBody>
        </p:sp>
        <p:sp>
          <p:nvSpPr>
            <p:cNvPr id="143" name="文字方塊 142">
              <a:extLst>
                <a:ext uri="{FF2B5EF4-FFF2-40B4-BE49-F238E27FC236}">
                  <a16:creationId xmlns:a16="http://schemas.microsoft.com/office/drawing/2014/main" id="{7EAE1680-5D10-1A13-D82D-4C8158A6FA12}"/>
                </a:ext>
              </a:extLst>
            </p:cNvPr>
            <p:cNvSpPr txBox="1"/>
            <p:nvPr/>
          </p:nvSpPr>
          <p:spPr>
            <a:xfrm>
              <a:off x="-1500011" y="6022946"/>
              <a:ext cx="1360580" cy="707886"/>
            </a:xfrm>
            <a:prstGeom prst="rect">
              <a:avLst/>
            </a:prstGeom>
            <a:noFill/>
          </p:spPr>
          <p:txBody>
            <a:bodyPr wrap="square" rtlCol="0">
              <a:spAutoFit/>
            </a:bodyPr>
            <a:lstStyle/>
            <a:p>
              <a:pPr marL="171450" indent="-171450">
                <a:buFont typeface="Arial" panose="020B0604020202020204" pitchFamily="34" charset="0"/>
                <a:buChar char="•"/>
              </a:pPr>
              <a:r>
                <a:rPr lang="zh-TW" altLang="en-US" sz="1000">
                  <a:solidFill>
                    <a:srgbClr val="494A57"/>
                  </a:solidFill>
                  <a:latin typeface="微軟正黑體" panose="020B0604030504040204" pitchFamily="34" charset="-120"/>
                  <a:ea typeface="微軟正黑體" panose="020B0604030504040204" pitchFamily="34" charset="-120"/>
                </a:rPr>
                <a:t>殊情況需使用較多顏色時，二級輔色可使用</a:t>
              </a:r>
              <a:r>
                <a:rPr lang="en-US" altLang="zh-TW" sz="1000">
                  <a:solidFill>
                    <a:srgbClr val="494A57"/>
                  </a:solidFill>
                  <a:latin typeface="微軟正黑體" panose="020B0604030504040204" pitchFamily="34" charset="-120"/>
                  <a:ea typeface="微軟正黑體" panose="020B0604030504040204" pitchFamily="34" charset="-120"/>
                </a:rPr>
                <a:t>5</a:t>
              </a:r>
              <a:r>
                <a:rPr lang="zh-TW" altLang="en-US" sz="1000">
                  <a:solidFill>
                    <a:srgbClr val="494A57"/>
                  </a:solidFill>
                  <a:latin typeface="微軟正黑體" panose="020B0604030504040204" pitchFamily="34" charset="-120"/>
                  <a:ea typeface="微軟正黑體" panose="020B0604030504040204" pitchFamily="34" charset="-120"/>
                </a:rPr>
                <a:t>種顏色的漸層色階</a:t>
              </a:r>
            </a:p>
          </p:txBody>
        </p:sp>
        <p:sp>
          <p:nvSpPr>
            <p:cNvPr id="144" name="矩形 143">
              <a:extLst>
                <a:ext uri="{FF2B5EF4-FFF2-40B4-BE49-F238E27FC236}">
                  <a16:creationId xmlns:a16="http://schemas.microsoft.com/office/drawing/2014/main" id="{4F7E6C0C-CF97-E934-03B7-629DA630927A}"/>
                </a:ext>
              </a:extLst>
            </p:cNvPr>
            <p:cNvSpPr/>
            <p:nvPr/>
          </p:nvSpPr>
          <p:spPr>
            <a:xfrm>
              <a:off x="-1477264" y="3580165"/>
              <a:ext cx="1337833" cy="246221"/>
            </a:xfrm>
            <a:prstGeom prst="rect">
              <a:avLst/>
            </a:prstGeom>
          </p:spPr>
          <p:txBody>
            <a:bodyPr wrap="square">
              <a:spAutoFit/>
            </a:bodyPr>
            <a:lstStyle/>
            <a:p>
              <a:r>
                <a:rPr lang="zh-TW" altLang="en-US" sz="1000" b="1">
                  <a:solidFill>
                    <a:schemeClr val="tx1"/>
                  </a:solidFill>
                  <a:latin typeface="微軟正黑體" panose="020B0604030504040204" pitchFamily="34" charset="-120"/>
                  <a:ea typeface="微軟正黑體" panose="020B0604030504040204" pitchFamily="34" charset="-120"/>
                </a:rPr>
                <a:t>使用範圍</a:t>
              </a:r>
              <a:r>
                <a:rPr lang="en-US" altLang="zh-TW" sz="1000" b="1">
                  <a:solidFill>
                    <a:schemeClr val="tx1"/>
                  </a:solidFill>
                  <a:latin typeface="微軟正黑體" panose="020B0604030504040204" pitchFamily="34" charset="-120"/>
                  <a:ea typeface="微軟正黑體" panose="020B0604030504040204" pitchFamily="34" charset="-120"/>
                </a:rPr>
                <a:t>:</a:t>
              </a:r>
              <a:endParaRPr lang="zh-TW" altLang="en-US" sz="1000" b="1">
                <a:solidFill>
                  <a:schemeClr val="tx1"/>
                </a:solidFill>
                <a:latin typeface="微軟正黑體" panose="020B0604030504040204" pitchFamily="34" charset="-120"/>
                <a:ea typeface="微軟正黑體" panose="020B0604030504040204" pitchFamily="34" charset="-120"/>
              </a:endParaRPr>
            </a:p>
          </p:txBody>
        </p:sp>
        <p:sp>
          <p:nvSpPr>
            <p:cNvPr id="145" name="矩形 144"/>
            <p:cNvSpPr/>
            <p:nvPr/>
          </p:nvSpPr>
          <p:spPr>
            <a:xfrm>
              <a:off x="-1610923" y="166653"/>
              <a:ext cx="1365645" cy="47128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6" name="矩形 145">
              <a:extLst>
                <a:ext uri="{FF2B5EF4-FFF2-40B4-BE49-F238E27FC236}">
                  <a16:creationId xmlns:a16="http://schemas.microsoft.com/office/drawing/2014/main" id="{7C7BAE48-9F3A-495D-2BDF-E5F0E42888E1}"/>
                </a:ext>
              </a:extLst>
            </p:cNvPr>
            <p:cNvSpPr/>
            <p:nvPr userDrawn="1"/>
          </p:nvSpPr>
          <p:spPr>
            <a:xfrm>
              <a:off x="-775454" y="5700044"/>
              <a:ext cx="328936" cy="241926"/>
            </a:xfrm>
            <a:prstGeom prst="rect">
              <a:avLst/>
            </a:prstGeom>
          </p:spPr>
          <p:txBody>
            <a:bodyPr wrap="none">
              <a:spAutoFit/>
            </a:bodyPr>
            <a:lstStyle/>
            <a:p>
              <a:r>
                <a:rPr lang="en-US" altLang="zh-TW" sz="972" b="1">
                  <a:solidFill>
                    <a:srgbClr val="0C0E1F"/>
                  </a:solidFill>
                  <a:latin typeface="roboto" panose="02000000000000000000" pitchFamily="2" charset="0"/>
                </a:rPr>
                <a:t>10</a:t>
              </a:r>
              <a:endParaRPr lang="zh-TW" altLang="en-US" sz="972" b="1"/>
            </a:p>
          </p:txBody>
        </p:sp>
      </p:grpSp>
    </p:spTree>
    <p:extLst>
      <p:ext uri="{BB962C8B-B14F-4D97-AF65-F5344CB8AC3E}">
        <p14:creationId xmlns:p14="http://schemas.microsoft.com/office/powerpoint/2010/main" val="34883554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3" r:id="rId11"/>
  </p:sldLayoutIdLst>
  <p:hf hdr="0" ftr="0" dt="0"/>
  <p:txStyles>
    <p:titleStyle>
      <a:lvl1pPr algn="ctr" defTabSz="914400" rtl="0" eaLnBrk="1" latinLnBrk="0" hangingPunct="1">
        <a:lnSpc>
          <a:spcPct val="90000"/>
        </a:lnSpc>
        <a:spcBef>
          <a:spcPct val="0"/>
        </a:spcBef>
        <a:buNone/>
        <a:defRPr sz="3200" b="1" kern="1200">
          <a:solidFill>
            <a:schemeClr val="accent1"/>
          </a:solidFill>
          <a:latin typeface="微軟正黑體" panose="020B0604030504040204" pitchFamily="34" charset="-120"/>
          <a:ea typeface="微軟正黑體" panose="020B0604030504040204" pitchFamily="34" charset="-12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軟正黑體" panose="020B0604030504040204" pitchFamily="34" charset="-120"/>
          <a:ea typeface="微軟正黑體" panose="020B0604030504040204" pitchFamily="34" charset="-12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軟正黑體" panose="020B0604030504040204" pitchFamily="34" charset="-120"/>
          <a:ea typeface="微軟正黑體" panose="020B0604030504040204" pitchFamily="34" charset="-12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軟正黑體" panose="020B0604030504040204" pitchFamily="34" charset="-120"/>
          <a:ea typeface="微軟正黑體" panose="020B0604030504040204" pitchFamily="34" charset="-12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軟正黑體" panose="020B0604030504040204" pitchFamily="34" charset="-120"/>
          <a:ea typeface="微軟正黑體" panose="020B0604030504040204" pitchFamily="34"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字版面配置區 8">
            <a:extLst>
              <a:ext uri="{FF2B5EF4-FFF2-40B4-BE49-F238E27FC236}">
                <a16:creationId xmlns:a16="http://schemas.microsoft.com/office/drawing/2014/main" id="{40E8800A-D784-EAF9-8E65-5F51DED48407}"/>
              </a:ext>
            </a:extLst>
          </p:cNvPr>
          <p:cNvSpPr>
            <a:spLocks noGrp="1"/>
          </p:cNvSpPr>
          <p:nvPr>
            <p:ph type="body" sz="quarter" idx="28"/>
          </p:nvPr>
        </p:nvSpPr>
        <p:spPr>
          <a:xfrm>
            <a:off x="6326288" y="3683198"/>
            <a:ext cx="1252861" cy="329074"/>
          </a:xfrm>
        </p:spPr>
        <p:txBody>
          <a:bodyPr anchor="b"/>
          <a:lstStyle/>
          <a:p>
            <a:r>
              <a:rPr lang="en-US" altLang="zh-TW" dirty="0"/>
              <a:t>2026.08.12</a:t>
            </a:r>
            <a:endParaRPr lang="zh-TW" altLang="en-US" dirty="0"/>
          </a:p>
        </p:txBody>
      </p:sp>
      <p:sp>
        <p:nvSpPr>
          <p:cNvPr id="8" name="標題 7">
            <a:extLst>
              <a:ext uri="{FF2B5EF4-FFF2-40B4-BE49-F238E27FC236}">
                <a16:creationId xmlns:a16="http://schemas.microsoft.com/office/drawing/2014/main" id="{D8190FEA-6AA4-0BF4-7F0F-00D1E1FC0081}"/>
              </a:ext>
            </a:extLst>
          </p:cNvPr>
          <p:cNvSpPr>
            <a:spLocks noGrp="1"/>
          </p:cNvSpPr>
          <p:nvPr>
            <p:ph type="title"/>
          </p:nvPr>
        </p:nvSpPr>
        <p:spPr>
          <a:xfrm>
            <a:off x="1380863" y="2343528"/>
            <a:ext cx="6381774" cy="1325563"/>
          </a:xfrm>
        </p:spPr>
        <p:txBody>
          <a:bodyPr>
            <a:noAutofit/>
          </a:bodyPr>
          <a:lstStyle/>
          <a:p>
            <a:r>
              <a:rPr lang="zh-TW" altLang="en-US" dirty="0"/>
              <a:t>知識檢索技術梳理</a:t>
            </a:r>
          </a:p>
        </p:txBody>
      </p:sp>
      <p:sp>
        <p:nvSpPr>
          <p:cNvPr id="10" name="文字版面配置區 9">
            <a:extLst>
              <a:ext uri="{FF2B5EF4-FFF2-40B4-BE49-F238E27FC236}">
                <a16:creationId xmlns:a16="http://schemas.microsoft.com/office/drawing/2014/main" id="{7C2D502C-E3B0-77A3-A3D6-E059C8C63A5D}"/>
              </a:ext>
            </a:extLst>
          </p:cNvPr>
          <p:cNvSpPr>
            <a:spLocks noGrp="1"/>
          </p:cNvSpPr>
          <p:nvPr>
            <p:ph type="body" sz="quarter" idx="29"/>
          </p:nvPr>
        </p:nvSpPr>
        <p:spPr>
          <a:xfrm>
            <a:off x="1806575" y="3683198"/>
            <a:ext cx="3932374" cy="390669"/>
          </a:xfrm>
        </p:spPr>
        <p:txBody>
          <a:bodyPr anchor="b"/>
          <a:lstStyle/>
          <a:p>
            <a:r>
              <a:rPr lang="zh-TW" altLang="en-US" sz="2000" dirty="0"/>
              <a:t>智能金融處</a:t>
            </a:r>
            <a:r>
              <a:rPr lang="en-US" altLang="zh-TW" sz="2000" dirty="0"/>
              <a:t>/</a:t>
            </a:r>
            <a:r>
              <a:rPr lang="zh-TW" altLang="en-US" sz="2000" dirty="0"/>
              <a:t>智能科技科</a:t>
            </a:r>
            <a:r>
              <a:rPr lang="en-US" altLang="zh-TW" sz="2000"/>
              <a:t>&amp;</a:t>
            </a:r>
            <a:r>
              <a:rPr lang="zh-TW" altLang="en-US" sz="2000"/>
              <a:t>企劃科</a:t>
            </a:r>
            <a:endParaRPr lang="zh-TW" altLang="en-US" sz="2000" dirty="0"/>
          </a:p>
        </p:txBody>
      </p:sp>
      <p:pic>
        <p:nvPicPr>
          <p:cNvPr id="19" name="圖片 18"/>
          <p:cNvPicPr>
            <a:picLocks noChangeAspect="1"/>
          </p:cNvPicPr>
          <p:nvPr/>
        </p:nvPicPr>
        <p:blipFill>
          <a:blip r:embed="rId3">
            <a:extLst>
              <a:ext uri="{28A0092B-C50C-407E-A947-70E740481C1C}">
                <a14:useLocalDpi xmlns:a14="http://schemas.microsoft.com/office/drawing/2010/main" val="0"/>
              </a:ext>
            </a:extLst>
          </a:blip>
          <a:srcRect/>
          <a:stretch/>
        </p:blipFill>
        <p:spPr>
          <a:xfrm>
            <a:off x="455512" y="0"/>
            <a:ext cx="2417084" cy="1208542"/>
          </a:xfrm>
          <a:prstGeom prst="rect">
            <a:avLst/>
          </a:prstGeom>
        </p:spPr>
      </p:pic>
      <p:grpSp>
        <p:nvGrpSpPr>
          <p:cNvPr id="33" name="群組 32"/>
          <p:cNvGrpSpPr/>
          <p:nvPr/>
        </p:nvGrpSpPr>
        <p:grpSpPr>
          <a:xfrm>
            <a:off x="1380863" y="3276985"/>
            <a:ext cx="6142683" cy="316405"/>
            <a:chOff x="928336" y="4422127"/>
            <a:chExt cx="6142683" cy="316405"/>
          </a:xfrm>
        </p:grpSpPr>
        <p:cxnSp>
          <p:nvCxnSpPr>
            <p:cNvPr id="21" name="直線接點 20"/>
            <p:cNvCxnSpPr/>
            <p:nvPr/>
          </p:nvCxnSpPr>
          <p:spPr>
            <a:xfrm>
              <a:off x="1050256" y="4483143"/>
              <a:ext cx="4127734" cy="0"/>
            </a:xfrm>
            <a:prstGeom prst="line">
              <a:avLst/>
            </a:prstGeom>
            <a:ln w="38100">
              <a:gradFill>
                <a:gsLst>
                  <a:gs pos="33000">
                    <a:srgbClr val="0490C7"/>
                  </a:gs>
                  <a:gs pos="69000">
                    <a:srgbClr val="58E1B3"/>
                  </a:gs>
                </a:gsLst>
                <a:lin ang="2700000" scaled="0"/>
              </a:gradFill>
            </a:ln>
          </p:spPr>
          <p:style>
            <a:lnRef idx="1">
              <a:schemeClr val="accent1"/>
            </a:lnRef>
            <a:fillRef idx="0">
              <a:schemeClr val="accent1"/>
            </a:fillRef>
            <a:effectRef idx="0">
              <a:schemeClr val="accent1"/>
            </a:effectRef>
            <a:fontRef idx="minor">
              <a:schemeClr val="tx1"/>
            </a:fontRef>
          </p:style>
        </p:cxnSp>
        <p:sp>
          <p:nvSpPr>
            <p:cNvPr id="22" name="橢圓 21"/>
            <p:cNvSpPr/>
            <p:nvPr/>
          </p:nvSpPr>
          <p:spPr>
            <a:xfrm>
              <a:off x="6949099" y="4616612"/>
              <a:ext cx="121920" cy="121920"/>
            </a:xfrm>
            <a:prstGeom prst="ellipse">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p:cNvSpPr/>
            <p:nvPr/>
          </p:nvSpPr>
          <p:spPr>
            <a:xfrm>
              <a:off x="928336" y="4422127"/>
              <a:ext cx="121920" cy="121920"/>
            </a:xfrm>
            <a:prstGeom prst="ellipse">
              <a:avLst/>
            </a:prstGeom>
            <a:solidFill>
              <a:schemeClr val="bg1"/>
            </a:solidFill>
            <a:ln w="28575">
              <a:solidFill>
                <a:srgbClr val="0490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p:cNvCxnSpPr/>
            <p:nvPr/>
          </p:nvCxnSpPr>
          <p:spPr>
            <a:xfrm>
              <a:off x="5568027" y="4679249"/>
              <a:ext cx="1372019" cy="0"/>
            </a:xfrm>
            <a:prstGeom prst="line">
              <a:avLst/>
            </a:prstGeom>
            <a:ln w="38100">
              <a:gradFill>
                <a:gsLst>
                  <a:gs pos="33000">
                    <a:srgbClr val="0490C7"/>
                  </a:gs>
                  <a:gs pos="69000">
                    <a:srgbClr val="58E1B3"/>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28" name="直線接點 27"/>
            <p:cNvCxnSpPr/>
            <p:nvPr/>
          </p:nvCxnSpPr>
          <p:spPr>
            <a:xfrm flipH="1" flipV="1">
              <a:off x="5177990" y="4485446"/>
              <a:ext cx="403919" cy="192544"/>
            </a:xfrm>
            <a:prstGeom prst="line">
              <a:avLst/>
            </a:prstGeom>
            <a:ln w="38100">
              <a:gradFill>
                <a:gsLst>
                  <a:gs pos="33000">
                    <a:srgbClr val="0490C7"/>
                  </a:gs>
                  <a:gs pos="69000">
                    <a:srgbClr val="58E1B3"/>
                  </a:gs>
                </a:gsLst>
                <a:lin ang="2700000" scaled="0"/>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75880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A58E6-8DE9-C380-B22B-FEF8F4443D39}"/>
            </a:ext>
          </a:extLst>
        </p:cNvPr>
        <p:cNvGrpSpPr/>
        <p:nvPr/>
      </p:nvGrpSpPr>
      <p:grpSpPr>
        <a:xfrm>
          <a:off x="0" y="0"/>
          <a:ext cx="0" cy="0"/>
          <a:chOff x="0" y="0"/>
          <a:chExt cx="0" cy="0"/>
        </a:xfrm>
      </p:grpSpPr>
      <p:sp>
        <p:nvSpPr>
          <p:cNvPr id="388" name="矩形 387">
            <a:extLst>
              <a:ext uri="{FF2B5EF4-FFF2-40B4-BE49-F238E27FC236}">
                <a16:creationId xmlns:a16="http://schemas.microsoft.com/office/drawing/2014/main" id="{21A81CE5-3C9A-2182-7680-CE2DFA170DD8}"/>
              </a:ext>
            </a:extLst>
          </p:cNvPr>
          <p:cNvSpPr/>
          <p:nvPr/>
        </p:nvSpPr>
        <p:spPr>
          <a:xfrm>
            <a:off x="10904747" y="25693"/>
            <a:ext cx="1151465" cy="8483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版面配置區 1">
            <a:extLst>
              <a:ext uri="{FF2B5EF4-FFF2-40B4-BE49-F238E27FC236}">
                <a16:creationId xmlns:a16="http://schemas.microsoft.com/office/drawing/2014/main" id="{5CAA2275-295F-AFF4-B9CC-AB652C2D916F}"/>
              </a:ext>
            </a:extLst>
          </p:cNvPr>
          <p:cNvSpPr>
            <a:spLocks noGrp="1"/>
          </p:cNvSpPr>
          <p:nvPr>
            <p:ph type="body" sz="quarter" idx="21"/>
          </p:nvPr>
        </p:nvSpPr>
        <p:spPr>
          <a:xfrm>
            <a:off x="944914" y="-87079"/>
            <a:ext cx="8221501" cy="659975"/>
          </a:xfrm>
        </p:spPr>
        <p:txBody>
          <a:bodyPr/>
          <a:lstStyle/>
          <a:p>
            <a:r>
              <a:rPr lang="zh-TW" altLang="en-US" sz="2400" dirty="0"/>
              <a:t>現行知識檢索專案 </a:t>
            </a:r>
            <a:r>
              <a:rPr lang="en-US" altLang="zh-TW" sz="2400" dirty="0"/>
              <a:t>- </a:t>
            </a:r>
            <a:r>
              <a:rPr lang="zh-TW" altLang="en-US" sz="2400" dirty="0"/>
              <a:t>技術盤點</a:t>
            </a:r>
          </a:p>
        </p:txBody>
      </p:sp>
      <p:sp>
        <p:nvSpPr>
          <p:cNvPr id="394" name="矩形 393">
            <a:extLst>
              <a:ext uri="{FF2B5EF4-FFF2-40B4-BE49-F238E27FC236}">
                <a16:creationId xmlns:a16="http://schemas.microsoft.com/office/drawing/2014/main" id="{5F5C52D7-C37F-C650-C4F9-B1084CAECCB4}"/>
              </a:ext>
            </a:extLst>
          </p:cNvPr>
          <p:cNvSpPr/>
          <p:nvPr/>
        </p:nvSpPr>
        <p:spPr>
          <a:xfrm rot="10800000" flipV="1">
            <a:off x="944914" y="598670"/>
            <a:ext cx="10865004" cy="53730"/>
          </a:xfrm>
          <a:prstGeom prst="rect">
            <a:avLst/>
          </a:prstGeom>
          <a:gradFill>
            <a:gsLst>
              <a:gs pos="11000">
                <a:srgbClr val="00F9D3">
                  <a:alpha val="0"/>
                </a:srgbClr>
              </a:gs>
              <a:gs pos="39000">
                <a:srgbClr val="00F9D3"/>
              </a:gs>
              <a:gs pos="70000">
                <a:srgbClr val="00C3CD"/>
              </a:gs>
              <a:gs pos="100000">
                <a:srgbClr val="008FC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5" name="Text 25">
            <a:extLst>
              <a:ext uri="{FF2B5EF4-FFF2-40B4-BE49-F238E27FC236}">
                <a16:creationId xmlns:a16="http://schemas.microsoft.com/office/drawing/2014/main" id="{E9B00A69-C398-EC16-B576-FE1454241D9C}"/>
              </a:ext>
            </a:extLst>
          </p:cNvPr>
          <p:cNvSpPr/>
          <p:nvPr/>
        </p:nvSpPr>
        <p:spPr>
          <a:xfrm>
            <a:off x="-2646656" y="2093038"/>
            <a:ext cx="2211568" cy="1133856"/>
          </a:xfrm>
          <a:prstGeom prst="rect">
            <a:avLst/>
          </a:prstGeom>
          <a:solidFill>
            <a:srgbClr val="FFF7E8"/>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對應工作
</a:t>
            </a:r>
            <a:r>
              <a:rPr lang="en-US" sz="670" dirty="0">
                <a:solidFill>
                  <a:srgbClr val="17384D"/>
                </a:solidFill>
                <a:latin typeface="Microsoft JhengHei" pitchFamily="34" charset="0"/>
                <a:ea typeface="Microsoft JhengHei" pitchFamily="34" charset="-122"/>
                <a:cs typeface="Microsoft JhengHei" pitchFamily="34" charset="-120"/>
              </a:rPr>
              <a:t>Vibe Coding</a:t>
            </a:r>
            <a:endParaRPr lang="en-US" sz="670" dirty="0"/>
          </a:p>
        </p:txBody>
      </p:sp>
      <p:sp>
        <p:nvSpPr>
          <p:cNvPr id="437" name="Text 26">
            <a:extLst>
              <a:ext uri="{FF2B5EF4-FFF2-40B4-BE49-F238E27FC236}">
                <a16:creationId xmlns:a16="http://schemas.microsoft.com/office/drawing/2014/main" id="{53739E9F-8050-B0E9-D39A-A7963B0DD138}"/>
              </a:ext>
            </a:extLst>
          </p:cNvPr>
          <p:cNvSpPr/>
          <p:nvPr/>
        </p:nvSpPr>
        <p:spPr>
          <a:xfrm>
            <a:off x="-2646656" y="3290902"/>
            <a:ext cx="2211568" cy="1133856"/>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90" b="1" dirty="0">
                <a:solidFill>
                  <a:srgbClr val="07324D"/>
                </a:solidFill>
                <a:latin typeface="Microsoft JhengHei" pitchFamily="34" charset="0"/>
                <a:ea typeface="Microsoft JhengHei" pitchFamily="34" charset="-122"/>
                <a:cs typeface="Microsoft JhengHei" pitchFamily="34" charset="-120"/>
              </a:rPr>
              <a:t>Scope
</a:t>
            </a:r>
            <a:r>
              <a:rPr lang="en-US" sz="690" dirty="0">
                <a:solidFill>
                  <a:srgbClr val="17384D"/>
                </a:solidFill>
                <a:latin typeface="Microsoft JhengHei" pitchFamily="34" charset="0"/>
                <a:ea typeface="Microsoft JhengHei" pitchFamily="34" charset="-122"/>
                <a:cs typeface="Microsoft JhengHei" pitchFamily="34" charset="-120"/>
              </a:rPr>
              <a:t>建立業務、前緣與規劃單位由 Prototype / POC 到工程審查與正式上線的導入流程。</a:t>
            </a:r>
            <a:endParaRPr lang="en-US" sz="690" dirty="0"/>
          </a:p>
        </p:txBody>
      </p:sp>
      <p:sp>
        <p:nvSpPr>
          <p:cNvPr id="439" name="Text 27">
            <a:extLst>
              <a:ext uri="{FF2B5EF4-FFF2-40B4-BE49-F238E27FC236}">
                <a16:creationId xmlns:a16="http://schemas.microsoft.com/office/drawing/2014/main" id="{C2BC6086-DC27-266D-923A-F424DC0BC430}"/>
              </a:ext>
            </a:extLst>
          </p:cNvPr>
          <p:cNvSpPr/>
          <p:nvPr/>
        </p:nvSpPr>
        <p:spPr>
          <a:xfrm>
            <a:off x="-2646656" y="4488766"/>
            <a:ext cx="2211568" cy="1713568"/>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預計產出
</a:t>
            </a:r>
            <a:r>
              <a:rPr lang="en-US" sz="670" dirty="0">
                <a:solidFill>
                  <a:srgbClr val="17384D"/>
                </a:solidFill>
                <a:latin typeface="Microsoft JhengHei" pitchFamily="34" charset="0"/>
                <a:ea typeface="Microsoft JhengHei" pitchFamily="34" charset="-122"/>
                <a:cs typeface="Microsoft JhengHei" pitchFamily="34" charset="-120"/>
              </a:rPr>
              <a:t>• Vibe Coding 整體流程</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Prototype / POC 作業指引</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工程 Review 檢核表</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上線作業規範</a:t>
            </a:r>
            <a:endParaRPr lang="en-US" sz="670" dirty="0"/>
          </a:p>
        </p:txBody>
      </p:sp>
      <p:graphicFrame>
        <p:nvGraphicFramePr>
          <p:cNvPr id="7" name="表格 6">
            <a:extLst>
              <a:ext uri="{FF2B5EF4-FFF2-40B4-BE49-F238E27FC236}">
                <a16:creationId xmlns:a16="http://schemas.microsoft.com/office/drawing/2014/main" id="{C4DC9848-8BBC-9357-F5AA-69337028CC20}"/>
              </a:ext>
            </a:extLst>
          </p:cNvPr>
          <p:cNvGraphicFramePr>
            <a:graphicFrameLocks noGrp="1"/>
          </p:cNvGraphicFramePr>
          <p:nvPr>
            <p:extLst>
              <p:ext uri="{D42A27DB-BD31-4B8C-83A1-F6EECF244321}">
                <p14:modId xmlns:p14="http://schemas.microsoft.com/office/powerpoint/2010/main" val="1770422023"/>
              </p:ext>
            </p:extLst>
          </p:nvPr>
        </p:nvGraphicFramePr>
        <p:xfrm>
          <a:off x="170330" y="1735563"/>
          <a:ext cx="11528611" cy="4804765"/>
        </p:xfrm>
        <a:graphic>
          <a:graphicData uri="http://schemas.openxmlformats.org/drawingml/2006/table">
            <a:tbl>
              <a:tblPr/>
              <a:tblGrid>
                <a:gridCol w="2014618">
                  <a:extLst>
                    <a:ext uri="{9D8B030D-6E8A-4147-A177-3AD203B41FA5}">
                      <a16:colId xmlns:a16="http://schemas.microsoft.com/office/drawing/2014/main" val="4242290688"/>
                    </a:ext>
                  </a:extLst>
                </a:gridCol>
                <a:gridCol w="2014618">
                  <a:extLst>
                    <a:ext uri="{9D8B030D-6E8A-4147-A177-3AD203B41FA5}">
                      <a16:colId xmlns:a16="http://schemas.microsoft.com/office/drawing/2014/main" val="2093482243"/>
                    </a:ext>
                  </a:extLst>
                </a:gridCol>
                <a:gridCol w="1072816">
                  <a:extLst>
                    <a:ext uri="{9D8B030D-6E8A-4147-A177-3AD203B41FA5}">
                      <a16:colId xmlns:a16="http://schemas.microsoft.com/office/drawing/2014/main" val="337682614"/>
                    </a:ext>
                  </a:extLst>
                </a:gridCol>
                <a:gridCol w="2836004">
                  <a:extLst>
                    <a:ext uri="{9D8B030D-6E8A-4147-A177-3AD203B41FA5}">
                      <a16:colId xmlns:a16="http://schemas.microsoft.com/office/drawing/2014/main" val="965086758"/>
                    </a:ext>
                  </a:extLst>
                </a:gridCol>
                <a:gridCol w="2139150">
                  <a:extLst>
                    <a:ext uri="{9D8B030D-6E8A-4147-A177-3AD203B41FA5}">
                      <a16:colId xmlns:a16="http://schemas.microsoft.com/office/drawing/2014/main" val="3394115202"/>
                    </a:ext>
                  </a:extLst>
                </a:gridCol>
                <a:gridCol w="1451405">
                  <a:extLst>
                    <a:ext uri="{9D8B030D-6E8A-4147-A177-3AD203B41FA5}">
                      <a16:colId xmlns:a16="http://schemas.microsoft.com/office/drawing/2014/main" val="3502860126"/>
                    </a:ext>
                  </a:extLst>
                </a:gridCol>
              </a:tblGrid>
              <a:tr h="378725">
                <a:tc>
                  <a:txBody>
                    <a:bodyPr/>
                    <a:lstStyle/>
                    <a:p>
                      <a:pPr algn="ctr" fontAlgn="ctr">
                        <a:buNone/>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選用工具</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fontAlgn="ctr">
                        <a:buNone/>
                      </a:pP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專案名稱</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fontAlgn="ctr">
                        <a:buNone/>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知識類型</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fontAlgn="ctr">
                        <a:buNone/>
                      </a:pPr>
                      <a:r>
                        <a:rPr lang="zh-TW" altLang="en-US" sz="1200" b="1" i="0" u="none" strike="noStrike" dirty="0">
                          <a:solidFill>
                            <a:srgbClr val="000000"/>
                          </a:solidFill>
                          <a:effectLst/>
                          <a:latin typeface="微軟正黑體" panose="020B0604030504040204" pitchFamily="34" charset="-120"/>
                          <a:ea typeface="+mn-ea"/>
                        </a:rPr>
                        <a:t>專案情境</a:t>
                      </a:r>
                      <a:endParaRPr lang="en-US" altLang="zh-TW" sz="1200" b="1" i="0" u="none" strike="noStrike" dirty="0">
                        <a:solidFill>
                          <a:srgbClr val="000000"/>
                        </a:solidFill>
                        <a:effectLst/>
                        <a:latin typeface="微軟正黑體" panose="020B0604030504040204" pitchFamily="34" charset="-120"/>
                        <a:ea typeface="+mn-ea"/>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fontAlgn="ctr">
                        <a:buNone/>
                      </a:pP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技術選型</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ctr"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正確率</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3640710521"/>
                  </a:ext>
                </a:extLst>
              </a:tr>
              <a:tr h="540000">
                <a:tc>
                  <a:txBody>
                    <a:bodyPr/>
                    <a:lstStyle/>
                    <a:p>
                      <a:pPr algn="ctr" rtl="0" fontAlgn="ctr">
                        <a:buNone/>
                      </a:pPr>
                      <a:r>
                        <a:rPr lang="en-US" altLang="zh-TW" sz="1200" b="1" i="0" u="none" strike="noStrike" dirty="0">
                          <a:solidFill>
                            <a:srgbClr val="000000"/>
                          </a:solidFill>
                          <a:effectLst/>
                          <a:latin typeface="微軟正黑體" panose="020B0604030504040204" pitchFamily="34" charset="-120"/>
                          <a:ea typeface="+mn-ea"/>
                        </a:rPr>
                        <a:t>AI</a:t>
                      </a:r>
                      <a:r>
                        <a:rPr lang="zh-TW" altLang="en-US" sz="1200" b="1" i="0" u="none" strike="noStrike" dirty="0">
                          <a:solidFill>
                            <a:srgbClr val="000000"/>
                          </a:solidFill>
                          <a:effectLst/>
                          <a:latin typeface="微軟正黑體" panose="020B0604030504040204" pitchFamily="34" charset="-120"/>
                          <a:ea typeface="+mn-ea"/>
                        </a:rPr>
                        <a:t> </a:t>
                      </a:r>
                      <a:r>
                        <a:rPr lang="en-US" altLang="zh-TW" sz="1200" b="1" i="0" u="none" strike="noStrike" dirty="0">
                          <a:solidFill>
                            <a:srgbClr val="000000"/>
                          </a:solidFill>
                          <a:effectLst/>
                          <a:latin typeface="微軟正黑體" panose="020B0604030504040204" pitchFamily="34" charset="-120"/>
                          <a:ea typeface="+mn-ea"/>
                        </a:rPr>
                        <a:t>Search + AOAI</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buNone/>
                      </a:pP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全行員工內部知識檢索​</a:t>
                      </a:r>
                      <a:br>
                        <a:rPr lang="zh-TW" sz="1200" b="1" i="0" u="none" strike="noStrike" dirty="0">
                          <a:solidFill>
                            <a:srgbClr val="000000"/>
                          </a:solidFill>
                          <a:effectLst/>
                          <a:latin typeface="微軟正黑體" panose="020B0604030504040204" pitchFamily="34" charset="-120"/>
                          <a:ea typeface="微軟正黑體" panose="020B0604030504040204" pitchFamily="34" charset="-120"/>
                        </a:rPr>
                      </a:b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-FAQ</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QA pair</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1200" b="1" i="0" u="none" strike="noStrike" dirty="0">
                          <a:solidFill>
                            <a:srgbClr val="000000"/>
                          </a:solidFill>
                          <a:effectLst/>
                          <a:latin typeface="微軟正黑體" panose="020B0604030504040204" pitchFamily="34" charset="-120"/>
                          <a:ea typeface="+mn-ea"/>
                        </a:rPr>
                        <a:t>依使用者提問檢索 </a:t>
                      </a:r>
                      <a:r>
                        <a:rPr lang="en-US" altLang="zh-TW" sz="1200" b="1" i="0" u="none" strike="noStrike" dirty="0">
                          <a:solidFill>
                            <a:srgbClr val="000000"/>
                          </a:solidFill>
                          <a:effectLst/>
                          <a:latin typeface="微軟正黑體" panose="020B0604030504040204" pitchFamily="34" charset="-120"/>
                          <a:ea typeface="+mn-ea"/>
                        </a:rPr>
                        <a:t>FAQ </a:t>
                      </a:r>
                      <a:r>
                        <a:rPr lang="zh-TW" altLang="en-US" sz="1200" b="1" i="0" u="none" strike="noStrike" dirty="0">
                          <a:solidFill>
                            <a:srgbClr val="000000"/>
                          </a:solidFill>
                          <a:effectLst/>
                          <a:latin typeface="微軟正黑體" panose="020B0604030504040204" pitchFamily="34" charset="-120"/>
                          <a:ea typeface="+mn-ea"/>
                        </a:rPr>
                        <a:t>集，並根據檢索到的 </a:t>
                      </a:r>
                      <a:r>
                        <a:rPr lang="en-US" altLang="zh-TW" sz="1200" b="1" i="0" u="none" strike="noStrike" dirty="0">
                          <a:solidFill>
                            <a:srgbClr val="000000"/>
                          </a:solidFill>
                          <a:effectLst/>
                          <a:latin typeface="微軟正黑體" panose="020B0604030504040204" pitchFamily="34" charset="-120"/>
                          <a:ea typeface="+mn-ea"/>
                        </a:rPr>
                        <a:t>QA Pair </a:t>
                      </a:r>
                      <a:r>
                        <a:rPr lang="zh-TW" altLang="en-US" sz="1200" b="1" i="0" u="none" strike="noStrike" dirty="0">
                          <a:solidFill>
                            <a:srgbClr val="000000"/>
                          </a:solidFill>
                          <a:effectLst/>
                          <a:latin typeface="微軟正黑體" panose="020B0604030504040204" pitchFamily="34" charset="-120"/>
                          <a:ea typeface="+mn-ea"/>
                        </a:rPr>
                        <a:t>生成回覆</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7">
                  <a:txBody>
                    <a:bodyPr/>
                    <a:lstStyle/>
                    <a:p>
                      <a:pPr algn="l" fontAlgn="ctr">
                        <a:lnSpc>
                          <a:spcPct val="150000"/>
                        </a:lnSpc>
                        <a:buNone/>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非結構化檢索</a:t>
                      </a: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回答生成</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Arial" panose="020B0604020202020204" pitchFamily="34" charset="0"/>
                        <a:buChar char="•"/>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檢索 </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100</a:t>
                      </a:r>
                    </a:p>
                    <a:p>
                      <a:pPr marL="171450" indent="-171450" algn="l" fontAlgn="ctr">
                        <a:buFont typeface="Arial" panose="020B0604020202020204" pitchFamily="34" charset="0"/>
                        <a:buChar char="•"/>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回答 </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1200" b="0" i="0" u="none" strike="noStrike" dirty="0">
                          <a:solidFill>
                            <a:srgbClr val="000000"/>
                          </a:solidFill>
                          <a:effectLst/>
                          <a:latin typeface="微軟正黑體" panose="020B0604030504040204" pitchFamily="34" charset="-120"/>
                          <a:ea typeface="微軟正黑體" panose="020B0604030504040204" pitchFamily="34" charset="-120"/>
                        </a:rPr>
                        <a:t>100</a:t>
                      </a: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5895163"/>
                  </a:ext>
                </a:extLst>
              </a:tr>
              <a:tr h="540000">
                <a:tc>
                  <a:txBody>
                    <a:bodyPr/>
                    <a:lstStyle/>
                    <a:p>
                      <a:pPr algn="ctr" rtl="0" fontAlgn="ctr">
                        <a:buNone/>
                      </a:pP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IBM Solution</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200" b="1" i="0" u="none" strike="noStrike" dirty="0">
                          <a:solidFill>
                            <a:srgbClr val="000000"/>
                          </a:solidFill>
                          <a:effectLst/>
                          <a:latin typeface="微軟正黑體" panose="020B0604030504040204" pitchFamily="34" charset="-120"/>
                          <a:ea typeface="+mn-ea"/>
                        </a:rPr>
                        <a:t>數位邦妮</a:t>
                      </a:r>
                      <a:r>
                        <a:rPr lang="en-US" altLang="zh-TW" sz="1200" b="1" i="0" u="none" strike="noStrike" dirty="0">
                          <a:solidFill>
                            <a:srgbClr val="000000"/>
                          </a:solidFill>
                          <a:effectLst/>
                          <a:latin typeface="微軟正黑體" panose="020B0604030504040204" pitchFamily="34" charset="-120"/>
                          <a:ea typeface="+mn-ea"/>
                        </a:rPr>
                        <a:t>-</a:t>
                      </a:r>
                      <a:r>
                        <a:rPr lang="zh-TW" altLang="en-US" sz="1200" b="1" i="0" u="none" strike="noStrike" dirty="0">
                          <a:solidFill>
                            <a:srgbClr val="000000"/>
                          </a:solidFill>
                          <a:effectLst/>
                          <a:latin typeface="微軟正黑體" panose="020B0604030504040204" pitchFamily="34" charset="-120"/>
                          <a:ea typeface="+mn-ea"/>
                        </a:rPr>
                        <a:t>客服語音機器人語意理解</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en-US" altLang="zh-TW" sz="1200" b="1" i="0" u="none" strike="noStrike">
                          <a:solidFill>
                            <a:srgbClr val="000000"/>
                          </a:solidFill>
                          <a:effectLst/>
                          <a:latin typeface="微軟正黑體" panose="020B0604030504040204" pitchFamily="34" charset="-120"/>
                          <a:ea typeface="+mn-ea"/>
                        </a:rPr>
                        <a:t>QA pair</a:t>
                      </a:r>
                      <a:endParaRPr lang="zh-TW" altLang="zh-TW" sz="1200" b="1" i="0" u="none" strike="noStrike">
                        <a:solidFill>
                          <a:srgbClr val="000000"/>
                        </a:solidFill>
                        <a:effectLst/>
                        <a:latin typeface="微軟正黑體" panose="020B0604030504040204" pitchFamily="34" charset="-120"/>
                        <a:ea typeface="+mn-ea"/>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200" b="1" i="0" u="none" strike="noStrike">
                          <a:solidFill>
                            <a:srgbClr val="000000"/>
                          </a:solidFill>
                          <a:effectLst/>
                          <a:latin typeface="微軟正黑體" panose="020B0604030504040204" pitchFamily="34" charset="-120"/>
                          <a:ea typeface="+mn-ea"/>
                        </a:rPr>
                        <a:t>依使用者提問檢索 </a:t>
                      </a:r>
                      <a:r>
                        <a:rPr lang="en-US" altLang="zh-TW" sz="1200" b="1" i="0" u="none" strike="noStrike">
                          <a:solidFill>
                            <a:srgbClr val="000000"/>
                          </a:solidFill>
                          <a:effectLst/>
                          <a:latin typeface="微軟正黑體" panose="020B0604030504040204" pitchFamily="34" charset="-120"/>
                          <a:ea typeface="+mn-ea"/>
                        </a:rPr>
                        <a:t>FAQ </a:t>
                      </a:r>
                      <a:r>
                        <a:rPr lang="zh-TW" altLang="en-US" sz="1200" b="1" i="0" u="none" strike="noStrike">
                          <a:solidFill>
                            <a:srgbClr val="000000"/>
                          </a:solidFill>
                          <a:effectLst/>
                          <a:latin typeface="微軟正黑體" panose="020B0604030504040204" pitchFamily="34" charset="-120"/>
                          <a:ea typeface="+mn-ea"/>
                        </a:rPr>
                        <a:t>集，並根據檢索到的 </a:t>
                      </a:r>
                      <a:r>
                        <a:rPr lang="en-US" altLang="zh-TW" sz="1200" b="1" i="0" u="none" strike="noStrike">
                          <a:solidFill>
                            <a:srgbClr val="000000"/>
                          </a:solidFill>
                          <a:effectLst/>
                          <a:latin typeface="微軟正黑體" panose="020B0604030504040204" pitchFamily="34" charset="-120"/>
                          <a:ea typeface="+mn-ea"/>
                        </a:rPr>
                        <a:t>QA Pair </a:t>
                      </a:r>
                      <a:r>
                        <a:rPr lang="zh-TW" altLang="en-US" sz="1200" b="1" i="0" u="none" strike="noStrike">
                          <a:solidFill>
                            <a:srgbClr val="000000"/>
                          </a:solidFill>
                          <a:effectLst/>
                          <a:latin typeface="微軟正黑體" panose="020B0604030504040204" pitchFamily="34" charset="-120"/>
                          <a:ea typeface="+mn-ea"/>
                        </a:rPr>
                        <a:t>生成回覆</a:t>
                      </a:r>
                      <a:endParaRPr lang="zh-TW" altLang="zh-TW" sz="1200" b="1" i="0" u="none" strike="noStrike">
                        <a:solidFill>
                          <a:srgbClr val="000000"/>
                        </a:solidFill>
                        <a:effectLst/>
                        <a:latin typeface="微軟正黑體" panose="020B0604030504040204" pitchFamily="34" charset="-120"/>
                        <a:ea typeface="+mn-ea"/>
                      </a:endParaRPr>
                    </a:p>
                  </a:txBody>
                  <a:tcPr marL="144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algn="l" fontAlgn="ctr">
                        <a:buNone/>
                      </a:pPr>
                      <a:endParaRPr lang="zh-TW" altLang="zh-TW" sz="1200" b="0" i="0" u="none" strike="noStrike" dirty="0">
                        <a:solidFill>
                          <a:srgbClr val="000000"/>
                        </a:solidFill>
                        <a:effectLst/>
                        <a:latin typeface="微軟正黑體" panose="020B0604030504040204" pitchFamily="34" charset="-120"/>
                        <a:ea typeface="+mn-ea"/>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Arial" panose="020B0604020202020204" pitchFamily="34" charset="0"/>
                        <a:buChar char="•"/>
                      </a:pPr>
                      <a:r>
                        <a:rPr lang="zh-TW" altLang="en-US" sz="1200" b="1" i="0" u="none" strike="noStrike">
                          <a:solidFill>
                            <a:srgbClr val="000000"/>
                          </a:solidFill>
                          <a:effectLst/>
                          <a:latin typeface="微軟正黑體" panose="020B0604030504040204" pitchFamily="34" charset="-120"/>
                          <a:ea typeface="+mn-ea"/>
                        </a:rPr>
                        <a:t>檢索 </a:t>
                      </a:r>
                      <a:r>
                        <a:rPr lang="en-US" altLang="zh-TW" sz="1200" b="1" i="0" u="none" strike="noStrike">
                          <a:solidFill>
                            <a:srgbClr val="000000"/>
                          </a:solidFill>
                          <a:effectLst/>
                          <a:latin typeface="微軟正黑體" panose="020B0604030504040204" pitchFamily="34" charset="-120"/>
                          <a:ea typeface="+mn-ea"/>
                        </a:rPr>
                        <a:t>:  100</a:t>
                      </a:r>
                      <a:endParaRPr lang="en-US" altLang="zh-TW" sz="1200" b="0" i="0" u="none" strike="noStrike">
                        <a:solidFill>
                          <a:srgbClr val="000000"/>
                        </a:solidFill>
                        <a:effectLst/>
                        <a:latin typeface="微軟正黑體" panose="020B0604030504040204" pitchFamily="34" charset="-120"/>
                        <a:ea typeface="+mn-ea"/>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971237"/>
                  </a:ext>
                </a:extLst>
              </a:tr>
              <a:tr h="540000">
                <a:tc rowSpan="5">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200" b="1" i="0" u="none" strike="noStrike" dirty="0">
                          <a:solidFill>
                            <a:srgbClr val="000000"/>
                          </a:solidFill>
                          <a:effectLst/>
                          <a:latin typeface="微軟正黑體" panose="020B0604030504040204" pitchFamily="34" charset="-120"/>
                          <a:ea typeface="+mn-ea"/>
                        </a:rPr>
                        <a:t>KM2.0</a:t>
                      </a:r>
                      <a:endParaRPr lang="zh-TW" altLang="zh-TW" sz="1200" b="1" i="0" u="none" strike="noStrike" dirty="0">
                        <a:solidFill>
                          <a:srgbClr val="000000"/>
                        </a:solidFill>
                        <a:effectLst/>
                        <a:latin typeface="微軟正黑體" panose="020B0604030504040204" pitchFamily="34" charset="-120"/>
                        <a:ea typeface="+mn-ea"/>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全行員工內部知識檢索​</a:t>
                      </a:r>
                      <a:br>
                        <a:rPr lang="zh-TW" sz="1200" b="1" i="0" u="none" strike="noStrike">
                          <a:solidFill>
                            <a:srgbClr val="000000"/>
                          </a:solidFill>
                          <a:effectLst/>
                          <a:latin typeface="Arial" panose="020B0604020202020204" pitchFamily="34" charset="0"/>
                          <a:ea typeface="微軟正黑體" panose="020B0604030504040204" pitchFamily="34" charset="-120"/>
                        </a:rPr>
                      </a:br>
                      <a:r>
                        <a:rPr lang="zh-TW" sz="1200" b="1" i="0" u="none" strike="noStrike">
                          <a:solidFill>
                            <a:srgbClr val="000000"/>
                          </a:solidFill>
                          <a:effectLst/>
                          <a:latin typeface="微軟正黑體" panose="020B0604030504040204" pitchFamily="34" charset="-120"/>
                          <a:ea typeface="微軟正黑體" panose="020B0604030504040204" pitchFamily="34" charset="-120"/>
                        </a:rPr>
                        <a:t>-文件庫</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zh-TW" altLang="en-US" sz="1200" b="1" i="0" u="none" strike="noStrike">
                          <a:solidFill>
                            <a:srgbClr val="000000"/>
                          </a:solidFill>
                          <a:effectLst/>
                          <a:latin typeface="微軟正黑體" panose="020B0604030504040204" pitchFamily="34" charset="-120"/>
                          <a:ea typeface="+mn-ea"/>
                        </a:rPr>
                        <a:t>文件*</a:t>
                      </a:r>
                      <a:endParaRPr lang="zh-TW" altLang="zh-TW" sz="1200" b="1" i="0" u="none" strike="noStrike">
                        <a:solidFill>
                          <a:srgbClr val="000000"/>
                        </a:solidFill>
                        <a:effectLst/>
                        <a:latin typeface="微軟正黑體" panose="020B0604030504040204" pitchFamily="34" charset="-120"/>
                        <a:ea typeface="+mn-ea"/>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1200" b="1" i="0" u="none" strike="noStrike">
                          <a:solidFill>
                            <a:srgbClr val="000000"/>
                          </a:solidFill>
                          <a:effectLst/>
                          <a:latin typeface="微軟正黑體" panose="020B0604030504040204" pitchFamily="34" charset="-120"/>
                          <a:ea typeface="+mn-ea"/>
                        </a:rPr>
                        <a:t>依使用者提問檢索 文件庫，並根據找到的文件片段</a:t>
                      </a:r>
                      <a:r>
                        <a:rPr lang="en-US" altLang="zh-TW" sz="1200" b="1" i="0" u="none" strike="noStrike">
                          <a:solidFill>
                            <a:srgbClr val="000000"/>
                          </a:solidFill>
                          <a:effectLst/>
                          <a:latin typeface="微軟正黑體" panose="020B0604030504040204" pitchFamily="34" charset="-120"/>
                          <a:ea typeface="+mn-ea"/>
                        </a:rPr>
                        <a:t>(Chunks) </a:t>
                      </a:r>
                      <a:r>
                        <a:rPr lang="zh-TW" altLang="en-US" sz="1200" b="1" i="0" u="none" strike="noStrike">
                          <a:solidFill>
                            <a:srgbClr val="000000"/>
                          </a:solidFill>
                          <a:effectLst/>
                          <a:latin typeface="微軟正黑體" panose="020B0604030504040204" pitchFamily="34" charset="-120"/>
                          <a:ea typeface="+mn-ea"/>
                        </a:rPr>
                        <a:t>生成回覆</a:t>
                      </a:r>
                      <a:endParaRPr lang="zh-TW" altLang="zh-TW" sz="1200" b="1" i="0" u="none" strike="noStrike">
                        <a:solidFill>
                          <a:srgbClr val="000000"/>
                        </a:solidFill>
                        <a:effectLst/>
                        <a:latin typeface="微軟正黑體" panose="020B0604030504040204" pitchFamily="34" charset="-120"/>
                        <a:ea typeface="+mn-ea"/>
                      </a:endParaRPr>
                    </a:p>
                  </a:txBody>
                  <a:tcPr marL="144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Arial" panose="020B0604020202020204" pitchFamily="34" charset="0"/>
                        <a:buChar char="•"/>
                      </a:pPr>
                      <a:r>
                        <a:rPr lang="zh-TW" altLang="en-US" sz="1200" b="1" i="0" u="none" strike="noStrike" dirty="0">
                          <a:solidFill>
                            <a:srgbClr val="000000"/>
                          </a:solidFill>
                          <a:effectLst/>
                          <a:latin typeface="微軟正黑體" panose="020B0604030504040204" pitchFamily="34" charset="-120"/>
                          <a:ea typeface="+mn-ea"/>
                        </a:rPr>
                        <a:t>檢索 </a:t>
                      </a:r>
                      <a:r>
                        <a:rPr lang="en-US" altLang="zh-TW" sz="1200" b="1" i="0" u="none" strike="noStrike" dirty="0">
                          <a:solidFill>
                            <a:srgbClr val="000000"/>
                          </a:solidFill>
                          <a:effectLst/>
                          <a:latin typeface="微軟正黑體" panose="020B0604030504040204" pitchFamily="34" charset="-120"/>
                          <a:ea typeface="+mn-ea"/>
                        </a:rPr>
                        <a:t>: </a:t>
                      </a:r>
                      <a:r>
                        <a:rPr lang="en-US" altLang="zh-TW" sz="1200" b="0" i="0" u="none" strike="noStrike" dirty="0">
                          <a:solidFill>
                            <a:srgbClr val="000000"/>
                          </a:solidFill>
                          <a:effectLst/>
                          <a:latin typeface="微軟正黑體" panose="020B0604030504040204" pitchFamily="34" charset="-120"/>
                          <a:ea typeface="+mn-ea"/>
                        </a:rPr>
                        <a:t>98</a:t>
                      </a:r>
                    </a:p>
                    <a:p>
                      <a:pPr marL="171450" indent="-171450" algn="l" fontAlgn="ctr">
                        <a:buFont typeface="Arial" panose="020B0604020202020204" pitchFamily="34" charset="0"/>
                        <a:buChar char="•"/>
                      </a:pPr>
                      <a:r>
                        <a:rPr lang="zh-TW" altLang="en-US" sz="1200" b="1" i="0" u="none" strike="noStrike" dirty="0">
                          <a:solidFill>
                            <a:srgbClr val="000000"/>
                          </a:solidFill>
                          <a:effectLst/>
                          <a:latin typeface="微軟正黑體" panose="020B0604030504040204" pitchFamily="34" charset="-120"/>
                          <a:ea typeface="+mn-ea"/>
                        </a:rPr>
                        <a:t>回答 </a:t>
                      </a:r>
                      <a:r>
                        <a:rPr lang="en-US" altLang="zh-TW" sz="1200" b="1" i="0" u="none" strike="noStrike" dirty="0">
                          <a:solidFill>
                            <a:srgbClr val="000000"/>
                          </a:solidFill>
                          <a:effectLst/>
                          <a:latin typeface="微軟正黑體" panose="020B0604030504040204" pitchFamily="34" charset="-120"/>
                          <a:ea typeface="+mn-ea"/>
                        </a:rPr>
                        <a:t>: </a:t>
                      </a:r>
                      <a:r>
                        <a:rPr lang="en-US" altLang="zh-TW" sz="1200" b="0" i="0" u="none" strike="noStrike" dirty="0">
                          <a:solidFill>
                            <a:srgbClr val="000000"/>
                          </a:solidFill>
                          <a:effectLst/>
                          <a:latin typeface="微軟正黑體" panose="020B0604030504040204" pitchFamily="34" charset="-120"/>
                          <a:ea typeface="+mn-ea"/>
                        </a:rPr>
                        <a:t>89</a:t>
                      </a:r>
                      <a:r>
                        <a:rPr lang="zh-TW" altLang="zh-TW" sz="1200" b="1" i="0" u="none" strike="noStrike" dirty="0">
                          <a:solidFill>
                            <a:srgbClr val="000000"/>
                          </a:solidFill>
                          <a:effectLst/>
                          <a:latin typeface="微軟正黑體" panose="020B0604030504040204" pitchFamily="34" charset="-120"/>
                          <a:ea typeface="+mn-ea"/>
                        </a:rPr>
                        <a:t>　</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2120858"/>
                  </a:ext>
                </a:extLst>
              </a:tr>
              <a:tr h="540000">
                <a:tc vMerge="1">
                  <a:txBody>
                    <a:bodyPr/>
                    <a:lstStyle/>
                    <a:p>
                      <a:endParaRPr dirty="0"/>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zh-TW" sz="1200" b="1" i="0" u="none" strike="noStrike" dirty="0">
                          <a:solidFill>
                            <a:srgbClr val="000000"/>
                          </a:solidFill>
                          <a:effectLst/>
                          <a:latin typeface="微軟正黑體" panose="020B0604030504040204" pitchFamily="34" charset="-120"/>
                          <a:ea typeface="+mn-ea"/>
                        </a:rPr>
                        <a:t>分行內部知識查找</a:t>
                      </a:r>
                      <a:endParaRPr lang="zh-TW" altLang="en-US" sz="1200" b="1" i="0" u="none" strike="noStrike" dirty="0">
                        <a:solidFill>
                          <a:srgbClr val="000000"/>
                        </a:solidFill>
                        <a:effectLst/>
                        <a:latin typeface="微軟正黑體" panose="020B0604030504040204" pitchFamily="34" charset="-120"/>
                        <a:ea typeface="+mn-ea"/>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marR="0" lvl="0" indent="-171450" algn="l" defTabSz="914400" rtl="0" eaLnBrk="1" fontAlgn="ctr" latinLnBrk="0" hangingPunct="1">
                        <a:lnSpc>
                          <a:spcPct val="100000"/>
                        </a:lnSpc>
                        <a:spcBef>
                          <a:spcPts val="0"/>
                        </a:spcBef>
                        <a:spcAft>
                          <a:spcPts val="0"/>
                        </a:spcAft>
                        <a:buClrTx/>
                        <a:buSzTx/>
                        <a:buFont typeface="Arial" panose="020B0604020202020204" pitchFamily="34" charset="0"/>
                        <a:buChar char="•"/>
                        <a:tabLst/>
                        <a:defRPr/>
                      </a:pPr>
                      <a:r>
                        <a:rPr lang="zh-TW" altLang="en-US" sz="1200" b="1" i="0" u="none" strike="noStrike" dirty="0">
                          <a:solidFill>
                            <a:srgbClr val="000000"/>
                          </a:solidFill>
                          <a:effectLst/>
                          <a:latin typeface="微軟正黑體" panose="020B0604030504040204" pitchFamily="34" charset="-120"/>
                          <a:ea typeface="+mn-ea"/>
                        </a:rPr>
                        <a:t>文件*</a:t>
                      </a:r>
                      <a:endParaRPr lang="zh-TW" altLang="zh-TW" sz="1200" b="1" i="0" u="none" strike="noStrike" dirty="0">
                        <a:solidFill>
                          <a:srgbClr val="000000"/>
                        </a:solidFill>
                        <a:effectLst/>
                        <a:latin typeface="微軟正黑體" panose="020B0604030504040204" pitchFamily="34" charset="-120"/>
                        <a:ea typeface="+mn-ea"/>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l" fontAlgn="ctr">
                        <a:buNone/>
                      </a:pPr>
                      <a:r>
                        <a:rPr lang="zh-TW" altLang="en-US" sz="1200" b="1" i="0" u="none" strike="noStrike" dirty="0">
                          <a:solidFill>
                            <a:srgbClr val="000000"/>
                          </a:solidFill>
                          <a:effectLst/>
                          <a:latin typeface="微軟正黑體" panose="020B0604030504040204" pitchFamily="34" charset="-120"/>
                          <a:ea typeface="+mn-ea"/>
                        </a:rPr>
                        <a:t>依使用者提問檢索 內部文件，並根據找到的文件片段</a:t>
                      </a:r>
                      <a:r>
                        <a:rPr lang="en-US" altLang="zh-TW" sz="1200" b="1" i="0" u="none" strike="noStrike" dirty="0">
                          <a:solidFill>
                            <a:srgbClr val="000000"/>
                          </a:solidFill>
                          <a:effectLst/>
                          <a:latin typeface="微軟正黑體" panose="020B0604030504040204" pitchFamily="34" charset="-120"/>
                          <a:ea typeface="+mn-ea"/>
                        </a:rPr>
                        <a:t>(Chunks) </a:t>
                      </a:r>
                      <a:r>
                        <a:rPr lang="zh-TW" altLang="en-US" sz="1200" b="1" i="0" u="none" strike="noStrike" dirty="0">
                          <a:solidFill>
                            <a:srgbClr val="000000"/>
                          </a:solidFill>
                          <a:effectLst/>
                          <a:latin typeface="微軟正黑體" panose="020B0604030504040204" pitchFamily="34" charset="-120"/>
                          <a:ea typeface="+mn-ea"/>
                        </a:rPr>
                        <a:t>生成回覆</a:t>
                      </a:r>
                    </a:p>
                  </a:txBody>
                  <a:tcPr marL="144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Arial" panose="020B0604020202020204" pitchFamily="34" charset="0"/>
                        <a:buChar char="•"/>
                      </a:pPr>
                      <a:r>
                        <a:rPr lang="zh-TW" altLang="en-US" sz="1200" b="1" i="0" u="none" strike="noStrike" dirty="0">
                          <a:solidFill>
                            <a:srgbClr val="000000"/>
                          </a:solidFill>
                          <a:effectLst/>
                          <a:latin typeface="微軟正黑體" panose="020B0604030504040204" pitchFamily="34" charset="-120"/>
                          <a:ea typeface="+mn-ea"/>
                        </a:rPr>
                        <a:t>檢索 </a:t>
                      </a:r>
                      <a:r>
                        <a:rPr lang="en-US" altLang="zh-TW" sz="1200" b="1" i="0" u="none" strike="noStrike" dirty="0">
                          <a:solidFill>
                            <a:srgbClr val="000000"/>
                          </a:solidFill>
                          <a:effectLst/>
                          <a:latin typeface="微軟正黑體" panose="020B0604030504040204" pitchFamily="34" charset="-120"/>
                          <a:ea typeface="+mn-ea"/>
                        </a:rPr>
                        <a:t>: </a:t>
                      </a:r>
                      <a:r>
                        <a:rPr lang="en-US" altLang="zh-TW" sz="1200" b="0" i="0" u="none" strike="noStrike" dirty="0">
                          <a:solidFill>
                            <a:srgbClr val="000000"/>
                          </a:solidFill>
                          <a:effectLst/>
                          <a:latin typeface="微軟正黑體" panose="020B0604030504040204" pitchFamily="34" charset="-120"/>
                          <a:ea typeface="+mn-ea"/>
                        </a:rPr>
                        <a:t>99</a:t>
                      </a:r>
                    </a:p>
                    <a:p>
                      <a:pPr marL="171450" indent="-171450" algn="l" fontAlgn="ctr">
                        <a:buFont typeface="Arial" panose="020B0604020202020204" pitchFamily="34" charset="0"/>
                        <a:buChar char="•"/>
                      </a:pPr>
                      <a:r>
                        <a:rPr lang="zh-TW" altLang="en-US" sz="1200" b="1" i="0" u="none" strike="noStrike" dirty="0">
                          <a:solidFill>
                            <a:srgbClr val="000000"/>
                          </a:solidFill>
                          <a:effectLst/>
                          <a:latin typeface="微軟正黑體" panose="020B0604030504040204" pitchFamily="34" charset="-120"/>
                          <a:ea typeface="+mn-ea"/>
                        </a:rPr>
                        <a:t>回答 </a:t>
                      </a:r>
                      <a:r>
                        <a:rPr lang="en-US" altLang="zh-TW" sz="1200" b="1" i="0" u="none" strike="noStrike" dirty="0">
                          <a:solidFill>
                            <a:srgbClr val="000000"/>
                          </a:solidFill>
                          <a:effectLst/>
                          <a:latin typeface="微軟正黑體" panose="020B0604030504040204" pitchFamily="34" charset="-120"/>
                          <a:ea typeface="+mn-ea"/>
                        </a:rPr>
                        <a:t>: </a:t>
                      </a:r>
                      <a:r>
                        <a:rPr lang="en-US" altLang="zh-TW" sz="1200" b="0" i="0" u="none" strike="noStrike" dirty="0">
                          <a:solidFill>
                            <a:srgbClr val="000000"/>
                          </a:solidFill>
                          <a:effectLst/>
                          <a:latin typeface="微軟正黑體" panose="020B0604030504040204" pitchFamily="34" charset="-120"/>
                          <a:ea typeface="+mn-ea"/>
                        </a:rPr>
                        <a:t>92</a:t>
                      </a:r>
                      <a:r>
                        <a:rPr lang="zh-TW" altLang="zh-TW" sz="1200" b="1" i="0" u="none" strike="noStrike" dirty="0">
                          <a:solidFill>
                            <a:srgbClr val="000000"/>
                          </a:solidFill>
                          <a:effectLst/>
                          <a:latin typeface="微軟正黑體" panose="020B0604030504040204" pitchFamily="34" charset="-120"/>
                          <a:ea typeface="+mn-ea"/>
                        </a:rPr>
                        <a:t>　</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7750009"/>
                  </a:ext>
                </a:extLst>
              </a:tr>
              <a:tr h="540000">
                <a:tc vMerge="1">
                  <a:txBody>
                    <a:bodyPr/>
                    <a:lstStyle/>
                    <a:p>
                      <a:pPr algn="l" rtl="0" fontAlgn="ctr">
                        <a:buNone/>
                      </a:pP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buNone/>
                      </a:pPr>
                      <a:r>
                        <a:rPr lang="zh-TW" altLang="zh-TW" sz="1200" b="1" i="0" u="none" strike="noStrike" dirty="0">
                          <a:solidFill>
                            <a:srgbClr val="000000"/>
                          </a:solidFill>
                          <a:effectLst/>
                          <a:latin typeface="微軟正黑體" panose="020B0604030504040204" pitchFamily="34" charset="-120"/>
                          <a:ea typeface="+mn-ea"/>
                        </a:rPr>
                        <a:t>客服文字回覆生成</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文件*</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a:p>
                  </a:txBody>
                  <a:tcPr marL="144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defTabSz="914400" rtl="0" eaLnBrk="1" fontAlgn="ctr" latinLnBrk="0" hangingPunct="1">
                        <a:buFont typeface="Arial" panose="020B0604020202020204" pitchFamily="34" charset="0"/>
                        <a:buChar char="•"/>
                      </a:pPr>
                      <a:r>
                        <a:rPr lang="zh-TW" altLang="en-US" sz="12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檢索 </a:t>
                      </a:r>
                      <a:r>
                        <a:rPr lang="en-US" altLang="zh-TW" sz="12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a:t>
                      </a:r>
                      <a:r>
                        <a:rPr lang="en-US" altLang="zh-TW" sz="12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97</a:t>
                      </a:r>
                    </a:p>
                    <a:p>
                      <a:pPr marL="171450" indent="-171450" algn="l" defTabSz="914400" rtl="0" eaLnBrk="1" fontAlgn="ctr" latinLnBrk="0" hangingPunct="1">
                        <a:buFont typeface="Arial" panose="020B0604020202020204" pitchFamily="34" charset="0"/>
                        <a:buChar char="•"/>
                      </a:pPr>
                      <a:r>
                        <a:rPr lang="zh-TW" altLang="en-US" sz="12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回答 </a:t>
                      </a:r>
                      <a:r>
                        <a:rPr lang="en-US" altLang="zh-TW" sz="12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a:t>
                      </a:r>
                      <a:r>
                        <a:rPr lang="en-US" altLang="zh-TW" sz="12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96</a:t>
                      </a:r>
                      <a:r>
                        <a:rPr lang="zh-TW" altLang="zh-TW" sz="1200" b="1"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3219347"/>
                  </a:ext>
                </a:extLst>
              </a:tr>
              <a:tr h="556760">
                <a:tc vMerge="1">
                  <a:txBody>
                    <a:bodyPr/>
                    <a:lstStyle/>
                    <a:p>
                      <a:pPr algn="l" rtl="0" fontAlgn="ctr">
                        <a:buNone/>
                      </a:pP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buNone/>
                      </a:pP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法金徵審QA</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文件*</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a:p>
                  </a:txBody>
                  <a:tcPr marL="144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71450" indent="-171450" algn="l" fontAlgn="ctr">
                        <a:buFont typeface="Arial" panose="020B0604020202020204" pitchFamily="34" charset="0"/>
                        <a:buChar char="•"/>
                      </a:pPr>
                      <a:r>
                        <a:rPr lang="zh-TW" altLang="en-US" sz="1200" b="1" i="0" u="none" strike="noStrike">
                          <a:solidFill>
                            <a:srgbClr val="000000"/>
                          </a:solidFill>
                          <a:effectLst/>
                          <a:latin typeface="微軟正黑體" panose="020B0604030504040204" pitchFamily="34" charset="-120"/>
                          <a:ea typeface="+mn-ea"/>
                        </a:rPr>
                        <a:t>檢索</a:t>
                      </a:r>
                      <a:r>
                        <a:rPr lang="en-US" altLang="zh-TW" sz="1200" b="1" i="0" u="none" strike="noStrike">
                          <a:solidFill>
                            <a:srgbClr val="000000"/>
                          </a:solidFill>
                          <a:effectLst/>
                          <a:latin typeface="微軟正黑體" panose="020B0604030504040204" pitchFamily="34" charset="-120"/>
                          <a:ea typeface="+mn-ea"/>
                        </a:rPr>
                        <a:t>:93.8</a:t>
                      </a:r>
                    </a:p>
                    <a:p>
                      <a:pPr marL="171450" indent="-171450" algn="l" fontAlgn="ctr">
                        <a:buFont typeface="Arial" panose="020B0604020202020204" pitchFamily="34" charset="0"/>
                        <a:buChar char="•"/>
                      </a:pPr>
                      <a:r>
                        <a:rPr lang="zh-TW" altLang="en-US" sz="1200" b="1" i="0" u="none" strike="noStrike">
                          <a:solidFill>
                            <a:srgbClr val="000000"/>
                          </a:solidFill>
                          <a:effectLst/>
                          <a:latin typeface="微軟正黑體" panose="020B0604030504040204" pitchFamily="34" charset="-120"/>
                          <a:ea typeface="+mn-ea"/>
                        </a:rPr>
                        <a:t>回答</a:t>
                      </a:r>
                      <a:r>
                        <a:rPr lang="en-US" altLang="zh-TW" sz="1200" b="1" i="0" u="none" strike="noStrike">
                          <a:solidFill>
                            <a:srgbClr val="000000"/>
                          </a:solidFill>
                          <a:effectLst/>
                          <a:latin typeface="微軟正黑體" panose="020B0604030504040204" pitchFamily="34" charset="-120"/>
                          <a:ea typeface="+mn-ea"/>
                        </a:rPr>
                        <a:t>:92</a:t>
                      </a:r>
                      <a:endParaRPr lang="zh-TW" altLang="zh-TW" sz="1200" b="1" i="0" u="none" strike="noStrike">
                        <a:solidFill>
                          <a:srgbClr val="000000"/>
                        </a:solidFill>
                        <a:effectLst/>
                        <a:latin typeface="微軟正黑體" panose="020B0604030504040204" pitchFamily="34" charset="-120"/>
                        <a:ea typeface="+mn-ea"/>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7058139"/>
                  </a:ext>
                </a:extLst>
              </a:tr>
              <a:tr h="540000">
                <a:tc vMerge="1">
                  <a:txBody>
                    <a:bodyPr/>
                    <a:lstStyle/>
                    <a:p>
                      <a:pPr algn="l" rtl="0" fontAlgn="ctr">
                        <a:buNone/>
                      </a:pP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buNone/>
                      </a:pP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理專保險知識查找</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marR="0" lvl="0" indent="-171450" algn="l" defTabSz="914400" rtl="0" eaLnBrk="1" fontAlgn="ctr" latinLnBrk="0" hangingPunct="1">
                        <a:lnSpc>
                          <a:spcPct val="150000"/>
                        </a:lnSpc>
                        <a:spcBef>
                          <a:spcPts val="0"/>
                        </a:spcBef>
                        <a:spcAft>
                          <a:spcPts val="0"/>
                        </a:spcAft>
                        <a:buClrTx/>
                        <a:buSzTx/>
                        <a:buFont typeface="Arial" panose="020B0604020202020204" pitchFamily="34" charset="0"/>
                        <a:buChar char="•"/>
                        <a:tabLst/>
                        <a:defRPr/>
                      </a:pPr>
                      <a:r>
                        <a:rPr lang="en-US" altLang="zh-TW" sz="1200" b="1" i="0" u="none" strike="noStrike" dirty="0">
                          <a:solidFill>
                            <a:srgbClr val="000000"/>
                          </a:solidFill>
                          <a:effectLst/>
                          <a:latin typeface="微軟正黑體" panose="020B0604030504040204" pitchFamily="34" charset="-120"/>
                          <a:ea typeface="+mn-ea"/>
                        </a:rPr>
                        <a:t>QA pair</a:t>
                      </a:r>
                      <a:endParaRPr lang="zh-TW" altLang="zh-TW" sz="1200" b="1" i="0" u="none" strike="noStrike" dirty="0">
                        <a:solidFill>
                          <a:srgbClr val="000000"/>
                        </a:solidFill>
                        <a:effectLst/>
                        <a:latin typeface="微軟正黑體" panose="020B0604030504040204" pitchFamily="34" charset="-120"/>
                        <a:ea typeface="+mn-ea"/>
                      </a:endParaRPr>
                    </a:p>
                    <a:p>
                      <a:pPr marL="171450" indent="-171450" algn="l" fontAlgn="ctr">
                        <a:lnSpc>
                          <a:spcPct val="150000"/>
                        </a:lnSpc>
                        <a:buFont typeface="Arial" panose="020B0604020202020204" pitchFamily="34" charset="0"/>
                        <a:buChar char="•"/>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文件*</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dirty="0"/>
                    </a:p>
                  </a:txBody>
                  <a:tcPr marL="144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dirty="0"/>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fontAlgn="ctr">
                        <a:buFont typeface="Arial" panose="020B0604020202020204" pitchFamily="34" charset="0"/>
                        <a:buNone/>
                      </a:pPr>
                      <a:r>
                        <a:rPr lang="zh-TW" altLang="en-US" sz="1200" b="1" i="0" u="none" strike="noStrike">
                          <a:solidFill>
                            <a:srgbClr val="000000"/>
                          </a:solidFill>
                          <a:effectLst/>
                          <a:latin typeface="微軟正黑體" panose="020B0604030504040204" pitchFamily="34" charset="-120"/>
                          <a:ea typeface="+mn-ea"/>
                        </a:rPr>
                        <a:t>未開始</a:t>
                      </a:r>
                      <a:endParaRPr lang="en-US" altLang="zh-TW" sz="1200" b="1" i="0" u="none" strike="noStrike">
                        <a:solidFill>
                          <a:srgbClr val="000000"/>
                        </a:solidFill>
                        <a:effectLst/>
                        <a:latin typeface="微軟正黑體" panose="020B0604030504040204" pitchFamily="34" charset="-120"/>
                        <a:ea typeface="+mn-ea"/>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666927"/>
                  </a:ext>
                </a:extLst>
              </a:tr>
              <a:tr h="540000">
                <a:tc>
                  <a:txBody>
                    <a:bodyPr/>
                    <a:lstStyle/>
                    <a:p>
                      <a:pPr algn="ctr" rtl="0" fontAlgn="ctr">
                        <a:buNone/>
                      </a:pPr>
                      <a:r>
                        <a:rPr lang="zh-TW" altLang="en-US" sz="1200" b="1" i="0" u="none" strike="noStrike">
                          <a:solidFill>
                            <a:srgbClr val="000000"/>
                          </a:solidFill>
                          <a:effectLst/>
                          <a:latin typeface="微軟正黑體" panose="020B0604030504040204" pitchFamily="34" charset="-120"/>
                          <a:ea typeface="+mn-ea"/>
                        </a:rPr>
                        <a:t>規劃中</a:t>
                      </a: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buNone/>
                      </a:pP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績管文件知識檢索</a:t>
                      </a: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marR="0" lvl="0" indent="-171450" algn="l" defTabSz="914400" rtl="0" eaLnBrk="1" fontAlgn="ctr" latinLnBrk="0" hangingPunct="1">
                        <a:lnSpc>
                          <a:spcPct val="150000"/>
                        </a:lnSpc>
                        <a:spcBef>
                          <a:spcPts val="0"/>
                        </a:spcBef>
                        <a:spcAft>
                          <a:spcPts val="0"/>
                        </a:spcAft>
                        <a:buClrTx/>
                        <a:buSzTx/>
                        <a:buFont typeface="Arial" panose="020B0604020202020204" pitchFamily="34" charset="0"/>
                        <a:buChar char="•"/>
                        <a:tabLst/>
                        <a:defRPr/>
                      </a:pPr>
                      <a:r>
                        <a:rPr lang="zh-TW" altLang="en-US" sz="1200" b="1" i="0" u="none" strike="noStrike" dirty="0">
                          <a:solidFill>
                            <a:srgbClr val="000000"/>
                          </a:solidFill>
                          <a:effectLst/>
                          <a:latin typeface="微軟正黑體" panose="020B0604030504040204" pitchFamily="34" charset="-120"/>
                          <a:ea typeface="+mn-ea"/>
                        </a:rPr>
                        <a:t>文件*</a:t>
                      </a:r>
                      <a:endParaRPr lang="zh-TW" altLang="zh-TW" sz="1200" b="1" i="0" u="none" strike="noStrike" dirty="0">
                        <a:solidFill>
                          <a:srgbClr val="000000"/>
                        </a:solidFill>
                        <a:effectLst/>
                        <a:latin typeface="微軟正黑體" panose="020B0604030504040204" pitchFamily="34" charset="-120"/>
                        <a:ea typeface="+mn-ea"/>
                      </a:endParaRPr>
                    </a:p>
                    <a:p>
                      <a:pPr marL="171450" indent="-171450" algn="l" fontAlgn="ctr">
                        <a:lnSpc>
                          <a:spcPct val="150000"/>
                        </a:lnSpc>
                        <a:buFont typeface="Arial" panose="020B0604020202020204" pitchFamily="34" charset="0"/>
                        <a:buChar char="•"/>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數據</a:t>
                      </a: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144000" marR="0" marT="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1200" b="1" i="0" u="none" strike="noStrike" dirty="0">
                          <a:solidFill>
                            <a:srgbClr val="000000"/>
                          </a:solidFill>
                          <a:effectLst/>
                          <a:latin typeface="微軟正黑體" panose="020B0604030504040204" pitchFamily="34" charset="-120"/>
                          <a:ea typeface="+mn-ea"/>
                        </a:rPr>
                        <a:t>依使用者提問，整合數據查詢與過往文件並進行分析</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7200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結構化數據查找</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非結構化檢索</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回答生成</a:t>
                      </a:r>
                      <a:endParaRPr lang="zh-TW" sz="12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indent="0" algn="ctr" fontAlgn="ctr">
                        <a:buFont typeface="Arial" panose="020B0604020202020204" pitchFamily="34" charset="0"/>
                        <a:buNone/>
                      </a:pPr>
                      <a:r>
                        <a:rPr lang="zh-TW" altLang="en-US" sz="1200" b="1" i="0" u="none" strike="noStrike" dirty="0">
                          <a:solidFill>
                            <a:srgbClr val="000000"/>
                          </a:solidFill>
                          <a:effectLst/>
                          <a:latin typeface="微軟正黑體" panose="020B0604030504040204" pitchFamily="34" charset="-120"/>
                          <a:ea typeface="+mn-ea"/>
                        </a:rPr>
                        <a:t>未開始</a:t>
                      </a:r>
                      <a:endParaRPr lang="zh-TW" altLang="zh-TW" sz="1200" b="1" i="0" u="none" strike="noStrike" dirty="0">
                        <a:solidFill>
                          <a:srgbClr val="000000"/>
                        </a:solidFill>
                        <a:effectLst/>
                        <a:latin typeface="微軟正黑體" panose="020B0604030504040204" pitchFamily="34" charset="-120"/>
                        <a:ea typeface="+mn-ea"/>
                      </a:endParaRPr>
                    </a:p>
                  </a:txBody>
                  <a:tcPr marL="144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5885366"/>
                  </a:ext>
                </a:extLst>
              </a:tr>
            </a:tbl>
          </a:graphicData>
        </a:graphic>
      </p:graphicFrame>
      <p:sp>
        <p:nvSpPr>
          <p:cNvPr id="9" name="矩形 8">
            <a:extLst>
              <a:ext uri="{FF2B5EF4-FFF2-40B4-BE49-F238E27FC236}">
                <a16:creationId xmlns:a16="http://schemas.microsoft.com/office/drawing/2014/main" id="{E51108E3-E0F5-4DBC-AB05-A8E6387301B0}"/>
              </a:ext>
            </a:extLst>
          </p:cNvPr>
          <p:cNvSpPr/>
          <p:nvPr/>
        </p:nvSpPr>
        <p:spPr>
          <a:xfrm>
            <a:off x="-2997314" y="1290565"/>
            <a:ext cx="2912883" cy="31341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t>要帶到結構化</a:t>
            </a:r>
            <a:r>
              <a:rPr lang="en-US" altLang="zh-TW" dirty="0"/>
              <a:t>/</a:t>
            </a:r>
            <a:r>
              <a:rPr lang="zh-TW" altLang="en-US" dirty="0"/>
              <a:t>非結構化型知識檢索議題</a:t>
            </a:r>
            <a:endParaRPr lang="en-US" altLang="zh-TW" dirty="0"/>
          </a:p>
          <a:p>
            <a:pPr algn="ctr"/>
            <a:r>
              <a:rPr lang="zh-TW" altLang="en-US" dirty="0"/>
              <a:t>釐清法金甄審現行做法其實是文件</a:t>
            </a:r>
          </a:p>
        </p:txBody>
      </p:sp>
      <p:sp>
        <p:nvSpPr>
          <p:cNvPr id="11" name="矩形 10">
            <a:extLst>
              <a:ext uri="{FF2B5EF4-FFF2-40B4-BE49-F238E27FC236}">
                <a16:creationId xmlns:a16="http://schemas.microsoft.com/office/drawing/2014/main" id="{C1C6EB0A-E816-041C-20C3-0CA3966163AB}"/>
              </a:ext>
            </a:extLst>
          </p:cNvPr>
          <p:cNvSpPr/>
          <p:nvPr/>
        </p:nvSpPr>
        <p:spPr>
          <a:xfrm>
            <a:off x="83052" y="6564191"/>
            <a:ext cx="3392275" cy="246221"/>
          </a:xfrm>
          <a:prstGeom prst="rect">
            <a:avLst/>
          </a:prstGeom>
          <a:noFill/>
        </p:spPr>
        <p:txBody>
          <a:bodyPr wrap="none" lIns="91440" tIns="45720" rIns="91440" bIns="45720">
            <a:spAutoFit/>
          </a:bodyPr>
          <a:lstStyle/>
          <a:p>
            <a:pPr algn="ctr"/>
            <a:r>
              <a:rPr lang="zh-TW" altLang="en-US" sz="1000" cap="none" spc="0" dirty="0">
                <a:ln w="0"/>
                <a:solidFill>
                  <a:schemeClr val="tx1"/>
                </a:solidFill>
                <a:latin typeface="+mn-ea"/>
              </a:rPr>
              <a:t>註* </a:t>
            </a:r>
            <a:r>
              <a:rPr lang="en-US" altLang="zh-TW" sz="1000" cap="none" spc="0" dirty="0">
                <a:ln w="0"/>
                <a:solidFill>
                  <a:schemeClr val="tx1"/>
                </a:solidFill>
                <a:latin typeface="+mn-ea"/>
              </a:rPr>
              <a:t>:</a:t>
            </a:r>
            <a:r>
              <a:rPr lang="zh-TW" altLang="en-US" sz="1000" cap="none" spc="0" dirty="0">
                <a:ln w="0"/>
                <a:solidFill>
                  <a:schemeClr val="tx1"/>
                </a:solidFill>
                <a:latin typeface="+mn-ea"/>
              </a:rPr>
              <a:t> 文件泛指</a:t>
            </a:r>
            <a:r>
              <a:rPr lang="en-US" altLang="zh-TW" sz="1000" cap="none" spc="0" dirty="0">
                <a:ln w="0"/>
                <a:solidFill>
                  <a:schemeClr val="tx1"/>
                </a:solidFill>
                <a:latin typeface="+mn-ea"/>
              </a:rPr>
              <a:t>PDF</a:t>
            </a:r>
            <a:r>
              <a:rPr lang="zh-TW" altLang="en-US" sz="1000" cap="none" spc="0" dirty="0">
                <a:ln w="0"/>
                <a:solidFill>
                  <a:schemeClr val="tx1"/>
                </a:solidFill>
                <a:latin typeface="+mn-ea"/>
              </a:rPr>
              <a:t>、</a:t>
            </a:r>
            <a:r>
              <a:rPr lang="en-US" altLang="zh-TW" sz="1000" cap="none" spc="0" dirty="0">
                <a:ln w="0"/>
                <a:solidFill>
                  <a:schemeClr val="tx1"/>
                </a:solidFill>
                <a:latin typeface="+mn-ea"/>
              </a:rPr>
              <a:t>DOCX</a:t>
            </a:r>
            <a:r>
              <a:rPr lang="zh-TW" altLang="en-US" sz="1000" cap="none" spc="0" dirty="0">
                <a:ln w="0"/>
                <a:solidFill>
                  <a:schemeClr val="tx1"/>
                </a:solidFill>
                <a:latin typeface="+mn-ea"/>
              </a:rPr>
              <a:t>、</a:t>
            </a:r>
            <a:r>
              <a:rPr lang="en-US" altLang="zh-TW" sz="1000" cap="none" spc="0" dirty="0">
                <a:ln w="0"/>
                <a:solidFill>
                  <a:schemeClr val="tx1"/>
                </a:solidFill>
                <a:latin typeface="+mn-ea"/>
              </a:rPr>
              <a:t>PPTX</a:t>
            </a:r>
            <a:r>
              <a:rPr lang="zh-TW" altLang="en-US" sz="1000" cap="none" spc="0" dirty="0">
                <a:ln w="0"/>
                <a:solidFill>
                  <a:schemeClr val="tx1"/>
                </a:solidFill>
                <a:latin typeface="+mn-ea"/>
              </a:rPr>
              <a:t>、</a:t>
            </a:r>
            <a:r>
              <a:rPr lang="en-US" altLang="zh-TW" sz="1000" cap="none" spc="0" dirty="0">
                <a:ln w="0"/>
                <a:solidFill>
                  <a:schemeClr val="tx1"/>
                </a:solidFill>
                <a:latin typeface="+mn-ea"/>
              </a:rPr>
              <a:t>XLSX</a:t>
            </a:r>
            <a:r>
              <a:rPr lang="zh-TW" altLang="en-US" sz="1000" cap="none" spc="0" dirty="0">
                <a:ln w="0"/>
                <a:solidFill>
                  <a:schemeClr val="tx1"/>
                </a:solidFill>
                <a:latin typeface="+mn-ea"/>
              </a:rPr>
              <a:t>等類型的檔案</a:t>
            </a:r>
          </a:p>
        </p:txBody>
      </p:sp>
      <p:sp>
        <p:nvSpPr>
          <p:cNvPr id="15" name="文字方塊 14">
            <a:extLst>
              <a:ext uri="{FF2B5EF4-FFF2-40B4-BE49-F238E27FC236}">
                <a16:creationId xmlns:a16="http://schemas.microsoft.com/office/drawing/2014/main" id="{F9160BE9-D887-0956-EA93-D7137EF06366}"/>
              </a:ext>
            </a:extLst>
          </p:cNvPr>
          <p:cNvSpPr txBox="1"/>
          <p:nvPr/>
        </p:nvSpPr>
        <p:spPr>
          <a:xfrm>
            <a:off x="728855" y="704902"/>
            <a:ext cx="9619846" cy="584775"/>
          </a:xfrm>
          <a:prstGeom prst="rect">
            <a:avLst/>
          </a:prstGeom>
          <a:noFill/>
        </p:spPr>
        <p:txBody>
          <a:bodyPr wrap="square" lIns="91440" tIns="45720" rIns="91440" bIns="45720" rtlCol="0" anchor="t">
            <a:spAutoFit/>
          </a:bodyPr>
          <a:lstStyle/>
          <a:p>
            <a:r>
              <a:rPr lang="zh-TW" altLang="en-US" sz="1600" b="1" dirty="0">
                <a:ea typeface="微軟正黑體"/>
                <a:cs typeface="Arial"/>
              </a:rPr>
              <a:t>盤點現行知識檢索專案之需求情境與對應工具，發現不同情境</a:t>
            </a:r>
            <a:r>
              <a:rPr lang="en-US" altLang="zh-TW" sz="1600" b="1" dirty="0">
                <a:ea typeface="微軟正黑體"/>
                <a:cs typeface="Arial"/>
              </a:rPr>
              <a:t>/user</a:t>
            </a:r>
            <a:r>
              <a:rPr lang="zh-TW" altLang="en-US" sz="1600" b="1" dirty="0">
                <a:ea typeface="微軟正黑體"/>
                <a:cs typeface="Arial"/>
              </a:rPr>
              <a:t>需求下既有工具的</a:t>
            </a:r>
            <a:r>
              <a:rPr lang="en-US" altLang="zh-TW" sz="1600" b="1" dirty="0">
                <a:ea typeface="微軟正黑體"/>
                <a:cs typeface="Arial"/>
              </a:rPr>
              <a:t>cover</a:t>
            </a:r>
            <a:r>
              <a:rPr lang="zh-TW" altLang="en-US" sz="1600" b="1" dirty="0">
                <a:ea typeface="微軟正黑體"/>
                <a:cs typeface="Arial"/>
              </a:rPr>
              <a:t>範圍不一，故後續</a:t>
            </a:r>
            <a:r>
              <a:rPr lang="zh-TW" altLang="en-US" sz="1600" b="1" u="sng" dirty="0">
                <a:ea typeface="微軟正黑體"/>
                <a:cs typeface="Arial"/>
              </a:rPr>
              <a:t>以「非結構化</a:t>
            </a:r>
            <a:r>
              <a:rPr lang="en-US" altLang="zh-TW" sz="1600" b="1" u="sng" dirty="0">
                <a:ea typeface="微軟正黑體"/>
                <a:cs typeface="Arial"/>
              </a:rPr>
              <a:t>/</a:t>
            </a:r>
            <a:r>
              <a:rPr lang="zh-TW" altLang="en-US" sz="1600" b="1" u="sng" dirty="0">
                <a:ea typeface="微軟正黑體"/>
                <a:cs typeface="Arial"/>
              </a:rPr>
              <a:t>結構化」兩大分類作技術盤點</a:t>
            </a:r>
            <a:r>
              <a:rPr lang="zh-TW" altLang="en-US" sz="1600" b="1" dirty="0">
                <a:ea typeface="微軟正黑體"/>
                <a:cs typeface="Arial"/>
              </a:rPr>
              <a:t>，以釐清 </a:t>
            </a:r>
            <a:r>
              <a:rPr lang="en-US" altLang="zh-TW" sz="1600" b="1" dirty="0">
                <a:ea typeface="微軟正黑體"/>
                <a:cs typeface="Arial"/>
              </a:rPr>
              <a:t>:</a:t>
            </a:r>
          </a:p>
        </p:txBody>
      </p:sp>
      <p:grpSp>
        <p:nvGrpSpPr>
          <p:cNvPr id="24" name="群組 23">
            <a:extLst>
              <a:ext uri="{FF2B5EF4-FFF2-40B4-BE49-F238E27FC236}">
                <a16:creationId xmlns:a16="http://schemas.microsoft.com/office/drawing/2014/main" id="{140BD906-39B4-2002-C56A-648EEDDCFFD4}"/>
              </a:ext>
            </a:extLst>
          </p:cNvPr>
          <p:cNvGrpSpPr/>
          <p:nvPr/>
        </p:nvGrpSpPr>
        <p:grpSpPr>
          <a:xfrm>
            <a:off x="944914" y="1248180"/>
            <a:ext cx="3679521" cy="375872"/>
            <a:chOff x="740079" y="1078379"/>
            <a:chExt cx="3679521" cy="375872"/>
          </a:xfrm>
        </p:grpSpPr>
        <p:sp>
          <p:nvSpPr>
            <p:cNvPr id="25" name="Google Shape;2135;p149">
              <a:extLst>
                <a:ext uri="{FF2B5EF4-FFF2-40B4-BE49-F238E27FC236}">
                  <a16:creationId xmlns:a16="http://schemas.microsoft.com/office/drawing/2014/main" id="{4E95B131-563F-D408-A5CE-671E99A1FE4A}"/>
                </a:ext>
              </a:extLst>
            </p:cNvPr>
            <p:cNvSpPr/>
            <p:nvPr/>
          </p:nvSpPr>
          <p:spPr>
            <a:xfrm>
              <a:off x="740079" y="1147480"/>
              <a:ext cx="250644" cy="280167"/>
            </a:xfrm>
            <a:prstGeom prst="roundRect">
              <a:avLst/>
            </a:prstGeom>
            <a:solidFill>
              <a:srgbClr val="008F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altLang="zh-TW" sz="1400" b="1" i="0" u="none" strike="noStrike" cap="none" dirty="0">
                  <a:solidFill>
                    <a:schemeClr val="bg1"/>
                  </a:solidFill>
                  <a:latin typeface="微軟正黑體" panose="020B0604030504040204" pitchFamily="34" charset="-120"/>
                  <a:ea typeface="微軟正黑體" panose="020B0604030504040204" pitchFamily="34" charset="-120"/>
                  <a:cs typeface="Calibri"/>
                  <a:sym typeface="Calibri"/>
                </a:rPr>
                <a:t>1</a:t>
              </a:r>
              <a:endParaRPr sz="1400" b="1" i="0" u="none" strike="noStrike" cap="none" dirty="0">
                <a:solidFill>
                  <a:schemeClr val="bg1"/>
                </a:solidFill>
                <a:latin typeface="微軟正黑體" panose="020B0604030504040204" pitchFamily="34" charset="-120"/>
                <a:ea typeface="微軟正黑體" panose="020B0604030504040204" pitchFamily="34" charset="-120"/>
                <a:cs typeface="Calibri"/>
                <a:sym typeface="Calibri"/>
              </a:endParaRPr>
            </a:p>
          </p:txBody>
        </p:sp>
        <p:sp>
          <p:nvSpPr>
            <p:cNvPr id="26" name="文字方塊 25">
              <a:hlinkClick r:id="rId3" action="ppaction://hlinksldjump"/>
              <a:extLst>
                <a:ext uri="{FF2B5EF4-FFF2-40B4-BE49-F238E27FC236}">
                  <a16:creationId xmlns:a16="http://schemas.microsoft.com/office/drawing/2014/main" id="{E198FE4D-18BE-960A-65EE-4036F9893B49}"/>
                </a:ext>
              </a:extLst>
            </p:cNvPr>
            <p:cNvSpPr txBox="1"/>
            <p:nvPr/>
          </p:nvSpPr>
          <p:spPr>
            <a:xfrm>
              <a:off x="1004578" y="1078379"/>
              <a:ext cx="3415022" cy="375872"/>
            </a:xfrm>
            <a:prstGeom prst="rect">
              <a:avLst/>
            </a:prstGeom>
            <a:noFill/>
          </p:spPr>
          <p:txBody>
            <a:bodyPr wrap="square">
              <a:spAutoFit/>
            </a:bodyPr>
            <a:lstStyle/>
            <a:p>
              <a:pPr>
                <a:lnSpc>
                  <a:spcPct val="150000"/>
                </a:lnSpc>
              </a:pPr>
              <a:r>
                <a:rPr lang="zh-TW" altLang="en-US" sz="1400" b="1" dirty="0">
                  <a:solidFill>
                    <a:schemeClr val="tx1">
                      <a:lumMod val="75000"/>
                      <a:lumOff val="25000"/>
                    </a:schemeClr>
                  </a:solidFill>
                  <a:latin typeface="微軟正黑體" panose="020B0604030504040204" pitchFamily="34" charset="-120"/>
                  <a:ea typeface="微軟正黑體" panose="020B0604030504040204" pitchFamily="34" charset="-120"/>
                </a:rPr>
                <a:t>現有工具的服務</a:t>
              </a:r>
              <a:r>
                <a:rPr lang="en-US" altLang="zh-TW" sz="1400" b="1" dirty="0">
                  <a:solidFill>
                    <a:schemeClr val="tx1">
                      <a:lumMod val="75000"/>
                      <a:lumOff val="25000"/>
                    </a:schemeClr>
                  </a:solidFill>
                  <a:latin typeface="微軟正黑體" panose="020B0604030504040204" pitchFamily="34" charset="-120"/>
                  <a:ea typeface="微軟正黑體" panose="020B0604030504040204" pitchFamily="34" charset="-120"/>
                </a:rPr>
                <a:t>cover</a:t>
              </a:r>
              <a:r>
                <a:rPr lang="zh-TW" altLang="en-US" sz="1400" b="1" dirty="0">
                  <a:solidFill>
                    <a:schemeClr val="tx1">
                      <a:lumMod val="75000"/>
                      <a:lumOff val="25000"/>
                    </a:schemeClr>
                  </a:solidFill>
                  <a:latin typeface="微軟正黑體" panose="020B0604030504040204" pitchFamily="34" charset="-120"/>
                  <a:ea typeface="微軟正黑體" panose="020B0604030504040204" pitchFamily="34" charset="-120"/>
                </a:rPr>
                <a:t>範圍</a:t>
              </a:r>
            </a:p>
          </p:txBody>
        </p:sp>
      </p:grpSp>
      <p:grpSp>
        <p:nvGrpSpPr>
          <p:cNvPr id="27" name="群組 26">
            <a:extLst>
              <a:ext uri="{FF2B5EF4-FFF2-40B4-BE49-F238E27FC236}">
                <a16:creationId xmlns:a16="http://schemas.microsoft.com/office/drawing/2014/main" id="{A604A1F6-FE18-CECA-E11A-B6CDAA7FDFC1}"/>
              </a:ext>
            </a:extLst>
          </p:cNvPr>
          <p:cNvGrpSpPr/>
          <p:nvPr/>
        </p:nvGrpSpPr>
        <p:grpSpPr>
          <a:xfrm>
            <a:off x="4078518" y="1248180"/>
            <a:ext cx="3679521" cy="375872"/>
            <a:chOff x="740079" y="1078379"/>
            <a:chExt cx="3679521" cy="375872"/>
          </a:xfrm>
        </p:grpSpPr>
        <p:sp>
          <p:nvSpPr>
            <p:cNvPr id="28" name="Google Shape;2135;p149">
              <a:extLst>
                <a:ext uri="{FF2B5EF4-FFF2-40B4-BE49-F238E27FC236}">
                  <a16:creationId xmlns:a16="http://schemas.microsoft.com/office/drawing/2014/main" id="{70DA1DEC-5A60-149F-A012-1D2D6EAF2554}"/>
                </a:ext>
              </a:extLst>
            </p:cNvPr>
            <p:cNvSpPr/>
            <p:nvPr/>
          </p:nvSpPr>
          <p:spPr>
            <a:xfrm>
              <a:off x="740079" y="1147480"/>
              <a:ext cx="250644" cy="280167"/>
            </a:xfrm>
            <a:prstGeom prst="roundRect">
              <a:avLst/>
            </a:prstGeom>
            <a:solidFill>
              <a:srgbClr val="008F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dirty="0">
                  <a:solidFill>
                    <a:schemeClr val="bg1"/>
                  </a:solidFill>
                  <a:latin typeface="微軟正黑體" panose="020B0604030504040204" pitchFamily="34" charset="-120"/>
                  <a:ea typeface="微軟正黑體" panose="020B0604030504040204" pitchFamily="34" charset="-120"/>
                  <a:cs typeface="Calibri"/>
                  <a:sym typeface="Calibri"/>
                </a:rPr>
                <a:t>2</a:t>
              </a:r>
              <a:endParaRPr sz="1400" b="1" i="0" u="none" strike="noStrike" cap="none" dirty="0">
                <a:solidFill>
                  <a:schemeClr val="bg1"/>
                </a:solidFill>
                <a:latin typeface="微軟正黑體" panose="020B0604030504040204" pitchFamily="34" charset="-120"/>
                <a:ea typeface="微軟正黑體" panose="020B0604030504040204" pitchFamily="34" charset="-120"/>
                <a:cs typeface="Calibri"/>
                <a:sym typeface="Calibri"/>
              </a:endParaRPr>
            </a:p>
          </p:txBody>
        </p:sp>
        <p:sp>
          <p:nvSpPr>
            <p:cNvPr id="29" name="文字方塊 28">
              <a:hlinkClick r:id="rId3" action="ppaction://hlinksldjump"/>
              <a:extLst>
                <a:ext uri="{FF2B5EF4-FFF2-40B4-BE49-F238E27FC236}">
                  <a16:creationId xmlns:a16="http://schemas.microsoft.com/office/drawing/2014/main" id="{606858A2-0718-2B70-CF22-9E738FDFF186}"/>
                </a:ext>
              </a:extLst>
            </p:cNvPr>
            <p:cNvSpPr txBox="1"/>
            <p:nvPr/>
          </p:nvSpPr>
          <p:spPr>
            <a:xfrm>
              <a:off x="1004578" y="1078379"/>
              <a:ext cx="3415022" cy="375872"/>
            </a:xfrm>
            <a:prstGeom prst="rect">
              <a:avLst/>
            </a:prstGeom>
            <a:noFill/>
          </p:spPr>
          <p:txBody>
            <a:bodyPr wrap="square">
              <a:spAutoFit/>
            </a:bodyPr>
            <a:lstStyle/>
            <a:p>
              <a:pPr>
                <a:lnSpc>
                  <a:spcPct val="150000"/>
                </a:lnSpc>
              </a:pPr>
              <a:r>
                <a:rPr lang="zh-TW" altLang="en-US" sz="1400" b="1" dirty="0">
                  <a:solidFill>
                    <a:schemeClr val="tx1">
                      <a:lumMod val="75000"/>
                      <a:lumOff val="25000"/>
                    </a:schemeClr>
                  </a:solidFill>
                  <a:latin typeface="微軟正黑體" panose="020B0604030504040204" pitchFamily="34" charset="-120"/>
                  <a:ea typeface="微軟正黑體" panose="020B0604030504040204" pitchFamily="34" charset="-120"/>
                </a:rPr>
                <a:t>針對知識檢索的技術缺口</a:t>
              </a:r>
            </a:p>
          </p:txBody>
        </p:sp>
      </p:grpSp>
    </p:spTree>
    <p:extLst>
      <p:ext uri="{BB962C8B-B14F-4D97-AF65-F5344CB8AC3E}">
        <p14:creationId xmlns:p14="http://schemas.microsoft.com/office/powerpoint/2010/main" val="858619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C3D86-1622-21F7-1C18-F48F1D73D880}"/>
            </a:ext>
          </a:extLst>
        </p:cNvPr>
        <p:cNvGrpSpPr/>
        <p:nvPr/>
      </p:nvGrpSpPr>
      <p:grpSpPr>
        <a:xfrm>
          <a:off x="0" y="0"/>
          <a:ext cx="0" cy="0"/>
          <a:chOff x="0" y="0"/>
          <a:chExt cx="0" cy="0"/>
        </a:xfrm>
      </p:grpSpPr>
      <p:sp>
        <p:nvSpPr>
          <p:cNvPr id="388" name="矩形 387">
            <a:extLst>
              <a:ext uri="{FF2B5EF4-FFF2-40B4-BE49-F238E27FC236}">
                <a16:creationId xmlns:a16="http://schemas.microsoft.com/office/drawing/2014/main" id="{8080E853-39EC-4568-8EAF-DF118A8E3D67}"/>
              </a:ext>
            </a:extLst>
          </p:cNvPr>
          <p:cNvSpPr/>
          <p:nvPr/>
        </p:nvSpPr>
        <p:spPr>
          <a:xfrm>
            <a:off x="10904747" y="25693"/>
            <a:ext cx="1151465" cy="8483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5" name="Text 25">
            <a:extLst>
              <a:ext uri="{FF2B5EF4-FFF2-40B4-BE49-F238E27FC236}">
                <a16:creationId xmlns:a16="http://schemas.microsoft.com/office/drawing/2014/main" id="{457EDD7C-04FF-DD11-675B-4C548EBB5680}"/>
              </a:ext>
            </a:extLst>
          </p:cNvPr>
          <p:cNvSpPr/>
          <p:nvPr/>
        </p:nvSpPr>
        <p:spPr>
          <a:xfrm>
            <a:off x="-2646656" y="2093038"/>
            <a:ext cx="2211568" cy="1133856"/>
          </a:xfrm>
          <a:prstGeom prst="rect">
            <a:avLst/>
          </a:prstGeom>
          <a:solidFill>
            <a:srgbClr val="FFF7E8"/>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對應工作
</a:t>
            </a:r>
            <a:r>
              <a:rPr lang="en-US" sz="670" dirty="0">
                <a:solidFill>
                  <a:srgbClr val="17384D"/>
                </a:solidFill>
                <a:latin typeface="Microsoft JhengHei" pitchFamily="34" charset="0"/>
                <a:ea typeface="Microsoft JhengHei" pitchFamily="34" charset="-122"/>
                <a:cs typeface="Microsoft JhengHei" pitchFamily="34" charset="-120"/>
              </a:rPr>
              <a:t>Vibe Coding</a:t>
            </a:r>
            <a:endParaRPr lang="en-US" sz="670" dirty="0"/>
          </a:p>
        </p:txBody>
      </p:sp>
      <p:sp>
        <p:nvSpPr>
          <p:cNvPr id="437" name="Text 26">
            <a:extLst>
              <a:ext uri="{FF2B5EF4-FFF2-40B4-BE49-F238E27FC236}">
                <a16:creationId xmlns:a16="http://schemas.microsoft.com/office/drawing/2014/main" id="{6CE051DE-F6DB-6325-3755-678154C2C862}"/>
              </a:ext>
            </a:extLst>
          </p:cNvPr>
          <p:cNvSpPr/>
          <p:nvPr/>
        </p:nvSpPr>
        <p:spPr>
          <a:xfrm>
            <a:off x="-2646656" y="3290902"/>
            <a:ext cx="2211568" cy="1133856"/>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90" b="1" dirty="0">
                <a:solidFill>
                  <a:srgbClr val="07324D"/>
                </a:solidFill>
                <a:latin typeface="Microsoft JhengHei" pitchFamily="34" charset="0"/>
                <a:ea typeface="Microsoft JhengHei" pitchFamily="34" charset="-122"/>
                <a:cs typeface="Microsoft JhengHei" pitchFamily="34" charset="-120"/>
              </a:rPr>
              <a:t>Scope
</a:t>
            </a:r>
            <a:r>
              <a:rPr lang="en-US" sz="690" dirty="0">
                <a:solidFill>
                  <a:srgbClr val="17384D"/>
                </a:solidFill>
                <a:latin typeface="Microsoft JhengHei" pitchFamily="34" charset="0"/>
                <a:ea typeface="Microsoft JhengHei" pitchFamily="34" charset="-122"/>
                <a:cs typeface="Microsoft JhengHei" pitchFamily="34" charset="-120"/>
              </a:rPr>
              <a:t>建立業務、前緣與規劃單位由 Prototype / POC 到工程審查與正式上線的導入流程。</a:t>
            </a:r>
            <a:endParaRPr lang="en-US" sz="690" dirty="0"/>
          </a:p>
        </p:txBody>
      </p:sp>
      <p:sp>
        <p:nvSpPr>
          <p:cNvPr id="439" name="Text 27">
            <a:extLst>
              <a:ext uri="{FF2B5EF4-FFF2-40B4-BE49-F238E27FC236}">
                <a16:creationId xmlns:a16="http://schemas.microsoft.com/office/drawing/2014/main" id="{D5A8AC9C-062B-AF1B-4B01-350338A19462}"/>
              </a:ext>
            </a:extLst>
          </p:cNvPr>
          <p:cNvSpPr/>
          <p:nvPr/>
        </p:nvSpPr>
        <p:spPr>
          <a:xfrm>
            <a:off x="-2646656" y="4488766"/>
            <a:ext cx="2211568" cy="1713568"/>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預計產出
</a:t>
            </a:r>
            <a:r>
              <a:rPr lang="en-US" sz="670" dirty="0">
                <a:solidFill>
                  <a:srgbClr val="17384D"/>
                </a:solidFill>
                <a:latin typeface="Microsoft JhengHei" pitchFamily="34" charset="0"/>
                <a:ea typeface="Microsoft JhengHei" pitchFamily="34" charset="-122"/>
                <a:cs typeface="Microsoft JhengHei" pitchFamily="34" charset="-120"/>
              </a:rPr>
              <a:t>• Vibe Coding 整體流程</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Prototype / POC 作業指引</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工程 Review 檢核表</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上線作業規範</a:t>
            </a:r>
            <a:endParaRPr lang="en-US" sz="670" dirty="0"/>
          </a:p>
        </p:txBody>
      </p:sp>
      <p:sp>
        <p:nvSpPr>
          <p:cNvPr id="5" name="文字版面配置區 1">
            <a:extLst>
              <a:ext uri="{FF2B5EF4-FFF2-40B4-BE49-F238E27FC236}">
                <a16:creationId xmlns:a16="http://schemas.microsoft.com/office/drawing/2014/main" id="{8C23C886-BF10-0A37-192C-7B111066D135}"/>
              </a:ext>
            </a:extLst>
          </p:cNvPr>
          <p:cNvSpPr>
            <a:spLocks noGrp="1"/>
          </p:cNvSpPr>
          <p:nvPr>
            <p:ph type="body" sz="quarter" idx="21"/>
          </p:nvPr>
        </p:nvSpPr>
        <p:spPr>
          <a:xfrm>
            <a:off x="944914" y="-4246"/>
            <a:ext cx="8221501" cy="659975"/>
          </a:xfrm>
        </p:spPr>
        <p:txBody>
          <a:bodyPr/>
          <a:lstStyle/>
          <a:p>
            <a:r>
              <a:rPr lang="en-US" altLang="zh-TW" sz="2400" dirty="0"/>
              <a:t>【</a:t>
            </a:r>
            <a:r>
              <a:rPr lang="zh-TW" altLang="en-US" sz="2400" dirty="0"/>
              <a:t>非結構化</a:t>
            </a:r>
            <a:r>
              <a:rPr lang="en-US" altLang="zh-TW" sz="2400" dirty="0"/>
              <a:t>】</a:t>
            </a:r>
            <a:r>
              <a:rPr lang="zh-TW" altLang="en-US" sz="2400" dirty="0"/>
              <a:t>知識檢索技術梳理 </a:t>
            </a:r>
            <a:r>
              <a:rPr lang="en-US" altLang="zh-TW" sz="2400" dirty="0"/>
              <a:t>(</a:t>
            </a:r>
            <a:r>
              <a:rPr lang="zh-TW" altLang="en-US" sz="2400" dirty="0"/>
              <a:t>純文本檢索</a:t>
            </a:r>
            <a:r>
              <a:rPr lang="en-US" altLang="zh-TW" sz="2400" dirty="0"/>
              <a:t>)</a:t>
            </a:r>
            <a:endParaRPr lang="zh-TW" altLang="en-US" sz="2400" dirty="0"/>
          </a:p>
        </p:txBody>
      </p:sp>
      <p:sp>
        <p:nvSpPr>
          <p:cNvPr id="7" name="矩形 6">
            <a:extLst>
              <a:ext uri="{FF2B5EF4-FFF2-40B4-BE49-F238E27FC236}">
                <a16:creationId xmlns:a16="http://schemas.microsoft.com/office/drawing/2014/main" id="{A17A174F-1C3F-0B25-A7BE-9515FE65BE79}"/>
              </a:ext>
            </a:extLst>
          </p:cNvPr>
          <p:cNvSpPr/>
          <p:nvPr/>
        </p:nvSpPr>
        <p:spPr>
          <a:xfrm rot="10800000" flipV="1">
            <a:off x="944914" y="654977"/>
            <a:ext cx="10865004" cy="53730"/>
          </a:xfrm>
          <a:prstGeom prst="rect">
            <a:avLst/>
          </a:prstGeom>
          <a:gradFill>
            <a:gsLst>
              <a:gs pos="11000">
                <a:srgbClr val="00F9D3">
                  <a:alpha val="0"/>
                </a:srgbClr>
              </a:gs>
              <a:gs pos="39000">
                <a:srgbClr val="00F9D3"/>
              </a:gs>
              <a:gs pos="70000">
                <a:srgbClr val="00C3CD"/>
              </a:gs>
              <a:gs pos="100000">
                <a:srgbClr val="008FC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矩形 1">
            <a:extLst>
              <a:ext uri="{FF2B5EF4-FFF2-40B4-BE49-F238E27FC236}">
                <a16:creationId xmlns:a16="http://schemas.microsoft.com/office/drawing/2014/main" id="{C41070E1-96FF-85B4-4748-7AD43C06F0AF}"/>
              </a:ext>
            </a:extLst>
          </p:cNvPr>
          <p:cNvSpPr/>
          <p:nvPr/>
        </p:nvSpPr>
        <p:spPr>
          <a:xfrm>
            <a:off x="-2308475" y="3934085"/>
            <a:ext cx="1183341" cy="1411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dirty="0"/>
              <a:t>Query preprocessing</a:t>
            </a:r>
            <a:endParaRPr lang="zh-TW" altLang="en-US" sz="1200" dirty="0"/>
          </a:p>
        </p:txBody>
      </p:sp>
      <p:graphicFrame>
        <p:nvGraphicFramePr>
          <p:cNvPr id="8" name="表格 7">
            <a:extLst>
              <a:ext uri="{FF2B5EF4-FFF2-40B4-BE49-F238E27FC236}">
                <a16:creationId xmlns:a16="http://schemas.microsoft.com/office/drawing/2014/main" id="{D2ED0BEC-B53A-FD2E-7D52-BF974411A0F7}"/>
              </a:ext>
            </a:extLst>
          </p:cNvPr>
          <p:cNvGraphicFramePr>
            <a:graphicFrameLocks noGrp="1"/>
          </p:cNvGraphicFramePr>
          <p:nvPr>
            <p:extLst>
              <p:ext uri="{D42A27DB-BD31-4B8C-83A1-F6EECF244321}">
                <p14:modId xmlns:p14="http://schemas.microsoft.com/office/powerpoint/2010/main" val="2829440112"/>
              </p:ext>
            </p:extLst>
          </p:nvPr>
        </p:nvGraphicFramePr>
        <p:xfrm>
          <a:off x="849633" y="833353"/>
          <a:ext cx="9977667" cy="5792706"/>
        </p:xfrm>
        <a:graphic>
          <a:graphicData uri="http://schemas.openxmlformats.org/drawingml/2006/table">
            <a:tbl>
              <a:tblPr/>
              <a:tblGrid>
                <a:gridCol w="320343">
                  <a:extLst>
                    <a:ext uri="{9D8B030D-6E8A-4147-A177-3AD203B41FA5}">
                      <a16:colId xmlns:a16="http://schemas.microsoft.com/office/drawing/2014/main" val="3342468780"/>
                    </a:ext>
                  </a:extLst>
                </a:gridCol>
                <a:gridCol w="684548">
                  <a:extLst>
                    <a:ext uri="{9D8B030D-6E8A-4147-A177-3AD203B41FA5}">
                      <a16:colId xmlns:a16="http://schemas.microsoft.com/office/drawing/2014/main" val="1194628151"/>
                    </a:ext>
                  </a:extLst>
                </a:gridCol>
                <a:gridCol w="3234600">
                  <a:extLst>
                    <a:ext uri="{9D8B030D-6E8A-4147-A177-3AD203B41FA5}">
                      <a16:colId xmlns:a16="http://schemas.microsoft.com/office/drawing/2014/main" val="574720663"/>
                    </a:ext>
                  </a:extLst>
                </a:gridCol>
                <a:gridCol w="2032450">
                  <a:extLst>
                    <a:ext uri="{9D8B030D-6E8A-4147-A177-3AD203B41FA5}">
                      <a16:colId xmlns:a16="http://schemas.microsoft.com/office/drawing/2014/main" val="1616048927"/>
                    </a:ext>
                  </a:extLst>
                </a:gridCol>
                <a:gridCol w="1852863">
                  <a:extLst>
                    <a:ext uri="{9D8B030D-6E8A-4147-A177-3AD203B41FA5}">
                      <a16:colId xmlns:a16="http://schemas.microsoft.com/office/drawing/2014/main" val="1992615554"/>
                    </a:ext>
                  </a:extLst>
                </a:gridCol>
                <a:gridCol w="1852863">
                  <a:extLst>
                    <a:ext uri="{9D8B030D-6E8A-4147-A177-3AD203B41FA5}">
                      <a16:colId xmlns:a16="http://schemas.microsoft.com/office/drawing/2014/main" val="2449997816"/>
                    </a:ext>
                  </a:extLst>
                </a:gridCol>
              </a:tblGrid>
              <a:tr h="410706">
                <a:tc gridSpan="3">
                  <a:txBody>
                    <a:bodyPr/>
                    <a:lstStyle/>
                    <a:p>
                      <a:pPr algn="ctr"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現有工具/技術</a:t>
                      </a:r>
                      <a:br>
                        <a:rPr lang="zh-TW" sz="1200" b="1" i="0" u="none" strike="noStrike">
                          <a:solidFill>
                            <a:srgbClr val="000000"/>
                          </a:solidFill>
                          <a:effectLst/>
                          <a:latin typeface="微軟正黑體" panose="020B0604030504040204" pitchFamily="34" charset="-120"/>
                          <a:ea typeface="微軟正黑體" panose="020B0604030504040204" pitchFamily="34" charset="-120"/>
                        </a:rPr>
                      </a:br>
                      <a:r>
                        <a:rPr lang="zh-TW" sz="1000" b="1" i="0" u="none" strike="noStrike">
                          <a:solidFill>
                            <a:srgbClr val="000000"/>
                          </a:solidFill>
                          <a:effectLst/>
                          <a:latin typeface="微軟正黑體" panose="020B0604030504040204" pitchFamily="34" charset="-120"/>
                          <a:ea typeface="微軟正黑體" panose="020B0604030504040204" pitchFamily="34" charset="-120"/>
                        </a:rPr>
                        <a:t>(代表專案)</a:t>
                      </a:r>
                      <a:endParaRPr lang="zh-TW" sz="105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algn="ctr" fontAlgn="ctr">
                        <a:buNone/>
                      </a:pPr>
                      <a:r>
                        <a:rPr lang="en-US" sz="1200" b="1" i="0" u="none" strike="noStrike" dirty="0">
                          <a:solidFill>
                            <a:srgbClr val="000000"/>
                          </a:solidFill>
                          <a:effectLst/>
                          <a:latin typeface="微軟正黑體" panose="020B0604030504040204" pitchFamily="34" charset="-120"/>
                          <a:ea typeface="微軟正黑體" panose="020B0604030504040204" pitchFamily="34" charset="-120"/>
                        </a:rPr>
                        <a:t>AI Search + AOAI</a:t>
                      </a:r>
                      <a:br>
                        <a:rPr lang="zh-TW" sz="1200" b="1" i="0" u="none" strike="noStrike" dirty="0">
                          <a:solidFill>
                            <a:srgbClr val="000000"/>
                          </a:solidFill>
                          <a:effectLst/>
                          <a:latin typeface="微軟正黑體" panose="020B0604030504040204" pitchFamily="34" charset="-120"/>
                          <a:ea typeface="微軟正黑體" panose="020B0604030504040204" pitchFamily="34" charset="-120"/>
                        </a:rPr>
                      </a:br>
                      <a:r>
                        <a:rPr lang="en-US" sz="1050" b="1" i="0" u="none" strike="noStrike" dirty="0">
                          <a:solidFill>
                            <a:srgbClr val="000000"/>
                          </a:solidFill>
                          <a:effectLst/>
                          <a:latin typeface="微軟正黑體" panose="020B0604030504040204" pitchFamily="34" charset="-120"/>
                          <a:ea typeface="微軟正黑體" panose="020B0604030504040204" pitchFamily="34" charset="-120"/>
                        </a:rPr>
                        <a:t>(</a:t>
                      </a:r>
                      <a:r>
                        <a:rPr lang="zh-TW" sz="1050" b="1" i="0" u="none" strike="noStrike" dirty="0">
                          <a:solidFill>
                            <a:srgbClr val="000000"/>
                          </a:solidFill>
                          <a:effectLst/>
                          <a:latin typeface="微軟正黑體" panose="020B0604030504040204" pitchFamily="34" charset="-120"/>
                          <a:ea typeface="微軟正黑體" panose="020B0604030504040204" pitchFamily="34" charset="-120"/>
                        </a:rPr>
                        <a:t>富邦手</a:t>
                      </a:r>
                      <a:r>
                        <a:rPr lang="en-US" sz="1050" b="1" i="0" u="none" strike="noStrike" dirty="0">
                          <a:solidFill>
                            <a:srgbClr val="000000"/>
                          </a:solidFill>
                          <a:effectLst/>
                          <a:latin typeface="微軟正黑體" panose="020B0604030504040204" pitchFamily="34" charset="-120"/>
                          <a:ea typeface="微軟正黑體" panose="020B0604030504040204" pitchFamily="34" charset="-120"/>
                        </a:rPr>
                        <a:t>-FAQ)</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1" i="0" u="none" strike="noStrike" dirty="0">
                          <a:solidFill>
                            <a:srgbClr val="000000"/>
                          </a:solidFill>
                          <a:effectLst/>
                          <a:latin typeface="微軟正黑體" panose="020B0604030504040204" pitchFamily="34" charset="-120"/>
                          <a:ea typeface="微軟正黑體" panose="020B0604030504040204" pitchFamily="34" charset="-120"/>
                        </a:rPr>
                        <a:t>IBM</a:t>
                      </a:r>
                      <a:br>
                        <a:rPr lang="zh-TW" sz="1200" b="1" i="0" u="none" strike="noStrike" dirty="0">
                          <a:solidFill>
                            <a:srgbClr val="000000"/>
                          </a:solidFill>
                          <a:effectLst/>
                          <a:latin typeface="微軟正黑體" panose="020B0604030504040204" pitchFamily="34" charset="-120"/>
                          <a:ea typeface="微軟正黑體" panose="020B0604030504040204" pitchFamily="34" charset="-120"/>
                        </a:rPr>
                      </a:br>
                      <a:r>
                        <a:rPr lang="en-US" sz="1050" b="1" i="0" u="none" strike="noStrike" dirty="0">
                          <a:solidFill>
                            <a:srgbClr val="000000"/>
                          </a:solidFill>
                          <a:effectLst/>
                          <a:latin typeface="微軟正黑體" panose="020B0604030504040204" pitchFamily="34" charset="-120"/>
                          <a:ea typeface="微軟正黑體" panose="020B0604030504040204" pitchFamily="34" charset="-120"/>
                        </a:rPr>
                        <a:t>(</a:t>
                      </a:r>
                      <a:r>
                        <a:rPr lang="zh-TW" sz="1050" b="1" i="0" u="none" strike="noStrike" dirty="0">
                          <a:solidFill>
                            <a:srgbClr val="000000"/>
                          </a:solidFill>
                          <a:effectLst/>
                          <a:latin typeface="微軟正黑體" panose="020B0604030504040204" pitchFamily="34" charset="-120"/>
                          <a:ea typeface="微軟正黑體" panose="020B0604030504040204" pitchFamily="34" charset="-120"/>
                        </a:rPr>
                        <a:t>客服邦尼</a:t>
                      </a:r>
                      <a:r>
                        <a:rPr lang="en-US" sz="105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200" b="1" i="0" u="none" strike="noStrike" dirty="0">
                          <a:solidFill>
                            <a:srgbClr val="000000"/>
                          </a:solidFill>
                          <a:effectLst/>
                          <a:latin typeface="微軟正黑體" panose="020B0604030504040204" pitchFamily="34" charset="-120"/>
                          <a:ea typeface="微軟正黑體" panose="020B0604030504040204" pitchFamily="34" charset="-120"/>
                        </a:rPr>
                        <a:t>KM2.0</a:t>
                      </a:r>
                      <a:endParaRPr lang="en-US" sz="105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7330817"/>
                  </a:ext>
                </a:extLst>
              </a:tr>
              <a:tr h="360000">
                <a:tc rowSpan="11">
                  <a:txBody>
                    <a:bodyPr/>
                    <a:lstStyle/>
                    <a:p>
                      <a:pPr algn="ctr" fontAlgn="ctr">
                        <a:buNone/>
                      </a:pP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非結構化知識檢索流程</a:t>
                      </a: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資料</a:t>
                      </a:r>
                      <a:endParaRPr lang="en-US" altLang="zh-TW" sz="1200" b="1"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處理層 </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Parsing：</a:t>
                      </a:r>
                      <a:r>
                        <a:rPr lang="zh-TW" sz="1100" b="0" i="0" u="none" strike="noStrike">
                          <a:solidFill>
                            <a:srgbClr val="000000"/>
                          </a:solidFill>
                          <a:effectLst/>
                          <a:latin typeface="微軟正黑體" panose="020B0604030504040204" pitchFamily="34" charset="-120"/>
                          <a:ea typeface="微軟正黑體" panose="020B0604030504040204" pitchFamily="34" charset="-120"/>
                        </a:rPr>
                        <a:t>提取文件內容與結構資訊</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rowSpan="5">
                  <a:txBody>
                    <a:bodyPr/>
                    <a:lstStyle/>
                    <a:p>
                      <a:pPr algn="ctr" fontAlgn="ctr">
                        <a:buNone/>
                      </a:pPr>
                      <a:endParaRPr 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fontAlgn="ctr">
                        <a:buNone/>
                      </a:pPr>
                      <a:endParaRPr 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9126045"/>
                  </a:ext>
                </a:extLst>
              </a:tr>
              <a:tr h="360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Chunking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a:t>
                      </a:r>
                      <a:r>
                        <a:rPr lang="zh-TW" sz="1100" b="0" i="0" u="none" strike="noStrike">
                          <a:solidFill>
                            <a:srgbClr val="000000"/>
                          </a:solidFill>
                          <a:effectLst/>
                          <a:latin typeface="微軟正黑體" panose="020B0604030504040204" pitchFamily="34" charset="-120"/>
                          <a:ea typeface="微軟正黑體" panose="020B0604030504040204" pitchFamily="34" charset="-120"/>
                        </a:rPr>
                        <a:t> 將文句切段</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5707957"/>
                  </a:ext>
                </a:extLst>
              </a:tr>
              <a:tr h="360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Metadata：</a:t>
                      </a:r>
                      <a:r>
                        <a:rPr lang="zh-TW" sz="1100" b="0" i="0" u="none" strike="noStrike">
                          <a:solidFill>
                            <a:srgbClr val="000000"/>
                          </a:solidFill>
                          <a:effectLst/>
                          <a:latin typeface="微軟正黑體" panose="020B0604030504040204" pitchFamily="34" charset="-120"/>
                          <a:ea typeface="微軟正黑體" panose="020B0604030504040204" pitchFamily="34" charset="-120"/>
                        </a:rPr>
                        <a:t>依資料屬性為chunks貼標</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2246905"/>
                  </a:ext>
                </a:extLst>
              </a:tr>
              <a:tr h="360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Embedding :</a:t>
                      </a:r>
                      <a:r>
                        <a:rPr lang="zh-TW" sz="1100" b="0" i="0" u="none" strike="noStrike">
                          <a:solidFill>
                            <a:srgbClr val="000000"/>
                          </a:solidFill>
                          <a:effectLst/>
                          <a:latin typeface="微軟正黑體" panose="020B0604030504040204" pitchFamily="34" charset="-120"/>
                          <a:ea typeface="微軟正黑體" panose="020B0604030504040204" pitchFamily="34" charset="-120"/>
                        </a:rPr>
                        <a:t> 建立向量索引</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6566140"/>
                  </a:ext>
                </a:extLst>
              </a:tr>
              <a:tr h="360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Indexing</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zh-TW" sz="1200" b="1"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100" b="0" i="0" u="none" strike="noStrike">
                          <a:solidFill>
                            <a:srgbClr val="000000"/>
                          </a:solidFill>
                          <a:effectLst/>
                          <a:latin typeface="微軟正黑體" panose="020B0604030504040204" pitchFamily="34" charset="-120"/>
                          <a:ea typeface="微軟正黑體" panose="020B0604030504040204" pitchFamily="34" charset="-120"/>
                        </a:rPr>
                        <a:t> </a:t>
                      </a:r>
                      <a:r>
                        <a:rPr lang="zh-TW" sz="1100" b="0" i="0" u="none" strike="noStrike">
                          <a:solidFill>
                            <a:srgbClr val="000000"/>
                          </a:solidFill>
                          <a:effectLst/>
                          <a:latin typeface="微軟正黑體" panose="020B0604030504040204" pitchFamily="34" charset="-120"/>
                          <a:ea typeface="微軟正黑體" panose="020B0604030504040204" pitchFamily="34" charset="-120"/>
                        </a:rPr>
                        <a:t>將索引、Metadata存入向量資料庫</a:t>
                      </a: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9698297"/>
                  </a:ext>
                </a:extLst>
              </a:tr>
              <a:tr h="396000">
                <a:tc vMerge="1">
                  <a:txBody>
                    <a:bodyPr/>
                    <a:lstStyle/>
                    <a:p>
                      <a:endParaRPr lang="zh-TW" altLang="en-US"/>
                    </a:p>
                  </a:txBody>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200" b="1" i="0" u="none" strike="noStrike">
                          <a:solidFill>
                            <a:srgbClr val="000000"/>
                          </a:solidFill>
                          <a:effectLst/>
                          <a:latin typeface="微軟正黑體" panose="020B0604030504040204" pitchFamily="34" charset="-120"/>
                          <a:ea typeface="+mn-ea"/>
                        </a:rPr>
                        <a:t>理解</a:t>
                      </a:r>
                      <a:r>
                        <a:rPr lang="zh-TW" altLang="zh-TW" sz="1200" b="1" i="0" u="none" strike="noStrike">
                          <a:solidFill>
                            <a:srgbClr val="000000"/>
                          </a:solidFill>
                          <a:effectLst/>
                          <a:latin typeface="微軟正黑體" panose="020B0604030504040204" pitchFamily="34" charset="-120"/>
                          <a:ea typeface="+mn-ea"/>
                        </a:rPr>
                        <a:t>層</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4EF"/>
                    </a:solidFill>
                  </a:tcPr>
                </a:tc>
                <a:tc>
                  <a:txBody>
                    <a:bodyPr/>
                    <a:lstStyle/>
                    <a:p>
                      <a:pPr algn="l" fontAlgn="ctr">
                        <a:buNone/>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意圖理解 </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 </a:t>
                      </a:r>
                      <a:r>
                        <a:rPr lang="zh-TW" altLang="en-US" sz="1100" b="0" i="0" u="none" strike="noStrike" dirty="0">
                          <a:solidFill>
                            <a:srgbClr val="000000"/>
                          </a:solidFill>
                          <a:effectLst/>
                          <a:latin typeface="微軟正黑體" panose="020B0604030504040204" pitchFamily="34" charset="-120"/>
                          <a:ea typeface="+mn-ea"/>
                        </a:rPr>
                        <a:t>理解使用者問題的意圖、類型</a:t>
                      </a:r>
                      <a:endParaRPr 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4EF"/>
                    </a:solidFill>
                  </a:tcPr>
                </a:tc>
                <a:tc rowSpan="2">
                  <a:txBody>
                    <a:bodyPr/>
                    <a:lstStyle/>
                    <a:p>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endParaRPr lang="zh-TW" altLang="en-US" sz="1800" kern="1200">
                        <a:solidFill>
                          <a:schemeClr val="tx1"/>
                        </a:solidFill>
                        <a:latin typeface="+mn-lt"/>
                        <a:ea typeface="+mn-ea"/>
                        <a:cs typeface="+mn-cs"/>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endParaRPr lang="zh-TW" altLang="en-US" sz="1800" kern="1200">
                        <a:solidFill>
                          <a:schemeClr val="tx1"/>
                        </a:solidFill>
                        <a:latin typeface="+mn-lt"/>
                        <a:ea typeface="+mn-ea"/>
                        <a:cs typeface="+mn-cs"/>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4142255"/>
                  </a:ext>
                </a:extLst>
              </a:tr>
              <a:tr h="396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zh-TW" sz="1200" b="1" i="0" u="none" strike="noStrike">
                        <a:solidFill>
                          <a:srgbClr val="000000"/>
                        </a:solidFill>
                        <a:effectLst/>
                        <a:latin typeface="微軟正黑體" panose="020B0604030504040204" pitchFamily="34" charset="-120"/>
                        <a:ea typeface="+mn-ea"/>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4E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200" b="1" i="0" u="none" strike="noStrike" dirty="0">
                          <a:solidFill>
                            <a:srgbClr val="000000"/>
                          </a:solidFill>
                          <a:effectLst/>
                          <a:latin typeface="微軟正黑體" panose="020B0604030504040204" pitchFamily="34" charset="-120"/>
                          <a:ea typeface="+mn-ea"/>
                        </a:rPr>
                        <a:t>問題改寫</a:t>
                      </a:r>
                      <a:r>
                        <a:rPr lang="zh-TW" altLang="zh-TW" sz="1200" b="1" i="0" u="none" strike="noStrike" dirty="0">
                          <a:solidFill>
                            <a:srgbClr val="000000"/>
                          </a:solidFill>
                          <a:effectLst/>
                          <a:latin typeface="微軟正黑體" panose="020B0604030504040204" pitchFamily="34" charset="-120"/>
                          <a:ea typeface="+mn-ea"/>
                        </a:rPr>
                        <a:t>:</a:t>
                      </a:r>
                      <a:r>
                        <a:rPr lang="zh-TW" altLang="en-US" sz="1100" b="0" i="0" u="none" strike="noStrike" dirty="0">
                          <a:solidFill>
                            <a:srgbClr val="000000"/>
                          </a:solidFill>
                          <a:effectLst/>
                          <a:latin typeface="微軟正黑體" panose="020B0604030504040204" pitchFamily="34" charset="-120"/>
                          <a:ea typeface="+mn-ea"/>
                        </a:rPr>
                        <a:t> 根據意圖與上下文優化提問</a:t>
                      </a:r>
                      <a:endParaRPr lang="zh-TW" altLang="zh-TW" sz="1200" b="1" i="0" u="none" strike="noStrike" dirty="0">
                        <a:solidFill>
                          <a:srgbClr val="000000"/>
                        </a:solidFill>
                        <a:effectLst/>
                        <a:latin typeface="微軟正黑體" panose="020B0604030504040204" pitchFamily="34" charset="-120"/>
                        <a:ea typeface="+mn-ea"/>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4EF"/>
                    </a:solidFill>
                  </a:tcPr>
                </a:tc>
                <a:tc vMerge="1">
                  <a:txBody>
                    <a:bodyPr/>
                    <a:lstStyle/>
                    <a:p>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3004281"/>
                  </a:ext>
                </a:extLst>
              </a:tr>
              <a:tr h="558000">
                <a:tc vMerge="1">
                  <a:txBody>
                    <a:bodyPr/>
                    <a:lstStyle/>
                    <a:p>
                      <a:endParaRPr lang="zh-TW" altLang="en-US"/>
                    </a:p>
                  </a:txBody>
                  <a:tcPr>
                    <a:lnT w="12700" cap="flat" cmpd="sng" algn="ctr">
                      <a:solidFill>
                        <a:schemeClr val="tx1"/>
                      </a:solidFill>
                      <a:prstDash val="solid"/>
                      <a:round/>
                      <a:headEnd type="none" w="med" len="med"/>
                      <a:tailEnd type="none" w="med" len="med"/>
                    </a:lnT>
                  </a:tcPr>
                </a:tc>
                <a:tc row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zh-TW" sz="1200" b="1" i="0" u="none" strike="noStrike">
                          <a:solidFill>
                            <a:srgbClr val="000000"/>
                          </a:solidFill>
                          <a:effectLst/>
                          <a:latin typeface="微軟正黑體" panose="020B0604030504040204" pitchFamily="34" charset="-120"/>
                          <a:ea typeface="+mn-ea"/>
                        </a:rPr>
                        <a:t>檢索層</a:t>
                      </a: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zh-TW" sz="1200" b="1" i="0" u="none" strike="noStrike">
                          <a:solidFill>
                            <a:srgbClr val="000000"/>
                          </a:solidFill>
                          <a:effectLst/>
                          <a:latin typeface="微軟正黑體" panose="020B0604030504040204" pitchFamily="34" charset="-120"/>
                          <a:ea typeface="微軟正黑體" panose="020B0604030504040204" pitchFamily="34" charset="-120"/>
                        </a:rPr>
                        <a:t>Retrieval</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 </a:t>
                      </a:r>
                      <a:r>
                        <a:rPr lang="zh-TW" sz="1200" b="1"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1100" b="0" i="0" u="none" strike="noStrike">
                          <a:solidFill>
                            <a:srgbClr val="000000"/>
                          </a:solidFill>
                          <a:effectLst/>
                          <a:latin typeface="微軟正黑體" panose="020B0604030504040204" pitchFamily="34" charset="-120"/>
                          <a:ea typeface="微軟正黑體" panose="020B0604030504040204" pitchFamily="34" charset="-120"/>
                        </a:rPr>
                        <a:t> </a:t>
                      </a:r>
                      <a:r>
                        <a:rPr lang="en-US" altLang="zh-TW" sz="1100" b="1" i="0" u="none" strike="noStrike">
                          <a:solidFill>
                            <a:srgbClr val="000000"/>
                          </a:solidFill>
                          <a:effectLst/>
                          <a:latin typeface="微軟正黑體" panose="020B0604030504040204" pitchFamily="34" charset="-120"/>
                          <a:ea typeface="微軟正黑體" panose="020B0604030504040204" pitchFamily="34" charset="-120"/>
                        </a:rPr>
                        <a:t>H</a:t>
                      </a:r>
                      <a:r>
                        <a:rPr lang="zh-TW" sz="1100" b="1" i="0" u="none" strike="noStrike">
                          <a:solidFill>
                            <a:srgbClr val="000000"/>
                          </a:solidFill>
                          <a:effectLst/>
                          <a:latin typeface="微軟正黑體" panose="020B0604030504040204" pitchFamily="34" charset="-120"/>
                          <a:ea typeface="微軟正黑體" panose="020B0604030504040204" pitchFamily="34" charset="-120"/>
                        </a:rPr>
                        <a:t>ybrid</a:t>
                      </a:r>
                      <a:r>
                        <a:rPr lang="en-US" altLang="zh-TW" sz="1100" b="1" i="0" u="none" strike="noStrike">
                          <a:solidFill>
                            <a:srgbClr val="000000"/>
                          </a:solidFill>
                          <a:effectLst/>
                          <a:latin typeface="微軟正黑體" panose="020B0604030504040204" pitchFamily="34" charset="-120"/>
                          <a:ea typeface="微軟正黑體" panose="020B0604030504040204" pitchFamily="34" charset="-120"/>
                        </a:rPr>
                        <a:t> search</a:t>
                      </a:r>
                      <a:r>
                        <a:rPr lang="zh-TW" altLang="en-US" sz="1100" b="1" i="0" u="none" strike="noStrike">
                          <a:solidFill>
                            <a:srgbClr val="000000"/>
                          </a:solidFill>
                          <a:effectLst/>
                          <a:latin typeface="微軟正黑體" panose="020B0604030504040204" pitchFamily="34" charset="-120"/>
                          <a:ea typeface="微軟正黑體" panose="020B0604030504040204" pitchFamily="34" charset="-120"/>
                        </a:rPr>
                        <a:t>*</a:t>
                      </a:r>
                      <a:r>
                        <a:rPr lang="zh-TW" sz="1100" b="0" i="0" u="none" strike="noStrike">
                          <a:solidFill>
                            <a:srgbClr val="000000"/>
                          </a:solidFill>
                          <a:effectLst/>
                          <a:latin typeface="微軟正黑體" panose="020B0604030504040204" pitchFamily="34" charset="-120"/>
                          <a:ea typeface="微軟正黑體" panose="020B0604030504040204" pitchFamily="34" charset="-120"/>
                        </a:rPr>
                        <a:t>搜尋相關片段</a:t>
                      </a:r>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3">
                  <a:txBody>
                    <a:bodyPr/>
                    <a:lstStyle/>
                    <a:p>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endParaRPr lang="zh-TW" altLang="en-US" sz="1800" kern="1200">
                        <a:solidFill>
                          <a:schemeClr val="tx1"/>
                        </a:solidFill>
                        <a:latin typeface="+mn-lt"/>
                        <a:ea typeface="+mn-ea"/>
                        <a:cs typeface="+mn-cs"/>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endParaRPr lang="zh-TW" altLang="en-US" sz="1800" kern="1200">
                        <a:solidFill>
                          <a:schemeClr val="tx1"/>
                        </a:solidFill>
                        <a:latin typeface="+mn-lt"/>
                        <a:ea typeface="+mn-ea"/>
                        <a:cs typeface="+mn-cs"/>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6587686"/>
                  </a:ext>
                </a:extLst>
              </a:tr>
              <a:tr h="558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zh-TW" sz="1200" b="1" i="0" u="none" strike="noStrike">
                        <a:solidFill>
                          <a:srgbClr val="000000"/>
                        </a:solidFill>
                        <a:effectLst/>
                        <a:latin typeface="微軟正黑體" panose="020B0604030504040204" pitchFamily="34" charset="-120"/>
                        <a:ea typeface="+mn-ea"/>
                      </a:endParaRP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Reranking</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 </a:t>
                      </a: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 </a:t>
                      </a:r>
                      <a:r>
                        <a:rPr lang="zh-TW" sz="1100" b="0" i="0" u="none" strike="noStrike" dirty="0">
                          <a:solidFill>
                            <a:srgbClr val="000000"/>
                          </a:solidFill>
                          <a:effectLst/>
                          <a:latin typeface="微軟正黑體" panose="020B0604030504040204" pitchFamily="34" charset="-120"/>
                          <a:ea typeface="微軟正黑體" panose="020B0604030504040204" pitchFamily="34" charset="-120"/>
                        </a:rPr>
                        <a:t>依問題與片段的關聯選擇Top-K</a:t>
                      </a: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8483989"/>
                  </a:ext>
                </a:extLst>
              </a:tr>
              <a:tr h="558000">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altLang="zh-TW" sz="1200" b="1" i="0" u="none" strike="noStrike" dirty="0" err="1">
                          <a:solidFill>
                            <a:srgbClr val="000000"/>
                          </a:solidFill>
                          <a:effectLst/>
                          <a:latin typeface="微軟正黑體" panose="020B0604030504040204" pitchFamily="34" charset="-120"/>
                          <a:ea typeface="+mn-ea"/>
                        </a:rPr>
                        <a:t>ReAct</a:t>
                      </a:r>
                      <a:r>
                        <a:rPr lang="en-US" altLang="zh-TW" sz="1200" b="1" i="0" u="none" strike="noStrike" dirty="0">
                          <a:solidFill>
                            <a:srgbClr val="000000"/>
                          </a:solidFill>
                          <a:effectLst/>
                          <a:latin typeface="微軟正黑體" panose="020B0604030504040204" pitchFamily="34" charset="-120"/>
                          <a:ea typeface="+mn-ea"/>
                        </a:rPr>
                        <a:t> &amp; Retry : </a:t>
                      </a:r>
                      <a:r>
                        <a:rPr lang="zh-TW" altLang="en-US" sz="1100" b="0" i="0" u="none" strike="noStrike" dirty="0">
                          <a:solidFill>
                            <a:srgbClr val="000000"/>
                          </a:solidFill>
                          <a:effectLst/>
                          <a:latin typeface="微軟正黑體" panose="020B0604030504040204" pitchFamily="34" charset="-120"/>
                          <a:ea typeface="+mn-ea"/>
                        </a:rPr>
                        <a:t>檢視回覆是否合適，若不足則重新檢索並再次生成</a:t>
                      </a:r>
                      <a:endParaRPr lang="zh-TW" altLang="en-US" sz="1200" b="0" i="0" u="none" strike="noStrike" dirty="0">
                        <a:solidFill>
                          <a:srgbClr val="000000"/>
                        </a:solidFill>
                        <a:effectLst/>
                        <a:latin typeface="微軟正黑體" panose="020B0604030504040204" pitchFamily="34" charset="-120"/>
                        <a:ea typeface="+mn-ea"/>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F0FF"/>
                    </a:solidFill>
                  </a:tcPr>
                </a:tc>
                <a:tc vMerge="1">
                  <a:txBody>
                    <a:bodyPr/>
                    <a:lstStyle/>
                    <a:p>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TW" altLang="en-US" sz="1800" kern="1200">
                        <a:solidFill>
                          <a:schemeClr val="tx1"/>
                        </a:solidFill>
                        <a:latin typeface="+mn-lt"/>
                        <a:ea typeface="+mn-ea"/>
                        <a:cs typeface="+mn-cs"/>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TW" altLang="en-US" sz="1800" kern="1200">
                        <a:solidFill>
                          <a:schemeClr val="tx1"/>
                        </a:solidFill>
                        <a:latin typeface="+mn-lt"/>
                        <a:ea typeface="+mn-ea"/>
                        <a:cs typeface="+mn-cs"/>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6558064"/>
                  </a:ext>
                </a:extLst>
              </a:tr>
              <a:tr h="396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zh-TW" sz="1200" b="1" i="0" u="none" strike="noStrike">
                          <a:solidFill>
                            <a:srgbClr val="000000"/>
                          </a:solidFill>
                          <a:effectLst/>
                          <a:latin typeface="微軟正黑體" panose="020B0604030504040204" pitchFamily="34" charset="-120"/>
                          <a:ea typeface="+mn-ea"/>
                        </a:rPr>
                        <a:t>生成層</a:t>
                      </a: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回覆生成 </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 </a:t>
                      </a: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根據拿回來的片段生成回應</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800" kern="1200">
                        <a:solidFill>
                          <a:schemeClr val="tx1"/>
                        </a:solidFill>
                        <a:latin typeface="+mn-lt"/>
                        <a:ea typeface="+mn-ea"/>
                        <a:cs typeface="+mn-cs"/>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800" kern="1200">
                        <a:solidFill>
                          <a:schemeClr val="tx1"/>
                        </a:solidFill>
                        <a:latin typeface="+mn-lt"/>
                        <a:ea typeface="+mn-ea"/>
                        <a:cs typeface="+mn-cs"/>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4503545"/>
                  </a:ext>
                </a:extLst>
              </a:tr>
              <a:tr h="720000">
                <a:tc gridSpan="3">
                  <a:txBody>
                    <a:bodyPr/>
                    <a:lstStyle/>
                    <a:p>
                      <a:pPr algn="ctr" fontAlgn="ctr">
                        <a:buNone/>
                      </a:pP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功能定位</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lnT w="12700" cap="flat" cmpd="sng" algn="ctr">
                      <a:solidFill>
                        <a:schemeClr val="tx1"/>
                      </a:solidFill>
                      <a:prstDash val="solid"/>
                      <a:round/>
                      <a:headEnd type="none" w="med" len="med"/>
                      <a:tailEnd type="none" w="med" len="med"/>
                    </a:lnT>
                  </a:tcPr>
                </a:tc>
                <a:tc>
                  <a:txBody>
                    <a:bodyPr/>
                    <a:lstStyle/>
                    <a:p>
                      <a:pPr marL="0" algn="ctr" defTabSz="914400" rtl="0" eaLnBrk="1" fontAlgn="ctr" latinLnBrk="0" hangingPunct="1">
                        <a:buNone/>
                      </a:pPr>
                      <a:r>
                        <a:rPr lang="zh-TW" altLang="en-US" sz="1050" b="0" i="0" u="none" strike="noStrike" kern="1200">
                          <a:solidFill>
                            <a:srgbClr val="000000"/>
                          </a:solidFill>
                          <a:effectLst/>
                          <a:latin typeface="微軟正黑體" panose="020B0604030504040204" pitchFamily="34" charset="-120"/>
                          <a:ea typeface="+mn-ea"/>
                          <a:cs typeface="+mn-cs"/>
                        </a:rPr>
                        <a:t>適合</a:t>
                      </a:r>
                      <a:r>
                        <a:rPr lang="zh-TW" altLang="en-US" sz="1050" b="1" i="0" u="sng" strike="noStrike" kern="1200">
                          <a:solidFill>
                            <a:srgbClr val="000000"/>
                          </a:solidFill>
                          <a:effectLst/>
                          <a:latin typeface="微軟正黑體" panose="020B0604030504040204" pitchFamily="34" charset="-120"/>
                          <a:ea typeface="+mn-ea"/>
                          <a:cs typeface="+mn-cs"/>
                        </a:rPr>
                        <a:t>問答邊界明確、檢索流程相對單純</a:t>
                      </a:r>
                      <a:r>
                        <a:rPr lang="zh-TW" altLang="en-US" sz="1050" b="0" i="0" u="none" strike="noStrike" kern="1200">
                          <a:solidFill>
                            <a:srgbClr val="000000"/>
                          </a:solidFill>
                          <a:effectLst/>
                          <a:latin typeface="微軟正黑體" panose="020B0604030504040204" pitchFamily="34" charset="-120"/>
                          <a:ea typeface="+mn-ea"/>
                          <a:cs typeface="+mn-cs"/>
                        </a:rPr>
                        <a:t>的知識問答，如 </a:t>
                      </a:r>
                      <a:r>
                        <a:rPr lang="en-US" altLang="zh-TW" sz="1050" b="0" i="0" u="none" strike="noStrike" kern="1200">
                          <a:solidFill>
                            <a:srgbClr val="000000"/>
                          </a:solidFill>
                          <a:effectLst/>
                          <a:latin typeface="微軟正黑體" panose="020B0604030504040204" pitchFamily="34" charset="-120"/>
                          <a:ea typeface="+mn-ea"/>
                          <a:cs typeface="+mn-cs"/>
                        </a:rPr>
                        <a:t>:</a:t>
                      </a:r>
                      <a:r>
                        <a:rPr lang="zh-TW" altLang="en-US" sz="1050" b="0" i="0" u="none" strike="noStrike" kern="1200">
                          <a:solidFill>
                            <a:srgbClr val="000000"/>
                          </a:solidFill>
                          <a:effectLst/>
                          <a:latin typeface="微軟正黑體" panose="020B0604030504040204" pitchFamily="34" charset="-120"/>
                          <a:ea typeface="+mn-ea"/>
                          <a:cs typeface="+mn-cs"/>
                        </a:rPr>
                        <a:t> </a:t>
                      </a:r>
                      <a:r>
                        <a:rPr lang="en-US" altLang="zh-TW" sz="1050" b="0" i="0" u="none" strike="noStrike" kern="1200">
                          <a:solidFill>
                            <a:srgbClr val="000000"/>
                          </a:solidFill>
                          <a:effectLst/>
                          <a:latin typeface="微軟正黑體" panose="020B0604030504040204" pitchFamily="34" charset="-120"/>
                          <a:ea typeface="+mn-ea"/>
                          <a:cs typeface="+mn-cs"/>
                        </a:rPr>
                        <a:t>FAQ</a:t>
                      </a:r>
                      <a:endParaRPr lang="zh-TW" altLang="en-US" sz="1050" b="0" i="0" u="none" strike="noStrike" kern="1200">
                        <a:solidFill>
                          <a:srgbClr val="000000"/>
                        </a:solidFill>
                        <a:effectLst/>
                        <a:latin typeface="微軟正黑體" panose="020B0604030504040204" pitchFamily="34" charset="-120"/>
                        <a:ea typeface="微軟正黑體" panose="020B0604030504040204" pitchFamily="34" charset="-120"/>
                        <a:cs typeface="+mn-cs"/>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ctr" latinLnBrk="0" hangingPunct="1">
                        <a:buNone/>
                      </a:pPr>
                      <a:r>
                        <a:rPr lang="zh-TW" altLang="en-US" sz="105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加入意圖理解與問題改寫機制，以提升檢索正確率</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zh-TW" altLang="en-US" sz="1050" b="0" i="0" u="none" strike="noStrike" dirty="0">
                          <a:solidFill>
                            <a:srgbClr val="000000"/>
                          </a:solidFill>
                          <a:effectLst/>
                          <a:latin typeface="微軟正黑體" panose="020B0604030504040204" pitchFamily="34" charset="-120"/>
                          <a:ea typeface="微軟正黑體" panose="020B0604030504040204" pitchFamily="34" charset="-120"/>
                        </a:rPr>
                        <a:t>可處理包含</a:t>
                      </a:r>
                      <a:r>
                        <a:rPr lang="zh-TW" altLang="en-US" sz="1050" b="1" i="0" u="sng" strike="noStrike" dirty="0">
                          <a:solidFill>
                            <a:srgbClr val="000000"/>
                          </a:solidFill>
                          <a:effectLst/>
                          <a:latin typeface="微軟正黑體" panose="020B0604030504040204" pitchFamily="34" charset="-120"/>
                          <a:ea typeface="微軟正黑體" panose="020B0604030504040204" pitchFamily="34" charset="-120"/>
                        </a:rPr>
                        <a:t>圖片、表格等多模態知識</a:t>
                      </a:r>
                      <a:r>
                        <a:rPr lang="zh-TW" altLang="en-US" sz="1050" b="0" i="0" u="none" strike="noStrike" dirty="0">
                          <a:solidFill>
                            <a:srgbClr val="000000"/>
                          </a:solidFill>
                          <a:effectLst/>
                          <a:latin typeface="微軟正黑體" panose="020B0604030504040204" pitchFamily="34" charset="-120"/>
                          <a:ea typeface="微軟正黑體" panose="020B0604030504040204" pitchFamily="34" charset="-120"/>
                        </a:rPr>
                        <a:t>來源，</a:t>
                      </a:r>
                      <a:r>
                        <a:rPr lang="zh-TW" altLang="en-US" sz="1050" b="0" i="0" u="none" strike="noStrike" dirty="0">
                          <a:solidFill>
                            <a:srgbClr val="000000"/>
                          </a:solidFill>
                          <a:effectLst/>
                          <a:latin typeface="微軟正黑體" panose="020B0604030504040204" pitchFamily="34" charset="-120"/>
                          <a:ea typeface="+mn-ea"/>
                        </a:rPr>
                        <a:t>並整合多個檢索片段資訊形成答案，惟答案品質受片段資訊完整度影響</a:t>
                      </a:r>
                      <a:endParaRPr lang="zh-TW" sz="1050" b="1" i="0" u="sng" strike="noStrike" dirty="0">
                        <a:solidFill>
                          <a:srgbClr val="000000"/>
                        </a:solidFill>
                        <a:effectLst/>
                        <a:latin typeface="微軟正黑體" panose="020B0604030504040204" pitchFamily="34" charset="-120"/>
                        <a:ea typeface="微軟正黑體" panose="020B0604030504040204" pitchFamily="34" charset="-12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0725961"/>
                  </a:ext>
                </a:extLst>
              </a:tr>
            </a:tbl>
          </a:graphicData>
        </a:graphic>
      </p:graphicFrame>
      <p:sp>
        <p:nvSpPr>
          <p:cNvPr id="12" name="矩形: 圓角 11">
            <a:extLst>
              <a:ext uri="{FF2B5EF4-FFF2-40B4-BE49-F238E27FC236}">
                <a16:creationId xmlns:a16="http://schemas.microsoft.com/office/drawing/2014/main" id="{F0F7E098-7790-0F48-5B97-F8408EAD856F}"/>
              </a:ext>
            </a:extLst>
          </p:cNvPr>
          <p:cNvSpPr/>
          <p:nvPr/>
        </p:nvSpPr>
        <p:spPr>
          <a:xfrm>
            <a:off x="5187376" y="3523608"/>
            <a:ext cx="1814738" cy="284263"/>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dirty="0"/>
              <a:t>無</a:t>
            </a:r>
            <a:r>
              <a:rPr lang="zh-TW" altLang="en-US" sz="1100" b="1"/>
              <a:t>問題改寫</a:t>
            </a:r>
            <a:endParaRPr lang="zh-TW" altLang="en-US" sz="1100" b="1" dirty="0"/>
          </a:p>
        </p:txBody>
      </p:sp>
      <p:sp>
        <p:nvSpPr>
          <p:cNvPr id="14" name="矩形: 圓角 13">
            <a:extLst>
              <a:ext uri="{FF2B5EF4-FFF2-40B4-BE49-F238E27FC236}">
                <a16:creationId xmlns:a16="http://schemas.microsoft.com/office/drawing/2014/main" id="{3CF9C423-63CB-5CFE-9081-4A1C44C27221}"/>
              </a:ext>
            </a:extLst>
          </p:cNvPr>
          <p:cNvSpPr/>
          <p:nvPr/>
        </p:nvSpPr>
        <p:spPr>
          <a:xfrm>
            <a:off x="5275889" y="5122642"/>
            <a:ext cx="1726223" cy="250649"/>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dirty="0"/>
              <a:t>無</a:t>
            </a:r>
            <a:r>
              <a:rPr lang="en-US" altLang="zh-TW" sz="1100" b="1" dirty="0"/>
              <a:t>Retry</a:t>
            </a:r>
            <a:r>
              <a:rPr lang="zh-TW" altLang="en-US" sz="1100" b="1" dirty="0"/>
              <a:t>機制</a:t>
            </a:r>
          </a:p>
        </p:txBody>
      </p:sp>
      <p:sp>
        <p:nvSpPr>
          <p:cNvPr id="16" name="矩形: 圓角 15">
            <a:extLst>
              <a:ext uri="{FF2B5EF4-FFF2-40B4-BE49-F238E27FC236}">
                <a16:creationId xmlns:a16="http://schemas.microsoft.com/office/drawing/2014/main" id="{5784F5D2-C71C-F9CD-7F80-E64067DB7AA7}"/>
              </a:ext>
            </a:extLst>
          </p:cNvPr>
          <p:cNvSpPr/>
          <p:nvPr/>
        </p:nvSpPr>
        <p:spPr>
          <a:xfrm>
            <a:off x="9078346" y="1309763"/>
            <a:ext cx="1680747" cy="582615"/>
          </a:xfrm>
          <a:prstGeom prst="roundRect">
            <a:avLst/>
          </a:prstGeom>
          <a:solidFill>
            <a:srgbClr val="149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dirty="0"/>
              <a:t>具備 </a:t>
            </a:r>
            <a:r>
              <a:rPr lang="en-US" altLang="zh-TW" sz="1100" b="1" dirty="0"/>
              <a:t>VLM </a:t>
            </a:r>
            <a:r>
              <a:rPr lang="zh-TW" altLang="en-US" sz="1100" b="1" dirty="0"/>
              <a:t>能力，可解析圖片、表格等語意並轉換為可檢索文字</a:t>
            </a:r>
          </a:p>
        </p:txBody>
      </p:sp>
      <p:sp>
        <p:nvSpPr>
          <p:cNvPr id="18" name="矩形: 圓角 17">
            <a:extLst>
              <a:ext uri="{FF2B5EF4-FFF2-40B4-BE49-F238E27FC236}">
                <a16:creationId xmlns:a16="http://schemas.microsoft.com/office/drawing/2014/main" id="{19069610-3EC1-3323-337A-276AEC09B4AA}"/>
              </a:ext>
            </a:extLst>
          </p:cNvPr>
          <p:cNvSpPr/>
          <p:nvPr/>
        </p:nvSpPr>
        <p:spPr>
          <a:xfrm>
            <a:off x="9074784" y="3892463"/>
            <a:ext cx="1680748" cy="388151"/>
          </a:xfrm>
          <a:prstGeom prst="roundRect">
            <a:avLst/>
          </a:prstGeom>
          <a:solidFill>
            <a:srgbClr val="149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dirty="0"/>
              <a:t>具資料夾結構瀏覽工具，以定位特定知識範圍</a:t>
            </a:r>
          </a:p>
        </p:txBody>
      </p:sp>
      <p:sp>
        <p:nvSpPr>
          <p:cNvPr id="20" name="矩形: 圓角 19">
            <a:extLst>
              <a:ext uri="{FF2B5EF4-FFF2-40B4-BE49-F238E27FC236}">
                <a16:creationId xmlns:a16="http://schemas.microsoft.com/office/drawing/2014/main" id="{A14A025C-EDE2-7BFD-FD34-277FAC84FCF8}"/>
              </a:ext>
            </a:extLst>
          </p:cNvPr>
          <p:cNvSpPr/>
          <p:nvPr/>
        </p:nvSpPr>
        <p:spPr>
          <a:xfrm>
            <a:off x="9062258" y="3158913"/>
            <a:ext cx="1705800" cy="561570"/>
          </a:xfrm>
          <a:prstGeom prst="roundRect">
            <a:avLst/>
          </a:prstGeom>
          <a:solidFill>
            <a:srgbClr val="149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050" b="1" dirty="0"/>
              <a:t>理解使用者意圖後，進行問題改寫並斷詞</a:t>
            </a:r>
          </a:p>
        </p:txBody>
      </p:sp>
      <p:sp>
        <p:nvSpPr>
          <p:cNvPr id="22" name="矩形: 圓角 21">
            <a:extLst>
              <a:ext uri="{FF2B5EF4-FFF2-40B4-BE49-F238E27FC236}">
                <a16:creationId xmlns:a16="http://schemas.microsoft.com/office/drawing/2014/main" id="{4546DBEE-55D0-E2F6-12AE-3D07D85405C0}"/>
              </a:ext>
            </a:extLst>
          </p:cNvPr>
          <p:cNvSpPr/>
          <p:nvPr/>
        </p:nvSpPr>
        <p:spPr>
          <a:xfrm>
            <a:off x="9053293" y="4949004"/>
            <a:ext cx="1705800" cy="521597"/>
          </a:xfrm>
          <a:prstGeom prst="roundRect">
            <a:avLst/>
          </a:prstGeom>
          <a:solidFill>
            <a:srgbClr val="149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50" b="1" dirty="0"/>
              <a:t>LLM</a:t>
            </a:r>
            <a:r>
              <a:rPr lang="zh-TW" altLang="en-US" sz="1050" b="1" dirty="0"/>
              <a:t>判斷檢索結果是否符合意圖，不符則改寫問題並重新檢索</a:t>
            </a:r>
          </a:p>
        </p:txBody>
      </p:sp>
      <p:sp>
        <p:nvSpPr>
          <p:cNvPr id="24" name="矩形: 圓角 23">
            <a:extLst>
              <a:ext uri="{FF2B5EF4-FFF2-40B4-BE49-F238E27FC236}">
                <a16:creationId xmlns:a16="http://schemas.microsoft.com/office/drawing/2014/main" id="{3431B8CA-83B2-C61C-9832-136420C631EE}"/>
              </a:ext>
            </a:extLst>
          </p:cNvPr>
          <p:cNvSpPr/>
          <p:nvPr/>
        </p:nvSpPr>
        <p:spPr>
          <a:xfrm>
            <a:off x="7179789" y="3114287"/>
            <a:ext cx="1726223" cy="672087"/>
          </a:xfrm>
          <a:prstGeom prst="roundRect">
            <a:avLst/>
          </a:prstGeom>
          <a:solidFill>
            <a:srgbClr val="149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050" b="1" dirty="0"/>
              <a:t>依預設的商業邏輯去理解使用者意圖後，進</a:t>
            </a:r>
            <a:endParaRPr lang="en-US" altLang="zh-TW" sz="1050" b="1" dirty="0"/>
          </a:p>
          <a:p>
            <a:pPr algn="ctr"/>
            <a:r>
              <a:rPr lang="zh-TW" altLang="en-US" sz="1050" b="1" dirty="0"/>
              <a:t>進行問題改寫</a:t>
            </a:r>
          </a:p>
        </p:txBody>
      </p:sp>
      <p:sp>
        <p:nvSpPr>
          <p:cNvPr id="28" name="矩形: 圓角 27">
            <a:extLst>
              <a:ext uri="{FF2B5EF4-FFF2-40B4-BE49-F238E27FC236}">
                <a16:creationId xmlns:a16="http://schemas.microsoft.com/office/drawing/2014/main" id="{A7026CD3-7CE7-B4FA-1F3E-FED81834813A}"/>
              </a:ext>
            </a:extLst>
          </p:cNvPr>
          <p:cNvSpPr/>
          <p:nvPr/>
        </p:nvSpPr>
        <p:spPr>
          <a:xfrm>
            <a:off x="7209130" y="4944182"/>
            <a:ext cx="1726223" cy="506846"/>
          </a:xfrm>
          <a:prstGeom prst="roundRect">
            <a:avLst/>
          </a:prstGeom>
          <a:solidFill>
            <a:srgbClr val="149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50" b="1" dirty="0"/>
              <a:t>LLM</a:t>
            </a:r>
            <a:r>
              <a:rPr lang="zh-TW" altLang="en-US" sz="1050" b="1" dirty="0"/>
              <a:t>判斷檢索結果是否符合意圖，不符則改寫問題並重新檢索</a:t>
            </a:r>
          </a:p>
        </p:txBody>
      </p:sp>
      <p:sp>
        <p:nvSpPr>
          <p:cNvPr id="6" name="矩形: 圓角 5">
            <a:extLst>
              <a:ext uri="{FF2B5EF4-FFF2-40B4-BE49-F238E27FC236}">
                <a16:creationId xmlns:a16="http://schemas.microsoft.com/office/drawing/2014/main" id="{C1DA934E-5905-E858-CE74-90A91E70EF15}"/>
              </a:ext>
            </a:extLst>
          </p:cNvPr>
          <p:cNvSpPr/>
          <p:nvPr/>
        </p:nvSpPr>
        <p:spPr>
          <a:xfrm>
            <a:off x="5187375" y="3124500"/>
            <a:ext cx="1814739" cy="313618"/>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t>無意圖理解，僅問題分類</a:t>
            </a:r>
          </a:p>
        </p:txBody>
      </p:sp>
      <p:sp>
        <p:nvSpPr>
          <p:cNvPr id="15" name="矩形: 圓角 14">
            <a:extLst>
              <a:ext uri="{FF2B5EF4-FFF2-40B4-BE49-F238E27FC236}">
                <a16:creationId xmlns:a16="http://schemas.microsoft.com/office/drawing/2014/main" id="{AD6E0191-27F8-E46D-4457-B543390C16D7}"/>
              </a:ext>
            </a:extLst>
          </p:cNvPr>
          <p:cNvSpPr/>
          <p:nvPr/>
        </p:nvSpPr>
        <p:spPr>
          <a:xfrm>
            <a:off x="11046162" y="294606"/>
            <a:ext cx="166796" cy="195754"/>
          </a:xfrm>
          <a:prstGeom prst="roundRect">
            <a:avLst/>
          </a:prstGeom>
          <a:solidFill>
            <a:srgbClr val="149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100" b="1"/>
          </a:p>
        </p:txBody>
      </p:sp>
      <p:sp>
        <p:nvSpPr>
          <p:cNvPr id="25" name="矩形: 圓角 24">
            <a:extLst>
              <a:ext uri="{FF2B5EF4-FFF2-40B4-BE49-F238E27FC236}">
                <a16:creationId xmlns:a16="http://schemas.microsoft.com/office/drawing/2014/main" id="{BEB6DCE3-473E-DA6F-50DA-8646C508DA25}"/>
              </a:ext>
            </a:extLst>
          </p:cNvPr>
          <p:cNvSpPr/>
          <p:nvPr/>
        </p:nvSpPr>
        <p:spPr>
          <a:xfrm>
            <a:off x="11046163" y="596977"/>
            <a:ext cx="166796" cy="195754"/>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100" b="1"/>
          </a:p>
        </p:txBody>
      </p:sp>
      <p:sp>
        <p:nvSpPr>
          <p:cNvPr id="26" name="矩形 25">
            <a:extLst>
              <a:ext uri="{FF2B5EF4-FFF2-40B4-BE49-F238E27FC236}">
                <a16:creationId xmlns:a16="http://schemas.microsoft.com/office/drawing/2014/main" id="{D31B39EA-E313-FC5B-997E-1C6585BB7488}"/>
              </a:ext>
            </a:extLst>
          </p:cNvPr>
          <p:cNvSpPr/>
          <p:nvPr/>
        </p:nvSpPr>
        <p:spPr>
          <a:xfrm>
            <a:off x="11203561" y="556354"/>
            <a:ext cx="800219" cy="276999"/>
          </a:xfrm>
          <a:prstGeom prst="rect">
            <a:avLst/>
          </a:prstGeom>
          <a:noFill/>
        </p:spPr>
        <p:txBody>
          <a:bodyPr wrap="none" lIns="91440" tIns="45720" rIns="91440" bIns="45720">
            <a:spAutoFit/>
          </a:bodyPr>
          <a:lstStyle/>
          <a:p>
            <a:pPr algn="ctr"/>
            <a:r>
              <a:rPr lang="zh-TW" altLang="en-US" sz="1200" b="1" dirty="0">
                <a:ln w="0"/>
                <a:latin typeface="微軟正黑體" panose="020B0604030504040204" pitchFamily="34" charset="-120"/>
                <a:ea typeface="微軟正黑體" panose="020B0604030504040204" pitchFamily="34" charset="-120"/>
              </a:rPr>
              <a:t>功能限制</a:t>
            </a:r>
            <a:endParaRPr lang="zh-TW" altLang="en-US" sz="1200" b="1" cap="none" spc="0" dirty="0">
              <a:ln w="0"/>
              <a:solidFill>
                <a:schemeClr val="tx1"/>
              </a:solidFill>
            </a:endParaRPr>
          </a:p>
        </p:txBody>
      </p:sp>
      <p:sp>
        <p:nvSpPr>
          <p:cNvPr id="29" name="矩形 28">
            <a:extLst>
              <a:ext uri="{FF2B5EF4-FFF2-40B4-BE49-F238E27FC236}">
                <a16:creationId xmlns:a16="http://schemas.microsoft.com/office/drawing/2014/main" id="{8E611F3A-F074-8397-1FDD-0CB703878182}"/>
              </a:ext>
            </a:extLst>
          </p:cNvPr>
          <p:cNvSpPr/>
          <p:nvPr/>
        </p:nvSpPr>
        <p:spPr>
          <a:xfrm>
            <a:off x="11212958" y="259701"/>
            <a:ext cx="800219" cy="276999"/>
          </a:xfrm>
          <a:prstGeom prst="rect">
            <a:avLst/>
          </a:prstGeom>
          <a:noFill/>
        </p:spPr>
        <p:txBody>
          <a:bodyPr wrap="none" lIns="91440" tIns="45720" rIns="91440" bIns="45720">
            <a:spAutoFit/>
          </a:bodyPr>
          <a:lstStyle/>
          <a:p>
            <a:pPr algn="ctr"/>
            <a:r>
              <a:rPr lang="zh-TW" altLang="en-US" sz="1200" b="1" dirty="0">
                <a:ln w="0"/>
                <a:latin typeface="微軟正黑體" panose="020B0604030504040204" pitchFamily="34" charset="-120"/>
                <a:ea typeface="微軟正黑體" panose="020B0604030504040204" pitchFamily="34" charset="-120"/>
              </a:rPr>
              <a:t>功能特點</a:t>
            </a:r>
            <a:endParaRPr lang="zh-TW" altLang="en-US" sz="1200" b="1" cap="none" spc="0" dirty="0">
              <a:ln w="0"/>
              <a:solidFill>
                <a:schemeClr val="tx1"/>
              </a:solidFill>
            </a:endParaRPr>
          </a:p>
        </p:txBody>
      </p:sp>
      <p:sp>
        <p:nvSpPr>
          <p:cNvPr id="30" name="矩形: 圓角 29">
            <a:extLst>
              <a:ext uri="{FF2B5EF4-FFF2-40B4-BE49-F238E27FC236}">
                <a16:creationId xmlns:a16="http://schemas.microsoft.com/office/drawing/2014/main" id="{21AAD8C0-DEF5-F2F8-F2D6-711EB3726568}"/>
              </a:ext>
            </a:extLst>
          </p:cNvPr>
          <p:cNvSpPr/>
          <p:nvPr/>
        </p:nvSpPr>
        <p:spPr>
          <a:xfrm>
            <a:off x="5275889" y="5584111"/>
            <a:ext cx="5387843" cy="250649"/>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200" b="1" dirty="0">
                <a:solidFill>
                  <a:schemeClr val="tx1"/>
                </a:solidFill>
              </a:rPr>
              <a:t>生成</a:t>
            </a:r>
            <a:r>
              <a:rPr lang="zh-TW" altLang="en-US" sz="1200" b="1">
                <a:solidFill>
                  <a:schemeClr val="tx1"/>
                </a:solidFill>
              </a:rPr>
              <a:t>作法無顯著差異</a:t>
            </a:r>
          </a:p>
        </p:txBody>
      </p:sp>
      <p:sp>
        <p:nvSpPr>
          <p:cNvPr id="32" name="矩形: 圓角 31">
            <a:extLst>
              <a:ext uri="{FF2B5EF4-FFF2-40B4-BE49-F238E27FC236}">
                <a16:creationId xmlns:a16="http://schemas.microsoft.com/office/drawing/2014/main" id="{D88431B8-B6D1-50A1-FDF9-8484F3241A2B}"/>
              </a:ext>
            </a:extLst>
          </p:cNvPr>
          <p:cNvSpPr/>
          <p:nvPr/>
        </p:nvSpPr>
        <p:spPr>
          <a:xfrm>
            <a:off x="9087313" y="2617641"/>
            <a:ext cx="1680745" cy="341192"/>
          </a:xfrm>
          <a:prstGeom prst="roundRect">
            <a:avLst>
              <a:gd name="adj" fmla="val 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dirty="0"/>
              <a:t>無法新增自定義</a:t>
            </a:r>
            <a:r>
              <a:rPr lang="en-US" altLang="zh-TW" sz="1100" b="1" dirty="0"/>
              <a:t>Metadata</a:t>
            </a:r>
            <a:endParaRPr lang="zh-TW" altLang="en-US" sz="1100" b="1" dirty="0"/>
          </a:p>
        </p:txBody>
      </p:sp>
      <p:sp>
        <p:nvSpPr>
          <p:cNvPr id="34" name="矩形: 圓角 33">
            <a:extLst>
              <a:ext uri="{FF2B5EF4-FFF2-40B4-BE49-F238E27FC236}">
                <a16:creationId xmlns:a16="http://schemas.microsoft.com/office/drawing/2014/main" id="{F059584E-7AF2-426E-2AF2-678DA78FB7E3}"/>
              </a:ext>
            </a:extLst>
          </p:cNvPr>
          <p:cNvSpPr/>
          <p:nvPr/>
        </p:nvSpPr>
        <p:spPr>
          <a:xfrm>
            <a:off x="9078345" y="1954293"/>
            <a:ext cx="1680745" cy="589308"/>
          </a:xfrm>
          <a:prstGeom prst="round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dirty="0"/>
              <a:t>支援依文件類型套用不同 </a:t>
            </a:r>
            <a:r>
              <a:rPr lang="en-US" altLang="zh-TW" sz="1100" b="1" dirty="0"/>
              <a:t>Chunk Type</a:t>
            </a:r>
            <a:r>
              <a:rPr lang="zh-TW" altLang="en-US" sz="1100" b="1" dirty="0"/>
              <a:t>，以預設策略為主。</a:t>
            </a:r>
          </a:p>
        </p:txBody>
      </p:sp>
      <p:sp>
        <p:nvSpPr>
          <p:cNvPr id="44" name="矩形: 圓角 43">
            <a:extLst>
              <a:ext uri="{FF2B5EF4-FFF2-40B4-BE49-F238E27FC236}">
                <a16:creationId xmlns:a16="http://schemas.microsoft.com/office/drawing/2014/main" id="{F61A5E45-AC34-400B-629F-93571EA1B8D6}"/>
              </a:ext>
            </a:extLst>
          </p:cNvPr>
          <p:cNvSpPr/>
          <p:nvPr/>
        </p:nvSpPr>
        <p:spPr>
          <a:xfrm>
            <a:off x="9069377" y="4373240"/>
            <a:ext cx="1680745" cy="452159"/>
          </a:xfrm>
          <a:prstGeom prst="roundRect">
            <a:avLst/>
          </a:prstGeom>
          <a:solidFill>
            <a:srgbClr val="1492C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dirty="0"/>
              <a:t>支援 </a:t>
            </a:r>
            <a:r>
              <a:rPr lang="en-US" altLang="zh-TW" sz="1100" b="1" dirty="0"/>
              <a:t>Metadata </a:t>
            </a:r>
            <a:r>
              <a:rPr lang="zh-TW" altLang="en-US" sz="1100" b="1" dirty="0"/>
              <a:t>過濾，檢索前排除不相關文件</a:t>
            </a:r>
          </a:p>
        </p:txBody>
      </p:sp>
      <p:sp>
        <p:nvSpPr>
          <p:cNvPr id="3" name="矩形 2">
            <a:extLst>
              <a:ext uri="{FF2B5EF4-FFF2-40B4-BE49-F238E27FC236}">
                <a16:creationId xmlns:a16="http://schemas.microsoft.com/office/drawing/2014/main" id="{5C1E9925-DCF6-A866-BED0-1ACCBFEEAB68}"/>
              </a:ext>
            </a:extLst>
          </p:cNvPr>
          <p:cNvSpPr/>
          <p:nvPr/>
        </p:nvSpPr>
        <p:spPr>
          <a:xfrm>
            <a:off x="-9728" y="6616331"/>
            <a:ext cx="3283271" cy="261610"/>
          </a:xfrm>
          <a:prstGeom prst="rect">
            <a:avLst/>
          </a:prstGeom>
          <a:noFill/>
        </p:spPr>
        <p:txBody>
          <a:bodyPr wrap="none" lIns="91440" tIns="45720" rIns="91440" bIns="45720">
            <a:spAutoFit/>
          </a:bodyPr>
          <a:lstStyle/>
          <a:p>
            <a:pPr algn="ctr"/>
            <a:r>
              <a:rPr lang="zh-TW" altLang="en-US" sz="1100" b="1">
                <a:ln w="0"/>
              </a:rPr>
              <a:t>*註</a:t>
            </a:r>
            <a:r>
              <a:rPr lang="en-US" altLang="zh-TW" sz="1100" b="1">
                <a:ln w="0"/>
              </a:rPr>
              <a:t>:Hybrid search</a:t>
            </a:r>
            <a:r>
              <a:rPr lang="zh-TW" altLang="en-US" sz="1100" b="1">
                <a:ln w="0"/>
              </a:rPr>
              <a:t>為向量相似性搜尋</a:t>
            </a:r>
            <a:r>
              <a:rPr lang="en-US" altLang="zh-TW" sz="1100" b="1">
                <a:ln w="0"/>
              </a:rPr>
              <a:t>+</a:t>
            </a:r>
            <a:r>
              <a:rPr lang="zh-TW" altLang="en-US" sz="1100" b="1">
                <a:ln w="0"/>
              </a:rPr>
              <a:t>關鍵字搜尋</a:t>
            </a:r>
            <a:endParaRPr lang="zh-TW" altLang="en-US" sz="1100" b="1" cap="none" spc="0">
              <a:ln w="0"/>
              <a:solidFill>
                <a:schemeClr val="tx1"/>
              </a:solidFill>
            </a:endParaRPr>
          </a:p>
        </p:txBody>
      </p:sp>
    </p:spTree>
    <p:extLst>
      <p:ext uri="{BB962C8B-B14F-4D97-AF65-F5344CB8AC3E}">
        <p14:creationId xmlns:p14="http://schemas.microsoft.com/office/powerpoint/2010/main" val="1829064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B227D-5B8F-08CD-8786-70AE92B5DBF3}"/>
            </a:ext>
          </a:extLst>
        </p:cNvPr>
        <p:cNvGrpSpPr/>
        <p:nvPr/>
      </p:nvGrpSpPr>
      <p:grpSpPr>
        <a:xfrm>
          <a:off x="0" y="0"/>
          <a:ext cx="0" cy="0"/>
          <a:chOff x="0" y="0"/>
          <a:chExt cx="0" cy="0"/>
        </a:xfrm>
      </p:grpSpPr>
      <p:sp>
        <p:nvSpPr>
          <p:cNvPr id="562" name="Shape 2">
            <a:extLst>
              <a:ext uri="{FF2B5EF4-FFF2-40B4-BE49-F238E27FC236}">
                <a16:creationId xmlns:a16="http://schemas.microsoft.com/office/drawing/2014/main" id="{6234EE8F-EC06-7131-3D56-ECC44B1E1A50}"/>
              </a:ext>
            </a:extLst>
          </p:cNvPr>
          <p:cNvSpPr/>
          <p:nvPr/>
        </p:nvSpPr>
        <p:spPr>
          <a:xfrm>
            <a:off x="2771359" y="3639721"/>
            <a:ext cx="2210400" cy="3126167"/>
          </a:xfrm>
          <a:prstGeom prst="roundRect">
            <a:avLst>
              <a:gd name="adj" fmla="val 4514"/>
            </a:avLst>
          </a:prstGeom>
          <a:solidFill>
            <a:srgbClr val="FFF9E9"/>
          </a:solidFill>
          <a:ln w="12700">
            <a:solidFill>
              <a:srgbClr val="FFF9E9"/>
            </a:solidFill>
            <a:prstDash val="solid"/>
          </a:ln>
        </p:spPr>
        <p:txBody>
          <a:bodyPr/>
          <a:lstStyle/>
          <a:p>
            <a:endParaRPr lang="zh-TW" altLang="en-US"/>
          </a:p>
        </p:txBody>
      </p:sp>
      <p:sp>
        <p:nvSpPr>
          <p:cNvPr id="44" name="Shape 28">
            <a:extLst>
              <a:ext uri="{FF2B5EF4-FFF2-40B4-BE49-F238E27FC236}">
                <a16:creationId xmlns:a16="http://schemas.microsoft.com/office/drawing/2014/main" id="{2BE3BD6D-4D69-5703-118C-28A85927AC38}"/>
              </a:ext>
            </a:extLst>
          </p:cNvPr>
          <p:cNvSpPr/>
          <p:nvPr/>
        </p:nvSpPr>
        <p:spPr>
          <a:xfrm>
            <a:off x="-2179383" y="6713135"/>
            <a:ext cx="11467745" cy="58347"/>
          </a:xfrm>
          <a:prstGeom prst="rect">
            <a:avLst/>
          </a:prstGeom>
          <a:solidFill>
            <a:srgbClr val="F7F1F9"/>
          </a:solidFill>
          <a:ln w="12700">
            <a:noFill/>
            <a:prstDash val="solid"/>
          </a:ln>
        </p:spPr>
        <p:txBody>
          <a:bodyPr/>
          <a:lstStyle/>
          <a:p>
            <a:endParaRPr lang="zh-TW" altLang="en-US"/>
          </a:p>
        </p:txBody>
      </p:sp>
      <p:sp>
        <p:nvSpPr>
          <p:cNvPr id="5" name="文字版面配置區 1">
            <a:extLst>
              <a:ext uri="{FF2B5EF4-FFF2-40B4-BE49-F238E27FC236}">
                <a16:creationId xmlns:a16="http://schemas.microsoft.com/office/drawing/2014/main" id="{C84EB3E3-5985-7B81-B6A4-5D7A2CB255FC}"/>
              </a:ext>
            </a:extLst>
          </p:cNvPr>
          <p:cNvSpPr>
            <a:spLocks noGrp="1"/>
          </p:cNvSpPr>
          <p:nvPr>
            <p:ph type="body" sz="quarter" idx="21"/>
          </p:nvPr>
        </p:nvSpPr>
        <p:spPr>
          <a:xfrm>
            <a:off x="781014" y="-206169"/>
            <a:ext cx="8221501" cy="659975"/>
          </a:xfrm>
        </p:spPr>
        <p:txBody>
          <a:bodyPr/>
          <a:lstStyle/>
          <a:p>
            <a:r>
              <a:rPr lang="en-US" altLang="zh-TW" sz="2400" dirty="0"/>
              <a:t>【</a:t>
            </a:r>
            <a:r>
              <a:rPr lang="zh-TW" altLang="en-US" sz="2400" dirty="0"/>
              <a:t>結構化</a:t>
            </a:r>
            <a:r>
              <a:rPr lang="en-US" altLang="zh-TW" sz="2400" dirty="0"/>
              <a:t>】</a:t>
            </a:r>
            <a:r>
              <a:rPr lang="zh-TW" altLang="en-US" sz="2400" dirty="0"/>
              <a:t>知識檢索技術梳理  </a:t>
            </a:r>
            <a:r>
              <a:rPr lang="en-US" altLang="zh-TW" sz="2400" dirty="0"/>
              <a:t>(</a:t>
            </a:r>
            <a:r>
              <a:rPr lang="zh-TW" altLang="en-US" sz="2400" dirty="0"/>
              <a:t>數據查找</a:t>
            </a:r>
            <a:r>
              <a:rPr lang="en-US" altLang="zh-TW" sz="2400" dirty="0"/>
              <a:t>)</a:t>
            </a:r>
            <a:endParaRPr lang="zh-TW" altLang="en-US" sz="2400" dirty="0"/>
          </a:p>
        </p:txBody>
      </p:sp>
      <p:sp>
        <p:nvSpPr>
          <p:cNvPr id="7" name="矩形 6">
            <a:extLst>
              <a:ext uri="{FF2B5EF4-FFF2-40B4-BE49-F238E27FC236}">
                <a16:creationId xmlns:a16="http://schemas.microsoft.com/office/drawing/2014/main" id="{E0A378AA-0651-8CEA-EBA4-25C56E9D11F5}"/>
              </a:ext>
            </a:extLst>
          </p:cNvPr>
          <p:cNvSpPr/>
          <p:nvPr/>
        </p:nvSpPr>
        <p:spPr>
          <a:xfrm rot="10800000" flipV="1">
            <a:off x="795027" y="542559"/>
            <a:ext cx="10865004" cy="53730"/>
          </a:xfrm>
          <a:prstGeom prst="rect">
            <a:avLst/>
          </a:prstGeom>
          <a:gradFill>
            <a:gsLst>
              <a:gs pos="11000">
                <a:srgbClr val="00F9D3">
                  <a:alpha val="0"/>
                </a:srgbClr>
              </a:gs>
              <a:gs pos="39000">
                <a:srgbClr val="00F9D3"/>
              </a:gs>
              <a:gs pos="70000">
                <a:srgbClr val="00C3CD"/>
              </a:gs>
              <a:gs pos="100000">
                <a:srgbClr val="008FC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58" name="群組 557">
            <a:extLst>
              <a:ext uri="{FF2B5EF4-FFF2-40B4-BE49-F238E27FC236}">
                <a16:creationId xmlns:a16="http://schemas.microsoft.com/office/drawing/2014/main" id="{CEEBAAC6-1FDF-2074-A2D7-3075E3171CDF}"/>
              </a:ext>
            </a:extLst>
          </p:cNvPr>
          <p:cNvGrpSpPr/>
          <p:nvPr/>
        </p:nvGrpSpPr>
        <p:grpSpPr>
          <a:xfrm>
            <a:off x="5079122" y="878297"/>
            <a:ext cx="2925510" cy="2739095"/>
            <a:chOff x="2664890" y="670039"/>
            <a:chExt cx="2925510" cy="2739095"/>
          </a:xfrm>
        </p:grpSpPr>
        <p:sp>
          <p:nvSpPr>
            <p:cNvPr id="456" name="Shape 6">
              <a:extLst>
                <a:ext uri="{FF2B5EF4-FFF2-40B4-BE49-F238E27FC236}">
                  <a16:creationId xmlns:a16="http://schemas.microsoft.com/office/drawing/2014/main" id="{62C29DA0-1AA0-8300-56BC-698D9C583EE6}"/>
                </a:ext>
              </a:extLst>
            </p:cNvPr>
            <p:cNvSpPr/>
            <p:nvPr/>
          </p:nvSpPr>
          <p:spPr>
            <a:xfrm>
              <a:off x="2692672" y="687534"/>
              <a:ext cx="2210400" cy="2721600"/>
            </a:xfrm>
            <a:prstGeom prst="roundRect">
              <a:avLst>
                <a:gd name="adj" fmla="val 4407"/>
              </a:avLst>
            </a:prstGeom>
            <a:solidFill>
              <a:srgbClr val="ECFDF5"/>
            </a:solidFill>
            <a:ln w="12700">
              <a:solidFill>
                <a:srgbClr val="ECFDF5"/>
              </a:solidFill>
              <a:prstDash val="solid"/>
            </a:ln>
          </p:spPr>
          <p:txBody>
            <a:bodyPr/>
            <a:lstStyle/>
            <a:p>
              <a:endParaRPr lang="zh-TW" altLang="en-US"/>
            </a:p>
          </p:txBody>
        </p:sp>
        <p:sp>
          <p:nvSpPr>
            <p:cNvPr id="458" name="Shape 7">
              <a:extLst>
                <a:ext uri="{FF2B5EF4-FFF2-40B4-BE49-F238E27FC236}">
                  <a16:creationId xmlns:a16="http://schemas.microsoft.com/office/drawing/2014/main" id="{770D09B8-908E-5358-FB7B-5D9D536479B4}"/>
                </a:ext>
              </a:extLst>
            </p:cNvPr>
            <p:cNvSpPr/>
            <p:nvPr/>
          </p:nvSpPr>
          <p:spPr>
            <a:xfrm>
              <a:off x="2692672" y="687534"/>
              <a:ext cx="2210400" cy="205200"/>
            </a:xfrm>
            <a:prstGeom prst="roundRect">
              <a:avLst>
                <a:gd name="adj" fmla="val 27083"/>
              </a:avLst>
            </a:prstGeom>
            <a:solidFill>
              <a:srgbClr val="10B981"/>
            </a:solidFill>
            <a:ln w="12700">
              <a:solidFill>
                <a:srgbClr val="10B981"/>
              </a:solidFill>
              <a:prstDash val="solid"/>
            </a:ln>
          </p:spPr>
          <p:txBody>
            <a:bodyPr/>
            <a:lstStyle/>
            <a:p>
              <a:endParaRPr lang="zh-TW" altLang="en-US"/>
            </a:p>
          </p:txBody>
        </p:sp>
        <p:sp>
          <p:nvSpPr>
            <p:cNvPr id="460" name="Text 8">
              <a:extLst>
                <a:ext uri="{FF2B5EF4-FFF2-40B4-BE49-F238E27FC236}">
                  <a16:creationId xmlns:a16="http://schemas.microsoft.com/office/drawing/2014/main" id="{BE7AC7A6-2F6B-C44D-F2A0-491B422A7108}"/>
                </a:ext>
              </a:extLst>
            </p:cNvPr>
            <p:cNvSpPr/>
            <p:nvPr/>
          </p:nvSpPr>
          <p:spPr>
            <a:xfrm>
              <a:off x="3050048" y="670039"/>
              <a:ext cx="2532888" cy="246888"/>
            </a:xfrm>
            <a:prstGeom prst="rect">
              <a:avLst/>
            </a:prstGeom>
            <a:noFill/>
            <a:ln/>
          </p:spPr>
          <p:txBody>
            <a:bodyPr wrap="square" lIns="381" tIns="381" rIns="381" bIns="381" rtlCol="0" anchor="ctr">
              <a:normAutofit/>
            </a:bodyPr>
            <a:lstStyle/>
            <a:p>
              <a:pPr marL="0" indent="0" algn="l">
                <a:buNone/>
              </a:pPr>
              <a:r>
                <a:rPr lang="en-US" sz="1400" b="1" dirty="0">
                  <a:solidFill>
                    <a:srgbClr val="FFFFFF"/>
                  </a:solidFill>
                  <a:latin typeface="Microsoft JhengHei" pitchFamily="34" charset="0"/>
                  <a:ea typeface="Microsoft JhengHei" pitchFamily="34" charset="-122"/>
                  <a:cs typeface="Microsoft JhengHei" pitchFamily="34" charset="-120"/>
                </a:rPr>
                <a:t>② </a:t>
              </a:r>
              <a:r>
                <a:rPr lang="en-US" sz="1400" b="1" dirty="0" err="1">
                  <a:solidFill>
                    <a:srgbClr val="FFFFFF"/>
                  </a:solidFill>
                  <a:latin typeface="Microsoft JhengHei" pitchFamily="34" charset="0"/>
                  <a:ea typeface="Microsoft JhengHei" pitchFamily="34" charset="-122"/>
                  <a:cs typeface="Microsoft JhengHei" pitchFamily="34" charset="-120"/>
                </a:rPr>
                <a:t>語義層語言</a:t>
              </a:r>
              <a:r>
                <a:rPr lang="en-US" sz="1400" b="1" dirty="0">
                  <a:solidFill>
                    <a:srgbClr val="FFFFFF"/>
                  </a:solidFill>
                  <a:latin typeface="Microsoft JhengHei" pitchFamily="34" charset="0"/>
                  <a:ea typeface="Microsoft JhengHei" pitchFamily="34" charset="-122"/>
                  <a:cs typeface="Microsoft JhengHei" pitchFamily="34" charset="-120"/>
                </a:rPr>
                <a:t> </a:t>
              </a:r>
              <a:endParaRPr lang="en-US" sz="1400" dirty="0"/>
            </a:p>
          </p:txBody>
        </p:sp>
        <p:sp>
          <p:nvSpPr>
            <p:cNvPr id="462" name="Text 9">
              <a:extLst>
                <a:ext uri="{FF2B5EF4-FFF2-40B4-BE49-F238E27FC236}">
                  <a16:creationId xmlns:a16="http://schemas.microsoft.com/office/drawing/2014/main" id="{2F44A2CE-C9C7-D079-00C3-C69D5DA3687C}"/>
                </a:ext>
              </a:extLst>
            </p:cNvPr>
            <p:cNvSpPr/>
            <p:nvPr/>
          </p:nvSpPr>
          <p:spPr>
            <a:xfrm>
              <a:off x="3121520" y="924513"/>
              <a:ext cx="2468880" cy="164592"/>
            </a:xfrm>
            <a:prstGeom prst="rect">
              <a:avLst/>
            </a:prstGeom>
            <a:noFill/>
            <a:ln/>
          </p:spPr>
          <p:txBody>
            <a:bodyPr wrap="square" lIns="381" tIns="381" rIns="381" bIns="381" rtlCol="0" anchor="ctr">
              <a:normAutofit/>
            </a:bodyPr>
            <a:lstStyle/>
            <a:p>
              <a:pPr marL="0" indent="0" algn="l">
                <a:buNone/>
              </a:pPr>
              <a:r>
                <a:rPr lang="en-US" sz="1000" b="1" dirty="0">
                  <a:solidFill>
                    <a:srgbClr val="64748B"/>
                  </a:solidFill>
                  <a:latin typeface="Microsoft JhengHei" pitchFamily="34" charset="0"/>
                  <a:ea typeface="Microsoft JhengHei" pitchFamily="34" charset="-122"/>
                  <a:cs typeface="Microsoft JhengHei" pitchFamily="34" charset="-120"/>
                </a:rPr>
                <a:t>補齊關聯、規則與範例</a:t>
              </a:r>
              <a:endParaRPr lang="en-US" sz="1000" b="1" dirty="0"/>
            </a:p>
          </p:txBody>
        </p:sp>
        <p:sp>
          <p:nvSpPr>
            <p:cNvPr id="464" name="Shape 38">
              <a:extLst>
                <a:ext uri="{FF2B5EF4-FFF2-40B4-BE49-F238E27FC236}">
                  <a16:creationId xmlns:a16="http://schemas.microsoft.com/office/drawing/2014/main" id="{89040A29-9328-808D-94AB-AB570C74367B}"/>
                </a:ext>
              </a:extLst>
            </p:cNvPr>
            <p:cNvSpPr/>
            <p:nvPr/>
          </p:nvSpPr>
          <p:spPr>
            <a:xfrm>
              <a:off x="2698148" y="1188054"/>
              <a:ext cx="2210400" cy="829383"/>
            </a:xfrm>
            <a:prstGeom prst="roundRect">
              <a:avLst>
                <a:gd name="adj" fmla="val 13793"/>
              </a:avLst>
            </a:prstGeom>
            <a:solidFill>
              <a:srgbClr val="FFFFFF"/>
            </a:solidFill>
            <a:ln w="15240">
              <a:solidFill>
                <a:srgbClr val="10B981"/>
              </a:solidFill>
              <a:prstDash val="solid"/>
            </a:ln>
          </p:spPr>
          <p:txBody>
            <a:bodyPr/>
            <a:lstStyle/>
            <a:p>
              <a:endParaRPr lang="zh-TW" altLang="en-US"/>
            </a:p>
          </p:txBody>
        </p:sp>
        <p:sp>
          <p:nvSpPr>
            <p:cNvPr id="466" name="Text 39">
              <a:extLst>
                <a:ext uri="{FF2B5EF4-FFF2-40B4-BE49-F238E27FC236}">
                  <a16:creationId xmlns:a16="http://schemas.microsoft.com/office/drawing/2014/main" id="{F9355761-8BFB-ED50-3814-FD897474960B}"/>
                </a:ext>
              </a:extLst>
            </p:cNvPr>
            <p:cNvSpPr/>
            <p:nvPr/>
          </p:nvSpPr>
          <p:spPr>
            <a:xfrm>
              <a:off x="2682232" y="1115358"/>
              <a:ext cx="2203704" cy="493776"/>
            </a:xfrm>
            <a:prstGeom prst="rect">
              <a:avLst/>
            </a:prstGeom>
            <a:noFill/>
            <a:ln/>
          </p:spPr>
          <p:txBody>
            <a:bodyPr wrap="square" lIns="381" tIns="381" rIns="381" bIns="381" rtlCol="0" anchor="ctr">
              <a:normAutofit/>
            </a:bodyPr>
            <a:lstStyle/>
            <a:p>
              <a:pPr marL="0" indent="0" algn="ctr">
                <a:buNone/>
              </a:pPr>
              <a:r>
                <a:rPr lang="en-US" sz="1000" b="1" dirty="0" err="1">
                  <a:solidFill>
                    <a:srgbClr val="1F2937"/>
                  </a:solidFill>
                  <a:latin typeface="Microsoft JhengHei" pitchFamily="34" charset="0"/>
                  <a:ea typeface="Microsoft JhengHei" pitchFamily="34" charset="-122"/>
                  <a:cs typeface="Microsoft JhengHei" pitchFamily="34" charset="-120"/>
                </a:rPr>
                <a:t>第二階段</a:t>
              </a:r>
              <a:r>
                <a:rPr lang="en-US" sz="1000" b="1" dirty="0">
                  <a:solidFill>
                    <a:srgbClr val="1F2937"/>
                  </a:solidFill>
                  <a:latin typeface="Microsoft JhengHei" pitchFamily="34" charset="0"/>
                  <a:ea typeface="Microsoft JhengHei" pitchFamily="34" charset="-122"/>
                  <a:cs typeface="Microsoft JhengHei" pitchFamily="34" charset="-120"/>
                </a:rPr>
                <a:t> </a:t>
              </a:r>
              <a:r>
                <a:rPr lang="zh-TW" altLang="en-US" sz="1000" b="1" dirty="0">
                  <a:solidFill>
                    <a:srgbClr val="1F2937"/>
                  </a:solidFill>
                  <a:latin typeface="Microsoft JhengHei" pitchFamily="34" charset="0"/>
                  <a:ea typeface="Microsoft JhengHei" pitchFamily="34" charset="-122"/>
                  <a:cs typeface="Microsoft JhengHei" pitchFamily="34" charset="-120"/>
                </a:rPr>
                <a:t>產生</a:t>
              </a:r>
              <a:r>
                <a:rPr lang="en-US" altLang="zh-TW" sz="1000" b="1" dirty="0">
                  <a:solidFill>
                    <a:srgbClr val="1F2937"/>
                  </a:solidFill>
                  <a:latin typeface="Microsoft JhengHei" pitchFamily="34" charset="0"/>
                  <a:ea typeface="Microsoft JhengHei" pitchFamily="34" charset="-122"/>
                  <a:cs typeface="Microsoft JhengHei" pitchFamily="34" charset="-120"/>
                </a:rPr>
                <a:t>SQL</a:t>
              </a:r>
              <a:r>
                <a:rPr lang="zh-TW" altLang="en-US" sz="1000" b="1" dirty="0">
                  <a:solidFill>
                    <a:srgbClr val="1F2937"/>
                  </a:solidFill>
                  <a:latin typeface="Microsoft JhengHei" pitchFamily="34" charset="0"/>
                  <a:ea typeface="Microsoft JhengHei" pitchFamily="34" charset="-122"/>
                  <a:cs typeface="Microsoft JhengHei" pitchFamily="34" charset="-120"/>
                </a:rPr>
                <a:t>前完整</a:t>
              </a:r>
              <a:r>
                <a:rPr lang="en-US" altLang="zh-TW" sz="1000" b="1" dirty="0">
                  <a:solidFill>
                    <a:srgbClr val="1F2937"/>
                  </a:solidFill>
                  <a:latin typeface="Microsoft JhengHei" pitchFamily="34" charset="0"/>
                  <a:ea typeface="Microsoft JhengHei" pitchFamily="34" charset="-122"/>
                  <a:cs typeface="Microsoft JhengHei" pitchFamily="34" charset="-120"/>
                </a:rPr>
                <a:t>Context</a:t>
              </a:r>
              <a:r>
                <a:rPr lang="en-US" sz="1000" b="1" dirty="0">
                  <a:solidFill>
                    <a:srgbClr val="1F2937"/>
                  </a:solidFill>
                  <a:latin typeface="Microsoft JhengHei" pitchFamily="34" charset="0"/>
                  <a:ea typeface="Microsoft JhengHei" pitchFamily="34" charset="-122"/>
                  <a:cs typeface="Microsoft JhengHei" pitchFamily="34" charset="-120"/>
                </a:rPr>
                <a:t> RAG</a:t>
              </a:r>
              <a:endParaRPr lang="en-US" sz="1000" dirty="0"/>
            </a:p>
          </p:txBody>
        </p:sp>
        <p:sp>
          <p:nvSpPr>
            <p:cNvPr id="468" name="Shape 40">
              <a:extLst>
                <a:ext uri="{FF2B5EF4-FFF2-40B4-BE49-F238E27FC236}">
                  <a16:creationId xmlns:a16="http://schemas.microsoft.com/office/drawing/2014/main" id="{FF1C62FC-8EF1-0418-938F-FF8E36AB46F8}"/>
                </a:ext>
              </a:extLst>
            </p:cNvPr>
            <p:cNvSpPr/>
            <p:nvPr/>
          </p:nvSpPr>
          <p:spPr>
            <a:xfrm>
              <a:off x="2735678" y="1582702"/>
              <a:ext cx="658368" cy="356616"/>
            </a:xfrm>
            <a:prstGeom prst="roundRect">
              <a:avLst>
                <a:gd name="adj" fmla="val 15385"/>
              </a:avLst>
            </a:prstGeom>
            <a:solidFill>
              <a:srgbClr val="EEF6FF"/>
            </a:solidFill>
            <a:ln w="10160">
              <a:solidFill>
                <a:srgbClr val="2B6CB0"/>
              </a:solidFill>
              <a:prstDash val="solid"/>
            </a:ln>
          </p:spPr>
          <p:txBody>
            <a:bodyPr/>
            <a:lstStyle/>
            <a:p>
              <a:endParaRPr lang="zh-TW" altLang="en-US"/>
            </a:p>
          </p:txBody>
        </p:sp>
        <p:sp>
          <p:nvSpPr>
            <p:cNvPr id="470" name="Text 41">
              <a:extLst>
                <a:ext uri="{FF2B5EF4-FFF2-40B4-BE49-F238E27FC236}">
                  <a16:creationId xmlns:a16="http://schemas.microsoft.com/office/drawing/2014/main" id="{177E90FB-CD64-F0DC-0ACC-D2A262111033}"/>
                </a:ext>
              </a:extLst>
            </p:cNvPr>
            <p:cNvSpPr/>
            <p:nvPr/>
          </p:nvSpPr>
          <p:spPr>
            <a:xfrm>
              <a:off x="2755575" y="1609374"/>
              <a:ext cx="640080" cy="338328"/>
            </a:xfrm>
            <a:prstGeom prst="rect">
              <a:avLst/>
            </a:prstGeom>
            <a:noFill/>
            <a:ln/>
          </p:spPr>
          <p:txBody>
            <a:bodyPr wrap="square" lIns="381" tIns="381" rIns="381" bIns="381" rtlCol="0" anchor="ctr">
              <a:normAutofit/>
            </a:bodyPr>
            <a:lstStyle/>
            <a:p>
              <a:pPr marL="0" indent="0" algn="ctr">
                <a:buNone/>
              </a:pPr>
              <a:r>
                <a:rPr lang="en-US" sz="540" b="1" dirty="0">
                  <a:solidFill>
                    <a:srgbClr val="12355B"/>
                  </a:solidFill>
                  <a:latin typeface="Microsoft JhengHei" pitchFamily="34" charset="0"/>
                  <a:ea typeface="Microsoft JhengHei" pitchFamily="34" charset="-122"/>
                  <a:cs typeface="Microsoft JhengHei" pitchFamily="34" charset="-120"/>
                </a:rPr>
                <a:t>Relationships</a:t>
              </a:r>
              <a:endParaRPr lang="en-US" sz="540" b="1" dirty="0"/>
            </a:p>
            <a:p>
              <a:pPr marL="0" indent="0" algn="ctr">
                <a:buNone/>
              </a:pPr>
              <a:r>
                <a:rPr lang="en-US" sz="540" b="1" dirty="0">
                  <a:solidFill>
                    <a:srgbClr val="12355B"/>
                  </a:solidFill>
                  <a:latin typeface="Microsoft JhengHei" pitchFamily="34" charset="0"/>
                  <a:ea typeface="Microsoft JhengHei" pitchFamily="34" charset="-122"/>
                  <a:cs typeface="Microsoft JhengHei" pitchFamily="34" charset="-120"/>
                </a:rPr>
                <a:t>/Filter</a:t>
              </a:r>
              <a:endParaRPr lang="en-US" sz="540" b="1" dirty="0"/>
            </a:p>
          </p:txBody>
        </p:sp>
        <p:sp>
          <p:nvSpPr>
            <p:cNvPr id="472" name="Shape 42">
              <a:extLst>
                <a:ext uri="{FF2B5EF4-FFF2-40B4-BE49-F238E27FC236}">
                  <a16:creationId xmlns:a16="http://schemas.microsoft.com/office/drawing/2014/main" id="{86F1A69E-7952-3666-8562-8869ADFADD09}"/>
                </a:ext>
              </a:extLst>
            </p:cNvPr>
            <p:cNvSpPr/>
            <p:nvPr/>
          </p:nvSpPr>
          <p:spPr>
            <a:xfrm>
              <a:off x="3491733" y="1582034"/>
              <a:ext cx="557784" cy="356616"/>
            </a:xfrm>
            <a:prstGeom prst="roundRect">
              <a:avLst>
                <a:gd name="adj" fmla="val 15385"/>
              </a:avLst>
            </a:prstGeom>
            <a:solidFill>
              <a:srgbClr val="EEF6FF"/>
            </a:solidFill>
            <a:ln w="10160">
              <a:solidFill>
                <a:srgbClr val="2B6CB0"/>
              </a:solidFill>
              <a:prstDash val="solid"/>
            </a:ln>
          </p:spPr>
          <p:txBody>
            <a:bodyPr/>
            <a:lstStyle/>
            <a:p>
              <a:endParaRPr lang="zh-TW" altLang="en-US"/>
            </a:p>
          </p:txBody>
        </p:sp>
        <p:sp>
          <p:nvSpPr>
            <p:cNvPr id="474" name="Text 43">
              <a:extLst>
                <a:ext uri="{FF2B5EF4-FFF2-40B4-BE49-F238E27FC236}">
                  <a16:creationId xmlns:a16="http://schemas.microsoft.com/office/drawing/2014/main" id="{D2B753F1-4BC5-3AF9-5392-3C9433E1D040}"/>
                </a:ext>
              </a:extLst>
            </p:cNvPr>
            <p:cNvSpPr/>
            <p:nvPr/>
          </p:nvSpPr>
          <p:spPr>
            <a:xfrm>
              <a:off x="3493353" y="1592362"/>
              <a:ext cx="539496" cy="338328"/>
            </a:xfrm>
            <a:prstGeom prst="rect">
              <a:avLst/>
            </a:prstGeom>
            <a:noFill/>
            <a:ln/>
          </p:spPr>
          <p:txBody>
            <a:bodyPr wrap="square" lIns="381" tIns="381" rIns="381" bIns="381" rtlCol="0" anchor="ctr">
              <a:normAutofit/>
            </a:bodyPr>
            <a:lstStyle/>
            <a:p>
              <a:pPr marL="0" indent="0" algn="ctr">
                <a:buNone/>
              </a:pPr>
              <a:r>
                <a:rPr lang="en-US" sz="540" b="1" dirty="0">
                  <a:solidFill>
                    <a:srgbClr val="12355B"/>
                  </a:solidFill>
                  <a:latin typeface="Microsoft JhengHei" pitchFamily="34" charset="0"/>
                  <a:ea typeface="Microsoft JhengHei" pitchFamily="34" charset="-122"/>
                  <a:cs typeface="Microsoft JhengHei" pitchFamily="34" charset="-120"/>
                </a:rPr>
                <a:t>Business</a:t>
              </a:r>
              <a:endParaRPr lang="en-US" sz="540" b="1" dirty="0"/>
            </a:p>
            <a:p>
              <a:pPr marL="0" indent="0" algn="ctr">
                <a:buNone/>
              </a:pPr>
              <a:r>
                <a:rPr lang="en-US" sz="540" b="1" dirty="0">
                  <a:solidFill>
                    <a:srgbClr val="12355B"/>
                  </a:solidFill>
                  <a:latin typeface="Microsoft JhengHei" pitchFamily="34" charset="0"/>
                  <a:ea typeface="Microsoft JhengHei" pitchFamily="34" charset="-122"/>
                  <a:cs typeface="Microsoft JhengHei" pitchFamily="34" charset="-120"/>
                </a:rPr>
                <a:t>Rules</a:t>
              </a:r>
              <a:endParaRPr lang="en-US" sz="540" b="1" dirty="0"/>
            </a:p>
          </p:txBody>
        </p:sp>
        <p:sp>
          <p:nvSpPr>
            <p:cNvPr id="476" name="Shape 44">
              <a:extLst>
                <a:ext uri="{FF2B5EF4-FFF2-40B4-BE49-F238E27FC236}">
                  <a16:creationId xmlns:a16="http://schemas.microsoft.com/office/drawing/2014/main" id="{8021C650-09FC-B8EB-5F09-8A9B27185AAF}"/>
                </a:ext>
              </a:extLst>
            </p:cNvPr>
            <p:cNvSpPr/>
            <p:nvPr/>
          </p:nvSpPr>
          <p:spPr>
            <a:xfrm>
              <a:off x="4150045" y="1574074"/>
              <a:ext cx="674034" cy="356616"/>
            </a:xfrm>
            <a:prstGeom prst="roundRect">
              <a:avLst>
                <a:gd name="adj" fmla="val 15385"/>
              </a:avLst>
            </a:prstGeom>
            <a:solidFill>
              <a:srgbClr val="EEF6FF"/>
            </a:solidFill>
            <a:ln w="10160">
              <a:solidFill>
                <a:srgbClr val="2B6CB0"/>
              </a:solidFill>
              <a:prstDash val="solid"/>
            </a:ln>
          </p:spPr>
          <p:txBody>
            <a:bodyPr/>
            <a:lstStyle/>
            <a:p>
              <a:endParaRPr lang="zh-TW" altLang="en-US"/>
            </a:p>
          </p:txBody>
        </p:sp>
        <p:sp>
          <p:nvSpPr>
            <p:cNvPr id="478" name="Text 45">
              <a:extLst>
                <a:ext uri="{FF2B5EF4-FFF2-40B4-BE49-F238E27FC236}">
                  <a16:creationId xmlns:a16="http://schemas.microsoft.com/office/drawing/2014/main" id="{E5750A93-C2C9-883E-09D9-587ECA099111}"/>
                </a:ext>
              </a:extLst>
            </p:cNvPr>
            <p:cNvSpPr/>
            <p:nvPr/>
          </p:nvSpPr>
          <p:spPr>
            <a:xfrm>
              <a:off x="4170357" y="1597173"/>
              <a:ext cx="621792" cy="338328"/>
            </a:xfrm>
            <a:prstGeom prst="rect">
              <a:avLst/>
            </a:prstGeom>
            <a:noFill/>
            <a:ln/>
          </p:spPr>
          <p:txBody>
            <a:bodyPr wrap="square" lIns="381" tIns="381" rIns="381" bIns="381" rtlCol="0" anchor="ctr">
              <a:normAutofit/>
            </a:bodyPr>
            <a:lstStyle/>
            <a:p>
              <a:pPr marL="0" indent="0" algn="ctr">
                <a:buNone/>
              </a:pPr>
              <a:r>
                <a:rPr lang="en-US" sz="500" b="1" dirty="0">
                  <a:solidFill>
                    <a:srgbClr val="12355B"/>
                  </a:solidFill>
                  <a:latin typeface="Microsoft JhengHei" pitchFamily="34" charset="0"/>
                  <a:ea typeface="Microsoft JhengHei" pitchFamily="34" charset="-122"/>
                  <a:cs typeface="Microsoft JhengHei" pitchFamily="34" charset="-120"/>
                </a:rPr>
                <a:t>Similar-NL-SQL</a:t>
              </a:r>
              <a:endParaRPr lang="en-US" sz="500" b="1" dirty="0"/>
            </a:p>
            <a:p>
              <a:pPr marL="0" indent="0" algn="ctr">
                <a:buNone/>
              </a:pPr>
              <a:r>
                <a:rPr lang="en-US" sz="500" b="1" dirty="0">
                  <a:solidFill>
                    <a:srgbClr val="12355B"/>
                  </a:solidFill>
                  <a:latin typeface="Microsoft JhengHei" pitchFamily="34" charset="0"/>
                  <a:ea typeface="Microsoft JhengHei" pitchFamily="34" charset="-122"/>
                  <a:cs typeface="Microsoft JhengHei" pitchFamily="34" charset="-120"/>
                </a:rPr>
                <a:t>(Few-shot</a:t>
              </a:r>
              <a:r>
                <a:rPr lang="zh-TW" altLang="en-US" sz="500" b="1" dirty="0">
                  <a:solidFill>
                    <a:srgbClr val="12355B"/>
                  </a:solidFill>
                  <a:latin typeface="Microsoft JhengHei" pitchFamily="34" charset="0"/>
                  <a:ea typeface="Microsoft JhengHei" pitchFamily="34" charset="-122"/>
                  <a:cs typeface="Microsoft JhengHei" pitchFamily="34" charset="-120"/>
                </a:rPr>
                <a:t> </a:t>
              </a:r>
              <a:r>
                <a:rPr lang="en-US" altLang="zh-TW" sz="500" b="1" dirty="0">
                  <a:solidFill>
                    <a:srgbClr val="12355B"/>
                  </a:solidFill>
                  <a:latin typeface="Microsoft JhengHei" pitchFamily="34" charset="0"/>
                  <a:ea typeface="Microsoft JhengHei" pitchFamily="34" charset="-122"/>
                  <a:cs typeface="Microsoft JhengHei" pitchFamily="34" charset="-120"/>
                </a:rPr>
                <a:t>Example</a:t>
              </a:r>
              <a:r>
                <a:rPr lang="en-US" sz="500" dirty="0">
                  <a:solidFill>
                    <a:srgbClr val="12355B"/>
                  </a:solidFill>
                  <a:latin typeface="Microsoft JhengHei" pitchFamily="34" charset="0"/>
                  <a:ea typeface="Microsoft JhengHei" pitchFamily="34" charset="-122"/>
                  <a:cs typeface="Microsoft JhengHei" pitchFamily="34" charset="-120"/>
                </a:rPr>
                <a:t>)</a:t>
              </a:r>
              <a:endParaRPr lang="en-US" sz="500" dirty="0"/>
            </a:p>
          </p:txBody>
        </p:sp>
        <p:sp>
          <p:nvSpPr>
            <p:cNvPr id="480" name="Shape 46">
              <a:extLst>
                <a:ext uri="{FF2B5EF4-FFF2-40B4-BE49-F238E27FC236}">
                  <a16:creationId xmlns:a16="http://schemas.microsoft.com/office/drawing/2014/main" id="{997F2533-3994-EB39-456C-F160A2EA1DBE}"/>
                </a:ext>
              </a:extLst>
            </p:cNvPr>
            <p:cNvSpPr/>
            <p:nvPr/>
          </p:nvSpPr>
          <p:spPr>
            <a:xfrm>
              <a:off x="2705768" y="2179521"/>
              <a:ext cx="2210400" cy="241200"/>
            </a:xfrm>
            <a:prstGeom prst="roundRect">
              <a:avLst>
                <a:gd name="adj" fmla="val 18605"/>
              </a:avLst>
            </a:prstGeom>
            <a:solidFill>
              <a:srgbClr val="FFFFFF"/>
            </a:solidFill>
            <a:ln w="15240">
              <a:solidFill>
                <a:srgbClr val="10B981"/>
              </a:solidFill>
              <a:prstDash val="solid"/>
            </a:ln>
          </p:spPr>
          <p:txBody>
            <a:bodyPr/>
            <a:lstStyle/>
            <a:p>
              <a:endParaRPr lang="zh-TW" altLang="en-US"/>
            </a:p>
          </p:txBody>
        </p:sp>
        <p:sp>
          <p:nvSpPr>
            <p:cNvPr id="482" name="Text 47">
              <a:extLst>
                <a:ext uri="{FF2B5EF4-FFF2-40B4-BE49-F238E27FC236}">
                  <a16:creationId xmlns:a16="http://schemas.microsoft.com/office/drawing/2014/main" id="{2980BFC8-20FB-86C8-5989-DAC3FC6AC130}"/>
                </a:ext>
              </a:extLst>
            </p:cNvPr>
            <p:cNvSpPr/>
            <p:nvPr/>
          </p:nvSpPr>
          <p:spPr>
            <a:xfrm>
              <a:off x="2664890" y="2115284"/>
              <a:ext cx="2203704" cy="356616"/>
            </a:xfrm>
            <a:prstGeom prst="rect">
              <a:avLst/>
            </a:prstGeom>
            <a:noFill/>
            <a:ln/>
          </p:spPr>
          <p:txBody>
            <a:bodyPr wrap="square" lIns="381" tIns="381" rIns="381" bIns="381" rtlCol="0" anchor="ctr">
              <a:normAutofit/>
            </a:bodyPr>
            <a:lstStyle/>
            <a:p>
              <a:pPr marL="0" indent="0" algn="ctr">
                <a:buNone/>
              </a:pPr>
              <a:r>
                <a:rPr lang="en-US" sz="1000" b="1" dirty="0">
                  <a:solidFill>
                    <a:srgbClr val="1F2937"/>
                  </a:solidFill>
                  <a:latin typeface="Microsoft JhengHei" pitchFamily="34" charset="0"/>
                  <a:ea typeface="Microsoft JhengHei" pitchFamily="34" charset="-122"/>
                  <a:cs typeface="Microsoft JhengHei" pitchFamily="34" charset="-120"/>
                </a:rPr>
                <a:t>Context Assembly</a:t>
              </a:r>
              <a:endParaRPr lang="en-US" sz="1000" dirty="0"/>
            </a:p>
          </p:txBody>
        </p:sp>
      </p:grpSp>
      <p:grpSp>
        <p:nvGrpSpPr>
          <p:cNvPr id="560" name="群組 559">
            <a:extLst>
              <a:ext uri="{FF2B5EF4-FFF2-40B4-BE49-F238E27FC236}">
                <a16:creationId xmlns:a16="http://schemas.microsoft.com/office/drawing/2014/main" id="{03198068-9B98-E083-081E-E7CDAE8D8AD7}"/>
              </a:ext>
            </a:extLst>
          </p:cNvPr>
          <p:cNvGrpSpPr/>
          <p:nvPr/>
        </p:nvGrpSpPr>
        <p:grpSpPr>
          <a:xfrm>
            <a:off x="325359" y="883934"/>
            <a:ext cx="2966536" cy="2734044"/>
            <a:chOff x="357832" y="672030"/>
            <a:chExt cx="2966536" cy="2734044"/>
          </a:xfrm>
        </p:grpSpPr>
        <p:sp>
          <p:nvSpPr>
            <p:cNvPr id="408" name="Shape 2">
              <a:extLst>
                <a:ext uri="{FF2B5EF4-FFF2-40B4-BE49-F238E27FC236}">
                  <a16:creationId xmlns:a16="http://schemas.microsoft.com/office/drawing/2014/main" id="{4DF3CFDD-496C-7AED-0C03-398334D84FD0}"/>
                </a:ext>
              </a:extLst>
            </p:cNvPr>
            <p:cNvSpPr/>
            <p:nvPr/>
          </p:nvSpPr>
          <p:spPr>
            <a:xfrm>
              <a:off x="379563" y="684115"/>
              <a:ext cx="2196474" cy="2721959"/>
            </a:xfrm>
            <a:prstGeom prst="roundRect">
              <a:avLst>
                <a:gd name="adj" fmla="val 4514"/>
              </a:avLst>
            </a:prstGeom>
            <a:solidFill>
              <a:srgbClr val="EFFFFD"/>
            </a:solidFill>
            <a:ln w="12700">
              <a:solidFill>
                <a:srgbClr val="FFF9E9"/>
              </a:solidFill>
              <a:prstDash val="solid"/>
            </a:ln>
          </p:spPr>
          <p:txBody>
            <a:bodyPr/>
            <a:lstStyle/>
            <a:p>
              <a:endParaRPr lang="zh-TW" altLang="en-US"/>
            </a:p>
          </p:txBody>
        </p:sp>
        <p:sp>
          <p:nvSpPr>
            <p:cNvPr id="410" name="Shape 3">
              <a:extLst>
                <a:ext uri="{FF2B5EF4-FFF2-40B4-BE49-F238E27FC236}">
                  <a16:creationId xmlns:a16="http://schemas.microsoft.com/office/drawing/2014/main" id="{97966083-70BA-CB2C-DA43-F999BD87A2FB}"/>
                </a:ext>
              </a:extLst>
            </p:cNvPr>
            <p:cNvSpPr/>
            <p:nvPr/>
          </p:nvSpPr>
          <p:spPr>
            <a:xfrm>
              <a:off x="379563" y="696880"/>
              <a:ext cx="2194560" cy="206417"/>
            </a:xfrm>
            <a:prstGeom prst="roundRect">
              <a:avLst>
                <a:gd name="adj" fmla="val 27083"/>
              </a:avLst>
            </a:prstGeom>
            <a:solidFill>
              <a:srgbClr val="0EA5A4"/>
            </a:solidFill>
            <a:ln w="12700">
              <a:solidFill>
                <a:srgbClr val="F59E0B">
                  <a:alpha val="0"/>
                </a:srgbClr>
              </a:solidFill>
              <a:prstDash val="solid"/>
            </a:ln>
          </p:spPr>
          <p:txBody>
            <a:bodyPr/>
            <a:lstStyle/>
            <a:p>
              <a:endParaRPr lang="zh-TW" altLang="en-US"/>
            </a:p>
          </p:txBody>
        </p:sp>
        <p:sp>
          <p:nvSpPr>
            <p:cNvPr id="412" name="Text 4">
              <a:extLst>
                <a:ext uri="{FF2B5EF4-FFF2-40B4-BE49-F238E27FC236}">
                  <a16:creationId xmlns:a16="http://schemas.microsoft.com/office/drawing/2014/main" id="{9C6C14A7-B8E2-7C96-1DC2-D38B32C81942}"/>
                </a:ext>
              </a:extLst>
            </p:cNvPr>
            <p:cNvSpPr/>
            <p:nvPr/>
          </p:nvSpPr>
          <p:spPr>
            <a:xfrm>
              <a:off x="855488" y="672030"/>
              <a:ext cx="2468880" cy="246888"/>
            </a:xfrm>
            <a:prstGeom prst="rect">
              <a:avLst/>
            </a:prstGeom>
            <a:noFill/>
            <a:ln/>
          </p:spPr>
          <p:txBody>
            <a:bodyPr wrap="square" lIns="381" tIns="381" rIns="381" bIns="381" rtlCol="0" anchor="ctr">
              <a:normAutofit/>
            </a:bodyPr>
            <a:lstStyle/>
            <a:p>
              <a:pPr marL="0" indent="0" algn="l">
                <a:buNone/>
              </a:pPr>
              <a:r>
                <a:rPr lang="en-US" sz="1400" b="1" dirty="0">
                  <a:solidFill>
                    <a:srgbClr val="FFFFFF"/>
                  </a:solidFill>
                  <a:latin typeface="Microsoft JhengHei" pitchFamily="34" charset="0"/>
                  <a:ea typeface="Microsoft JhengHei" pitchFamily="34" charset="-122"/>
                  <a:cs typeface="Microsoft JhengHei" pitchFamily="34" charset="-120"/>
                </a:rPr>
                <a:t> </a:t>
              </a:r>
              <a:r>
                <a:rPr lang="zh-TW" altLang="en-US" sz="1400" b="1" dirty="0">
                  <a:solidFill>
                    <a:srgbClr val="FFFFFF"/>
                  </a:solidFill>
                  <a:latin typeface="Microsoft JhengHei" pitchFamily="34" charset="0"/>
                  <a:ea typeface="Microsoft JhengHei" pitchFamily="34" charset="-122"/>
                  <a:cs typeface="Microsoft JhengHei" pitchFamily="34" charset="-120"/>
                </a:rPr>
                <a:t>資料處理層 </a:t>
              </a:r>
              <a:endParaRPr lang="en-US" sz="1400" dirty="0"/>
            </a:p>
          </p:txBody>
        </p:sp>
        <p:sp>
          <p:nvSpPr>
            <p:cNvPr id="416" name="Shape 18">
              <a:extLst>
                <a:ext uri="{FF2B5EF4-FFF2-40B4-BE49-F238E27FC236}">
                  <a16:creationId xmlns:a16="http://schemas.microsoft.com/office/drawing/2014/main" id="{84B50A9D-55B5-FA1F-1E4E-F0C5CF52E9C4}"/>
                </a:ext>
              </a:extLst>
            </p:cNvPr>
            <p:cNvSpPr/>
            <p:nvPr/>
          </p:nvSpPr>
          <p:spPr>
            <a:xfrm>
              <a:off x="369906" y="1194753"/>
              <a:ext cx="2194560" cy="240106"/>
            </a:xfrm>
            <a:prstGeom prst="roundRect">
              <a:avLst>
                <a:gd name="adj" fmla="val 20000"/>
              </a:avLst>
            </a:prstGeom>
            <a:solidFill>
              <a:srgbClr val="FFFFFF"/>
            </a:solidFill>
            <a:ln w="15240">
              <a:solidFill>
                <a:srgbClr val="0EA5A4"/>
              </a:solidFill>
              <a:prstDash val="solid"/>
            </a:ln>
          </p:spPr>
          <p:txBody>
            <a:bodyPr/>
            <a:lstStyle/>
            <a:p>
              <a:endParaRPr lang="zh-TW" altLang="en-US"/>
            </a:p>
          </p:txBody>
        </p:sp>
        <p:sp>
          <p:nvSpPr>
            <p:cNvPr id="418" name="Text 19">
              <a:extLst>
                <a:ext uri="{FF2B5EF4-FFF2-40B4-BE49-F238E27FC236}">
                  <a16:creationId xmlns:a16="http://schemas.microsoft.com/office/drawing/2014/main" id="{AEBD5059-F2C0-0C09-183B-41D6BC6A49E7}"/>
                </a:ext>
              </a:extLst>
            </p:cNvPr>
            <p:cNvSpPr/>
            <p:nvPr/>
          </p:nvSpPr>
          <p:spPr>
            <a:xfrm>
              <a:off x="357832" y="1149440"/>
              <a:ext cx="2139696" cy="329184"/>
            </a:xfrm>
            <a:prstGeom prst="rect">
              <a:avLst/>
            </a:prstGeom>
            <a:noFill/>
            <a:ln/>
          </p:spPr>
          <p:txBody>
            <a:bodyPr wrap="square" lIns="381" tIns="381" rIns="381" bIns="381" rtlCol="0" anchor="ctr">
              <a:noAutofit/>
            </a:bodyPr>
            <a:lstStyle/>
            <a:p>
              <a:pPr algn="ctr"/>
              <a:r>
                <a:rPr lang="en-US" altLang="zh-TW" sz="800" b="1" dirty="0">
                  <a:solidFill>
                    <a:srgbClr val="1F2937"/>
                  </a:solidFill>
                  <a:latin typeface="Microsoft JhengHei" pitchFamily="34" charset="0"/>
                  <a:ea typeface="Microsoft JhengHei" pitchFamily="34" charset="-122"/>
                  <a:cs typeface="Microsoft JhengHei" pitchFamily="34" charset="-120"/>
                </a:rPr>
                <a:t>Schema </a:t>
              </a:r>
              <a:r>
                <a:rPr lang="en-US" altLang="zh-TW" sz="800" b="1" dirty="0" err="1">
                  <a:solidFill>
                    <a:srgbClr val="1F2937"/>
                  </a:solidFill>
                  <a:latin typeface="Microsoft JhengHei" pitchFamily="34" charset="0"/>
                  <a:ea typeface="Microsoft JhengHei" pitchFamily="34" charset="-122"/>
                  <a:cs typeface="Microsoft JhengHei" pitchFamily="34" charset="-120"/>
                </a:rPr>
                <a:t>標準化</a:t>
              </a:r>
              <a:r>
                <a:rPr lang="zh-TW" altLang="en-US" sz="800" b="1" dirty="0">
                  <a:solidFill>
                    <a:srgbClr val="1F2937"/>
                  </a:solidFill>
                  <a:latin typeface="Microsoft JhengHei" pitchFamily="34" charset="0"/>
                  <a:ea typeface="Microsoft JhengHei" pitchFamily="34" charset="-122"/>
                  <a:cs typeface="Microsoft JhengHei" pitchFamily="34" charset="-120"/>
                </a:rPr>
                <a:t>及描述 </a:t>
              </a:r>
              <a:r>
                <a:rPr lang="en-US" altLang="zh-TW" sz="800" b="1" dirty="0">
                  <a:solidFill>
                    <a:srgbClr val="1F2937"/>
                  </a:solidFill>
                  <a:latin typeface="Microsoft JhengHei" pitchFamily="34" charset="0"/>
                  <a:ea typeface="Microsoft JhengHei" pitchFamily="34" charset="-122"/>
                  <a:cs typeface="Microsoft JhengHei" pitchFamily="34" charset="-120"/>
                </a:rPr>
                <a:t>(Table, Column)</a:t>
              </a:r>
              <a:endParaRPr lang="en-US" altLang="zh-TW" sz="800" dirty="0"/>
            </a:p>
          </p:txBody>
        </p:sp>
        <p:sp>
          <p:nvSpPr>
            <p:cNvPr id="420" name="Shape 20">
              <a:extLst>
                <a:ext uri="{FF2B5EF4-FFF2-40B4-BE49-F238E27FC236}">
                  <a16:creationId xmlns:a16="http://schemas.microsoft.com/office/drawing/2014/main" id="{6F484A95-AB5E-B614-5CA8-75754C4A4D29}"/>
                </a:ext>
              </a:extLst>
            </p:cNvPr>
            <p:cNvSpPr/>
            <p:nvPr/>
          </p:nvSpPr>
          <p:spPr>
            <a:xfrm>
              <a:off x="383696" y="1993854"/>
              <a:ext cx="2194560" cy="241200"/>
            </a:xfrm>
            <a:prstGeom prst="roundRect">
              <a:avLst>
                <a:gd name="adj" fmla="val 20000"/>
              </a:avLst>
            </a:prstGeom>
            <a:solidFill>
              <a:srgbClr val="FFFFFF"/>
            </a:solidFill>
            <a:ln w="15240">
              <a:solidFill>
                <a:srgbClr val="0EA5A4"/>
              </a:solidFill>
              <a:prstDash val="solid"/>
            </a:ln>
          </p:spPr>
          <p:txBody>
            <a:bodyPr/>
            <a:lstStyle/>
            <a:p>
              <a:endParaRPr lang="zh-TW" altLang="en-US"/>
            </a:p>
          </p:txBody>
        </p:sp>
        <p:sp>
          <p:nvSpPr>
            <p:cNvPr id="488" name="Text 5">
              <a:extLst>
                <a:ext uri="{FF2B5EF4-FFF2-40B4-BE49-F238E27FC236}">
                  <a16:creationId xmlns:a16="http://schemas.microsoft.com/office/drawing/2014/main" id="{75427405-1F8F-8366-35B2-3FFC63A67EE5}"/>
                </a:ext>
              </a:extLst>
            </p:cNvPr>
            <p:cNvSpPr/>
            <p:nvPr/>
          </p:nvSpPr>
          <p:spPr>
            <a:xfrm>
              <a:off x="544051" y="954847"/>
              <a:ext cx="2404872" cy="164592"/>
            </a:xfrm>
            <a:prstGeom prst="rect">
              <a:avLst/>
            </a:prstGeom>
            <a:noFill/>
            <a:ln/>
          </p:spPr>
          <p:txBody>
            <a:bodyPr wrap="square" lIns="381" tIns="381" rIns="381" bIns="381" rtlCol="0" anchor="ctr">
              <a:noAutofit/>
            </a:bodyPr>
            <a:lstStyle/>
            <a:p>
              <a:pPr marL="0" indent="0" algn="l">
                <a:buNone/>
              </a:pPr>
              <a:r>
                <a:rPr lang="zh-TW" altLang="en-US" sz="1000" b="1" dirty="0">
                  <a:solidFill>
                    <a:srgbClr val="64748B"/>
                  </a:solidFill>
                  <a:latin typeface="Microsoft JhengHei" pitchFamily="34" charset="0"/>
                  <a:ea typeface="Microsoft JhengHei" pitchFamily="34" charset="-122"/>
                  <a:cs typeface="Microsoft JhengHei" pitchFamily="34" charset="-120"/>
                </a:rPr>
                <a:t>定義</a:t>
              </a:r>
              <a:r>
                <a:rPr lang="en-US" altLang="zh-TW" sz="1000" b="1" dirty="0">
                  <a:solidFill>
                    <a:srgbClr val="64748B"/>
                  </a:solidFill>
                  <a:latin typeface="Microsoft JhengHei" pitchFamily="34" charset="0"/>
                  <a:ea typeface="Microsoft JhengHei" pitchFamily="34" charset="-122"/>
                  <a:cs typeface="Microsoft JhengHei" pitchFamily="34" charset="-120"/>
                </a:rPr>
                <a:t>DB</a:t>
              </a:r>
              <a:r>
                <a:rPr lang="zh-TW" altLang="en-US" sz="1000" b="1" dirty="0">
                  <a:solidFill>
                    <a:srgbClr val="64748B"/>
                  </a:solidFill>
                  <a:latin typeface="Microsoft JhengHei" pitchFamily="34" charset="0"/>
                  <a:ea typeface="Microsoft JhengHei" pitchFamily="34" charset="-122"/>
                  <a:cs typeface="Microsoft JhengHei" pitchFamily="34" charset="-120"/>
                </a:rPr>
                <a:t>資料表 </a:t>
              </a:r>
              <a:r>
                <a:rPr lang="en-US" altLang="zh-TW" sz="1000" b="1" dirty="0">
                  <a:solidFill>
                    <a:srgbClr val="64748B"/>
                  </a:solidFill>
                  <a:latin typeface="Microsoft JhengHei" pitchFamily="34" charset="0"/>
                  <a:ea typeface="Microsoft JhengHei" pitchFamily="34" charset="-122"/>
                  <a:cs typeface="Microsoft JhengHei" pitchFamily="34" charset="-120"/>
                </a:rPr>
                <a:t>&amp;</a:t>
              </a:r>
              <a:r>
                <a:rPr lang="zh-TW" altLang="en-US" sz="1000" b="1" dirty="0">
                  <a:solidFill>
                    <a:srgbClr val="64748B"/>
                  </a:solidFill>
                  <a:latin typeface="Microsoft JhengHei" pitchFamily="34" charset="0"/>
                  <a:ea typeface="Microsoft JhengHei" pitchFamily="34" charset="-122"/>
                  <a:cs typeface="Microsoft JhengHei" pitchFamily="34" charset="-120"/>
                </a:rPr>
                <a:t> 商業</a:t>
              </a:r>
              <a:r>
                <a:rPr lang="en-US" altLang="zh-TW" sz="1000" b="1" dirty="0">
                  <a:solidFill>
                    <a:srgbClr val="64748B"/>
                  </a:solidFill>
                  <a:latin typeface="Microsoft JhengHei" pitchFamily="34" charset="0"/>
                  <a:ea typeface="Microsoft JhengHei" pitchFamily="34" charset="-122"/>
                  <a:cs typeface="Microsoft JhengHei" pitchFamily="34" charset="-120"/>
                </a:rPr>
                <a:t>/</a:t>
              </a:r>
              <a:r>
                <a:rPr lang="zh-TW" altLang="en-US" sz="1000" b="1" dirty="0">
                  <a:solidFill>
                    <a:srgbClr val="64748B"/>
                  </a:solidFill>
                  <a:latin typeface="Microsoft JhengHei" pitchFamily="34" charset="0"/>
                  <a:ea typeface="Microsoft JhengHei" pitchFamily="34" charset="-122"/>
                  <a:cs typeface="Microsoft JhengHei" pitchFamily="34" charset="-120"/>
                </a:rPr>
                <a:t>計算邏輯</a:t>
              </a:r>
              <a:endParaRPr lang="en-US" sz="1000" b="1" dirty="0"/>
            </a:p>
          </p:txBody>
        </p:sp>
      </p:grpSp>
      <p:grpSp>
        <p:nvGrpSpPr>
          <p:cNvPr id="557" name="群組 556">
            <a:extLst>
              <a:ext uri="{FF2B5EF4-FFF2-40B4-BE49-F238E27FC236}">
                <a16:creationId xmlns:a16="http://schemas.microsoft.com/office/drawing/2014/main" id="{94ED6368-AA7B-1EA5-4361-BE96FEA2BAD7}"/>
              </a:ext>
            </a:extLst>
          </p:cNvPr>
          <p:cNvGrpSpPr/>
          <p:nvPr/>
        </p:nvGrpSpPr>
        <p:grpSpPr>
          <a:xfrm>
            <a:off x="7154865" y="871287"/>
            <a:ext cx="4091377" cy="2723344"/>
            <a:chOff x="4722330" y="663087"/>
            <a:chExt cx="4091377" cy="2723344"/>
          </a:xfrm>
        </p:grpSpPr>
        <p:sp>
          <p:nvSpPr>
            <p:cNvPr id="490" name="Shape 10">
              <a:extLst>
                <a:ext uri="{FF2B5EF4-FFF2-40B4-BE49-F238E27FC236}">
                  <a16:creationId xmlns:a16="http://schemas.microsoft.com/office/drawing/2014/main" id="{131EAE21-E7CC-EC75-50B2-BC9B3F211276}"/>
                </a:ext>
              </a:extLst>
            </p:cNvPr>
            <p:cNvSpPr/>
            <p:nvPr/>
          </p:nvSpPr>
          <p:spPr>
            <a:xfrm>
              <a:off x="5083983" y="664831"/>
              <a:ext cx="2196000" cy="2721600"/>
            </a:xfrm>
            <a:prstGeom prst="roundRect">
              <a:avLst>
                <a:gd name="adj" fmla="val 3591"/>
              </a:avLst>
            </a:prstGeom>
            <a:solidFill>
              <a:srgbClr val="EFF6FF"/>
            </a:solidFill>
            <a:ln w="12700">
              <a:solidFill>
                <a:srgbClr val="EFF6FF"/>
              </a:solidFill>
              <a:prstDash val="solid"/>
            </a:ln>
          </p:spPr>
          <p:txBody>
            <a:bodyPr/>
            <a:lstStyle/>
            <a:p>
              <a:endParaRPr lang="zh-TW" altLang="en-US"/>
            </a:p>
          </p:txBody>
        </p:sp>
        <p:sp>
          <p:nvSpPr>
            <p:cNvPr id="492" name="Shape 11">
              <a:extLst>
                <a:ext uri="{FF2B5EF4-FFF2-40B4-BE49-F238E27FC236}">
                  <a16:creationId xmlns:a16="http://schemas.microsoft.com/office/drawing/2014/main" id="{507C7CCD-29A3-5172-7477-0DCBE9246714}"/>
                </a:ext>
              </a:extLst>
            </p:cNvPr>
            <p:cNvSpPr/>
            <p:nvPr/>
          </p:nvSpPr>
          <p:spPr>
            <a:xfrm>
              <a:off x="5099898" y="694427"/>
              <a:ext cx="2196000" cy="205200"/>
            </a:xfrm>
            <a:prstGeom prst="roundRect">
              <a:avLst>
                <a:gd name="adj" fmla="val 27083"/>
              </a:avLst>
            </a:prstGeom>
            <a:solidFill>
              <a:srgbClr val="2563EB"/>
            </a:solidFill>
            <a:ln w="12700">
              <a:solidFill>
                <a:srgbClr val="2563EB">
                  <a:alpha val="0"/>
                </a:srgbClr>
              </a:solidFill>
              <a:prstDash val="solid"/>
            </a:ln>
          </p:spPr>
          <p:txBody>
            <a:bodyPr/>
            <a:lstStyle/>
            <a:p>
              <a:endParaRPr lang="zh-TW" altLang="en-US"/>
            </a:p>
          </p:txBody>
        </p:sp>
        <p:sp>
          <p:nvSpPr>
            <p:cNvPr id="494" name="Text 12">
              <a:extLst>
                <a:ext uri="{FF2B5EF4-FFF2-40B4-BE49-F238E27FC236}">
                  <a16:creationId xmlns:a16="http://schemas.microsoft.com/office/drawing/2014/main" id="{4BAF6EF0-4FE5-465A-53B7-54339FD4CE9A}"/>
                </a:ext>
              </a:extLst>
            </p:cNvPr>
            <p:cNvSpPr/>
            <p:nvPr/>
          </p:nvSpPr>
          <p:spPr>
            <a:xfrm>
              <a:off x="5668171" y="663087"/>
              <a:ext cx="3145536" cy="246888"/>
            </a:xfrm>
            <a:prstGeom prst="rect">
              <a:avLst/>
            </a:prstGeom>
            <a:noFill/>
            <a:ln/>
          </p:spPr>
          <p:txBody>
            <a:bodyPr wrap="square" lIns="381" tIns="381" rIns="381" bIns="381" rtlCol="0" anchor="ctr">
              <a:normAutofit/>
            </a:bodyPr>
            <a:lstStyle/>
            <a:p>
              <a:pPr marL="0" indent="0" algn="l">
                <a:buNone/>
              </a:pPr>
              <a:r>
                <a:rPr lang="en-US" sz="1350" b="1" dirty="0">
                  <a:solidFill>
                    <a:srgbClr val="FFFFFF"/>
                  </a:solidFill>
                  <a:latin typeface="Microsoft JhengHei" pitchFamily="34" charset="0"/>
                  <a:ea typeface="Microsoft JhengHei" pitchFamily="34" charset="-122"/>
                  <a:cs typeface="Microsoft JhengHei" pitchFamily="34" charset="-120"/>
                </a:rPr>
                <a:t>③ </a:t>
              </a:r>
              <a:r>
                <a:rPr lang="en-US" sz="1350" b="1" dirty="0" err="1">
                  <a:solidFill>
                    <a:srgbClr val="FFFFFF"/>
                  </a:solidFill>
                  <a:latin typeface="Microsoft JhengHei" pitchFamily="34" charset="0"/>
                  <a:ea typeface="Microsoft JhengHei" pitchFamily="34" charset="-122"/>
                  <a:cs typeface="Microsoft JhengHei" pitchFamily="34" charset="-120"/>
                </a:rPr>
                <a:t>產生</a:t>
              </a:r>
              <a:r>
                <a:rPr lang="en-US" sz="1350" b="1" dirty="0">
                  <a:solidFill>
                    <a:srgbClr val="FFFFFF"/>
                  </a:solidFill>
                  <a:latin typeface="Microsoft JhengHei" pitchFamily="34" charset="0"/>
                  <a:ea typeface="Microsoft JhengHei" pitchFamily="34" charset="-122"/>
                  <a:cs typeface="Microsoft JhengHei" pitchFamily="34" charset="-120"/>
                </a:rPr>
                <a:t> SQL </a:t>
              </a:r>
              <a:endParaRPr lang="en-US" sz="1350" dirty="0"/>
            </a:p>
          </p:txBody>
        </p:sp>
        <p:sp>
          <p:nvSpPr>
            <p:cNvPr id="496" name="Text 13">
              <a:extLst>
                <a:ext uri="{FF2B5EF4-FFF2-40B4-BE49-F238E27FC236}">
                  <a16:creationId xmlns:a16="http://schemas.microsoft.com/office/drawing/2014/main" id="{46E0EC90-FDA9-EE6B-9572-8B8F2AB00DEB}"/>
                </a:ext>
              </a:extLst>
            </p:cNvPr>
            <p:cNvSpPr/>
            <p:nvPr/>
          </p:nvSpPr>
          <p:spPr>
            <a:xfrm>
              <a:off x="5643323" y="945757"/>
              <a:ext cx="3081528" cy="164592"/>
            </a:xfrm>
            <a:prstGeom prst="rect">
              <a:avLst/>
            </a:prstGeom>
            <a:noFill/>
            <a:ln/>
          </p:spPr>
          <p:txBody>
            <a:bodyPr wrap="square" lIns="381" tIns="381" rIns="381" bIns="381" rtlCol="0" anchor="ctr">
              <a:normAutofit/>
            </a:bodyPr>
            <a:lstStyle/>
            <a:p>
              <a:pPr marL="0" indent="0" algn="l">
                <a:buNone/>
              </a:pPr>
              <a:r>
                <a:rPr lang="zh-TW" altLang="en-US" sz="1000" b="1" dirty="0">
                  <a:solidFill>
                    <a:srgbClr val="64748B"/>
                  </a:solidFill>
                  <a:latin typeface="Microsoft JhengHei" pitchFamily="34" charset="0"/>
                  <a:ea typeface="Microsoft JhengHei" pitchFamily="34" charset="-122"/>
                </a:rPr>
                <a:t>產生和執行</a:t>
              </a:r>
              <a:r>
                <a:rPr lang="en-US" altLang="zh-TW" sz="1000" b="1" dirty="0">
                  <a:solidFill>
                    <a:srgbClr val="64748B"/>
                  </a:solidFill>
                  <a:latin typeface="Microsoft JhengHei" pitchFamily="34" charset="0"/>
                  <a:ea typeface="Microsoft JhengHei" pitchFamily="34" charset="-122"/>
                </a:rPr>
                <a:t>SQL</a:t>
              </a:r>
              <a:endParaRPr lang="en-US" sz="1000" b="1" dirty="0"/>
            </a:p>
          </p:txBody>
        </p:sp>
        <p:sp>
          <p:nvSpPr>
            <p:cNvPr id="498" name="Shape 51">
              <a:extLst>
                <a:ext uri="{FF2B5EF4-FFF2-40B4-BE49-F238E27FC236}">
                  <a16:creationId xmlns:a16="http://schemas.microsoft.com/office/drawing/2014/main" id="{4B2F351C-6B9B-9AD5-8FC3-B644C67429BA}"/>
                </a:ext>
              </a:extLst>
            </p:cNvPr>
            <p:cNvSpPr/>
            <p:nvPr/>
          </p:nvSpPr>
          <p:spPr>
            <a:xfrm>
              <a:off x="5082069" y="1167142"/>
              <a:ext cx="2196000" cy="241200"/>
            </a:xfrm>
            <a:prstGeom prst="roundRect">
              <a:avLst>
                <a:gd name="adj" fmla="val 17391"/>
              </a:avLst>
            </a:prstGeom>
            <a:solidFill>
              <a:srgbClr val="FFFFFF"/>
            </a:solidFill>
            <a:ln w="15240">
              <a:solidFill>
                <a:srgbClr val="2563EB"/>
              </a:solidFill>
              <a:prstDash val="solid"/>
            </a:ln>
          </p:spPr>
          <p:txBody>
            <a:bodyPr/>
            <a:lstStyle/>
            <a:p>
              <a:endParaRPr lang="zh-TW" altLang="en-US" dirty="0"/>
            </a:p>
          </p:txBody>
        </p:sp>
        <p:sp>
          <p:nvSpPr>
            <p:cNvPr id="500" name="Text 52">
              <a:extLst>
                <a:ext uri="{FF2B5EF4-FFF2-40B4-BE49-F238E27FC236}">
                  <a16:creationId xmlns:a16="http://schemas.microsoft.com/office/drawing/2014/main" id="{6FCEDA4B-9F9F-94E7-095B-2B534247D585}"/>
                </a:ext>
              </a:extLst>
            </p:cNvPr>
            <p:cNvSpPr/>
            <p:nvPr/>
          </p:nvSpPr>
          <p:spPr>
            <a:xfrm>
              <a:off x="4722330" y="1098537"/>
              <a:ext cx="2798064" cy="384048"/>
            </a:xfrm>
            <a:prstGeom prst="rect">
              <a:avLst/>
            </a:prstGeom>
            <a:noFill/>
            <a:ln/>
          </p:spPr>
          <p:txBody>
            <a:bodyPr wrap="square" lIns="381" tIns="381" rIns="381" bIns="381" rtlCol="0" anchor="ctr">
              <a:normAutofit/>
            </a:bodyPr>
            <a:lstStyle/>
            <a:p>
              <a:pPr marL="0" indent="0" algn="ctr">
                <a:buNone/>
              </a:pPr>
              <a:r>
                <a:rPr lang="en-US" sz="1000" b="1" dirty="0">
                  <a:solidFill>
                    <a:srgbClr val="1F2937"/>
                  </a:solidFill>
                  <a:latin typeface="Microsoft JhengHei" pitchFamily="34" charset="0"/>
                  <a:ea typeface="Microsoft JhengHei" pitchFamily="34" charset="-122"/>
                  <a:cs typeface="Microsoft JhengHei" pitchFamily="34" charset="-120"/>
                </a:rPr>
                <a:t>SQL Reasoning Plan</a:t>
              </a:r>
              <a:endParaRPr lang="en-US" sz="1000" dirty="0"/>
            </a:p>
          </p:txBody>
        </p:sp>
        <p:sp>
          <p:nvSpPr>
            <p:cNvPr id="504" name="Shape 54">
              <a:extLst>
                <a:ext uri="{FF2B5EF4-FFF2-40B4-BE49-F238E27FC236}">
                  <a16:creationId xmlns:a16="http://schemas.microsoft.com/office/drawing/2014/main" id="{75356127-A2AA-7C25-279F-CBBB7A7BBD48}"/>
                </a:ext>
              </a:extLst>
            </p:cNvPr>
            <p:cNvSpPr/>
            <p:nvPr/>
          </p:nvSpPr>
          <p:spPr>
            <a:xfrm>
              <a:off x="5068867" y="1576045"/>
              <a:ext cx="2196000" cy="241200"/>
            </a:xfrm>
            <a:prstGeom prst="roundRect">
              <a:avLst>
                <a:gd name="adj" fmla="val 17391"/>
              </a:avLst>
            </a:prstGeom>
            <a:solidFill>
              <a:srgbClr val="FFFFFF"/>
            </a:solidFill>
            <a:ln w="15240">
              <a:solidFill>
                <a:srgbClr val="2563EB"/>
              </a:solidFill>
              <a:prstDash val="solid"/>
            </a:ln>
          </p:spPr>
          <p:txBody>
            <a:bodyPr/>
            <a:lstStyle/>
            <a:p>
              <a:endParaRPr lang="zh-TW" altLang="en-US"/>
            </a:p>
          </p:txBody>
        </p:sp>
        <p:sp>
          <p:nvSpPr>
            <p:cNvPr id="506" name="Text 55">
              <a:extLst>
                <a:ext uri="{FF2B5EF4-FFF2-40B4-BE49-F238E27FC236}">
                  <a16:creationId xmlns:a16="http://schemas.microsoft.com/office/drawing/2014/main" id="{E4ECA847-7D2D-2FC2-BE80-FF779F1DFCA2}"/>
                </a:ext>
              </a:extLst>
            </p:cNvPr>
            <p:cNvSpPr/>
            <p:nvPr/>
          </p:nvSpPr>
          <p:spPr>
            <a:xfrm>
              <a:off x="4835722" y="1513669"/>
              <a:ext cx="2715586" cy="384048"/>
            </a:xfrm>
            <a:prstGeom prst="rect">
              <a:avLst/>
            </a:prstGeom>
            <a:noFill/>
            <a:ln/>
          </p:spPr>
          <p:txBody>
            <a:bodyPr wrap="square" lIns="381" tIns="381" rIns="381" bIns="381" rtlCol="0" anchor="ctr">
              <a:normAutofit/>
            </a:bodyPr>
            <a:lstStyle/>
            <a:p>
              <a:pPr marL="0" indent="0" algn="ctr">
                <a:buNone/>
              </a:pPr>
              <a:r>
                <a:rPr lang="en-US" sz="1000" b="1" dirty="0">
                  <a:solidFill>
                    <a:srgbClr val="1F2937"/>
                  </a:solidFill>
                  <a:latin typeface="Microsoft JhengHei" pitchFamily="34" charset="0"/>
                  <a:ea typeface="Microsoft JhengHei" pitchFamily="34" charset="-122"/>
                  <a:cs typeface="Microsoft JhengHei" pitchFamily="34" charset="-120"/>
                </a:rPr>
                <a:t>Text-to-SQL（Semantic SQL）</a:t>
              </a:r>
              <a:endParaRPr lang="en-US" sz="1000" b="1" dirty="0"/>
            </a:p>
          </p:txBody>
        </p:sp>
        <p:sp>
          <p:nvSpPr>
            <p:cNvPr id="510" name="Shape 57">
              <a:extLst>
                <a:ext uri="{FF2B5EF4-FFF2-40B4-BE49-F238E27FC236}">
                  <a16:creationId xmlns:a16="http://schemas.microsoft.com/office/drawing/2014/main" id="{DBB3520C-F8FD-D6D9-634F-0D41A77DCCB8}"/>
                </a:ext>
              </a:extLst>
            </p:cNvPr>
            <p:cNvSpPr/>
            <p:nvPr/>
          </p:nvSpPr>
          <p:spPr>
            <a:xfrm>
              <a:off x="5095515" y="1974037"/>
              <a:ext cx="2196000" cy="241200"/>
            </a:xfrm>
            <a:prstGeom prst="roundRect">
              <a:avLst>
                <a:gd name="adj" fmla="val 17391"/>
              </a:avLst>
            </a:prstGeom>
            <a:solidFill>
              <a:srgbClr val="FFFFFF"/>
            </a:solidFill>
            <a:ln w="15240">
              <a:solidFill>
                <a:srgbClr val="2563EB"/>
              </a:solidFill>
              <a:prstDash val="solid"/>
            </a:ln>
          </p:spPr>
          <p:txBody>
            <a:bodyPr/>
            <a:lstStyle/>
            <a:p>
              <a:endParaRPr lang="zh-TW" altLang="en-US"/>
            </a:p>
          </p:txBody>
        </p:sp>
        <p:sp>
          <p:nvSpPr>
            <p:cNvPr id="512" name="Text 58">
              <a:extLst>
                <a:ext uri="{FF2B5EF4-FFF2-40B4-BE49-F238E27FC236}">
                  <a16:creationId xmlns:a16="http://schemas.microsoft.com/office/drawing/2014/main" id="{7888785D-F33E-7F0E-F128-B8CF65433A5D}"/>
                </a:ext>
              </a:extLst>
            </p:cNvPr>
            <p:cNvSpPr/>
            <p:nvPr/>
          </p:nvSpPr>
          <p:spPr>
            <a:xfrm>
              <a:off x="5007766" y="1902613"/>
              <a:ext cx="2436958" cy="384048"/>
            </a:xfrm>
            <a:prstGeom prst="rect">
              <a:avLst/>
            </a:prstGeom>
            <a:noFill/>
            <a:ln/>
          </p:spPr>
          <p:txBody>
            <a:bodyPr wrap="square" lIns="381" tIns="381" rIns="381" bIns="381" rtlCol="0" anchor="ctr">
              <a:normAutofit/>
            </a:bodyPr>
            <a:lstStyle/>
            <a:p>
              <a:pPr marL="0" indent="0" algn="ctr">
                <a:buNone/>
              </a:pPr>
              <a:r>
                <a:rPr lang="en-US" sz="1000" b="1" dirty="0">
                  <a:solidFill>
                    <a:srgbClr val="1F2937"/>
                  </a:solidFill>
                  <a:latin typeface="Microsoft JhengHei" pitchFamily="34" charset="0"/>
                  <a:ea typeface="Microsoft JhengHei" pitchFamily="34" charset="-122"/>
                  <a:cs typeface="Microsoft JhengHei" pitchFamily="34" charset="-120"/>
                </a:rPr>
                <a:t>SQL Planning（Executable SQL）</a:t>
              </a:r>
              <a:endParaRPr lang="en-US" sz="1000" b="1" dirty="0"/>
            </a:p>
          </p:txBody>
        </p:sp>
        <p:sp>
          <p:nvSpPr>
            <p:cNvPr id="516" name="Shape 60">
              <a:extLst>
                <a:ext uri="{FF2B5EF4-FFF2-40B4-BE49-F238E27FC236}">
                  <a16:creationId xmlns:a16="http://schemas.microsoft.com/office/drawing/2014/main" id="{9A398147-CA7A-78E2-A8AD-C7A3BB0DC8D3}"/>
                </a:ext>
              </a:extLst>
            </p:cNvPr>
            <p:cNvSpPr/>
            <p:nvPr/>
          </p:nvSpPr>
          <p:spPr>
            <a:xfrm>
              <a:off x="5082069" y="2312178"/>
              <a:ext cx="2196000" cy="241200"/>
            </a:xfrm>
            <a:prstGeom prst="roundRect">
              <a:avLst>
                <a:gd name="adj" fmla="val 17391"/>
              </a:avLst>
            </a:prstGeom>
            <a:solidFill>
              <a:srgbClr val="FFFFFF"/>
            </a:solidFill>
            <a:ln w="15240">
              <a:solidFill>
                <a:srgbClr val="2563EB"/>
              </a:solidFill>
              <a:prstDash val="solid"/>
            </a:ln>
          </p:spPr>
          <p:txBody>
            <a:bodyPr/>
            <a:lstStyle/>
            <a:p>
              <a:endParaRPr lang="zh-TW" altLang="en-US"/>
            </a:p>
          </p:txBody>
        </p:sp>
        <p:sp>
          <p:nvSpPr>
            <p:cNvPr id="518" name="Text 61">
              <a:extLst>
                <a:ext uri="{FF2B5EF4-FFF2-40B4-BE49-F238E27FC236}">
                  <a16:creationId xmlns:a16="http://schemas.microsoft.com/office/drawing/2014/main" id="{41A1B069-8E0D-B8FF-02B3-C535AC872B40}"/>
                </a:ext>
              </a:extLst>
            </p:cNvPr>
            <p:cNvSpPr/>
            <p:nvPr/>
          </p:nvSpPr>
          <p:spPr>
            <a:xfrm>
              <a:off x="5377457" y="2240945"/>
              <a:ext cx="1608156" cy="384048"/>
            </a:xfrm>
            <a:prstGeom prst="rect">
              <a:avLst/>
            </a:prstGeom>
            <a:noFill/>
            <a:ln/>
          </p:spPr>
          <p:txBody>
            <a:bodyPr wrap="square" lIns="381" tIns="381" rIns="381" bIns="381" rtlCol="0" anchor="ctr">
              <a:normAutofit/>
            </a:bodyPr>
            <a:lstStyle/>
            <a:p>
              <a:pPr marL="0" indent="0" algn="ctr">
                <a:buNone/>
              </a:pPr>
              <a:r>
                <a:rPr lang="en-US" altLang="zh-TW" sz="1200" b="1" dirty="0">
                  <a:solidFill>
                    <a:srgbClr val="1F2937"/>
                  </a:solidFill>
                  <a:latin typeface="Microsoft JhengHei" pitchFamily="34" charset="0"/>
                  <a:ea typeface="Microsoft JhengHei" pitchFamily="34" charset="-122"/>
                  <a:cs typeface="Microsoft JhengHei" pitchFamily="34" charset="-120"/>
                </a:rPr>
                <a:t>SQL</a:t>
              </a:r>
              <a:r>
                <a:rPr lang="zh-TW" altLang="en-US" sz="1200" b="1" dirty="0">
                  <a:solidFill>
                    <a:srgbClr val="1F2937"/>
                  </a:solidFill>
                  <a:latin typeface="Microsoft JhengHei" pitchFamily="34" charset="0"/>
                  <a:ea typeface="Microsoft JhengHei" pitchFamily="34" charset="-122"/>
                  <a:cs typeface="Microsoft JhengHei" pitchFamily="34" charset="-120"/>
                </a:rPr>
                <a:t> </a:t>
              </a:r>
              <a:r>
                <a:rPr lang="en-US" sz="1200" b="1" dirty="0">
                  <a:solidFill>
                    <a:srgbClr val="1F2937"/>
                  </a:solidFill>
                  <a:latin typeface="Microsoft JhengHei" pitchFamily="34" charset="0"/>
                  <a:ea typeface="Microsoft JhengHei" pitchFamily="34" charset="-122"/>
                  <a:cs typeface="Microsoft JhengHei" pitchFamily="34" charset="-120"/>
                </a:rPr>
                <a:t>Validation</a:t>
              </a:r>
              <a:r>
                <a:rPr lang="zh-TW" altLang="en-US" sz="1200" b="1" dirty="0">
                  <a:solidFill>
                    <a:srgbClr val="1F2937"/>
                  </a:solidFill>
                  <a:latin typeface="Microsoft JhengHei" pitchFamily="34" charset="0"/>
                  <a:ea typeface="Microsoft JhengHei" pitchFamily="34" charset="-122"/>
                  <a:cs typeface="Microsoft JhengHei" pitchFamily="34" charset="-120"/>
                </a:rPr>
                <a:t>和執行 </a:t>
              </a:r>
              <a:endParaRPr lang="en-US" sz="1200" dirty="0"/>
            </a:p>
          </p:txBody>
        </p:sp>
      </p:grpSp>
      <p:grpSp>
        <p:nvGrpSpPr>
          <p:cNvPr id="551" name="群組 550">
            <a:extLst>
              <a:ext uri="{FF2B5EF4-FFF2-40B4-BE49-F238E27FC236}">
                <a16:creationId xmlns:a16="http://schemas.microsoft.com/office/drawing/2014/main" id="{867477E8-9619-61F3-9647-832E8645DAAC}"/>
              </a:ext>
            </a:extLst>
          </p:cNvPr>
          <p:cNvGrpSpPr/>
          <p:nvPr/>
        </p:nvGrpSpPr>
        <p:grpSpPr>
          <a:xfrm>
            <a:off x="9888797" y="869602"/>
            <a:ext cx="2745394" cy="2764081"/>
            <a:chOff x="7597224" y="642010"/>
            <a:chExt cx="2745394" cy="2764081"/>
          </a:xfrm>
        </p:grpSpPr>
        <p:sp>
          <p:nvSpPr>
            <p:cNvPr id="534" name="Shape 14">
              <a:extLst>
                <a:ext uri="{FF2B5EF4-FFF2-40B4-BE49-F238E27FC236}">
                  <a16:creationId xmlns:a16="http://schemas.microsoft.com/office/drawing/2014/main" id="{014DC970-683D-9C0D-4E5B-4F4035485ADD}"/>
                </a:ext>
              </a:extLst>
            </p:cNvPr>
            <p:cNvSpPr/>
            <p:nvPr/>
          </p:nvSpPr>
          <p:spPr>
            <a:xfrm>
              <a:off x="7611169" y="684491"/>
              <a:ext cx="2196000" cy="2721600"/>
            </a:xfrm>
            <a:prstGeom prst="roundRect">
              <a:avLst>
                <a:gd name="adj" fmla="val 5350"/>
              </a:avLst>
            </a:prstGeom>
            <a:solidFill>
              <a:srgbClr val="F7F0FF"/>
            </a:solidFill>
            <a:ln w="12700">
              <a:solidFill>
                <a:srgbClr val="F7F0FF"/>
              </a:solidFill>
              <a:prstDash val="solid"/>
            </a:ln>
          </p:spPr>
          <p:txBody>
            <a:bodyPr/>
            <a:lstStyle/>
            <a:p>
              <a:endParaRPr lang="zh-TW" altLang="en-US"/>
            </a:p>
          </p:txBody>
        </p:sp>
        <p:sp>
          <p:nvSpPr>
            <p:cNvPr id="536" name="Shape 15">
              <a:extLst>
                <a:ext uri="{FF2B5EF4-FFF2-40B4-BE49-F238E27FC236}">
                  <a16:creationId xmlns:a16="http://schemas.microsoft.com/office/drawing/2014/main" id="{FF4DFA2A-895C-6690-C759-694371441E34}"/>
                </a:ext>
              </a:extLst>
            </p:cNvPr>
            <p:cNvSpPr/>
            <p:nvPr/>
          </p:nvSpPr>
          <p:spPr>
            <a:xfrm>
              <a:off x="7597224" y="676197"/>
              <a:ext cx="2196000" cy="205200"/>
            </a:xfrm>
            <a:prstGeom prst="roundRect">
              <a:avLst>
                <a:gd name="adj" fmla="val 27083"/>
              </a:avLst>
            </a:prstGeom>
            <a:solidFill>
              <a:srgbClr val="8B5CF6"/>
            </a:solidFill>
            <a:ln w="12700">
              <a:solidFill>
                <a:srgbClr val="8B5CF6">
                  <a:alpha val="0"/>
                </a:srgbClr>
              </a:solidFill>
              <a:prstDash val="solid"/>
            </a:ln>
          </p:spPr>
          <p:txBody>
            <a:bodyPr/>
            <a:lstStyle/>
            <a:p>
              <a:endParaRPr lang="zh-TW" altLang="en-US"/>
            </a:p>
          </p:txBody>
        </p:sp>
        <p:sp>
          <p:nvSpPr>
            <p:cNvPr id="538" name="Text 16">
              <a:extLst>
                <a:ext uri="{FF2B5EF4-FFF2-40B4-BE49-F238E27FC236}">
                  <a16:creationId xmlns:a16="http://schemas.microsoft.com/office/drawing/2014/main" id="{57AC36D9-5907-B3F9-1577-189DECA3965B}"/>
                </a:ext>
              </a:extLst>
            </p:cNvPr>
            <p:cNvSpPr/>
            <p:nvPr/>
          </p:nvSpPr>
          <p:spPr>
            <a:xfrm>
              <a:off x="8285218" y="642010"/>
              <a:ext cx="2057400" cy="246888"/>
            </a:xfrm>
            <a:prstGeom prst="rect">
              <a:avLst/>
            </a:prstGeom>
            <a:noFill/>
            <a:ln/>
          </p:spPr>
          <p:txBody>
            <a:bodyPr wrap="square" lIns="381" tIns="381" rIns="381" bIns="381" rtlCol="0" anchor="ctr">
              <a:normAutofit/>
            </a:bodyPr>
            <a:lstStyle/>
            <a:p>
              <a:pPr marL="0" indent="0" algn="l">
                <a:buNone/>
              </a:pPr>
              <a:r>
                <a:rPr lang="en-US" sz="1350" b="1" dirty="0">
                  <a:solidFill>
                    <a:srgbClr val="FFFFFF"/>
                  </a:solidFill>
                  <a:latin typeface="Microsoft JhengHei" pitchFamily="34" charset="0"/>
                  <a:ea typeface="Microsoft JhengHei" pitchFamily="34" charset="-122"/>
                  <a:cs typeface="Microsoft JhengHei" pitchFamily="34" charset="-120"/>
                </a:rPr>
                <a:t>④ 分析</a:t>
              </a:r>
              <a:endParaRPr lang="en-US" sz="1350" dirty="0"/>
            </a:p>
          </p:txBody>
        </p:sp>
        <p:sp>
          <p:nvSpPr>
            <p:cNvPr id="540" name="Text 17">
              <a:extLst>
                <a:ext uri="{FF2B5EF4-FFF2-40B4-BE49-F238E27FC236}">
                  <a16:creationId xmlns:a16="http://schemas.microsoft.com/office/drawing/2014/main" id="{AC49D7FE-E0A0-13C3-119D-13BDBEF09A03}"/>
                </a:ext>
              </a:extLst>
            </p:cNvPr>
            <p:cNvSpPr/>
            <p:nvPr/>
          </p:nvSpPr>
          <p:spPr>
            <a:xfrm>
              <a:off x="8232705" y="945757"/>
              <a:ext cx="1993392" cy="164592"/>
            </a:xfrm>
            <a:prstGeom prst="rect">
              <a:avLst/>
            </a:prstGeom>
            <a:noFill/>
            <a:ln/>
          </p:spPr>
          <p:txBody>
            <a:bodyPr wrap="square" lIns="381" tIns="381" rIns="381" bIns="381" rtlCol="0" anchor="ctr">
              <a:normAutofit/>
            </a:bodyPr>
            <a:lstStyle/>
            <a:p>
              <a:pPr marL="0" indent="0" algn="l">
                <a:buNone/>
              </a:pPr>
              <a:r>
                <a:rPr lang="en-US" sz="1000" b="1" dirty="0">
                  <a:solidFill>
                    <a:srgbClr val="64748B"/>
                  </a:solidFill>
                  <a:latin typeface="Microsoft JhengHei" pitchFamily="34" charset="0"/>
                  <a:ea typeface="Microsoft JhengHei" pitchFamily="34" charset="-122"/>
                  <a:cs typeface="Microsoft JhengHei" pitchFamily="34" charset="-120"/>
                </a:rPr>
                <a:t>解釋結果並回答</a:t>
              </a:r>
              <a:endParaRPr lang="en-US" sz="1000" b="1" dirty="0"/>
            </a:p>
          </p:txBody>
        </p:sp>
        <p:sp>
          <p:nvSpPr>
            <p:cNvPr id="542" name="Shape 66">
              <a:extLst>
                <a:ext uri="{FF2B5EF4-FFF2-40B4-BE49-F238E27FC236}">
                  <a16:creationId xmlns:a16="http://schemas.microsoft.com/office/drawing/2014/main" id="{3C1B454C-2B56-42B0-82D9-0E5B5597412B}"/>
                </a:ext>
              </a:extLst>
            </p:cNvPr>
            <p:cNvSpPr/>
            <p:nvPr/>
          </p:nvSpPr>
          <p:spPr>
            <a:xfrm>
              <a:off x="7597224" y="1213721"/>
              <a:ext cx="2196000" cy="241200"/>
            </a:xfrm>
            <a:prstGeom prst="roundRect">
              <a:avLst>
                <a:gd name="adj" fmla="val 13793"/>
              </a:avLst>
            </a:prstGeom>
            <a:solidFill>
              <a:srgbClr val="FFFFFF"/>
            </a:solidFill>
            <a:ln w="15240">
              <a:solidFill>
                <a:srgbClr val="8B5CF6"/>
              </a:solidFill>
              <a:prstDash val="solid"/>
            </a:ln>
          </p:spPr>
          <p:txBody>
            <a:bodyPr/>
            <a:lstStyle/>
            <a:p>
              <a:endParaRPr lang="zh-TW" altLang="en-US"/>
            </a:p>
          </p:txBody>
        </p:sp>
        <p:sp>
          <p:nvSpPr>
            <p:cNvPr id="544" name="Text 67">
              <a:extLst>
                <a:ext uri="{FF2B5EF4-FFF2-40B4-BE49-F238E27FC236}">
                  <a16:creationId xmlns:a16="http://schemas.microsoft.com/office/drawing/2014/main" id="{4F0A0B56-1A85-C2AF-1076-AF37FB871722}"/>
                </a:ext>
              </a:extLst>
            </p:cNvPr>
            <p:cNvSpPr/>
            <p:nvPr/>
          </p:nvSpPr>
          <p:spPr>
            <a:xfrm>
              <a:off x="7765636" y="1060363"/>
              <a:ext cx="1728216" cy="493776"/>
            </a:xfrm>
            <a:prstGeom prst="rect">
              <a:avLst/>
            </a:prstGeom>
            <a:noFill/>
            <a:ln/>
          </p:spPr>
          <p:txBody>
            <a:bodyPr wrap="square" lIns="381" tIns="381" rIns="381" bIns="381" rtlCol="0" anchor="ctr">
              <a:normAutofit/>
            </a:bodyPr>
            <a:lstStyle/>
            <a:p>
              <a:pPr marL="0" indent="0" algn="ctr">
                <a:buNone/>
              </a:pPr>
              <a:r>
                <a:rPr lang="en-US" sz="1200" b="1" dirty="0">
                  <a:solidFill>
                    <a:srgbClr val="1F2937"/>
                  </a:solidFill>
                  <a:latin typeface="Microsoft JhengHei" pitchFamily="34" charset="0"/>
                  <a:ea typeface="Microsoft JhengHei" pitchFamily="34" charset="-122"/>
                  <a:cs typeface="Microsoft JhengHei" pitchFamily="34" charset="-120"/>
                </a:rPr>
                <a:t>Explain Result</a:t>
              </a:r>
              <a:endParaRPr lang="en-US" sz="1200" dirty="0"/>
            </a:p>
          </p:txBody>
        </p:sp>
        <p:sp>
          <p:nvSpPr>
            <p:cNvPr id="546" name="Shape 68">
              <a:extLst>
                <a:ext uri="{FF2B5EF4-FFF2-40B4-BE49-F238E27FC236}">
                  <a16:creationId xmlns:a16="http://schemas.microsoft.com/office/drawing/2014/main" id="{7AB4DE7B-FC95-2926-F75A-AFD617233BC8}"/>
                </a:ext>
              </a:extLst>
            </p:cNvPr>
            <p:cNvSpPr/>
            <p:nvPr/>
          </p:nvSpPr>
          <p:spPr>
            <a:xfrm>
              <a:off x="7625114" y="1679164"/>
              <a:ext cx="2196000" cy="241200"/>
            </a:xfrm>
            <a:prstGeom prst="roundRect">
              <a:avLst>
                <a:gd name="adj" fmla="val 13793"/>
              </a:avLst>
            </a:prstGeom>
            <a:solidFill>
              <a:srgbClr val="FFFFFF"/>
            </a:solidFill>
            <a:ln w="15240">
              <a:solidFill>
                <a:srgbClr val="8B5CF6"/>
              </a:solidFill>
              <a:prstDash val="solid"/>
            </a:ln>
          </p:spPr>
          <p:txBody>
            <a:bodyPr/>
            <a:lstStyle/>
            <a:p>
              <a:endParaRPr lang="zh-TW" altLang="en-US"/>
            </a:p>
          </p:txBody>
        </p:sp>
        <p:sp>
          <p:nvSpPr>
            <p:cNvPr id="548" name="Text 69">
              <a:extLst>
                <a:ext uri="{FF2B5EF4-FFF2-40B4-BE49-F238E27FC236}">
                  <a16:creationId xmlns:a16="http://schemas.microsoft.com/office/drawing/2014/main" id="{DA94D2DD-D2B9-ADAF-81B3-D30BA3893515}"/>
                </a:ext>
              </a:extLst>
            </p:cNvPr>
            <p:cNvSpPr/>
            <p:nvPr/>
          </p:nvSpPr>
          <p:spPr>
            <a:xfrm>
              <a:off x="7831116" y="1536224"/>
              <a:ext cx="1728216" cy="493776"/>
            </a:xfrm>
            <a:prstGeom prst="rect">
              <a:avLst/>
            </a:prstGeom>
            <a:noFill/>
            <a:ln/>
          </p:spPr>
          <p:txBody>
            <a:bodyPr wrap="square" lIns="381" tIns="381" rIns="381" bIns="381" rtlCol="0" anchor="ctr">
              <a:normAutofit/>
            </a:bodyPr>
            <a:lstStyle/>
            <a:p>
              <a:pPr marL="0" indent="0" algn="ctr">
                <a:buNone/>
              </a:pPr>
              <a:r>
                <a:rPr lang="en-US" sz="1200" b="1" dirty="0">
                  <a:solidFill>
                    <a:srgbClr val="1F2937"/>
                  </a:solidFill>
                  <a:latin typeface="Microsoft JhengHei" pitchFamily="34" charset="0"/>
                  <a:ea typeface="Microsoft JhengHei" pitchFamily="34" charset="-122"/>
                  <a:cs typeface="Microsoft JhengHei" pitchFamily="34" charset="-120"/>
                </a:rPr>
                <a:t>User Answer</a:t>
              </a:r>
              <a:endParaRPr lang="en-US" sz="1200" dirty="0"/>
            </a:p>
          </p:txBody>
        </p:sp>
      </p:grpSp>
      <p:sp>
        <p:nvSpPr>
          <p:cNvPr id="567" name="矩形: 圓角 566">
            <a:extLst>
              <a:ext uri="{FF2B5EF4-FFF2-40B4-BE49-F238E27FC236}">
                <a16:creationId xmlns:a16="http://schemas.microsoft.com/office/drawing/2014/main" id="{BDC5FCF8-0946-0E6B-05DD-774B9852F629}"/>
              </a:ext>
            </a:extLst>
          </p:cNvPr>
          <p:cNvSpPr/>
          <p:nvPr/>
        </p:nvSpPr>
        <p:spPr>
          <a:xfrm>
            <a:off x="2775155" y="3895831"/>
            <a:ext cx="2210400" cy="291409"/>
          </a:xfrm>
          <a:prstGeom prst="roundRect">
            <a:avLst/>
          </a:prstGeom>
          <a:solidFill>
            <a:srgbClr val="FFFFFF"/>
          </a:solidFill>
          <a:ln>
            <a:solidFill>
              <a:srgbClr val="DCE6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569" name="Shape 3">
            <a:extLst>
              <a:ext uri="{FF2B5EF4-FFF2-40B4-BE49-F238E27FC236}">
                <a16:creationId xmlns:a16="http://schemas.microsoft.com/office/drawing/2014/main" id="{8C667ACA-5618-2FB5-86F1-4FB51F02969D}"/>
              </a:ext>
            </a:extLst>
          </p:cNvPr>
          <p:cNvSpPr/>
          <p:nvPr/>
        </p:nvSpPr>
        <p:spPr>
          <a:xfrm>
            <a:off x="2796793" y="3643810"/>
            <a:ext cx="2210400" cy="206417"/>
          </a:xfrm>
          <a:prstGeom prst="roundRect">
            <a:avLst>
              <a:gd name="adj" fmla="val 27083"/>
            </a:avLst>
          </a:prstGeom>
          <a:solidFill>
            <a:srgbClr val="F59E0B"/>
          </a:solidFill>
          <a:ln w="12700">
            <a:solidFill>
              <a:srgbClr val="F59E0B">
                <a:alpha val="0"/>
              </a:srgbClr>
            </a:solidFill>
            <a:prstDash val="solid"/>
          </a:ln>
        </p:spPr>
        <p:txBody>
          <a:bodyPr/>
          <a:lstStyle/>
          <a:p>
            <a:endParaRPr lang="zh-TW" altLang="en-US"/>
          </a:p>
        </p:txBody>
      </p:sp>
      <p:sp>
        <p:nvSpPr>
          <p:cNvPr id="571" name="Text 4">
            <a:extLst>
              <a:ext uri="{FF2B5EF4-FFF2-40B4-BE49-F238E27FC236}">
                <a16:creationId xmlns:a16="http://schemas.microsoft.com/office/drawing/2014/main" id="{BEEEC0F9-D8FB-5CC7-5551-3E1D5B4DA77D}"/>
              </a:ext>
            </a:extLst>
          </p:cNvPr>
          <p:cNvSpPr/>
          <p:nvPr/>
        </p:nvSpPr>
        <p:spPr>
          <a:xfrm>
            <a:off x="1805972" y="3692737"/>
            <a:ext cx="2468880" cy="246888"/>
          </a:xfrm>
          <a:prstGeom prst="rect">
            <a:avLst/>
          </a:prstGeom>
          <a:noFill/>
          <a:ln/>
        </p:spPr>
        <p:txBody>
          <a:bodyPr wrap="square" lIns="381" tIns="381" rIns="381" bIns="381" rtlCol="0" anchor="ctr">
            <a:normAutofit/>
          </a:bodyPr>
          <a:lstStyle/>
          <a:p>
            <a:pPr marL="0" indent="0" algn="l">
              <a:buNone/>
            </a:pPr>
            <a:r>
              <a:rPr lang="zh-TW" altLang="en-US" sz="1400" b="1" dirty="0">
                <a:solidFill>
                  <a:srgbClr val="FFFFFF"/>
                </a:solidFill>
                <a:latin typeface="Microsoft JhengHei" pitchFamily="34" charset="0"/>
                <a:ea typeface="Microsoft JhengHei" pitchFamily="34" charset="-122"/>
              </a:rPr>
              <a:t>對照案例</a:t>
            </a:r>
            <a:endParaRPr lang="en-US" sz="1400" dirty="0"/>
          </a:p>
        </p:txBody>
      </p:sp>
      <p:sp>
        <p:nvSpPr>
          <p:cNvPr id="573" name="Text 23">
            <a:extLst>
              <a:ext uri="{FF2B5EF4-FFF2-40B4-BE49-F238E27FC236}">
                <a16:creationId xmlns:a16="http://schemas.microsoft.com/office/drawing/2014/main" id="{9B7B0F0E-41A2-2BDB-8E05-EDFACD7F86D8}"/>
              </a:ext>
            </a:extLst>
          </p:cNvPr>
          <p:cNvSpPr/>
          <p:nvPr/>
        </p:nvSpPr>
        <p:spPr>
          <a:xfrm>
            <a:off x="3076160" y="3944459"/>
            <a:ext cx="1913698" cy="228600"/>
          </a:xfrm>
          <a:prstGeom prst="rect">
            <a:avLst/>
          </a:prstGeom>
          <a:noFill/>
          <a:ln/>
        </p:spPr>
        <p:txBody>
          <a:bodyPr wrap="square" lIns="254" tIns="254" rIns="254" bIns="254" rtlCol="0" anchor="t">
            <a:normAutofit/>
          </a:bodyPr>
          <a:lstStyle/>
          <a:p>
            <a:pPr marL="0" indent="0" algn="l">
              <a:buNone/>
            </a:pPr>
            <a:r>
              <a:rPr lang="en-US" sz="600" b="1" dirty="0">
                <a:solidFill>
                  <a:srgbClr val="1F2937"/>
                </a:solidFill>
                <a:latin typeface="Microsoft JhengHei" pitchFamily="34" charset="0"/>
                <a:ea typeface="Microsoft JhengHei" pitchFamily="34" charset="-122"/>
                <a:cs typeface="Microsoft JhengHei" pitchFamily="34" charset="-120"/>
              </a:rPr>
              <a:t>問題：2026 H1 台北房貸平均核貸額相較去年同期成長多少？</a:t>
            </a:r>
            <a:endParaRPr lang="en-US" sz="600" b="1" dirty="0"/>
          </a:p>
        </p:txBody>
      </p:sp>
      <p:sp>
        <p:nvSpPr>
          <p:cNvPr id="579" name="矩形: 圓角 578">
            <a:extLst>
              <a:ext uri="{FF2B5EF4-FFF2-40B4-BE49-F238E27FC236}">
                <a16:creationId xmlns:a16="http://schemas.microsoft.com/office/drawing/2014/main" id="{B92EA3FF-016C-FD2C-F472-757B7DF40CE4}"/>
              </a:ext>
            </a:extLst>
          </p:cNvPr>
          <p:cNvSpPr/>
          <p:nvPr/>
        </p:nvSpPr>
        <p:spPr>
          <a:xfrm>
            <a:off x="2771359" y="4243961"/>
            <a:ext cx="2210400" cy="291600"/>
          </a:xfrm>
          <a:prstGeom prst="roundRect">
            <a:avLst/>
          </a:prstGeom>
          <a:solidFill>
            <a:srgbClr val="FFFFFF"/>
          </a:solidFill>
          <a:ln>
            <a:solidFill>
              <a:srgbClr val="DCE6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583" name="Text 23">
            <a:extLst>
              <a:ext uri="{FF2B5EF4-FFF2-40B4-BE49-F238E27FC236}">
                <a16:creationId xmlns:a16="http://schemas.microsoft.com/office/drawing/2014/main" id="{866930F9-5C61-F155-F014-205D79531038}"/>
              </a:ext>
            </a:extLst>
          </p:cNvPr>
          <p:cNvSpPr/>
          <p:nvPr/>
        </p:nvSpPr>
        <p:spPr>
          <a:xfrm>
            <a:off x="3072109" y="4276374"/>
            <a:ext cx="1819656" cy="365760"/>
          </a:xfrm>
          <a:prstGeom prst="rect">
            <a:avLst/>
          </a:prstGeom>
          <a:noFill/>
          <a:ln/>
        </p:spPr>
        <p:txBody>
          <a:bodyPr wrap="square" lIns="254" tIns="254" rIns="254" bIns="254" rtlCol="0" anchor="t">
            <a:normAutofit/>
          </a:bodyPr>
          <a:lstStyle/>
          <a:p>
            <a:r>
              <a:rPr lang="zh-TW" altLang="en-US" sz="600" b="1" dirty="0">
                <a:solidFill>
                  <a:srgbClr val="1F2937"/>
                </a:solidFill>
                <a:latin typeface="Microsoft JhengHei" pitchFamily="34" charset="0"/>
                <a:ea typeface="Microsoft JhengHei" pitchFamily="34" charset="-122"/>
                <a:cs typeface="Microsoft JhengHei" pitchFamily="34" charset="-120"/>
              </a:rPr>
              <a:t>解析：時間</a:t>
            </a:r>
            <a:r>
              <a:rPr lang="en-US" altLang="zh-TW" sz="600" b="1" dirty="0">
                <a:solidFill>
                  <a:srgbClr val="1F2937"/>
                </a:solidFill>
                <a:latin typeface="Microsoft JhengHei" pitchFamily="34" charset="0"/>
                <a:ea typeface="Microsoft JhengHei" pitchFamily="34" charset="-122"/>
                <a:cs typeface="Microsoft JhengHei" pitchFamily="34" charset="-120"/>
              </a:rPr>
              <a:t>=2026 H1 vs 2025 H1</a:t>
            </a:r>
            <a:r>
              <a:rPr lang="zh-TW" altLang="en-US" sz="600" b="1" dirty="0">
                <a:solidFill>
                  <a:srgbClr val="1F2937"/>
                </a:solidFill>
                <a:latin typeface="Microsoft JhengHei" pitchFamily="34" charset="0"/>
                <a:ea typeface="Microsoft JhengHei" pitchFamily="34" charset="-122"/>
                <a:cs typeface="Microsoft JhengHei" pitchFamily="34" charset="-120"/>
              </a:rPr>
              <a:t>；地區</a:t>
            </a:r>
            <a:r>
              <a:rPr lang="en-US" altLang="zh-TW" sz="600" b="1" dirty="0">
                <a:solidFill>
                  <a:srgbClr val="1F2937"/>
                </a:solidFill>
                <a:latin typeface="Microsoft JhengHei" pitchFamily="34" charset="0"/>
                <a:ea typeface="Microsoft JhengHei" pitchFamily="34" charset="-122"/>
                <a:cs typeface="Microsoft JhengHei" pitchFamily="34" charset="-120"/>
              </a:rPr>
              <a:t>=</a:t>
            </a:r>
            <a:r>
              <a:rPr lang="zh-TW" altLang="en-US" sz="600" b="1" dirty="0">
                <a:solidFill>
                  <a:srgbClr val="1F2937"/>
                </a:solidFill>
                <a:latin typeface="Microsoft JhengHei" pitchFamily="34" charset="0"/>
                <a:ea typeface="Microsoft JhengHei" pitchFamily="34" charset="-122"/>
                <a:cs typeface="Microsoft JhengHei" pitchFamily="34" charset="-120"/>
              </a:rPr>
              <a:t>台北；指標</a:t>
            </a:r>
            <a:r>
              <a:rPr lang="en-US" altLang="zh-TW" sz="600" b="1" dirty="0">
                <a:solidFill>
                  <a:srgbClr val="1F2937"/>
                </a:solidFill>
                <a:latin typeface="Microsoft JhengHei" pitchFamily="34" charset="0"/>
                <a:ea typeface="Microsoft JhengHei" pitchFamily="34" charset="-122"/>
                <a:cs typeface="Microsoft JhengHei" pitchFamily="34" charset="-120"/>
              </a:rPr>
              <a:t>=</a:t>
            </a:r>
            <a:r>
              <a:rPr lang="zh-TW" altLang="en-US" sz="600" b="1" dirty="0">
                <a:solidFill>
                  <a:srgbClr val="1F2937"/>
                </a:solidFill>
                <a:latin typeface="Microsoft JhengHei" pitchFamily="34" charset="0"/>
                <a:ea typeface="Microsoft JhengHei" pitchFamily="34" charset="-122"/>
                <a:cs typeface="Microsoft JhengHei" pitchFamily="34" charset="-120"/>
              </a:rPr>
              <a:t>平均核貸額； 產品：房貸；比較</a:t>
            </a:r>
            <a:r>
              <a:rPr lang="en-US" altLang="zh-TW" sz="600" b="1" dirty="0">
                <a:solidFill>
                  <a:srgbClr val="1F2937"/>
                </a:solidFill>
                <a:latin typeface="Microsoft JhengHei" pitchFamily="34" charset="0"/>
                <a:ea typeface="Microsoft JhengHei" pitchFamily="34" charset="-122"/>
                <a:cs typeface="Microsoft JhengHei" pitchFamily="34" charset="-120"/>
              </a:rPr>
              <a:t>=</a:t>
            </a:r>
            <a:r>
              <a:rPr lang="zh-TW" altLang="en-US" sz="600" b="1" dirty="0">
                <a:solidFill>
                  <a:srgbClr val="1F2937"/>
                </a:solidFill>
                <a:latin typeface="Microsoft JhengHei" pitchFamily="34" charset="0"/>
                <a:ea typeface="Microsoft JhengHei" pitchFamily="34" charset="-122"/>
                <a:cs typeface="Microsoft JhengHei" pitchFamily="34" charset="-120"/>
              </a:rPr>
              <a:t>成長率</a:t>
            </a:r>
          </a:p>
        </p:txBody>
      </p:sp>
      <p:sp>
        <p:nvSpPr>
          <p:cNvPr id="585" name="矩形: 圓角 584">
            <a:extLst>
              <a:ext uri="{FF2B5EF4-FFF2-40B4-BE49-F238E27FC236}">
                <a16:creationId xmlns:a16="http://schemas.microsoft.com/office/drawing/2014/main" id="{260FFF89-68C9-6724-955C-F96DA8AAFC5C}"/>
              </a:ext>
            </a:extLst>
          </p:cNvPr>
          <p:cNvSpPr/>
          <p:nvPr/>
        </p:nvSpPr>
        <p:spPr>
          <a:xfrm>
            <a:off x="2763093" y="4590624"/>
            <a:ext cx="2210400" cy="260001"/>
          </a:xfrm>
          <a:prstGeom prst="roundRect">
            <a:avLst/>
          </a:prstGeom>
          <a:solidFill>
            <a:srgbClr val="FFFFFF"/>
          </a:solidFill>
          <a:ln>
            <a:solidFill>
              <a:srgbClr val="DCE6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587" name="Text 23">
            <a:extLst>
              <a:ext uri="{FF2B5EF4-FFF2-40B4-BE49-F238E27FC236}">
                <a16:creationId xmlns:a16="http://schemas.microsoft.com/office/drawing/2014/main" id="{40B0503D-CB0C-EE24-7436-3B084BEF7359}"/>
              </a:ext>
            </a:extLst>
          </p:cNvPr>
          <p:cNvSpPr/>
          <p:nvPr/>
        </p:nvSpPr>
        <p:spPr>
          <a:xfrm>
            <a:off x="3095660" y="4646016"/>
            <a:ext cx="1819656" cy="365760"/>
          </a:xfrm>
          <a:prstGeom prst="rect">
            <a:avLst/>
          </a:prstGeom>
          <a:noFill/>
          <a:ln/>
        </p:spPr>
        <p:txBody>
          <a:bodyPr wrap="square" lIns="254" tIns="254" rIns="254" bIns="254" rtlCol="0" anchor="t">
            <a:normAutofit/>
          </a:bodyPr>
          <a:lstStyle/>
          <a:p>
            <a:r>
              <a:rPr lang="en-US" altLang="zh-TW" sz="600" b="1" dirty="0">
                <a:solidFill>
                  <a:srgbClr val="1F2937"/>
                </a:solidFill>
                <a:latin typeface="Microsoft JhengHei" pitchFamily="34" charset="0"/>
                <a:ea typeface="Microsoft JhengHei" pitchFamily="34" charset="-122"/>
                <a:cs typeface="Microsoft JhengHei" pitchFamily="34" charset="-120"/>
              </a:rPr>
              <a:t>Embedding：[0.018, -0.032, 0.145, ...]</a:t>
            </a:r>
            <a:endParaRPr lang="en-US" altLang="zh-TW" sz="600" b="1" dirty="0"/>
          </a:p>
        </p:txBody>
      </p:sp>
      <p:sp>
        <p:nvSpPr>
          <p:cNvPr id="589" name="矩形: 圓角 588">
            <a:extLst>
              <a:ext uri="{FF2B5EF4-FFF2-40B4-BE49-F238E27FC236}">
                <a16:creationId xmlns:a16="http://schemas.microsoft.com/office/drawing/2014/main" id="{BC977547-D0DE-FDD0-FB33-C7F0B57FA467}"/>
              </a:ext>
            </a:extLst>
          </p:cNvPr>
          <p:cNvSpPr/>
          <p:nvPr/>
        </p:nvSpPr>
        <p:spPr>
          <a:xfrm>
            <a:off x="2763093" y="4910568"/>
            <a:ext cx="2210400" cy="1100964"/>
          </a:xfrm>
          <a:prstGeom prst="roundRect">
            <a:avLst>
              <a:gd name="adj" fmla="val 6083"/>
            </a:avLst>
          </a:prstGeom>
          <a:solidFill>
            <a:srgbClr val="FFFFFF"/>
          </a:solidFill>
          <a:ln>
            <a:solidFill>
              <a:srgbClr val="DCE6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595" name="Text 23">
            <a:extLst>
              <a:ext uri="{FF2B5EF4-FFF2-40B4-BE49-F238E27FC236}">
                <a16:creationId xmlns:a16="http://schemas.microsoft.com/office/drawing/2014/main" id="{9170147B-8555-B327-CC12-D6EB1898CF57}"/>
              </a:ext>
            </a:extLst>
          </p:cNvPr>
          <p:cNvSpPr/>
          <p:nvPr/>
        </p:nvSpPr>
        <p:spPr>
          <a:xfrm>
            <a:off x="3063188" y="4953581"/>
            <a:ext cx="1819656" cy="135695"/>
          </a:xfrm>
          <a:prstGeom prst="rect">
            <a:avLst/>
          </a:prstGeom>
          <a:noFill/>
          <a:ln/>
        </p:spPr>
        <p:txBody>
          <a:bodyPr wrap="square" lIns="254" tIns="254" rIns="254" bIns="254" rtlCol="0" anchor="t">
            <a:normAutofit/>
          </a:bodyPr>
          <a:lstStyle/>
          <a:p>
            <a:r>
              <a:rPr lang="en-US" altLang="zh-TW" sz="600" b="1" dirty="0">
                <a:solidFill>
                  <a:srgbClr val="1F2937"/>
                </a:solidFill>
                <a:latin typeface="Microsoft JhengHei" pitchFamily="34" charset="0"/>
                <a:ea typeface="Microsoft JhengHei" pitchFamily="34" charset="-122"/>
                <a:cs typeface="Microsoft JhengHei" pitchFamily="34" charset="-120"/>
              </a:rPr>
              <a:t>Table-level RAG + Column-level RAG  </a:t>
            </a:r>
            <a:r>
              <a:rPr lang="zh-TW" altLang="en-US" sz="600" b="1" dirty="0">
                <a:solidFill>
                  <a:srgbClr val="1F2937"/>
                </a:solidFill>
                <a:latin typeface="Microsoft JhengHei" pitchFamily="34" charset="0"/>
                <a:ea typeface="Microsoft JhengHei" pitchFamily="34" charset="-122"/>
                <a:cs typeface="Microsoft JhengHei" pitchFamily="34" charset="-120"/>
              </a:rPr>
              <a:t>結果</a:t>
            </a:r>
          </a:p>
        </p:txBody>
      </p:sp>
      <p:sp>
        <p:nvSpPr>
          <p:cNvPr id="650" name="Shape 6">
            <a:extLst>
              <a:ext uri="{FF2B5EF4-FFF2-40B4-BE49-F238E27FC236}">
                <a16:creationId xmlns:a16="http://schemas.microsoft.com/office/drawing/2014/main" id="{017427E8-CC49-A2D9-10D0-4B55DC6D9D26}"/>
              </a:ext>
            </a:extLst>
          </p:cNvPr>
          <p:cNvSpPr/>
          <p:nvPr/>
        </p:nvSpPr>
        <p:spPr>
          <a:xfrm>
            <a:off x="5171921" y="3639722"/>
            <a:ext cx="2210400" cy="3126166"/>
          </a:xfrm>
          <a:prstGeom prst="roundRect">
            <a:avLst>
              <a:gd name="adj" fmla="val 4407"/>
            </a:avLst>
          </a:prstGeom>
          <a:solidFill>
            <a:srgbClr val="ECFDF5"/>
          </a:solidFill>
          <a:ln w="12700">
            <a:solidFill>
              <a:srgbClr val="ECFDF5"/>
            </a:solidFill>
            <a:prstDash val="solid"/>
          </a:ln>
        </p:spPr>
        <p:txBody>
          <a:bodyPr/>
          <a:lstStyle/>
          <a:p>
            <a:endParaRPr lang="zh-TW" altLang="en-US" dirty="0"/>
          </a:p>
        </p:txBody>
      </p:sp>
      <p:sp>
        <p:nvSpPr>
          <p:cNvPr id="652" name="Shape 7">
            <a:extLst>
              <a:ext uri="{FF2B5EF4-FFF2-40B4-BE49-F238E27FC236}">
                <a16:creationId xmlns:a16="http://schemas.microsoft.com/office/drawing/2014/main" id="{C79AA857-7667-7343-632A-FC9FDF6AF83A}"/>
              </a:ext>
            </a:extLst>
          </p:cNvPr>
          <p:cNvSpPr/>
          <p:nvPr/>
        </p:nvSpPr>
        <p:spPr>
          <a:xfrm>
            <a:off x="5201985" y="3646047"/>
            <a:ext cx="2196000" cy="205200"/>
          </a:xfrm>
          <a:prstGeom prst="roundRect">
            <a:avLst>
              <a:gd name="adj" fmla="val 27083"/>
            </a:avLst>
          </a:prstGeom>
          <a:solidFill>
            <a:srgbClr val="10B981"/>
          </a:solidFill>
          <a:ln w="12700">
            <a:solidFill>
              <a:srgbClr val="10B981">
                <a:alpha val="0"/>
              </a:srgbClr>
            </a:solidFill>
            <a:prstDash val="solid"/>
          </a:ln>
        </p:spPr>
        <p:txBody>
          <a:bodyPr/>
          <a:lstStyle/>
          <a:p>
            <a:endParaRPr lang="zh-TW" altLang="en-US"/>
          </a:p>
        </p:txBody>
      </p:sp>
      <p:sp>
        <p:nvSpPr>
          <p:cNvPr id="654" name="Text 4">
            <a:extLst>
              <a:ext uri="{FF2B5EF4-FFF2-40B4-BE49-F238E27FC236}">
                <a16:creationId xmlns:a16="http://schemas.microsoft.com/office/drawing/2014/main" id="{D25D87AE-BA07-3D33-3222-05A9916B4D93}"/>
              </a:ext>
            </a:extLst>
          </p:cNvPr>
          <p:cNvSpPr/>
          <p:nvPr/>
        </p:nvSpPr>
        <p:spPr>
          <a:xfrm>
            <a:off x="3509057" y="3615972"/>
            <a:ext cx="2468880" cy="246888"/>
          </a:xfrm>
          <a:prstGeom prst="rect">
            <a:avLst/>
          </a:prstGeom>
          <a:noFill/>
          <a:ln/>
        </p:spPr>
        <p:txBody>
          <a:bodyPr wrap="square" lIns="381" tIns="381" rIns="381" bIns="381" rtlCol="0" anchor="ctr">
            <a:normAutofit/>
          </a:bodyPr>
          <a:lstStyle/>
          <a:p>
            <a:pPr marL="0" indent="0" algn="l">
              <a:buNone/>
            </a:pPr>
            <a:r>
              <a:rPr lang="zh-TW" altLang="en-US" sz="1400" b="1" dirty="0">
                <a:solidFill>
                  <a:srgbClr val="FFFFFF"/>
                </a:solidFill>
                <a:latin typeface="Microsoft JhengHei" pitchFamily="34" charset="0"/>
                <a:ea typeface="Microsoft JhengHei" pitchFamily="34" charset="-122"/>
              </a:rPr>
              <a:t>對照案例</a:t>
            </a:r>
            <a:endParaRPr lang="en-US" sz="1400" dirty="0"/>
          </a:p>
        </p:txBody>
      </p:sp>
      <p:sp>
        <p:nvSpPr>
          <p:cNvPr id="656" name="Shape 53">
            <a:extLst>
              <a:ext uri="{FF2B5EF4-FFF2-40B4-BE49-F238E27FC236}">
                <a16:creationId xmlns:a16="http://schemas.microsoft.com/office/drawing/2014/main" id="{125ABD79-F1B9-52B8-411A-B0909CDA8378}"/>
              </a:ext>
            </a:extLst>
          </p:cNvPr>
          <p:cNvSpPr/>
          <p:nvPr/>
        </p:nvSpPr>
        <p:spPr>
          <a:xfrm>
            <a:off x="5178993" y="3898133"/>
            <a:ext cx="2210400" cy="1187401"/>
          </a:xfrm>
          <a:prstGeom prst="roundRect">
            <a:avLst>
              <a:gd name="adj" fmla="val 10909"/>
            </a:avLst>
          </a:prstGeom>
          <a:solidFill>
            <a:srgbClr val="FFFFFF"/>
          </a:solidFill>
          <a:ln w="8890">
            <a:solidFill>
              <a:srgbClr val="D7E3F3"/>
            </a:solidFill>
            <a:prstDash val="solid"/>
          </a:ln>
        </p:spPr>
        <p:txBody>
          <a:bodyPr/>
          <a:lstStyle/>
          <a:p>
            <a:endParaRPr lang="zh-TW" altLang="en-US" dirty="0"/>
          </a:p>
        </p:txBody>
      </p:sp>
      <p:sp>
        <p:nvSpPr>
          <p:cNvPr id="658" name="Text 56">
            <a:extLst>
              <a:ext uri="{FF2B5EF4-FFF2-40B4-BE49-F238E27FC236}">
                <a16:creationId xmlns:a16="http://schemas.microsoft.com/office/drawing/2014/main" id="{DE662281-8A7D-CC23-9B81-D7A27B3A803B}"/>
              </a:ext>
            </a:extLst>
          </p:cNvPr>
          <p:cNvSpPr/>
          <p:nvPr/>
        </p:nvSpPr>
        <p:spPr>
          <a:xfrm>
            <a:off x="5192125" y="4141074"/>
            <a:ext cx="1988758" cy="205178"/>
          </a:xfrm>
          <a:prstGeom prst="rect">
            <a:avLst/>
          </a:prstGeom>
          <a:noFill/>
          <a:ln/>
        </p:spPr>
        <p:txBody>
          <a:bodyPr wrap="square" lIns="254" tIns="254" rIns="254" bIns="254" rtlCol="0" anchor="t">
            <a:normAutofit/>
          </a:bodyPr>
          <a:lstStyle/>
          <a:p>
            <a:pPr marL="36000" indent="-72000">
              <a:buFont typeface="Arial" panose="020B0604020202020204" pitchFamily="34" charset="0"/>
              <a:buChar char="•"/>
            </a:pPr>
            <a:r>
              <a:rPr lang="zh-TW" altLang="en-US" sz="600" dirty="0">
                <a:solidFill>
                  <a:srgbClr val="1F2937"/>
                </a:solidFill>
                <a:latin typeface="Microsoft JhengHei" pitchFamily="34" charset="0"/>
                <a:ea typeface="Microsoft JhengHei" pitchFamily="34" charset="-122"/>
                <a:cs typeface="Microsoft JhengHei" pitchFamily="34" charset="-120"/>
              </a:rPr>
              <a:t>關聯欄位</a:t>
            </a:r>
            <a:r>
              <a:rPr lang="en-US" sz="600" dirty="0">
                <a:solidFill>
                  <a:srgbClr val="1F2937"/>
                </a:solidFill>
                <a:latin typeface="Microsoft JhengHei" pitchFamily="34" charset="0"/>
                <a:ea typeface="Microsoft JhengHei" pitchFamily="34" charset="-122"/>
                <a:cs typeface="Microsoft JhengHei" pitchFamily="34" charset="-120"/>
              </a:rPr>
              <a:t>：</a:t>
            </a:r>
            <a:r>
              <a:rPr lang="en-US" altLang="zh-TW" sz="600" b="1" dirty="0" err="1">
                <a:solidFill>
                  <a:srgbClr val="1F2937"/>
                </a:solidFill>
                <a:latin typeface="Microsoft JhengHei" pitchFamily="34" charset="0"/>
                <a:ea typeface="Microsoft JhengHei" pitchFamily="34" charset="-122"/>
                <a:cs typeface="Microsoft JhengHei" pitchFamily="34" charset="-120"/>
              </a:rPr>
              <a:t>LoanApplication</a:t>
            </a:r>
            <a:r>
              <a:rPr lang="zh-TW" altLang="en-US" sz="600" b="1" dirty="0">
                <a:solidFill>
                  <a:srgbClr val="1F2937"/>
                </a:solidFill>
                <a:latin typeface="Microsoft JhengHei" pitchFamily="34" charset="0"/>
                <a:ea typeface="Microsoft JhengHei" pitchFamily="34" charset="-122"/>
                <a:cs typeface="Microsoft JhengHei" pitchFamily="34" charset="-120"/>
              </a:rPr>
              <a:t>  </a:t>
            </a:r>
            <a:r>
              <a:rPr lang="en-US" altLang="zh-TW" sz="600" b="1" dirty="0">
                <a:solidFill>
                  <a:srgbClr val="1F2937"/>
                </a:solidFill>
                <a:latin typeface="Microsoft JhengHei" pitchFamily="34" charset="0"/>
                <a:ea typeface="Microsoft JhengHei" pitchFamily="34" charset="-122"/>
                <a:cs typeface="Microsoft JhengHei" pitchFamily="34" charset="-120"/>
              </a:rPr>
              <a:t>-&gt;  Customer</a:t>
            </a:r>
            <a:r>
              <a:rPr lang="zh-TW" altLang="en-US" sz="600" dirty="0">
                <a:ln w="3175">
                  <a:solidFill>
                    <a:srgbClr val="DCEBFF"/>
                  </a:solidFill>
                </a:ln>
              </a:rPr>
              <a:t> </a:t>
            </a:r>
            <a:endParaRPr lang="en-US" altLang="zh-TW" sz="600" dirty="0">
              <a:ln w="3175">
                <a:solidFill>
                  <a:srgbClr val="DCEBFF"/>
                </a:solidFill>
              </a:ln>
            </a:endParaRPr>
          </a:p>
          <a:p>
            <a:pPr marL="36000"/>
            <a:r>
              <a:rPr lang="en-US" altLang="zh-TW" sz="600" b="1" dirty="0">
                <a:latin typeface="Microsoft JhengHei" pitchFamily="34" charset="0"/>
                <a:ea typeface="Microsoft JhengHei" pitchFamily="34" charset="-122"/>
                <a:cs typeface="Microsoft JhengHei" pitchFamily="34" charset="-120"/>
              </a:rPr>
              <a:t>                                        </a:t>
            </a:r>
            <a:r>
              <a:rPr lang="en-US" altLang="zh-TW" sz="600" b="1" dirty="0">
                <a:solidFill>
                  <a:srgbClr val="1F2937"/>
                </a:solidFill>
                <a:latin typeface="Microsoft JhengHei" pitchFamily="34" charset="0"/>
                <a:ea typeface="Microsoft JhengHei" pitchFamily="34" charset="-122"/>
                <a:cs typeface="Microsoft JhengHei" pitchFamily="34" charset="-120"/>
              </a:rPr>
              <a:t>Customer</a:t>
            </a:r>
            <a:r>
              <a:rPr lang="zh-TW" altLang="en-US" sz="600" dirty="0">
                <a:ln w="3175">
                  <a:solidFill>
                    <a:srgbClr val="DCEBFF"/>
                  </a:solidFill>
                </a:ln>
              </a:rPr>
              <a:t>    </a:t>
            </a:r>
            <a:r>
              <a:rPr lang="en-US" altLang="zh-TW" sz="600" b="1" dirty="0">
                <a:solidFill>
                  <a:srgbClr val="1F2937"/>
                </a:solidFill>
                <a:latin typeface="Microsoft JhengHei" pitchFamily="34" charset="0"/>
                <a:ea typeface="Microsoft JhengHei" pitchFamily="34" charset="-122"/>
                <a:cs typeface="Microsoft JhengHei" pitchFamily="34" charset="-120"/>
              </a:rPr>
              <a:t>-&gt;</a:t>
            </a:r>
            <a:r>
              <a:rPr lang="en-US" altLang="zh-TW" sz="600" dirty="0">
                <a:ln w="3175">
                  <a:solidFill>
                    <a:srgbClr val="DCEBFF"/>
                  </a:solidFill>
                </a:ln>
              </a:rPr>
              <a:t> </a:t>
            </a:r>
            <a:r>
              <a:rPr lang="en-US" altLang="zh-TW" sz="600" b="1" dirty="0">
                <a:solidFill>
                  <a:srgbClr val="1F2937"/>
                </a:solidFill>
                <a:latin typeface="Microsoft JhengHei" pitchFamily="34" charset="0"/>
                <a:ea typeface="Microsoft JhengHei" pitchFamily="34" charset="-122"/>
                <a:cs typeface="Microsoft JhengHei" pitchFamily="34" charset="-120"/>
              </a:rPr>
              <a:t>Region</a:t>
            </a:r>
          </a:p>
          <a:p>
            <a:endParaRPr lang="zh-TW" altLang="en-US" sz="400" dirty="0">
              <a:ln w="3175">
                <a:solidFill>
                  <a:srgbClr val="DCEBFF"/>
                </a:solidFill>
              </a:ln>
            </a:endParaRPr>
          </a:p>
          <a:p>
            <a:endParaRPr lang="zh-TW" altLang="en-US" sz="400" b="1" dirty="0">
              <a:ln w="3175">
                <a:solidFill>
                  <a:srgbClr val="DCEBFF"/>
                </a:solidFill>
              </a:ln>
            </a:endParaRPr>
          </a:p>
        </p:txBody>
      </p:sp>
      <p:sp>
        <p:nvSpPr>
          <p:cNvPr id="660" name="Shape 57">
            <a:extLst>
              <a:ext uri="{FF2B5EF4-FFF2-40B4-BE49-F238E27FC236}">
                <a16:creationId xmlns:a16="http://schemas.microsoft.com/office/drawing/2014/main" id="{ED8CF7BD-DABC-3BD8-85BC-4CA916C19C55}"/>
              </a:ext>
            </a:extLst>
          </p:cNvPr>
          <p:cNvSpPr/>
          <p:nvPr/>
        </p:nvSpPr>
        <p:spPr>
          <a:xfrm>
            <a:off x="5178993" y="5248201"/>
            <a:ext cx="2210400" cy="557545"/>
          </a:xfrm>
          <a:prstGeom prst="roundRect">
            <a:avLst>
              <a:gd name="adj" fmla="val 10909"/>
            </a:avLst>
          </a:prstGeom>
          <a:solidFill>
            <a:srgbClr val="FFFFFF"/>
          </a:solidFill>
          <a:ln w="8890">
            <a:solidFill>
              <a:srgbClr val="D7E3F3"/>
            </a:solidFill>
            <a:prstDash val="solid"/>
          </a:ln>
        </p:spPr>
        <p:txBody>
          <a:bodyPr/>
          <a:lstStyle/>
          <a:p>
            <a:endParaRPr lang="zh-TW" altLang="en-US"/>
          </a:p>
        </p:txBody>
      </p:sp>
      <p:sp>
        <p:nvSpPr>
          <p:cNvPr id="662" name="Text 60">
            <a:extLst>
              <a:ext uri="{FF2B5EF4-FFF2-40B4-BE49-F238E27FC236}">
                <a16:creationId xmlns:a16="http://schemas.microsoft.com/office/drawing/2014/main" id="{FA1E4190-BAA5-ECB5-9DDB-0FC5D687036F}"/>
              </a:ext>
            </a:extLst>
          </p:cNvPr>
          <p:cNvSpPr/>
          <p:nvPr/>
        </p:nvSpPr>
        <p:spPr>
          <a:xfrm>
            <a:off x="5178993" y="4676417"/>
            <a:ext cx="2172171" cy="365760"/>
          </a:xfrm>
          <a:prstGeom prst="rect">
            <a:avLst/>
          </a:prstGeom>
          <a:noFill/>
          <a:ln/>
        </p:spPr>
        <p:txBody>
          <a:bodyPr wrap="square" lIns="254" tIns="254" rIns="254" bIns="254" rtlCol="0" anchor="t">
            <a:noAutofit/>
          </a:bodyPr>
          <a:lstStyle/>
          <a:p>
            <a:pPr marL="72000" indent="-72000">
              <a:buFont typeface="Arial" panose="020B0604020202020204" pitchFamily="34" charset="0"/>
              <a:buChar char="•"/>
            </a:pPr>
            <a:r>
              <a:rPr lang="zh-TW" altLang="en-US" sz="600" dirty="0">
                <a:solidFill>
                  <a:srgbClr val="1F2937"/>
                </a:solidFill>
                <a:latin typeface="Microsoft JhengHei" pitchFamily="34" charset="0"/>
                <a:ea typeface="Microsoft JhengHei" pitchFamily="34" charset="-122"/>
                <a:cs typeface="Microsoft JhengHei" pitchFamily="34" charset="-120"/>
              </a:rPr>
              <a:t>相似</a:t>
            </a:r>
            <a:r>
              <a:rPr lang="en-US" altLang="zh-TW" sz="600" dirty="0">
                <a:solidFill>
                  <a:srgbClr val="1F2937"/>
                </a:solidFill>
                <a:latin typeface="Microsoft JhengHei" pitchFamily="34" charset="0"/>
                <a:ea typeface="Microsoft JhengHei" pitchFamily="34" charset="-122"/>
                <a:cs typeface="Microsoft JhengHei" pitchFamily="34" charset="-120"/>
              </a:rPr>
              <a:t>NL-SQL</a:t>
            </a:r>
            <a:r>
              <a:rPr lang="zh-TW" altLang="en-US" sz="600" dirty="0">
                <a:solidFill>
                  <a:srgbClr val="1F2937"/>
                </a:solidFill>
                <a:latin typeface="Microsoft JhengHei" pitchFamily="34" charset="0"/>
                <a:ea typeface="Microsoft JhengHei" pitchFamily="34" charset="-122"/>
                <a:cs typeface="Microsoft JhengHei" pitchFamily="34" charset="-120"/>
              </a:rPr>
              <a:t>：</a:t>
            </a:r>
            <a:r>
              <a:rPr lang="zh-TW" altLang="en-US" sz="600" b="1" dirty="0">
                <a:solidFill>
                  <a:srgbClr val="1F2937"/>
                </a:solidFill>
                <a:latin typeface="Microsoft JhengHei" pitchFamily="34" charset="0"/>
                <a:ea typeface="Microsoft JhengHei" pitchFamily="34" charset="-122"/>
                <a:cs typeface="Microsoft JhengHei" pitchFamily="34" charset="-120"/>
              </a:rPr>
              <a:t>問題 </a:t>
            </a:r>
            <a:r>
              <a:rPr lang="en-US" altLang="zh-TW" sz="600" b="1" dirty="0">
                <a:solidFill>
                  <a:srgbClr val="1F2937"/>
                </a:solidFill>
                <a:latin typeface="Microsoft JhengHei" pitchFamily="34" charset="0"/>
                <a:ea typeface="Microsoft JhengHei" pitchFamily="34" charset="-122"/>
                <a:cs typeface="Microsoft JhengHei" pitchFamily="34" charset="-120"/>
              </a:rPr>
              <a:t>1</a:t>
            </a:r>
            <a:r>
              <a:rPr lang="zh-TW" altLang="en-US" sz="600" b="1" dirty="0">
                <a:solidFill>
                  <a:srgbClr val="1F2937"/>
                </a:solidFill>
                <a:latin typeface="Microsoft JhengHei" pitchFamily="34" charset="0"/>
                <a:ea typeface="Microsoft JhengHei" pitchFamily="34" charset="-122"/>
                <a:cs typeface="Microsoft JhengHei" pitchFamily="34" charset="-120"/>
              </a:rPr>
              <a:t> ： 去年台北房貸平均核貸額</a:t>
            </a:r>
            <a:r>
              <a:rPr lang="en-US" altLang="zh-TW" sz="600" b="1" dirty="0">
                <a:solidFill>
                  <a:srgbClr val="1F2937"/>
                </a:solidFill>
                <a:latin typeface="Microsoft JhengHei" pitchFamily="34" charset="0"/>
                <a:ea typeface="Microsoft JhengHei" pitchFamily="34" charset="-122"/>
                <a:cs typeface="Microsoft JhengHei" pitchFamily="34" charset="-120"/>
              </a:rPr>
              <a:t>?</a:t>
            </a:r>
            <a:r>
              <a:rPr lang="zh-TW" altLang="en-US" sz="600" b="1" dirty="0">
                <a:solidFill>
                  <a:srgbClr val="1F2937"/>
                </a:solidFill>
                <a:latin typeface="Microsoft JhengHei" pitchFamily="34" charset="0"/>
                <a:ea typeface="Microsoft JhengHei" pitchFamily="34" charset="-122"/>
                <a:cs typeface="Microsoft JhengHei" pitchFamily="34" charset="-120"/>
              </a:rPr>
              <a:t> </a:t>
            </a:r>
            <a:endParaRPr lang="en-US" altLang="zh-TW" sz="600" b="1" dirty="0">
              <a:solidFill>
                <a:srgbClr val="1F2937"/>
              </a:solidFill>
              <a:latin typeface="Microsoft JhengHei" pitchFamily="34" charset="0"/>
              <a:ea typeface="Microsoft JhengHei" pitchFamily="34" charset="-122"/>
              <a:cs typeface="Microsoft JhengHei" pitchFamily="34" charset="-120"/>
            </a:endParaRPr>
          </a:p>
          <a:p>
            <a:r>
              <a:rPr lang="en-US" altLang="zh-TW" sz="600" dirty="0">
                <a:solidFill>
                  <a:srgbClr val="1F2937"/>
                </a:solidFill>
                <a:latin typeface="Microsoft JhengHei" pitchFamily="34" charset="0"/>
                <a:ea typeface="Microsoft JhengHei" pitchFamily="34" charset="-122"/>
                <a:cs typeface="Microsoft JhengHei" pitchFamily="34" charset="-120"/>
              </a:rPr>
              <a:t>                              </a:t>
            </a:r>
            <a:r>
              <a:rPr lang="en-US" altLang="zh-TW" sz="600" b="1" dirty="0">
                <a:solidFill>
                  <a:srgbClr val="1F2937"/>
                </a:solidFill>
                <a:latin typeface="Microsoft JhengHei" pitchFamily="34" charset="0"/>
                <a:ea typeface="Microsoft JhengHei" pitchFamily="34" charset="-122"/>
                <a:cs typeface="Microsoft JhengHei" pitchFamily="34" charset="-120"/>
              </a:rPr>
              <a:t>SQL</a:t>
            </a:r>
            <a:r>
              <a:rPr lang="zh-TW" altLang="en-US" sz="600" b="1" dirty="0">
                <a:solidFill>
                  <a:srgbClr val="1F2937"/>
                </a:solidFill>
                <a:latin typeface="Microsoft JhengHei" pitchFamily="34" charset="0"/>
                <a:ea typeface="Microsoft JhengHei" pitchFamily="34" charset="-122"/>
                <a:cs typeface="Microsoft JhengHei" pitchFamily="34" charset="-120"/>
              </a:rPr>
              <a:t>    ： </a:t>
            </a:r>
            <a:r>
              <a:rPr lang="en-US" altLang="zh-TW" sz="600" b="1" dirty="0">
                <a:solidFill>
                  <a:srgbClr val="1F2937"/>
                </a:solidFill>
                <a:latin typeface="Microsoft JhengHei" pitchFamily="34" charset="0"/>
                <a:ea typeface="Microsoft JhengHei" pitchFamily="34" charset="-122"/>
                <a:cs typeface="Microsoft JhengHei" pitchFamily="34" charset="-120"/>
              </a:rPr>
              <a:t>SELECT</a:t>
            </a:r>
            <a:r>
              <a:rPr lang="zh-TW" altLang="en-US" sz="600" b="1" dirty="0">
                <a:solidFill>
                  <a:srgbClr val="1F2937"/>
                </a:solidFill>
                <a:latin typeface="Microsoft JhengHei" pitchFamily="34" charset="0"/>
                <a:ea typeface="Microsoft JhengHei" pitchFamily="34" charset="-122"/>
                <a:cs typeface="Microsoft JhengHei" pitchFamily="34" charset="-120"/>
              </a:rPr>
              <a:t> </a:t>
            </a:r>
            <a:r>
              <a:rPr lang="en-US" altLang="zh-TW" sz="600" b="1" dirty="0">
                <a:solidFill>
                  <a:srgbClr val="1F2937"/>
                </a:solidFill>
                <a:latin typeface="Microsoft JhengHei" pitchFamily="34" charset="0"/>
                <a:ea typeface="Microsoft JhengHei" pitchFamily="34" charset="-122"/>
                <a:cs typeface="Microsoft JhengHei" pitchFamily="34" charset="-120"/>
              </a:rPr>
              <a:t>AVG(</a:t>
            </a:r>
            <a:r>
              <a:rPr lang="en-US" altLang="zh-TW" sz="600" b="1" dirty="0" err="1">
                <a:solidFill>
                  <a:srgbClr val="1F2937"/>
                </a:solidFill>
                <a:latin typeface="Microsoft JhengHei" pitchFamily="34" charset="0"/>
                <a:ea typeface="Microsoft JhengHei" pitchFamily="34" charset="-122"/>
                <a:cs typeface="Microsoft JhengHei" pitchFamily="34" charset="-120"/>
              </a:rPr>
              <a:t>approved_amount</a:t>
            </a:r>
            <a:r>
              <a:rPr lang="en-US" altLang="zh-TW" sz="600" b="1" dirty="0">
                <a:solidFill>
                  <a:srgbClr val="1F2937"/>
                </a:solidFill>
                <a:latin typeface="Microsoft JhengHei" pitchFamily="34" charset="0"/>
                <a:ea typeface="Microsoft JhengHei" pitchFamily="34" charset="-122"/>
                <a:cs typeface="Microsoft JhengHei" pitchFamily="34" charset="-120"/>
              </a:rPr>
              <a:t>)….. </a:t>
            </a:r>
          </a:p>
          <a:p>
            <a:r>
              <a:rPr lang="en-US" altLang="zh-TW" sz="600" dirty="0">
                <a:solidFill>
                  <a:srgbClr val="1F2937"/>
                </a:solidFill>
                <a:latin typeface="Microsoft JhengHei" pitchFamily="34" charset="0"/>
                <a:ea typeface="Microsoft JhengHei" pitchFamily="34" charset="-122"/>
                <a:cs typeface="Microsoft JhengHei" pitchFamily="34" charset="-120"/>
              </a:rPr>
              <a:t>                             </a:t>
            </a:r>
            <a:r>
              <a:rPr lang="zh-TW" altLang="en-US" sz="600" b="1" dirty="0">
                <a:solidFill>
                  <a:srgbClr val="1F2937"/>
                </a:solidFill>
                <a:latin typeface="Microsoft JhengHei" pitchFamily="34" charset="0"/>
                <a:ea typeface="Microsoft JhengHei" pitchFamily="34" charset="-122"/>
                <a:cs typeface="Microsoft JhengHei" pitchFamily="34" charset="-120"/>
              </a:rPr>
              <a:t>問題</a:t>
            </a:r>
            <a:r>
              <a:rPr lang="en-US" altLang="zh-TW" sz="600" b="1" dirty="0">
                <a:solidFill>
                  <a:srgbClr val="1F2937"/>
                </a:solidFill>
                <a:latin typeface="Microsoft JhengHei" pitchFamily="34" charset="0"/>
                <a:ea typeface="Microsoft JhengHei" pitchFamily="34" charset="-122"/>
                <a:cs typeface="Microsoft JhengHei" pitchFamily="34" charset="-120"/>
              </a:rPr>
              <a:t>2</a:t>
            </a:r>
            <a:r>
              <a:rPr lang="zh-TW" altLang="en-US" sz="600" b="1" dirty="0">
                <a:solidFill>
                  <a:srgbClr val="1F2937"/>
                </a:solidFill>
                <a:latin typeface="Microsoft JhengHei" pitchFamily="34" charset="0"/>
                <a:ea typeface="Microsoft JhengHei" pitchFamily="34" charset="-122"/>
                <a:cs typeface="Microsoft JhengHei" pitchFamily="34" charset="-120"/>
              </a:rPr>
              <a:t> ：去年高雄房貸平均核貸額</a:t>
            </a:r>
            <a:r>
              <a:rPr lang="en-US" altLang="zh-TW" sz="600" b="1" dirty="0">
                <a:solidFill>
                  <a:srgbClr val="1F2937"/>
                </a:solidFill>
                <a:latin typeface="Microsoft JhengHei" pitchFamily="34" charset="0"/>
                <a:ea typeface="Microsoft JhengHei" pitchFamily="34" charset="-122"/>
                <a:cs typeface="Microsoft JhengHei" pitchFamily="34" charset="-120"/>
              </a:rPr>
              <a:t>? </a:t>
            </a:r>
          </a:p>
          <a:p>
            <a:r>
              <a:rPr lang="en-US" altLang="zh-TW" sz="600" dirty="0">
                <a:solidFill>
                  <a:srgbClr val="1F2937"/>
                </a:solidFill>
                <a:latin typeface="Microsoft JhengHei" pitchFamily="34" charset="0"/>
                <a:ea typeface="Microsoft JhengHei" pitchFamily="34" charset="-122"/>
                <a:cs typeface="Microsoft JhengHei" pitchFamily="34" charset="-120"/>
              </a:rPr>
              <a:t>                              </a:t>
            </a:r>
            <a:r>
              <a:rPr lang="en-US" altLang="zh-TW" sz="600" b="1" dirty="0">
                <a:solidFill>
                  <a:srgbClr val="1F2937"/>
                </a:solidFill>
                <a:latin typeface="Microsoft JhengHei" pitchFamily="34" charset="0"/>
                <a:ea typeface="Microsoft JhengHei" pitchFamily="34" charset="-122"/>
                <a:cs typeface="Microsoft JhengHei" pitchFamily="34" charset="-120"/>
              </a:rPr>
              <a:t>SQL</a:t>
            </a:r>
            <a:r>
              <a:rPr lang="zh-TW" altLang="en-US" sz="600" b="1" dirty="0">
                <a:solidFill>
                  <a:srgbClr val="1F2937"/>
                </a:solidFill>
                <a:latin typeface="Microsoft JhengHei" pitchFamily="34" charset="0"/>
                <a:ea typeface="Microsoft JhengHei" pitchFamily="34" charset="-122"/>
                <a:cs typeface="Microsoft JhengHei" pitchFamily="34" charset="-120"/>
              </a:rPr>
              <a:t>：    </a:t>
            </a:r>
            <a:r>
              <a:rPr lang="en-US" altLang="zh-TW" sz="600" b="1" dirty="0">
                <a:solidFill>
                  <a:srgbClr val="1F2937"/>
                </a:solidFill>
                <a:latin typeface="Microsoft JhengHei" pitchFamily="34" charset="0"/>
                <a:ea typeface="Microsoft JhengHei" pitchFamily="34" charset="-122"/>
                <a:cs typeface="Microsoft JhengHei" pitchFamily="34" charset="-120"/>
              </a:rPr>
              <a:t>SELECT</a:t>
            </a:r>
            <a:r>
              <a:rPr lang="zh-TW" altLang="en-US" sz="600" b="1" dirty="0">
                <a:solidFill>
                  <a:srgbClr val="1F2937"/>
                </a:solidFill>
                <a:latin typeface="Microsoft JhengHei" pitchFamily="34" charset="0"/>
                <a:ea typeface="Microsoft JhengHei" pitchFamily="34" charset="-122"/>
                <a:cs typeface="Microsoft JhengHei" pitchFamily="34" charset="-120"/>
              </a:rPr>
              <a:t> </a:t>
            </a:r>
            <a:r>
              <a:rPr lang="en-US" altLang="zh-TW" sz="600" b="1" dirty="0">
                <a:solidFill>
                  <a:srgbClr val="1F2937"/>
                </a:solidFill>
                <a:latin typeface="Microsoft JhengHei" pitchFamily="34" charset="0"/>
                <a:ea typeface="Microsoft JhengHei" pitchFamily="34" charset="-122"/>
                <a:cs typeface="Microsoft JhengHei" pitchFamily="34" charset="-120"/>
              </a:rPr>
              <a:t>AVG(</a:t>
            </a:r>
            <a:r>
              <a:rPr lang="en-US" altLang="zh-TW" sz="600" b="1" dirty="0" err="1">
                <a:solidFill>
                  <a:srgbClr val="1F2937"/>
                </a:solidFill>
                <a:latin typeface="Microsoft JhengHei" pitchFamily="34" charset="0"/>
                <a:ea typeface="Microsoft JhengHei" pitchFamily="34" charset="-122"/>
                <a:cs typeface="Microsoft JhengHei" pitchFamily="34" charset="-120"/>
              </a:rPr>
              <a:t>approved_amount</a:t>
            </a:r>
            <a:r>
              <a:rPr lang="en-US" altLang="zh-TW" sz="600" b="1" dirty="0">
                <a:solidFill>
                  <a:srgbClr val="1F2937"/>
                </a:solidFill>
                <a:latin typeface="Microsoft JhengHei" pitchFamily="34" charset="0"/>
                <a:ea typeface="Microsoft JhengHei" pitchFamily="34" charset="-122"/>
                <a:cs typeface="Microsoft JhengHei" pitchFamily="34" charset="-120"/>
              </a:rPr>
              <a:t>)…..</a:t>
            </a:r>
            <a:endParaRPr lang="en-US" sz="600" b="1" dirty="0"/>
          </a:p>
        </p:txBody>
      </p:sp>
      <p:sp>
        <p:nvSpPr>
          <p:cNvPr id="666" name="Text 64">
            <a:extLst>
              <a:ext uri="{FF2B5EF4-FFF2-40B4-BE49-F238E27FC236}">
                <a16:creationId xmlns:a16="http://schemas.microsoft.com/office/drawing/2014/main" id="{1C46FBF5-DDC1-BB7D-4ACE-36149D9D1BC8}"/>
              </a:ext>
            </a:extLst>
          </p:cNvPr>
          <p:cNvSpPr/>
          <p:nvPr/>
        </p:nvSpPr>
        <p:spPr>
          <a:xfrm>
            <a:off x="5201985" y="4344761"/>
            <a:ext cx="2091500" cy="365760"/>
          </a:xfrm>
          <a:prstGeom prst="rect">
            <a:avLst/>
          </a:prstGeom>
          <a:noFill/>
          <a:ln/>
        </p:spPr>
        <p:txBody>
          <a:bodyPr wrap="square" lIns="254" tIns="254" rIns="254" bIns="254" rtlCol="0" anchor="t">
            <a:noAutofit/>
          </a:bodyPr>
          <a:lstStyle/>
          <a:p>
            <a:pPr marL="72000" indent="-72000">
              <a:buFont typeface="Arial" panose="020B0604020202020204" pitchFamily="34" charset="0"/>
              <a:buChar char="•"/>
            </a:pPr>
            <a:r>
              <a:rPr lang="zh-TW" altLang="en-US" sz="600" dirty="0">
                <a:solidFill>
                  <a:srgbClr val="1F2937"/>
                </a:solidFill>
                <a:latin typeface="Microsoft JhengHei" pitchFamily="34" charset="0"/>
                <a:ea typeface="Microsoft JhengHei" pitchFamily="34" charset="-122"/>
              </a:rPr>
              <a:t>商業規則：</a:t>
            </a:r>
            <a:r>
              <a:rPr lang="en-US" altLang="zh-TW" sz="600" dirty="0">
                <a:solidFill>
                  <a:srgbClr val="1F2937"/>
                </a:solidFill>
                <a:latin typeface="Microsoft JhengHei" pitchFamily="34" charset="0"/>
                <a:ea typeface="Microsoft JhengHei" pitchFamily="34" charset="-122"/>
                <a:cs typeface="Microsoft JhengHei" pitchFamily="34" charset="-120"/>
              </a:rPr>
              <a:t> </a:t>
            </a:r>
            <a:r>
              <a:rPr lang="zh-TW" altLang="en-US" sz="600" b="1" dirty="0">
                <a:solidFill>
                  <a:srgbClr val="1F2937"/>
                </a:solidFill>
                <a:latin typeface="Microsoft JhengHei" pitchFamily="34" charset="0"/>
                <a:ea typeface="Microsoft JhengHei" pitchFamily="34" charset="-122"/>
                <a:cs typeface="Microsoft JhengHei" pitchFamily="34" charset="-120"/>
              </a:rPr>
              <a:t>核貸額</a:t>
            </a:r>
            <a:r>
              <a:rPr lang="en-US" altLang="zh-TW" sz="600" b="1" dirty="0">
                <a:solidFill>
                  <a:srgbClr val="1F2937"/>
                </a:solidFill>
                <a:latin typeface="Microsoft JhengHei" pitchFamily="34" charset="0"/>
                <a:ea typeface="Microsoft JhengHei" pitchFamily="34" charset="-122"/>
                <a:cs typeface="Microsoft JhengHei" pitchFamily="34" charset="-120"/>
              </a:rPr>
              <a:t>= </a:t>
            </a:r>
            <a:r>
              <a:rPr lang="en-US" altLang="zh-TW" sz="600" b="1" dirty="0" err="1">
                <a:solidFill>
                  <a:srgbClr val="1F2937"/>
                </a:solidFill>
                <a:latin typeface="Microsoft JhengHei" pitchFamily="34" charset="0"/>
                <a:ea typeface="Microsoft JhengHei" pitchFamily="34" charset="-122"/>
                <a:cs typeface="Microsoft JhengHei" pitchFamily="34" charset="-120"/>
              </a:rPr>
              <a:t>approved_amount</a:t>
            </a:r>
            <a:r>
              <a:rPr lang="en-US" altLang="zh-TW" sz="600" b="1" dirty="0">
                <a:solidFill>
                  <a:srgbClr val="1F2937"/>
                </a:solidFill>
                <a:latin typeface="Microsoft JhengHei" pitchFamily="34" charset="0"/>
                <a:ea typeface="Microsoft JhengHei" pitchFamily="34" charset="-122"/>
                <a:cs typeface="Microsoft JhengHei" pitchFamily="34" charset="-120"/>
              </a:rPr>
              <a:t>; </a:t>
            </a:r>
          </a:p>
          <a:p>
            <a:r>
              <a:rPr lang="zh-TW" altLang="en-US" sz="600" dirty="0">
                <a:solidFill>
                  <a:srgbClr val="1F2937"/>
                </a:solidFill>
                <a:latin typeface="Microsoft JhengHei" pitchFamily="34" charset="0"/>
                <a:ea typeface="Microsoft JhengHei" pitchFamily="34" charset="-122"/>
                <a:cs typeface="Microsoft JhengHei" pitchFamily="34" charset="-120"/>
              </a:rPr>
              <a:t>                         </a:t>
            </a:r>
            <a:r>
              <a:rPr lang="zh-TW" altLang="en-US" sz="600" b="1" dirty="0">
                <a:solidFill>
                  <a:srgbClr val="1F2937"/>
                </a:solidFill>
                <a:latin typeface="Microsoft JhengHei" pitchFamily="34" charset="0"/>
                <a:ea typeface="Microsoft JhengHei" pitchFamily="34" charset="-122"/>
                <a:cs typeface="Microsoft JhengHei" pitchFamily="34" charset="-120"/>
              </a:rPr>
              <a:t>房貸產品</a:t>
            </a:r>
            <a:r>
              <a:rPr lang="en-US" altLang="zh-TW" sz="600" b="1" dirty="0">
                <a:solidFill>
                  <a:srgbClr val="1F2937"/>
                </a:solidFill>
                <a:latin typeface="Microsoft JhengHei" pitchFamily="34" charset="0"/>
                <a:ea typeface="Microsoft JhengHei" pitchFamily="34" charset="-122"/>
                <a:cs typeface="Microsoft JhengHei" pitchFamily="34" charset="-120"/>
              </a:rPr>
              <a:t>=</a:t>
            </a:r>
            <a:r>
              <a:rPr lang="en-US" altLang="zh-TW" sz="600" b="1" dirty="0" err="1">
                <a:solidFill>
                  <a:srgbClr val="1F2937"/>
                </a:solidFill>
                <a:latin typeface="Microsoft JhengHei" pitchFamily="34" charset="0"/>
                <a:ea typeface="Microsoft JhengHei" pitchFamily="34" charset="-122"/>
                <a:cs typeface="Microsoft JhengHei" pitchFamily="34" charset="-120"/>
              </a:rPr>
              <a:t>product_type</a:t>
            </a:r>
            <a:r>
              <a:rPr lang="en-US" altLang="zh-TW" sz="600" b="1" dirty="0">
                <a:solidFill>
                  <a:srgbClr val="1F2937"/>
                </a:solidFill>
                <a:latin typeface="Microsoft JhengHei" pitchFamily="34" charset="0"/>
                <a:ea typeface="Microsoft JhengHei" pitchFamily="34" charset="-122"/>
                <a:cs typeface="Microsoft JhengHei" pitchFamily="34" charset="-120"/>
              </a:rPr>
              <a:t>=MORTGAGE;</a:t>
            </a:r>
          </a:p>
          <a:p>
            <a:r>
              <a:rPr lang="zh-TW" altLang="en-US" sz="600" dirty="0">
                <a:solidFill>
                  <a:srgbClr val="1F2937"/>
                </a:solidFill>
                <a:latin typeface="Microsoft JhengHei" pitchFamily="34" charset="0"/>
                <a:ea typeface="Microsoft JhengHei" pitchFamily="34" charset="-122"/>
                <a:cs typeface="Microsoft JhengHei" pitchFamily="34" charset="-120"/>
              </a:rPr>
              <a:t>                         </a:t>
            </a:r>
            <a:r>
              <a:rPr lang="zh-TW" altLang="en-US" sz="600" b="1" dirty="0">
                <a:solidFill>
                  <a:srgbClr val="1F2937"/>
                </a:solidFill>
                <a:latin typeface="Microsoft JhengHei" pitchFamily="34" charset="0"/>
                <a:ea typeface="Microsoft JhengHei" pitchFamily="34" charset="-122"/>
                <a:cs typeface="Microsoft JhengHei" pitchFamily="34" charset="-120"/>
              </a:rPr>
              <a:t>有效案件狀態</a:t>
            </a:r>
            <a:r>
              <a:rPr lang="en-US" altLang="zh-TW" sz="600" b="1" dirty="0">
                <a:solidFill>
                  <a:srgbClr val="1F2937"/>
                </a:solidFill>
                <a:latin typeface="Microsoft JhengHei" pitchFamily="34" charset="0"/>
                <a:ea typeface="Microsoft JhengHei" pitchFamily="34" charset="-122"/>
                <a:cs typeface="Microsoft JhengHei" pitchFamily="34" charset="-120"/>
              </a:rPr>
              <a:t>=APPROVED</a:t>
            </a:r>
          </a:p>
        </p:txBody>
      </p:sp>
      <p:sp>
        <p:nvSpPr>
          <p:cNvPr id="674" name="Shape 10">
            <a:extLst>
              <a:ext uri="{FF2B5EF4-FFF2-40B4-BE49-F238E27FC236}">
                <a16:creationId xmlns:a16="http://schemas.microsoft.com/office/drawing/2014/main" id="{4164B211-A23F-65A5-BCB3-FC06D5D696F3}"/>
              </a:ext>
            </a:extLst>
          </p:cNvPr>
          <p:cNvSpPr/>
          <p:nvPr/>
        </p:nvSpPr>
        <p:spPr>
          <a:xfrm>
            <a:off x="7575759" y="3643809"/>
            <a:ext cx="2196000" cy="3122079"/>
          </a:xfrm>
          <a:prstGeom prst="roundRect">
            <a:avLst>
              <a:gd name="adj" fmla="val 3591"/>
            </a:avLst>
          </a:prstGeom>
          <a:solidFill>
            <a:srgbClr val="EFF6FF"/>
          </a:solidFill>
          <a:ln w="12700">
            <a:solidFill>
              <a:srgbClr val="EFF6FF"/>
            </a:solidFill>
            <a:prstDash val="solid"/>
          </a:ln>
        </p:spPr>
        <p:txBody>
          <a:bodyPr/>
          <a:lstStyle/>
          <a:p>
            <a:endParaRPr lang="zh-TW" altLang="en-US" dirty="0"/>
          </a:p>
        </p:txBody>
      </p:sp>
      <p:sp>
        <p:nvSpPr>
          <p:cNvPr id="676" name="Shape 11">
            <a:extLst>
              <a:ext uri="{FF2B5EF4-FFF2-40B4-BE49-F238E27FC236}">
                <a16:creationId xmlns:a16="http://schemas.microsoft.com/office/drawing/2014/main" id="{FB63C1C3-1AB3-E88A-D20F-2F4E79F928E1}"/>
              </a:ext>
            </a:extLst>
          </p:cNvPr>
          <p:cNvSpPr/>
          <p:nvPr/>
        </p:nvSpPr>
        <p:spPr>
          <a:xfrm>
            <a:off x="7568687" y="3657427"/>
            <a:ext cx="2196000" cy="205200"/>
          </a:xfrm>
          <a:prstGeom prst="roundRect">
            <a:avLst>
              <a:gd name="adj" fmla="val 27083"/>
            </a:avLst>
          </a:prstGeom>
          <a:solidFill>
            <a:srgbClr val="2563EB"/>
          </a:solidFill>
          <a:ln w="12700">
            <a:solidFill>
              <a:srgbClr val="2563EB">
                <a:alpha val="0"/>
              </a:srgbClr>
            </a:solidFill>
            <a:prstDash val="solid"/>
          </a:ln>
        </p:spPr>
        <p:txBody>
          <a:bodyPr/>
          <a:lstStyle/>
          <a:p>
            <a:endParaRPr lang="zh-TW" altLang="en-US"/>
          </a:p>
        </p:txBody>
      </p:sp>
      <p:sp>
        <p:nvSpPr>
          <p:cNvPr id="678" name="Text 4">
            <a:extLst>
              <a:ext uri="{FF2B5EF4-FFF2-40B4-BE49-F238E27FC236}">
                <a16:creationId xmlns:a16="http://schemas.microsoft.com/office/drawing/2014/main" id="{417ACADC-EADC-6A4B-92EB-E2FB094B95B0}"/>
              </a:ext>
            </a:extLst>
          </p:cNvPr>
          <p:cNvSpPr/>
          <p:nvPr/>
        </p:nvSpPr>
        <p:spPr>
          <a:xfrm>
            <a:off x="8195652" y="3643081"/>
            <a:ext cx="2468880" cy="246888"/>
          </a:xfrm>
          <a:prstGeom prst="rect">
            <a:avLst/>
          </a:prstGeom>
          <a:noFill/>
          <a:ln/>
        </p:spPr>
        <p:txBody>
          <a:bodyPr wrap="square" lIns="381" tIns="381" rIns="381" bIns="381" rtlCol="0" anchor="ctr">
            <a:normAutofit/>
          </a:bodyPr>
          <a:lstStyle/>
          <a:p>
            <a:pPr marL="0" indent="0" algn="l">
              <a:buNone/>
            </a:pPr>
            <a:r>
              <a:rPr lang="zh-TW" altLang="en-US" sz="1400" b="1" dirty="0">
                <a:solidFill>
                  <a:srgbClr val="FFFFFF"/>
                </a:solidFill>
                <a:latin typeface="Microsoft JhengHei" pitchFamily="34" charset="0"/>
                <a:ea typeface="Microsoft JhengHei" pitchFamily="34" charset="-122"/>
              </a:rPr>
              <a:t>對照案例</a:t>
            </a:r>
            <a:endParaRPr lang="en-US" sz="1400" dirty="0"/>
          </a:p>
        </p:txBody>
      </p:sp>
      <p:sp>
        <p:nvSpPr>
          <p:cNvPr id="682" name="Shape 118">
            <a:extLst>
              <a:ext uri="{FF2B5EF4-FFF2-40B4-BE49-F238E27FC236}">
                <a16:creationId xmlns:a16="http://schemas.microsoft.com/office/drawing/2014/main" id="{9AF36A81-4BF7-2698-5C0D-544751FE0E01}"/>
              </a:ext>
            </a:extLst>
          </p:cNvPr>
          <p:cNvSpPr/>
          <p:nvPr/>
        </p:nvSpPr>
        <p:spPr>
          <a:xfrm>
            <a:off x="7582831" y="3913491"/>
            <a:ext cx="2196000" cy="684310"/>
          </a:xfrm>
          <a:prstGeom prst="roundRect">
            <a:avLst>
              <a:gd name="adj" fmla="val 10909"/>
            </a:avLst>
          </a:prstGeom>
          <a:solidFill>
            <a:srgbClr val="FFFFFF"/>
          </a:solidFill>
          <a:ln w="8890">
            <a:solidFill>
              <a:srgbClr val="D7E3F3"/>
            </a:solidFill>
            <a:prstDash val="solid"/>
          </a:ln>
        </p:spPr>
        <p:txBody>
          <a:bodyPr/>
          <a:lstStyle/>
          <a:p>
            <a:endParaRPr lang="zh-TW" altLang="en-US"/>
          </a:p>
        </p:txBody>
      </p:sp>
      <p:sp>
        <p:nvSpPr>
          <p:cNvPr id="686" name="Shape 122">
            <a:extLst>
              <a:ext uri="{FF2B5EF4-FFF2-40B4-BE49-F238E27FC236}">
                <a16:creationId xmlns:a16="http://schemas.microsoft.com/office/drawing/2014/main" id="{401095E9-6E51-A813-6314-43B75B7BCDD6}"/>
              </a:ext>
            </a:extLst>
          </p:cNvPr>
          <p:cNvSpPr/>
          <p:nvPr/>
        </p:nvSpPr>
        <p:spPr>
          <a:xfrm>
            <a:off x="7582831" y="4766682"/>
            <a:ext cx="2196000" cy="963280"/>
          </a:xfrm>
          <a:prstGeom prst="roundRect">
            <a:avLst>
              <a:gd name="adj" fmla="val 10909"/>
            </a:avLst>
          </a:prstGeom>
          <a:solidFill>
            <a:srgbClr val="FFFFFF"/>
          </a:solidFill>
          <a:ln w="8890">
            <a:solidFill>
              <a:srgbClr val="D7E3F3"/>
            </a:solidFill>
            <a:prstDash val="solid"/>
          </a:ln>
        </p:spPr>
        <p:txBody>
          <a:bodyPr/>
          <a:lstStyle/>
          <a:p>
            <a:endParaRPr lang="zh-TW" altLang="en-US"/>
          </a:p>
        </p:txBody>
      </p:sp>
      <p:sp>
        <p:nvSpPr>
          <p:cNvPr id="690" name="Shape 126">
            <a:extLst>
              <a:ext uri="{FF2B5EF4-FFF2-40B4-BE49-F238E27FC236}">
                <a16:creationId xmlns:a16="http://schemas.microsoft.com/office/drawing/2014/main" id="{49B2A59E-85AC-242F-4D88-7AFD33D7C32E}"/>
              </a:ext>
            </a:extLst>
          </p:cNvPr>
          <p:cNvSpPr/>
          <p:nvPr/>
        </p:nvSpPr>
        <p:spPr>
          <a:xfrm>
            <a:off x="7568687" y="5805747"/>
            <a:ext cx="2196000" cy="708804"/>
          </a:xfrm>
          <a:prstGeom prst="roundRect">
            <a:avLst>
              <a:gd name="adj" fmla="val 10909"/>
            </a:avLst>
          </a:prstGeom>
          <a:solidFill>
            <a:srgbClr val="FFFFFF"/>
          </a:solidFill>
          <a:ln w="8890">
            <a:solidFill>
              <a:srgbClr val="D7E3F3"/>
            </a:solidFill>
            <a:prstDash val="solid"/>
          </a:ln>
        </p:spPr>
        <p:txBody>
          <a:bodyPr/>
          <a:lstStyle/>
          <a:p>
            <a:endParaRPr lang="zh-TW" altLang="en-US"/>
          </a:p>
        </p:txBody>
      </p:sp>
      <p:sp>
        <p:nvSpPr>
          <p:cNvPr id="766" name="Shape 21">
            <a:extLst>
              <a:ext uri="{FF2B5EF4-FFF2-40B4-BE49-F238E27FC236}">
                <a16:creationId xmlns:a16="http://schemas.microsoft.com/office/drawing/2014/main" id="{DDA4C936-A1E4-25EA-0214-45D3059C680F}"/>
              </a:ext>
            </a:extLst>
          </p:cNvPr>
          <p:cNvSpPr/>
          <p:nvPr/>
        </p:nvSpPr>
        <p:spPr>
          <a:xfrm>
            <a:off x="2809222" y="3929252"/>
            <a:ext cx="180000" cy="180000"/>
          </a:xfrm>
          <a:prstGeom prst="ellipse">
            <a:avLst/>
          </a:prstGeom>
          <a:solidFill>
            <a:srgbClr val="F59E0B"/>
          </a:solidFill>
          <a:ln w="12700">
            <a:solidFill>
              <a:srgbClr val="F59E0B">
                <a:alpha val="0"/>
              </a:srgbClr>
            </a:solidFill>
            <a:prstDash val="solid"/>
          </a:ln>
        </p:spPr>
        <p:txBody>
          <a:bodyPr/>
          <a:lstStyle/>
          <a:p>
            <a:endParaRPr lang="zh-TW" altLang="en-US"/>
          </a:p>
        </p:txBody>
      </p:sp>
      <p:sp>
        <p:nvSpPr>
          <p:cNvPr id="768" name="Text 22">
            <a:extLst>
              <a:ext uri="{FF2B5EF4-FFF2-40B4-BE49-F238E27FC236}">
                <a16:creationId xmlns:a16="http://schemas.microsoft.com/office/drawing/2014/main" id="{DDFC82D8-2356-0B08-92C4-06DB6F68A7AB}"/>
              </a:ext>
            </a:extLst>
          </p:cNvPr>
          <p:cNvSpPr/>
          <p:nvPr/>
        </p:nvSpPr>
        <p:spPr>
          <a:xfrm>
            <a:off x="2789494" y="3916116"/>
            <a:ext cx="219456" cy="192024"/>
          </a:xfrm>
          <a:prstGeom prst="rect">
            <a:avLst/>
          </a:prstGeom>
          <a:noFill/>
          <a:ln/>
        </p:spPr>
        <p:txBody>
          <a:bodyPr wrap="square" lIns="0" tIns="0" rIns="0" bIns="0" rtlCol="0" anchor="ctr">
            <a:normAutofit/>
          </a:bodyPr>
          <a:lstStyle/>
          <a:p>
            <a:pPr marL="0" indent="0" algn="ctr">
              <a:buNone/>
            </a:pPr>
            <a:r>
              <a:rPr lang="en-US" sz="560" b="1" dirty="0">
                <a:solidFill>
                  <a:srgbClr val="FFFFFF"/>
                </a:solidFill>
                <a:latin typeface="Microsoft JhengHei" pitchFamily="34" charset="0"/>
                <a:ea typeface="Microsoft JhengHei" pitchFamily="34" charset="-122"/>
                <a:cs typeface="Microsoft JhengHei" pitchFamily="34" charset="-120"/>
              </a:rPr>
              <a:t>1</a:t>
            </a:r>
            <a:endParaRPr lang="en-US" sz="560" dirty="0"/>
          </a:p>
        </p:txBody>
      </p:sp>
      <p:sp>
        <p:nvSpPr>
          <p:cNvPr id="770" name="Shape 25">
            <a:extLst>
              <a:ext uri="{FF2B5EF4-FFF2-40B4-BE49-F238E27FC236}">
                <a16:creationId xmlns:a16="http://schemas.microsoft.com/office/drawing/2014/main" id="{A72A099C-6F93-D135-268E-C5E76F7FD398}"/>
              </a:ext>
            </a:extLst>
          </p:cNvPr>
          <p:cNvSpPr/>
          <p:nvPr/>
        </p:nvSpPr>
        <p:spPr>
          <a:xfrm>
            <a:off x="2800740" y="4288421"/>
            <a:ext cx="180000" cy="180000"/>
          </a:xfrm>
          <a:prstGeom prst="ellipse">
            <a:avLst/>
          </a:prstGeom>
          <a:solidFill>
            <a:srgbClr val="F59E0B"/>
          </a:solidFill>
          <a:ln w="12700">
            <a:solidFill>
              <a:srgbClr val="F59E0B">
                <a:alpha val="0"/>
              </a:srgbClr>
            </a:solidFill>
            <a:prstDash val="solid"/>
          </a:ln>
        </p:spPr>
        <p:txBody>
          <a:bodyPr/>
          <a:lstStyle/>
          <a:p>
            <a:endParaRPr lang="zh-TW" altLang="en-US"/>
          </a:p>
        </p:txBody>
      </p:sp>
      <p:sp>
        <p:nvSpPr>
          <p:cNvPr id="772" name="Text 26">
            <a:extLst>
              <a:ext uri="{FF2B5EF4-FFF2-40B4-BE49-F238E27FC236}">
                <a16:creationId xmlns:a16="http://schemas.microsoft.com/office/drawing/2014/main" id="{FFE24218-DE63-C823-AE20-804AD337BBBC}"/>
              </a:ext>
            </a:extLst>
          </p:cNvPr>
          <p:cNvSpPr/>
          <p:nvPr/>
        </p:nvSpPr>
        <p:spPr>
          <a:xfrm>
            <a:off x="2775186" y="4270775"/>
            <a:ext cx="256032" cy="228600"/>
          </a:xfrm>
          <a:prstGeom prst="rect">
            <a:avLst/>
          </a:prstGeom>
          <a:noFill/>
          <a:ln/>
        </p:spPr>
        <p:txBody>
          <a:bodyPr wrap="square" lIns="381" tIns="381" rIns="381" bIns="381" rtlCol="0" anchor="ctr">
            <a:normAutofit/>
          </a:bodyPr>
          <a:lstStyle/>
          <a:p>
            <a:pPr marL="0" indent="0" algn="ctr">
              <a:buNone/>
            </a:pPr>
            <a:r>
              <a:rPr lang="en-US" sz="650" b="1" dirty="0">
                <a:solidFill>
                  <a:srgbClr val="FFFFFF"/>
                </a:solidFill>
                <a:latin typeface="Microsoft JhengHei" pitchFamily="34" charset="0"/>
                <a:ea typeface="Microsoft JhengHei" pitchFamily="34" charset="-122"/>
                <a:cs typeface="Microsoft JhengHei" pitchFamily="34" charset="-120"/>
              </a:rPr>
              <a:t>2</a:t>
            </a:r>
            <a:endParaRPr lang="en-US" sz="650" dirty="0"/>
          </a:p>
        </p:txBody>
      </p:sp>
      <p:sp>
        <p:nvSpPr>
          <p:cNvPr id="774" name="Shape 29">
            <a:extLst>
              <a:ext uri="{FF2B5EF4-FFF2-40B4-BE49-F238E27FC236}">
                <a16:creationId xmlns:a16="http://schemas.microsoft.com/office/drawing/2014/main" id="{D5816AB0-7E05-E9A7-C53F-22C0BF6A058F}"/>
              </a:ext>
            </a:extLst>
          </p:cNvPr>
          <p:cNvSpPr/>
          <p:nvPr/>
        </p:nvSpPr>
        <p:spPr>
          <a:xfrm>
            <a:off x="2803884" y="4636690"/>
            <a:ext cx="180000" cy="180000"/>
          </a:xfrm>
          <a:prstGeom prst="ellipse">
            <a:avLst/>
          </a:prstGeom>
          <a:solidFill>
            <a:srgbClr val="F59E0B"/>
          </a:solidFill>
          <a:ln w="12700">
            <a:solidFill>
              <a:srgbClr val="F59E0B">
                <a:alpha val="0"/>
              </a:srgbClr>
            </a:solidFill>
            <a:prstDash val="solid"/>
          </a:ln>
        </p:spPr>
        <p:txBody>
          <a:bodyPr/>
          <a:lstStyle/>
          <a:p>
            <a:endParaRPr lang="zh-TW" altLang="en-US"/>
          </a:p>
        </p:txBody>
      </p:sp>
      <p:sp>
        <p:nvSpPr>
          <p:cNvPr id="776" name="Text 30">
            <a:extLst>
              <a:ext uri="{FF2B5EF4-FFF2-40B4-BE49-F238E27FC236}">
                <a16:creationId xmlns:a16="http://schemas.microsoft.com/office/drawing/2014/main" id="{FD735788-AFB3-F5BF-5961-378902FF3DD9}"/>
              </a:ext>
            </a:extLst>
          </p:cNvPr>
          <p:cNvSpPr/>
          <p:nvPr/>
        </p:nvSpPr>
        <p:spPr>
          <a:xfrm>
            <a:off x="2781012" y="4633853"/>
            <a:ext cx="219456" cy="192024"/>
          </a:xfrm>
          <a:prstGeom prst="rect">
            <a:avLst/>
          </a:prstGeom>
          <a:noFill/>
          <a:ln/>
        </p:spPr>
        <p:txBody>
          <a:bodyPr wrap="square" lIns="0" tIns="0" rIns="0" bIns="0" rtlCol="0" anchor="ctr">
            <a:normAutofit/>
          </a:bodyPr>
          <a:lstStyle/>
          <a:p>
            <a:pPr marL="0" indent="0" algn="ctr">
              <a:buNone/>
            </a:pPr>
            <a:r>
              <a:rPr lang="en-US" sz="560" b="1" dirty="0">
                <a:solidFill>
                  <a:srgbClr val="FFFFFF"/>
                </a:solidFill>
                <a:latin typeface="Microsoft JhengHei" pitchFamily="34" charset="0"/>
                <a:ea typeface="Microsoft JhengHei" pitchFamily="34" charset="-122"/>
                <a:cs typeface="Microsoft JhengHei" pitchFamily="34" charset="-120"/>
              </a:rPr>
              <a:t>3</a:t>
            </a:r>
            <a:endParaRPr lang="en-US" sz="560" dirty="0"/>
          </a:p>
        </p:txBody>
      </p:sp>
      <p:sp>
        <p:nvSpPr>
          <p:cNvPr id="782" name="Shape 33">
            <a:extLst>
              <a:ext uri="{FF2B5EF4-FFF2-40B4-BE49-F238E27FC236}">
                <a16:creationId xmlns:a16="http://schemas.microsoft.com/office/drawing/2014/main" id="{F6522A17-839B-4214-F948-4434B9340399}"/>
              </a:ext>
            </a:extLst>
          </p:cNvPr>
          <p:cNvSpPr/>
          <p:nvPr/>
        </p:nvSpPr>
        <p:spPr>
          <a:xfrm>
            <a:off x="2790493" y="4938994"/>
            <a:ext cx="180000" cy="180000"/>
          </a:xfrm>
          <a:prstGeom prst="ellipse">
            <a:avLst/>
          </a:prstGeom>
          <a:solidFill>
            <a:srgbClr val="F59E0B"/>
          </a:solidFill>
          <a:ln w="12700">
            <a:solidFill>
              <a:srgbClr val="F59E0B">
                <a:alpha val="0"/>
              </a:srgbClr>
            </a:solidFill>
            <a:prstDash val="solid"/>
          </a:ln>
        </p:spPr>
        <p:txBody>
          <a:bodyPr/>
          <a:lstStyle/>
          <a:p>
            <a:endParaRPr lang="zh-TW" altLang="en-US"/>
          </a:p>
        </p:txBody>
      </p:sp>
      <p:sp>
        <p:nvSpPr>
          <p:cNvPr id="784" name="Text 34">
            <a:extLst>
              <a:ext uri="{FF2B5EF4-FFF2-40B4-BE49-F238E27FC236}">
                <a16:creationId xmlns:a16="http://schemas.microsoft.com/office/drawing/2014/main" id="{15ECD508-4E8A-2F28-2F97-ED9D60C36FE3}"/>
              </a:ext>
            </a:extLst>
          </p:cNvPr>
          <p:cNvSpPr/>
          <p:nvPr/>
        </p:nvSpPr>
        <p:spPr>
          <a:xfrm>
            <a:off x="2772315" y="4938420"/>
            <a:ext cx="219456" cy="180158"/>
          </a:xfrm>
          <a:prstGeom prst="rect">
            <a:avLst/>
          </a:prstGeom>
          <a:noFill/>
          <a:ln/>
        </p:spPr>
        <p:txBody>
          <a:bodyPr wrap="square" lIns="0" tIns="0" rIns="0" bIns="0" rtlCol="0" anchor="ctr">
            <a:normAutofit/>
          </a:bodyPr>
          <a:lstStyle/>
          <a:p>
            <a:pPr marL="0" indent="0" algn="ctr">
              <a:buNone/>
            </a:pPr>
            <a:r>
              <a:rPr lang="en-US" sz="560" b="1" dirty="0">
                <a:solidFill>
                  <a:srgbClr val="FFFFFF"/>
                </a:solidFill>
                <a:latin typeface="Microsoft JhengHei" pitchFamily="34" charset="0"/>
                <a:ea typeface="Microsoft JhengHei" pitchFamily="34" charset="-122"/>
                <a:cs typeface="Microsoft JhengHei" pitchFamily="34" charset="-120"/>
              </a:rPr>
              <a:t>4</a:t>
            </a:r>
            <a:endParaRPr lang="en-US" sz="560" dirty="0"/>
          </a:p>
        </p:txBody>
      </p:sp>
      <p:graphicFrame>
        <p:nvGraphicFramePr>
          <p:cNvPr id="785" name="表格 784">
            <a:extLst>
              <a:ext uri="{FF2B5EF4-FFF2-40B4-BE49-F238E27FC236}">
                <a16:creationId xmlns:a16="http://schemas.microsoft.com/office/drawing/2014/main" id="{AEF8FA50-7050-CE73-6FE3-40ED3A5325CC}"/>
              </a:ext>
            </a:extLst>
          </p:cNvPr>
          <p:cNvGraphicFramePr>
            <a:graphicFrameLocks noGrp="1"/>
          </p:cNvGraphicFramePr>
          <p:nvPr/>
        </p:nvGraphicFramePr>
        <p:xfrm>
          <a:off x="2965655" y="5067168"/>
          <a:ext cx="1958392" cy="915000"/>
        </p:xfrm>
        <a:graphic>
          <a:graphicData uri="http://schemas.openxmlformats.org/drawingml/2006/table">
            <a:tbl>
              <a:tblPr firstRow="1" bandRow="1">
                <a:tableStyleId>{B301B821-A1FF-4177-AEE7-76D212191A09}</a:tableStyleId>
              </a:tblPr>
              <a:tblGrid>
                <a:gridCol w="642672">
                  <a:extLst>
                    <a:ext uri="{9D8B030D-6E8A-4147-A177-3AD203B41FA5}">
                      <a16:colId xmlns:a16="http://schemas.microsoft.com/office/drawing/2014/main" val="2067432487"/>
                    </a:ext>
                  </a:extLst>
                </a:gridCol>
                <a:gridCol w="269240">
                  <a:extLst>
                    <a:ext uri="{9D8B030D-6E8A-4147-A177-3AD203B41FA5}">
                      <a16:colId xmlns:a16="http://schemas.microsoft.com/office/drawing/2014/main" val="3799602990"/>
                    </a:ext>
                  </a:extLst>
                </a:gridCol>
                <a:gridCol w="1046480">
                  <a:extLst>
                    <a:ext uri="{9D8B030D-6E8A-4147-A177-3AD203B41FA5}">
                      <a16:colId xmlns:a16="http://schemas.microsoft.com/office/drawing/2014/main" val="3108874136"/>
                    </a:ext>
                  </a:extLst>
                </a:gridCol>
              </a:tblGrid>
              <a:tr h="115000">
                <a:tc>
                  <a:txBody>
                    <a:bodyPr/>
                    <a:lstStyle/>
                    <a:p>
                      <a:pPr algn="ctr"/>
                      <a:r>
                        <a:rPr lang="en-US" altLang="zh-TW" sz="550" dirty="0">
                          <a:ln w="3175">
                            <a:solidFill>
                              <a:srgbClr val="DCEBFF"/>
                            </a:solidFill>
                          </a:ln>
                        </a:rPr>
                        <a:t>Table</a:t>
                      </a:r>
                      <a:endParaRPr lang="zh-TW" altLang="en-US" sz="550" dirty="0">
                        <a:ln w="3175">
                          <a:solidFill>
                            <a:srgbClr val="DCEBFF"/>
                          </a:solidFill>
                        </a:ln>
                        <a:latin typeface="+mj-ea"/>
                        <a:ea typeface="+mj-ea"/>
                      </a:endParaRPr>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tc>
                  <a:txBody>
                    <a:bodyPr/>
                    <a:lstStyle/>
                    <a:p>
                      <a:pPr algn="ctr"/>
                      <a:r>
                        <a:rPr lang="zh-TW" altLang="en-US" sz="550" dirty="0">
                          <a:ln w="3175">
                            <a:solidFill>
                              <a:srgbClr val="DCEBFF"/>
                            </a:solidFill>
                          </a:ln>
                        </a:rPr>
                        <a:t>分數</a:t>
                      </a:r>
                      <a:endParaRPr lang="zh-TW" altLang="en-US" sz="550" dirty="0">
                        <a:ln w="3175">
                          <a:solidFill>
                            <a:srgbClr val="DCEBFF"/>
                          </a:solidFill>
                        </a:ln>
                        <a:latin typeface="+mj-ea"/>
                        <a:ea typeface="+mj-ea"/>
                      </a:endParaRPr>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tc>
                  <a:txBody>
                    <a:bodyPr/>
                    <a:lstStyle/>
                    <a:p>
                      <a:pPr algn="ctr"/>
                      <a:r>
                        <a:rPr lang="zh-TW" altLang="en-US" sz="550">
                          <a:ln w="3175">
                            <a:solidFill>
                              <a:srgbClr val="DCEBFF"/>
                            </a:solidFill>
                          </a:ln>
                        </a:rPr>
                        <a:t>描述 </a:t>
                      </a:r>
                      <a:r>
                        <a:rPr lang="en-US" altLang="zh-TW" sz="550">
                          <a:ln w="3175">
                            <a:solidFill>
                              <a:srgbClr val="DCEBFF"/>
                            </a:solidFill>
                          </a:ln>
                        </a:rPr>
                        <a:t>/ </a:t>
                      </a:r>
                      <a:r>
                        <a:rPr lang="zh-TW" altLang="en-US" sz="550">
                          <a:ln w="3175">
                            <a:solidFill>
                              <a:srgbClr val="DCEBFF"/>
                            </a:solidFill>
                          </a:ln>
                        </a:rPr>
                        <a:t>欄位</a:t>
                      </a:r>
                      <a:endParaRPr lang="zh-TW" altLang="en-US" sz="550">
                        <a:ln w="3175">
                          <a:solidFill>
                            <a:srgbClr val="DCEBFF"/>
                          </a:solidFill>
                        </a:ln>
                        <a:latin typeface="+mj-ea"/>
                        <a:ea typeface="+mj-ea"/>
                      </a:endParaRPr>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extLst>
                  <a:ext uri="{0D108BD9-81ED-4DB2-BD59-A6C34878D82A}">
                    <a16:rowId xmlns:a16="http://schemas.microsoft.com/office/drawing/2014/main" val="497980836"/>
                  </a:ext>
                </a:extLst>
              </a:tr>
              <a:tr h="200000">
                <a:tc>
                  <a:txBody>
                    <a:bodyPr/>
                    <a:lstStyle/>
                    <a:p>
                      <a:r>
                        <a:rPr lang="en-US" altLang="zh-TW" sz="550" b="1">
                          <a:solidFill>
                            <a:srgbClr val="1F2937"/>
                          </a:solidFill>
                        </a:rPr>
                        <a:t>LoanApplication</a:t>
                      </a:r>
                      <a:endParaRPr lang="zh-TW" altLang="en-US" sz="550">
                        <a:ln w="3175">
                          <a:solidFill>
                            <a:srgbClr val="DCEBFF"/>
                          </a:solidFill>
                        </a:ln>
                      </a:endParaRPr>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tc>
                  <a:txBody>
                    <a:bodyPr/>
                    <a:lstStyle/>
                    <a:p>
                      <a:r>
                        <a:rPr lang="en-US" altLang="zh-TW" sz="550" b="1">
                          <a:solidFill>
                            <a:srgbClr val="12355B"/>
                          </a:solidFill>
                        </a:rPr>
                        <a:t>0.94</a:t>
                      </a:r>
                      <a:endParaRPr lang="zh-TW" altLang="en-US" sz="550">
                        <a:ln w="3175">
                          <a:solidFill>
                            <a:srgbClr val="DCEBFF"/>
                          </a:solidFill>
                        </a:ln>
                      </a:endParaRPr>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tc>
                  <a:txBody>
                    <a:bodyPr/>
                    <a:lstStyle/>
                    <a:p>
                      <a:pPr marL="0" indent="0" algn="l">
                        <a:buNone/>
                      </a:pPr>
                      <a:r>
                        <a:rPr lang="en-US" altLang="zh-TW" sz="550" dirty="0" err="1">
                          <a:solidFill>
                            <a:srgbClr val="1F2937"/>
                          </a:solidFill>
                        </a:rPr>
                        <a:t>貸款申請、核准、核貸額</a:t>
                      </a:r>
                      <a:endParaRPr lang="en-US" altLang="zh-TW" sz="550" dirty="0"/>
                    </a:p>
                    <a:p>
                      <a:pPr marL="0" indent="0" algn="l">
                        <a:buNone/>
                      </a:pPr>
                      <a:r>
                        <a:rPr lang="en-US" altLang="zh-TW" sz="550" dirty="0" err="1">
                          <a:solidFill>
                            <a:srgbClr val="1F2937"/>
                          </a:solidFill>
                        </a:rPr>
                        <a:t>approved_amount</a:t>
                      </a:r>
                      <a:r>
                        <a:rPr lang="en-US" altLang="zh-TW" sz="550" dirty="0">
                          <a:solidFill>
                            <a:srgbClr val="1F2937"/>
                          </a:solidFill>
                        </a:rPr>
                        <a:t>, date, status</a:t>
                      </a:r>
                      <a:endParaRPr lang="en-US" altLang="zh-TW" sz="550" dirty="0"/>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extLst>
                  <a:ext uri="{0D108BD9-81ED-4DB2-BD59-A6C34878D82A}">
                    <a16:rowId xmlns:a16="http://schemas.microsoft.com/office/drawing/2014/main" val="1417119305"/>
                  </a:ext>
                </a:extLst>
              </a:tr>
              <a:tr h="200000">
                <a:tc>
                  <a:txBody>
                    <a:bodyPr/>
                    <a:lstStyle/>
                    <a:p>
                      <a:r>
                        <a:rPr lang="en-US" altLang="zh-TW" sz="550" b="1">
                          <a:solidFill>
                            <a:srgbClr val="1F2937"/>
                          </a:solidFill>
                        </a:rPr>
                        <a:t>MortgageProduct</a:t>
                      </a:r>
                      <a:endParaRPr lang="zh-TW" altLang="en-US" sz="550">
                        <a:ln w="3175">
                          <a:solidFill>
                            <a:srgbClr val="DCEBFF"/>
                          </a:solidFill>
                        </a:ln>
                      </a:endParaRPr>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tc>
                  <a:txBody>
                    <a:bodyPr/>
                    <a:lstStyle/>
                    <a:p>
                      <a:r>
                        <a:rPr lang="en-US" altLang="zh-TW" sz="550" b="1">
                          <a:solidFill>
                            <a:srgbClr val="12355B"/>
                          </a:solidFill>
                        </a:rPr>
                        <a:t>0.88</a:t>
                      </a:r>
                      <a:endParaRPr lang="zh-TW" altLang="en-US" sz="550">
                        <a:ln w="3175">
                          <a:solidFill>
                            <a:srgbClr val="DCEBFF"/>
                          </a:solidFill>
                        </a:ln>
                      </a:endParaRPr>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tc>
                  <a:txBody>
                    <a:bodyPr/>
                    <a:lstStyle/>
                    <a:p>
                      <a:pPr marL="0" indent="0" algn="l">
                        <a:buNone/>
                      </a:pPr>
                      <a:r>
                        <a:rPr lang="en-US" altLang="zh-TW" sz="550" dirty="0" err="1">
                          <a:solidFill>
                            <a:srgbClr val="1F2937"/>
                          </a:solidFill>
                        </a:rPr>
                        <a:t>房貸產品分類</a:t>
                      </a:r>
                      <a:endParaRPr lang="en-US" altLang="zh-TW" sz="550" dirty="0"/>
                    </a:p>
                    <a:p>
                      <a:pPr marL="0" indent="0" algn="l">
                        <a:buNone/>
                      </a:pPr>
                      <a:r>
                        <a:rPr lang="en-US" altLang="zh-TW" sz="550" dirty="0" err="1">
                          <a:solidFill>
                            <a:srgbClr val="1F2937"/>
                          </a:solidFill>
                        </a:rPr>
                        <a:t>product_type</a:t>
                      </a:r>
                      <a:r>
                        <a:rPr lang="en-US" altLang="zh-TW" sz="550" dirty="0">
                          <a:solidFill>
                            <a:srgbClr val="1F2937"/>
                          </a:solidFill>
                        </a:rPr>
                        <a:t>, </a:t>
                      </a:r>
                      <a:r>
                        <a:rPr lang="en-US" altLang="zh-TW" sz="550" dirty="0" err="1">
                          <a:solidFill>
                            <a:srgbClr val="1F2937"/>
                          </a:solidFill>
                        </a:rPr>
                        <a:t>product_code</a:t>
                      </a:r>
                      <a:endParaRPr lang="en-US" altLang="zh-TW" sz="550" dirty="0"/>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extLst>
                  <a:ext uri="{0D108BD9-81ED-4DB2-BD59-A6C34878D82A}">
                    <a16:rowId xmlns:a16="http://schemas.microsoft.com/office/drawing/2014/main" val="2650491596"/>
                  </a:ext>
                </a:extLst>
              </a:tr>
              <a:tr h="200000">
                <a:tc>
                  <a:txBody>
                    <a:bodyPr/>
                    <a:lstStyle/>
                    <a:p>
                      <a:r>
                        <a:rPr lang="en-US" altLang="zh-TW" sz="550" b="1">
                          <a:solidFill>
                            <a:srgbClr val="1F2937"/>
                          </a:solidFill>
                        </a:rPr>
                        <a:t>Customer</a:t>
                      </a:r>
                      <a:endParaRPr lang="zh-TW" altLang="en-US" sz="550">
                        <a:ln w="3175">
                          <a:solidFill>
                            <a:srgbClr val="DCEBFF"/>
                          </a:solidFill>
                        </a:ln>
                      </a:endParaRPr>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550" b="1">
                          <a:solidFill>
                            <a:srgbClr val="12355B"/>
                          </a:solidFill>
                        </a:rPr>
                        <a:t>0.81</a:t>
                      </a:r>
                      <a:endParaRPr lang="en-US" altLang="zh-TW" sz="550"/>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tc>
                  <a:txBody>
                    <a:bodyPr/>
                    <a:lstStyle/>
                    <a:p>
                      <a:pPr marL="0" indent="0" algn="l">
                        <a:buNone/>
                      </a:pPr>
                      <a:r>
                        <a:rPr lang="en-US" altLang="zh-TW" sz="550" dirty="0" err="1">
                          <a:solidFill>
                            <a:srgbClr val="1F2937"/>
                          </a:solidFill>
                        </a:rPr>
                        <a:t>客戶所在地區</a:t>
                      </a:r>
                      <a:endParaRPr lang="en-US" altLang="zh-TW" sz="550" dirty="0"/>
                    </a:p>
                    <a:p>
                      <a:pPr marL="0" indent="0" algn="l">
                        <a:buNone/>
                      </a:pPr>
                      <a:r>
                        <a:rPr lang="en-US" altLang="zh-TW" sz="550" dirty="0" err="1">
                          <a:solidFill>
                            <a:srgbClr val="1F2937"/>
                          </a:solidFill>
                        </a:rPr>
                        <a:t>customer_region</a:t>
                      </a:r>
                      <a:r>
                        <a:rPr lang="en-US" altLang="zh-TW" sz="550" dirty="0">
                          <a:solidFill>
                            <a:srgbClr val="1F2937"/>
                          </a:solidFill>
                        </a:rPr>
                        <a:t>, </a:t>
                      </a:r>
                      <a:r>
                        <a:rPr lang="en-US" altLang="zh-TW" sz="550" dirty="0" err="1">
                          <a:solidFill>
                            <a:srgbClr val="1F2937"/>
                          </a:solidFill>
                        </a:rPr>
                        <a:t>customer_id</a:t>
                      </a:r>
                      <a:endParaRPr lang="en-US" altLang="zh-TW" sz="550" dirty="0"/>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extLst>
                  <a:ext uri="{0D108BD9-81ED-4DB2-BD59-A6C34878D82A}">
                    <a16:rowId xmlns:a16="http://schemas.microsoft.com/office/drawing/2014/main" val="1389411369"/>
                  </a:ext>
                </a:extLst>
              </a:tr>
              <a:tr h="200000">
                <a:tc>
                  <a:txBody>
                    <a:bodyPr/>
                    <a:lstStyle/>
                    <a:p>
                      <a:r>
                        <a:rPr lang="en-US" altLang="zh-TW" sz="550" b="1">
                          <a:solidFill>
                            <a:srgbClr val="1F2937"/>
                          </a:solidFill>
                        </a:rPr>
                        <a:t>Region</a:t>
                      </a:r>
                      <a:endParaRPr lang="zh-TW" altLang="en-US" sz="550">
                        <a:ln w="3175">
                          <a:solidFill>
                            <a:srgbClr val="DCEBFF"/>
                          </a:solidFill>
                        </a:ln>
                      </a:endParaRPr>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tc>
                  <a:txBody>
                    <a:bodyPr/>
                    <a:lstStyle/>
                    <a:p>
                      <a:r>
                        <a:rPr lang="en-US" altLang="zh-TW" sz="550" b="1" dirty="0">
                          <a:solidFill>
                            <a:srgbClr val="12355B"/>
                          </a:solidFill>
                        </a:rPr>
                        <a:t>0.76</a:t>
                      </a:r>
                      <a:endParaRPr lang="zh-TW" altLang="en-US" sz="550" dirty="0">
                        <a:ln w="3175">
                          <a:solidFill>
                            <a:srgbClr val="DCEBFF"/>
                          </a:solidFill>
                        </a:ln>
                      </a:endParaRPr>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tc>
                  <a:txBody>
                    <a:bodyPr/>
                    <a:lstStyle/>
                    <a:p>
                      <a:pPr marL="0" indent="0" algn="l">
                        <a:buNone/>
                      </a:pPr>
                      <a:r>
                        <a:rPr lang="en-US" altLang="zh-TW" sz="550" dirty="0" err="1">
                          <a:solidFill>
                            <a:srgbClr val="1F2937"/>
                          </a:solidFill>
                        </a:rPr>
                        <a:t>區域代碼與名稱</a:t>
                      </a:r>
                      <a:endParaRPr lang="en-US" altLang="zh-TW" sz="550" dirty="0"/>
                    </a:p>
                    <a:p>
                      <a:pPr marL="0" indent="0" algn="l">
                        <a:buNone/>
                      </a:pPr>
                      <a:r>
                        <a:rPr lang="en-US" altLang="zh-TW" sz="550" dirty="0" err="1">
                          <a:solidFill>
                            <a:srgbClr val="1F2937"/>
                          </a:solidFill>
                        </a:rPr>
                        <a:t>region_code</a:t>
                      </a:r>
                      <a:r>
                        <a:rPr lang="en-US" altLang="zh-TW" sz="550" dirty="0">
                          <a:solidFill>
                            <a:srgbClr val="1F2937"/>
                          </a:solidFill>
                        </a:rPr>
                        <a:t>, </a:t>
                      </a:r>
                      <a:r>
                        <a:rPr lang="en-US" altLang="zh-TW" sz="550" dirty="0" err="1">
                          <a:solidFill>
                            <a:srgbClr val="1F2937"/>
                          </a:solidFill>
                        </a:rPr>
                        <a:t>region_name</a:t>
                      </a:r>
                      <a:endParaRPr lang="en-US" altLang="zh-TW" sz="550" dirty="0"/>
                    </a:p>
                  </a:txBody>
                  <a:tcPr marL="9144" marR="9144" marT="0" marB="0" anchor="ctr">
                    <a:lnL w="3175" cap="flat" cmpd="sng" algn="ctr">
                      <a:solidFill>
                        <a:schemeClr val="bg1"/>
                      </a:solidFill>
                      <a:prstDash val="solid"/>
                    </a:lnL>
                    <a:lnR w="3175" cap="flat" cmpd="sng" algn="ctr">
                      <a:solidFill>
                        <a:schemeClr val="bg1"/>
                      </a:solidFill>
                      <a:prstDash val="solid"/>
                    </a:lnR>
                    <a:lnT w="3175" cap="flat" cmpd="sng" algn="ctr">
                      <a:solidFill>
                        <a:schemeClr val="bg1"/>
                      </a:solidFill>
                      <a:prstDash val="solid"/>
                    </a:lnT>
                    <a:lnB w="3175" cap="flat" cmpd="sng" algn="ctr">
                      <a:solidFill>
                        <a:schemeClr val="bg1"/>
                      </a:solidFill>
                      <a:prstDash val="solid"/>
                    </a:lnB>
                  </a:tcPr>
                </a:tc>
                <a:extLst>
                  <a:ext uri="{0D108BD9-81ED-4DB2-BD59-A6C34878D82A}">
                    <a16:rowId xmlns:a16="http://schemas.microsoft.com/office/drawing/2014/main" val="3293031345"/>
                  </a:ext>
                </a:extLst>
              </a:tr>
            </a:tbl>
          </a:graphicData>
        </a:graphic>
      </p:graphicFrame>
      <p:sp>
        <p:nvSpPr>
          <p:cNvPr id="787" name="矩形: 圓角 786">
            <a:extLst>
              <a:ext uri="{FF2B5EF4-FFF2-40B4-BE49-F238E27FC236}">
                <a16:creationId xmlns:a16="http://schemas.microsoft.com/office/drawing/2014/main" id="{AD56440D-2254-ED88-3C5A-CFE8D8EB107F}"/>
              </a:ext>
            </a:extLst>
          </p:cNvPr>
          <p:cNvSpPr/>
          <p:nvPr/>
        </p:nvSpPr>
        <p:spPr>
          <a:xfrm>
            <a:off x="2764287" y="6041934"/>
            <a:ext cx="2210400" cy="726066"/>
          </a:xfrm>
          <a:prstGeom prst="roundRect">
            <a:avLst>
              <a:gd name="adj" fmla="val 6083"/>
            </a:avLst>
          </a:prstGeom>
          <a:solidFill>
            <a:srgbClr val="FFFFFF"/>
          </a:solidFill>
          <a:ln>
            <a:solidFill>
              <a:srgbClr val="DCE6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778" name="Shape 33">
            <a:extLst>
              <a:ext uri="{FF2B5EF4-FFF2-40B4-BE49-F238E27FC236}">
                <a16:creationId xmlns:a16="http://schemas.microsoft.com/office/drawing/2014/main" id="{62B3DFC2-3645-1221-A6A3-214184A774FF}"/>
              </a:ext>
            </a:extLst>
          </p:cNvPr>
          <p:cNvSpPr/>
          <p:nvPr/>
        </p:nvSpPr>
        <p:spPr>
          <a:xfrm>
            <a:off x="2796793" y="6058633"/>
            <a:ext cx="180000" cy="180000"/>
          </a:xfrm>
          <a:prstGeom prst="ellipse">
            <a:avLst/>
          </a:prstGeom>
          <a:solidFill>
            <a:srgbClr val="F59E0B"/>
          </a:solidFill>
          <a:ln w="12700">
            <a:solidFill>
              <a:srgbClr val="F59E0B">
                <a:alpha val="0"/>
              </a:srgbClr>
            </a:solidFill>
            <a:prstDash val="solid"/>
          </a:ln>
        </p:spPr>
        <p:txBody>
          <a:bodyPr/>
          <a:lstStyle/>
          <a:p>
            <a:endParaRPr lang="zh-TW" altLang="en-US"/>
          </a:p>
        </p:txBody>
      </p:sp>
      <p:sp>
        <p:nvSpPr>
          <p:cNvPr id="780" name="Text 34">
            <a:extLst>
              <a:ext uri="{FF2B5EF4-FFF2-40B4-BE49-F238E27FC236}">
                <a16:creationId xmlns:a16="http://schemas.microsoft.com/office/drawing/2014/main" id="{ED7167D3-3964-B6ED-4F8E-0F5BC40F68E1}"/>
              </a:ext>
            </a:extLst>
          </p:cNvPr>
          <p:cNvSpPr/>
          <p:nvPr/>
        </p:nvSpPr>
        <p:spPr>
          <a:xfrm>
            <a:off x="2757202" y="6043063"/>
            <a:ext cx="256032" cy="228600"/>
          </a:xfrm>
          <a:prstGeom prst="rect">
            <a:avLst/>
          </a:prstGeom>
          <a:noFill/>
          <a:ln/>
        </p:spPr>
        <p:txBody>
          <a:bodyPr wrap="square" lIns="381" tIns="381" rIns="381" bIns="381" rtlCol="0" anchor="ctr">
            <a:normAutofit/>
          </a:bodyPr>
          <a:lstStyle/>
          <a:p>
            <a:pPr marL="0" indent="0" algn="ctr">
              <a:buNone/>
            </a:pPr>
            <a:r>
              <a:rPr lang="en-US" altLang="zh-TW" sz="650" b="1" dirty="0">
                <a:solidFill>
                  <a:srgbClr val="FFFFFF"/>
                </a:solidFill>
                <a:latin typeface="Microsoft JhengHei" pitchFamily="34" charset="0"/>
                <a:ea typeface="Microsoft JhengHei" pitchFamily="34" charset="-122"/>
              </a:rPr>
              <a:t>5</a:t>
            </a:r>
            <a:endParaRPr lang="en-US" sz="650" dirty="0"/>
          </a:p>
        </p:txBody>
      </p:sp>
      <p:sp>
        <p:nvSpPr>
          <p:cNvPr id="789" name="Text 73">
            <a:extLst>
              <a:ext uri="{FF2B5EF4-FFF2-40B4-BE49-F238E27FC236}">
                <a16:creationId xmlns:a16="http://schemas.microsoft.com/office/drawing/2014/main" id="{9CAAD52D-ED45-E841-E3EF-EEE5F7EFAA8B}"/>
              </a:ext>
            </a:extLst>
          </p:cNvPr>
          <p:cNvSpPr/>
          <p:nvPr/>
        </p:nvSpPr>
        <p:spPr>
          <a:xfrm>
            <a:off x="3448800" y="6084828"/>
            <a:ext cx="967821" cy="109728"/>
          </a:xfrm>
          <a:prstGeom prst="rect">
            <a:avLst/>
          </a:prstGeom>
          <a:noFill/>
          <a:ln/>
        </p:spPr>
        <p:txBody>
          <a:bodyPr wrap="square" lIns="127" tIns="127" rIns="127" bIns="127" rtlCol="0" anchor="t">
            <a:normAutofit/>
          </a:bodyPr>
          <a:lstStyle/>
          <a:p>
            <a:pPr marL="0" indent="0" algn="l">
              <a:buNone/>
            </a:pPr>
            <a:r>
              <a:rPr lang="zh-TW" altLang="en-US" sz="600" b="1" dirty="0">
                <a:solidFill>
                  <a:srgbClr val="12355B"/>
                </a:solidFill>
                <a:latin typeface="Microsoft JhengHei" pitchFamily="34" charset="0"/>
                <a:ea typeface="Microsoft JhengHei" pitchFamily="34" charset="-122"/>
                <a:cs typeface="Microsoft JhengHei" pitchFamily="34" charset="-120"/>
              </a:rPr>
              <a:t>重塑</a:t>
            </a:r>
            <a:r>
              <a:rPr lang="en-US" sz="600" b="1" dirty="0" err="1">
                <a:solidFill>
                  <a:srgbClr val="12355B"/>
                </a:solidFill>
                <a:latin typeface="Microsoft JhengHei" pitchFamily="34" charset="0"/>
                <a:ea typeface="Microsoft JhengHei" pitchFamily="34" charset="-122"/>
                <a:cs typeface="Microsoft JhengHei" pitchFamily="34" charset="-120"/>
              </a:rPr>
              <a:t>結構化理解</a:t>
            </a:r>
            <a:endParaRPr lang="en-US" sz="600" dirty="0"/>
          </a:p>
        </p:txBody>
      </p:sp>
      <p:sp>
        <p:nvSpPr>
          <p:cNvPr id="791" name="Text 74">
            <a:extLst>
              <a:ext uri="{FF2B5EF4-FFF2-40B4-BE49-F238E27FC236}">
                <a16:creationId xmlns:a16="http://schemas.microsoft.com/office/drawing/2014/main" id="{1B6B5916-3772-2014-1F79-4F34FACE2EC4}"/>
              </a:ext>
            </a:extLst>
          </p:cNvPr>
          <p:cNvSpPr/>
          <p:nvPr/>
        </p:nvSpPr>
        <p:spPr>
          <a:xfrm>
            <a:off x="2836949" y="6270291"/>
            <a:ext cx="73152" cy="64008"/>
          </a:xfrm>
          <a:prstGeom prst="rect">
            <a:avLst/>
          </a:prstGeom>
          <a:noFill/>
          <a:ln/>
        </p:spPr>
        <p:txBody>
          <a:bodyPr wrap="square" lIns="0" tIns="0" rIns="0" bIns="0" rtlCol="0" anchor="t">
            <a:normAutofit/>
          </a:bodyPr>
          <a:lstStyle/>
          <a:p>
            <a:pPr marL="0" indent="0" algn="l">
              <a:buNone/>
            </a:pPr>
            <a:r>
              <a:rPr lang="en-US" sz="335" b="1" dirty="0">
                <a:solidFill>
                  <a:srgbClr val="1F2937"/>
                </a:solidFill>
                <a:latin typeface="Microsoft JhengHei" pitchFamily="34" charset="0"/>
                <a:ea typeface="Microsoft JhengHei" pitchFamily="34" charset="-122"/>
                <a:cs typeface="Microsoft JhengHei" pitchFamily="34" charset="-120"/>
              </a:rPr>
              <a:t>•</a:t>
            </a:r>
            <a:endParaRPr lang="en-US" sz="335" dirty="0"/>
          </a:p>
        </p:txBody>
      </p:sp>
      <p:sp>
        <p:nvSpPr>
          <p:cNvPr id="793" name="Text 75">
            <a:extLst>
              <a:ext uri="{FF2B5EF4-FFF2-40B4-BE49-F238E27FC236}">
                <a16:creationId xmlns:a16="http://schemas.microsoft.com/office/drawing/2014/main" id="{B2372EF6-A572-E193-0E70-D57044031B42}"/>
              </a:ext>
            </a:extLst>
          </p:cNvPr>
          <p:cNvSpPr/>
          <p:nvPr/>
        </p:nvSpPr>
        <p:spPr>
          <a:xfrm>
            <a:off x="2887158" y="6260207"/>
            <a:ext cx="967258" cy="76269"/>
          </a:xfrm>
          <a:prstGeom prst="rect">
            <a:avLst/>
          </a:prstGeom>
          <a:noFill/>
          <a:ln/>
        </p:spPr>
        <p:txBody>
          <a:bodyPr wrap="square" lIns="0" tIns="0" rIns="0" bIns="0" rtlCol="0" anchor="t">
            <a:noAutofit/>
          </a:bodyPr>
          <a:lstStyle/>
          <a:p>
            <a:pPr marL="0" indent="0" algn="l">
              <a:buNone/>
            </a:pPr>
            <a:r>
              <a:rPr lang="en-US" sz="500" b="1" dirty="0">
                <a:solidFill>
                  <a:srgbClr val="1F2937"/>
                </a:solidFill>
                <a:latin typeface="Microsoft JhengHei" pitchFamily="34" charset="0"/>
                <a:ea typeface="Microsoft JhengHei" pitchFamily="34" charset="-122"/>
                <a:cs typeface="Microsoft JhengHei" pitchFamily="34" charset="-120"/>
              </a:rPr>
              <a:t>Rephrased Question：</a:t>
            </a:r>
            <a:endParaRPr lang="en-US" sz="500" dirty="0"/>
          </a:p>
        </p:txBody>
      </p:sp>
      <p:sp>
        <p:nvSpPr>
          <p:cNvPr id="795" name="Text 76">
            <a:extLst>
              <a:ext uri="{FF2B5EF4-FFF2-40B4-BE49-F238E27FC236}">
                <a16:creationId xmlns:a16="http://schemas.microsoft.com/office/drawing/2014/main" id="{6267ACF5-3143-CF0A-6087-90D109326837}"/>
              </a:ext>
            </a:extLst>
          </p:cNvPr>
          <p:cNvSpPr/>
          <p:nvPr/>
        </p:nvSpPr>
        <p:spPr>
          <a:xfrm>
            <a:off x="3587775" y="6234688"/>
            <a:ext cx="1379108" cy="100295"/>
          </a:xfrm>
          <a:prstGeom prst="rect">
            <a:avLst/>
          </a:prstGeom>
          <a:noFill/>
          <a:ln/>
        </p:spPr>
        <p:txBody>
          <a:bodyPr wrap="square" lIns="0" tIns="0" rIns="0" bIns="0" rtlCol="0" anchor="t">
            <a:noAutofit/>
          </a:bodyPr>
          <a:lstStyle/>
          <a:p>
            <a:pPr marL="0" indent="0" algn="l">
              <a:buNone/>
            </a:pPr>
            <a:r>
              <a:rPr lang="en-US" sz="500" dirty="0">
                <a:solidFill>
                  <a:srgbClr val="1F2937"/>
                </a:solidFill>
                <a:latin typeface="Microsoft JhengHei" pitchFamily="34" charset="0"/>
                <a:ea typeface="Microsoft JhengHei" pitchFamily="34" charset="-122"/>
                <a:cs typeface="Microsoft JhengHei" pitchFamily="34" charset="-120"/>
              </a:rPr>
              <a:t>比較 2026 上半年與 2025 上半年台北地區房貸平均核貸金額的年增率</a:t>
            </a:r>
            <a:endParaRPr lang="en-US" sz="500" dirty="0"/>
          </a:p>
        </p:txBody>
      </p:sp>
      <p:sp>
        <p:nvSpPr>
          <p:cNvPr id="797" name="Text 77">
            <a:extLst>
              <a:ext uri="{FF2B5EF4-FFF2-40B4-BE49-F238E27FC236}">
                <a16:creationId xmlns:a16="http://schemas.microsoft.com/office/drawing/2014/main" id="{6347C97F-DD14-D060-81AD-EBF15BF0A36E}"/>
              </a:ext>
            </a:extLst>
          </p:cNvPr>
          <p:cNvSpPr/>
          <p:nvPr/>
        </p:nvSpPr>
        <p:spPr>
          <a:xfrm>
            <a:off x="2839215" y="6390717"/>
            <a:ext cx="73152" cy="64008"/>
          </a:xfrm>
          <a:prstGeom prst="rect">
            <a:avLst/>
          </a:prstGeom>
          <a:noFill/>
          <a:ln/>
        </p:spPr>
        <p:txBody>
          <a:bodyPr wrap="square" lIns="0" tIns="0" rIns="0" bIns="0" rtlCol="0" anchor="t">
            <a:normAutofit/>
          </a:bodyPr>
          <a:lstStyle/>
          <a:p>
            <a:pPr marL="0" indent="0" algn="l">
              <a:buNone/>
            </a:pPr>
            <a:r>
              <a:rPr lang="en-US" sz="335" b="1" dirty="0">
                <a:solidFill>
                  <a:srgbClr val="1F2937"/>
                </a:solidFill>
                <a:latin typeface="Microsoft JhengHei" pitchFamily="34" charset="0"/>
                <a:ea typeface="Microsoft JhengHei" pitchFamily="34" charset="-122"/>
                <a:cs typeface="Microsoft JhengHei" pitchFamily="34" charset="-120"/>
              </a:rPr>
              <a:t>•</a:t>
            </a:r>
            <a:endParaRPr lang="en-US" sz="335" dirty="0"/>
          </a:p>
        </p:txBody>
      </p:sp>
      <p:sp>
        <p:nvSpPr>
          <p:cNvPr id="799" name="Text 78">
            <a:extLst>
              <a:ext uri="{FF2B5EF4-FFF2-40B4-BE49-F238E27FC236}">
                <a16:creationId xmlns:a16="http://schemas.microsoft.com/office/drawing/2014/main" id="{EF5C5520-8CCD-D566-D33C-7DE29FE33E57}"/>
              </a:ext>
            </a:extLst>
          </p:cNvPr>
          <p:cNvSpPr/>
          <p:nvPr/>
        </p:nvSpPr>
        <p:spPr>
          <a:xfrm>
            <a:off x="2879724" y="6390218"/>
            <a:ext cx="1052987" cy="66064"/>
          </a:xfrm>
          <a:prstGeom prst="rect">
            <a:avLst/>
          </a:prstGeom>
          <a:noFill/>
          <a:ln/>
        </p:spPr>
        <p:txBody>
          <a:bodyPr wrap="square" lIns="0" tIns="0" rIns="0" bIns="0" rtlCol="0" anchor="t">
            <a:noAutofit/>
          </a:bodyPr>
          <a:lstStyle/>
          <a:p>
            <a:pPr marL="0" indent="0" algn="l">
              <a:buNone/>
            </a:pPr>
            <a:r>
              <a:rPr lang="en-US" sz="500" b="1" dirty="0">
                <a:solidFill>
                  <a:srgbClr val="1F2937"/>
                </a:solidFill>
                <a:latin typeface="Microsoft JhengHei" pitchFamily="34" charset="0"/>
                <a:ea typeface="Microsoft JhengHei" pitchFamily="34" charset="-122"/>
                <a:cs typeface="Microsoft JhengHei" pitchFamily="34" charset="-120"/>
              </a:rPr>
              <a:t>Intent / Metric / Dimension：</a:t>
            </a:r>
            <a:endParaRPr lang="en-US" sz="500" dirty="0"/>
          </a:p>
        </p:txBody>
      </p:sp>
      <p:sp>
        <p:nvSpPr>
          <p:cNvPr id="801" name="Text 79">
            <a:extLst>
              <a:ext uri="{FF2B5EF4-FFF2-40B4-BE49-F238E27FC236}">
                <a16:creationId xmlns:a16="http://schemas.microsoft.com/office/drawing/2014/main" id="{8274D9DA-ACD4-B244-9B29-A96AF0BB9F76}"/>
              </a:ext>
            </a:extLst>
          </p:cNvPr>
          <p:cNvSpPr/>
          <p:nvPr/>
        </p:nvSpPr>
        <p:spPr>
          <a:xfrm>
            <a:off x="3780912" y="6383060"/>
            <a:ext cx="1379108" cy="84900"/>
          </a:xfrm>
          <a:prstGeom prst="rect">
            <a:avLst/>
          </a:prstGeom>
          <a:noFill/>
          <a:ln/>
        </p:spPr>
        <p:txBody>
          <a:bodyPr wrap="square" lIns="0" tIns="0" rIns="0" bIns="0" rtlCol="0" anchor="t">
            <a:noAutofit/>
          </a:bodyPr>
          <a:lstStyle/>
          <a:p>
            <a:pPr marL="0" indent="0" algn="l">
              <a:buNone/>
            </a:pPr>
            <a:r>
              <a:rPr lang="en-US" sz="500" dirty="0">
                <a:solidFill>
                  <a:srgbClr val="1F2937"/>
                </a:solidFill>
                <a:latin typeface="Microsoft JhengHei" pitchFamily="34" charset="0"/>
                <a:ea typeface="Microsoft JhengHei" pitchFamily="34" charset="-122"/>
                <a:cs typeface="Microsoft JhengHei" pitchFamily="34" charset="-120"/>
              </a:rPr>
              <a:t>Comparison；AVG(approved_amount)；customer_region = 台北</a:t>
            </a:r>
            <a:endParaRPr lang="en-US" sz="500" dirty="0"/>
          </a:p>
        </p:txBody>
      </p:sp>
      <p:sp>
        <p:nvSpPr>
          <p:cNvPr id="803" name="Text 80">
            <a:extLst>
              <a:ext uri="{FF2B5EF4-FFF2-40B4-BE49-F238E27FC236}">
                <a16:creationId xmlns:a16="http://schemas.microsoft.com/office/drawing/2014/main" id="{C459B483-472C-A175-EBC6-31E20BB35820}"/>
              </a:ext>
            </a:extLst>
          </p:cNvPr>
          <p:cNvSpPr/>
          <p:nvPr/>
        </p:nvSpPr>
        <p:spPr>
          <a:xfrm>
            <a:off x="2836949" y="6581316"/>
            <a:ext cx="73152" cy="64008"/>
          </a:xfrm>
          <a:prstGeom prst="rect">
            <a:avLst/>
          </a:prstGeom>
          <a:noFill/>
          <a:ln/>
        </p:spPr>
        <p:txBody>
          <a:bodyPr wrap="square" lIns="0" tIns="0" rIns="0" bIns="0" rtlCol="0" anchor="t">
            <a:normAutofit/>
          </a:bodyPr>
          <a:lstStyle/>
          <a:p>
            <a:pPr marL="0" indent="0" algn="l">
              <a:buNone/>
            </a:pPr>
            <a:r>
              <a:rPr lang="en-US" sz="335" b="1" dirty="0">
                <a:solidFill>
                  <a:srgbClr val="1F2937"/>
                </a:solidFill>
                <a:latin typeface="Microsoft JhengHei" pitchFamily="34" charset="0"/>
                <a:ea typeface="Microsoft JhengHei" pitchFamily="34" charset="-122"/>
                <a:cs typeface="Microsoft JhengHei" pitchFamily="34" charset="-120"/>
              </a:rPr>
              <a:t>•</a:t>
            </a:r>
            <a:endParaRPr lang="en-US" sz="335" dirty="0"/>
          </a:p>
        </p:txBody>
      </p:sp>
      <p:sp>
        <p:nvSpPr>
          <p:cNvPr id="805" name="Text 81">
            <a:extLst>
              <a:ext uri="{FF2B5EF4-FFF2-40B4-BE49-F238E27FC236}">
                <a16:creationId xmlns:a16="http://schemas.microsoft.com/office/drawing/2014/main" id="{B0F627C1-B57D-679D-048F-3E59F155D72A}"/>
              </a:ext>
            </a:extLst>
          </p:cNvPr>
          <p:cNvSpPr/>
          <p:nvPr/>
        </p:nvSpPr>
        <p:spPr>
          <a:xfrm>
            <a:off x="2908607" y="6574963"/>
            <a:ext cx="804672" cy="73152"/>
          </a:xfrm>
          <a:prstGeom prst="rect">
            <a:avLst/>
          </a:prstGeom>
          <a:noFill/>
          <a:ln/>
        </p:spPr>
        <p:txBody>
          <a:bodyPr wrap="square" lIns="0" tIns="0" rIns="0" bIns="0" rtlCol="0" anchor="t">
            <a:noAutofit/>
          </a:bodyPr>
          <a:lstStyle/>
          <a:p>
            <a:pPr marL="0" indent="0" algn="l">
              <a:buNone/>
            </a:pPr>
            <a:r>
              <a:rPr lang="en-US" sz="500" b="1" dirty="0">
                <a:solidFill>
                  <a:srgbClr val="1F2937"/>
                </a:solidFill>
                <a:latin typeface="Microsoft JhengHei" pitchFamily="34" charset="0"/>
                <a:ea typeface="Microsoft JhengHei" pitchFamily="34" charset="-122"/>
                <a:cs typeface="Microsoft JhengHei" pitchFamily="34" charset="-120"/>
              </a:rPr>
              <a:t>Time：</a:t>
            </a:r>
            <a:endParaRPr lang="en-US" sz="500" dirty="0"/>
          </a:p>
        </p:txBody>
      </p:sp>
      <p:sp>
        <p:nvSpPr>
          <p:cNvPr id="807" name="Text 82">
            <a:extLst>
              <a:ext uri="{FF2B5EF4-FFF2-40B4-BE49-F238E27FC236}">
                <a16:creationId xmlns:a16="http://schemas.microsoft.com/office/drawing/2014/main" id="{FE4489EB-F193-822B-2D29-55332E5EB256}"/>
              </a:ext>
            </a:extLst>
          </p:cNvPr>
          <p:cNvSpPr/>
          <p:nvPr/>
        </p:nvSpPr>
        <p:spPr>
          <a:xfrm>
            <a:off x="3153773" y="6583080"/>
            <a:ext cx="1656327" cy="109728"/>
          </a:xfrm>
          <a:prstGeom prst="rect">
            <a:avLst/>
          </a:prstGeom>
          <a:noFill/>
          <a:ln/>
        </p:spPr>
        <p:txBody>
          <a:bodyPr wrap="square" lIns="0" tIns="0" rIns="0" bIns="0" rtlCol="0" anchor="t">
            <a:noAutofit/>
          </a:bodyPr>
          <a:lstStyle/>
          <a:p>
            <a:pPr marL="0" indent="0" algn="l">
              <a:buNone/>
            </a:pPr>
            <a:r>
              <a:rPr lang="en-US" sz="500" dirty="0">
                <a:solidFill>
                  <a:srgbClr val="1F2937"/>
                </a:solidFill>
                <a:latin typeface="Microsoft JhengHei" pitchFamily="34" charset="0"/>
                <a:ea typeface="Microsoft JhengHei" pitchFamily="34" charset="-122"/>
                <a:cs typeface="Microsoft JhengHei" pitchFamily="34" charset="-120"/>
              </a:rPr>
              <a:t>2026/01/01–2026/06/30 vs 2025/01/01–2025/06/30</a:t>
            </a:r>
            <a:endParaRPr lang="en-US" sz="500" dirty="0"/>
          </a:p>
        </p:txBody>
      </p:sp>
      <p:sp>
        <p:nvSpPr>
          <p:cNvPr id="809" name="Text 83">
            <a:extLst>
              <a:ext uri="{FF2B5EF4-FFF2-40B4-BE49-F238E27FC236}">
                <a16:creationId xmlns:a16="http://schemas.microsoft.com/office/drawing/2014/main" id="{E74434C7-5618-ECE3-465A-4B3C24F0A98C}"/>
              </a:ext>
            </a:extLst>
          </p:cNvPr>
          <p:cNvSpPr/>
          <p:nvPr/>
        </p:nvSpPr>
        <p:spPr>
          <a:xfrm>
            <a:off x="2843148" y="6686020"/>
            <a:ext cx="73152" cy="64008"/>
          </a:xfrm>
          <a:prstGeom prst="rect">
            <a:avLst/>
          </a:prstGeom>
          <a:noFill/>
          <a:ln/>
        </p:spPr>
        <p:txBody>
          <a:bodyPr wrap="square" lIns="0" tIns="0" rIns="0" bIns="0" rtlCol="0" anchor="t">
            <a:normAutofit/>
          </a:bodyPr>
          <a:lstStyle/>
          <a:p>
            <a:pPr marL="0" indent="0" algn="l">
              <a:buNone/>
            </a:pPr>
            <a:r>
              <a:rPr lang="en-US" sz="335" b="1" dirty="0">
                <a:solidFill>
                  <a:srgbClr val="1F2937"/>
                </a:solidFill>
                <a:latin typeface="Microsoft JhengHei" pitchFamily="34" charset="0"/>
                <a:ea typeface="Microsoft JhengHei" pitchFamily="34" charset="-122"/>
                <a:cs typeface="Microsoft JhengHei" pitchFamily="34" charset="-120"/>
              </a:rPr>
              <a:t>•</a:t>
            </a:r>
            <a:endParaRPr lang="en-US" sz="335" dirty="0"/>
          </a:p>
        </p:txBody>
      </p:sp>
      <p:sp>
        <p:nvSpPr>
          <p:cNvPr id="811" name="Text 84">
            <a:extLst>
              <a:ext uri="{FF2B5EF4-FFF2-40B4-BE49-F238E27FC236}">
                <a16:creationId xmlns:a16="http://schemas.microsoft.com/office/drawing/2014/main" id="{C65BBE98-650D-9BEE-5F13-39E9CA0BA4AF}"/>
              </a:ext>
            </a:extLst>
          </p:cNvPr>
          <p:cNvSpPr/>
          <p:nvPr/>
        </p:nvSpPr>
        <p:spPr>
          <a:xfrm>
            <a:off x="2908607" y="6669073"/>
            <a:ext cx="804672" cy="73152"/>
          </a:xfrm>
          <a:prstGeom prst="rect">
            <a:avLst/>
          </a:prstGeom>
          <a:noFill/>
          <a:ln/>
        </p:spPr>
        <p:txBody>
          <a:bodyPr wrap="square" lIns="0" tIns="0" rIns="0" bIns="0" rtlCol="0" anchor="t">
            <a:noAutofit/>
          </a:bodyPr>
          <a:lstStyle/>
          <a:p>
            <a:pPr marL="0" indent="0" algn="l">
              <a:buNone/>
            </a:pPr>
            <a:r>
              <a:rPr lang="en-US" sz="500" b="1" dirty="0">
                <a:solidFill>
                  <a:srgbClr val="1F2937"/>
                </a:solidFill>
                <a:latin typeface="Microsoft JhengHei" pitchFamily="34" charset="0"/>
                <a:ea typeface="Microsoft JhengHei" pitchFamily="34" charset="-122"/>
                <a:cs typeface="Microsoft JhengHei" pitchFamily="34" charset="-120"/>
              </a:rPr>
              <a:t>Filter：</a:t>
            </a:r>
            <a:endParaRPr lang="en-US" sz="500" dirty="0"/>
          </a:p>
        </p:txBody>
      </p:sp>
      <p:sp>
        <p:nvSpPr>
          <p:cNvPr id="813" name="Text 85">
            <a:extLst>
              <a:ext uri="{FF2B5EF4-FFF2-40B4-BE49-F238E27FC236}">
                <a16:creationId xmlns:a16="http://schemas.microsoft.com/office/drawing/2014/main" id="{CD0F067E-CDF3-3D02-0BCE-9DE260250CD2}"/>
              </a:ext>
            </a:extLst>
          </p:cNvPr>
          <p:cNvSpPr/>
          <p:nvPr/>
        </p:nvSpPr>
        <p:spPr>
          <a:xfrm>
            <a:off x="3124324" y="6669073"/>
            <a:ext cx="1976171" cy="109728"/>
          </a:xfrm>
          <a:prstGeom prst="rect">
            <a:avLst/>
          </a:prstGeom>
          <a:noFill/>
          <a:ln/>
        </p:spPr>
        <p:txBody>
          <a:bodyPr wrap="square" lIns="0" tIns="0" rIns="0" bIns="0" rtlCol="0" anchor="t">
            <a:noAutofit/>
          </a:bodyPr>
          <a:lstStyle/>
          <a:p>
            <a:pPr marL="0" indent="0" algn="l">
              <a:buNone/>
            </a:pPr>
            <a:r>
              <a:rPr lang="en-US" sz="500" dirty="0">
                <a:solidFill>
                  <a:srgbClr val="1F2937"/>
                </a:solidFill>
                <a:latin typeface="Microsoft JhengHei" pitchFamily="34" charset="0"/>
                <a:ea typeface="Microsoft JhengHei" pitchFamily="34" charset="-122"/>
                <a:cs typeface="Microsoft JhengHei" pitchFamily="34" charset="-120"/>
              </a:rPr>
              <a:t>product_type = MORTGAGE；status in (APPROVED, DISBURSED)</a:t>
            </a:r>
            <a:endParaRPr lang="en-US" sz="500" dirty="0"/>
          </a:p>
        </p:txBody>
      </p:sp>
      <p:grpSp>
        <p:nvGrpSpPr>
          <p:cNvPr id="814" name="群組 813">
            <a:extLst>
              <a:ext uri="{FF2B5EF4-FFF2-40B4-BE49-F238E27FC236}">
                <a16:creationId xmlns:a16="http://schemas.microsoft.com/office/drawing/2014/main" id="{7B0323B0-BDF8-1281-209B-2652FF985889}"/>
              </a:ext>
            </a:extLst>
          </p:cNvPr>
          <p:cNvGrpSpPr/>
          <p:nvPr/>
        </p:nvGrpSpPr>
        <p:grpSpPr>
          <a:xfrm>
            <a:off x="2725693" y="857080"/>
            <a:ext cx="2960586" cy="2734044"/>
            <a:chOff x="363782" y="672030"/>
            <a:chExt cx="2960586" cy="2734044"/>
          </a:xfrm>
        </p:grpSpPr>
        <p:sp>
          <p:nvSpPr>
            <p:cNvPr id="815" name="Shape 2">
              <a:extLst>
                <a:ext uri="{FF2B5EF4-FFF2-40B4-BE49-F238E27FC236}">
                  <a16:creationId xmlns:a16="http://schemas.microsoft.com/office/drawing/2014/main" id="{3FD0BAF7-0B10-2C11-729C-FF47B1FA4180}"/>
                </a:ext>
              </a:extLst>
            </p:cNvPr>
            <p:cNvSpPr/>
            <p:nvPr/>
          </p:nvSpPr>
          <p:spPr>
            <a:xfrm>
              <a:off x="363782" y="684115"/>
              <a:ext cx="2208793" cy="2721959"/>
            </a:xfrm>
            <a:prstGeom prst="roundRect">
              <a:avLst>
                <a:gd name="adj" fmla="val 4514"/>
              </a:avLst>
            </a:prstGeom>
            <a:solidFill>
              <a:srgbClr val="FFF9E9"/>
            </a:solidFill>
            <a:ln w="12700">
              <a:solidFill>
                <a:srgbClr val="FFF9E9"/>
              </a:solidFill>
              <a:prstDash val="solid"/>
            </a:ln>
          </p:spPr>
          <p:txBody>
            <a:bodyPr/>
            <a:lstStyle/>
            <a:p>
              <a:endParaRPr lang="zh-TW" altLang="en-US"/>
            </a:p>
          </p:txBody>
        </p:sp>
        <p:sp>
          <p:nvSpPr>
            <p:cNvPr id="816" name="Shape 3">
              <a:extLst>
                <a:ext uri="{FF2B5EF4-FFF2-40B4-BE49-F238E27FC236}">
                  <a16:creationId xmlns:a16="http://schemas.microsoft.com/office/drawing/2014/main" id="{A259A1C1-A689-31A7-B9A6-2444827CE589}"/>
                </a:ext>
              </a:extLst>
            </p:cNvPr>
            <p:cNvSpPr/>
            <p:nvPr/>
          </p:nvSpPr>
          <p:spPr>
            <a:xfrm>
              <a:off x="377572" y="696880"/>
              <a:ext cx="2196551" cy="206417"/>
            </a:xfrm>
            <a:prstGeom prst="roundRect">
              <a:avLst>
                <a:gd name="adj" fmla="val 27083"/>
              </a:avLst>
            </a:prstGeom>
            <a:solidFill>
              <a:srgbClr val="F59E0B"/>
            </a:solidFill>
            <a:ln w="12700">
              <a:solidFill>
                <a:srgbClr val="F59E0B">
                  <a:alpha val="0"/>
                </a:srgbClr>
              </a:solidFill>
              <a:prstDash val="solid"/>
            </a:ln>
          </p:spPr>
          <p:txBody>
            <a:bodyPr/>
            <a:lstStyle/>
            <a:p>
              <a:endParaRPr lang="zh-TW" altLang="en-US"/>
            </a:p>
          </p:txBody>
        </p:sp>
        <p:sp>
          <p:nvSpPr>
            <p:cNvPr id="817" name="Text 4">
              <a:extLst>
                <a:ext uri="{FF2B5EF4-FFF2-40B4-BE49-F238E27FC236}">
                  <a16:creationId xmlns:a16="http://schemas.microsoft.com/office/drawing/2014/main" id="{55050D83-BD4C-740D-1653-232BD66FA7E7}"/>
                </a:ext>
              </a:extLst>
            </p:cNvPr>
            <p:cNvSpPr/>
            <p:nvPr/>
          </p:nvSpPr>
          <p:spPr>
            <a:xfrm>
              <a:off x="855488" y="672030"/>
              <a:ext cx="2468880" cy="246888"/>
            </a:xfrm>
            <a:prstGeom prst="rect">
              <a:avLst/>
            </a:prstGeom>
            <a:noFill/>
            <a:ln/>
          </p:spPr>
          <p:txBody>
            <a:bodyPr wrap="square" lIns="381" tIns="381" rIns="381" bIns="381" rtlCol="0" anchor="ctr">
              <a:normAutofit/>
            </a:bodyPr>
            <a:lstStyle/>
            <a:p>
              <a:pPr marL="0" indent="0" algn="l">
                <a:buNone/>
              </a:pPr>
              <a:r>
                <a:rPr lang="en-US" sz="1400" b="1" dirty="0">
                  <a:solidFill>
                    <a:srgbClr val="FFFFFF"/>
                  </a:solidFill>
                  <a:latin typeface="Microsoft JhengHei" pitchFamily="34" charset="0"/>
                  <a:ea typeface="Microsoft JhengHei" pitchFamily="34" charset="-122"/>
                  <a:cs typeface="Microsoft JhengHei" pitchFamily="34" charset="-120"/>
                </a:rPr>
                <a:t>① </a:t>
              </a:r>
              <a:r>
                <a:rPr lang="en-US" sz="1400" b="1" dirty="0" err="1">
                  <a:solidFill>
                    <a:srgbClr val="FFFFFF"/>
                  </a:solidFill>
                  <a:latin typeface="Microsoft JhengHei" pitchFamily="34" charset="0"/>
                  <a:ea typeface="Microsoft JhengHei" pitchFamily="34" charset="-122"/>
                  <a:cs typeface="Microsoft JhengHei" pitchFamily="34" charset="-120"/>
                </a:rPr>
                <a:t>意圖理解</a:t>
              </a:r>
              <a:r>
                <a:rPr lang="zh-TW" altLang="en-US" sz="1400" b="1" dirty="0">
                  <a:solidFill>
                    <a:srgbClr val="FFFFFF"/>
                  </a:solidFill>
                  <a:latin typeface="Microsoft JhengHei" pitchFamily="34" charset="0"/>
                  <a:ea typeface="Microsoft JhengHei" pitchFamily="34" charset="-122"/>
                  <a:cs typeface="Microsoft JhengHei" pitchFamily="34" charset="-120"/>
                </a:rPr>
                <a:t> </a:t>
              </a:r>
              <a:endParaRPr lang="en-US" sz="1400" dirty="0"/>
            </a:p>
          </p:txBody>
        </p:sp>
        <p:sp>
          <p:nvSpPr>
            <p:cNvPr id="818" name="Shape 18">
              <a:extLst>
                <a:ext uri="{FF2B5EF4-FFF2-40B4-BE49-F238E27FC236}">
                  <a16:creationId xmlns:a16="http://schemas.microsoft.com/office/drawing/2014/main" id="{0922BDC6-12F9-37C1-4BBF-E71DF7607979}"/>
                </a:ext>
              </a:extLst>
            </p:cNvPr>
            <p:cNvSpPr/>
            <p:nvPr/>
          </p:nvSpPr>
          <p:spPr>
            <a:xfrm>
              <a:off x="369906" y="1194753"/>
              <a:ext cx="2194560" cy="240106"/>
            </a:xfrm>
            <a:prstGeom prst="roundRect">
              <a:avLst>
                <a:gd name="adj" fmla="val 20000"/>
              </a:avLst>
            </a:prstGeom>
            <a:solidFill>
              <a:srgbClr val="FFFFFF"/>
            </a:solidFill>
            <a:ln w="15240">
              <a:solidFill>
                <a:srgbClr val="F59E0B"/>
              </a:solidFill>
              <a:prstDash val="solid"/>
            </a:ln>
          </p:spPr>
          <p:txBody>
            <a:bodyPr/>
            <a:lstStyle/>
            <a:p>
              <a:endParaRPr lang="zh-TW" altLang="en-US" dirty="0"/>
            </a:p>
          </p:txBody>
        </p:sp>
        <p:sp>
          <p:nvSpPr>
            <p:cNvPr id="819" name="Text 19">
              <a:extLst>
                <a:ext uri="{FF2B5EF4-FFF2-40B4-BE49-F238E27FC236}">
                  <a16:creationId xmlns:a16="http://schemas.microsoft.com/office/drawing/2014/main" id="{D98AA995-49F4-DAD3-1525-B360E300A4B9}"/>
                </a:ext>
              </a:extLst>
            </p:cNvPr>
            <p:cNvSpPr/>
            <p:nvPr/>
          </p:nvSpPr>
          <p:spPr>
            <a:xfrm>
              <a:off x="367992" y="1142559"/>
              <a:ext cx="2139696" cy="329184"/>
            </a:xfrm>
            <a:prstGeom prst="rect">
              <a:avLst/>
            </a:prstGeom>
            <a:noFill/>
            <a:ln/>
          </p:spPr>
          <p:txBody>
            <a:bodyPr wrap="square" lIns="381" tIns="381" rIns="381" bIns="381" rtlCol="0" anchor="ctr">
              <a:normAutofit/>
            </a:bodyPr>
            <a:lstStyle/>
            <a:p>
              <a:pPr marL="0" indent="0" algn="ctr">
                <a:buNone/>
              </a:pPr>
              <a:r>
                <a:rPr lang="en-US" sz="1200" b="1" dirty="0">
                  <a:solidFill>
                    <a:srgbClr val="1F2937"/>
                  </a:solidFill>
                  <a:latin typeface="Microsoft JhengHei" pitchFamily="34" charset="0"/>
                  <a:ea typeface="Microsoft JhengHei" pitchFamily="34" charset="-122"/>
                  <a:cs typeface="Microsoft JhengHei" pitchFamily="34" charset="-120"/>
                </a:rPr>
                <a:t>使用者問題</a:t>
              </a:r>
              <a:endParaRPr lang="en-US" sz="1200" dirty="0"/>
            </a:p>
          </p:txBody>
        </p:sp>
        <p:sp>
          <p:nvSpPr>
            <p:cNvPr id="820" name="Shape 20">
              <a:extLst>
                <a:ext uri="{FF2B5EF4-FFF2-40B4-BE49-F238E27FC236}">
                  <a16:creationId xmlns:a16="http://schemas.microsoft.com/office/drawing/2014/main" id="{CE71B4C9-A47B-7E1C-6704-58B85EF97F01}"/>
                </a:ext>
              </a:extLst>
            </p:cNvPr>
            <p:cNvSpPr/>
            <p:nvPr/>
          </p:nvSpPr>
          <p:spPr>
            <a:xfrm>
              <a:off x="385854" y="1531885"/>
              <a:ext cx="2194560" cy="241200"/>
            </a:xfrm>
            <a:prstGeom prst="roundRect">
              <a:avLst>
                <a:gd name="adj" fmla="val 20000"/>
              </a:avLst>
            </a:prstGeom>
            <a:solidFill>
              <a:srgbClr val="FFFFFF"/>
            </a:solidFill>
            <a:ln w="15240">
              <a:solidFill>
                <a:srgbClr val="F59E0B"/>
              </a:solidFill>
              <a:prstDash val="solid"/>
            </a:ln>
          </p:spPr>
          <p:txBody>
            <a:bodyPr/>
            <a:lstStyle/>
            <a:p>
              <a:endParaRPr lang="zh-TW" altLang="en-US"/>
            </a:p>
          </p:txBody>
        </p:sp>
        <p:sp>
          <p:nvSpPr>
            <p:cNvPr id="821" name="Text 21">
              <a:extLst>
                <a:ext uri="{FF2B5EF4-FFF2-40B4-BE49-F238E27FC236}">
                  <a16:creationId xmlns:a16="http://schemas.microsoft.com/office/drawing/2014/main" id="{8C315876-7CB8-7E1B-B930-11A8C8C46315}"/>
                </a:ext>
              </a:extLst>
            </p:cNvPr>
            <p:cNvSpPr/>
            <p:nvPr/>
          </p:nvSpPr>
          <p:spPr>
            <a:xfrm>
              <a:off x="377649" y="1476852"/>
              <a:ext cx="2139696" cy="329184"/>
            </a:xfrm>
            <a:prstGeom prst="rect">
              <a:avLst/>
            </a:prstGeom>
            <a:noFill/>
            <a:ln/>
          </p:spPr>
          <p:txBody>
            <a:bodyPr wrap="square" lIns="381" tIns="381" rIns="381" bIns="381" rtlCol="0" anchor="ctr">
              <a:normAutofit/>
            </a:bodyPr>
            <a:lstStyle/>
            <a:p>
              <a:pPr marL="0" indent="0" algn="ctr">
                <a:buNone/>
              </a:pPr>
              <a:r>
                <a:rPr lang="en-US" sz="1200" b="1" dirty="0">
                  <a:solidFill>
                    <a:srgbClr val="1F2937"/>
                  </a:solidFill>
                  <a:latin typeface="Microsoft JhengHei" pitchFamily="34" charset="0"/>
                  <a:ea typeface="Microsoft JhengHei" pitchFamily="34" charset="-122"/>
                  <a:cs typeface="Microsoft JhengHei" pitchFamily="34" charset="-120"/>
                </a:rPr>
                <a:t>原始查詢解析</a:t>
              </a:r>
              <a:endParaRPr lang="en-US" sz="1200" b="1" dirty="0"/>
            </a:p>
          </p:txBody>
        </p:sp>
        <p:sp>
          <p:nvSpPr>
            <p:cNvPr id="822" name="Shape 22">
              <a:extLst>
                <a:ext uri="{FF2B5EF4-FFF2-40B4-BE49-F238E27FC236}">
                  <a16:creationId xmlns:a16="http://schemas.microsoft.com/office/drawing/2014/main" id="{F7302E09-32D3-EADC-C6DD-ABCE46BD55BD}"/>
                </a:ext>
              </a:extLst>
            </p:cNvPr>
            <p:cNvSpPr/>
            <p:nvPr/>
          </p:nvSpPr>
          <p:spPr>
            <a:xfrm>
              <a:off x="379563" y="1903667"/>
              <a:ext cx="2194560" cy="241200"/>
            </a:xfrm>
            <a:prstGeom prst="roundRect">
              <a:avLst>
                <a:gd name="adj" fmla="val 20000"/>
              </a:avLst>
            </a:prstGeom>
            <a:solidFill>
              <a:srgbClr val="FFFFFF"/>
            </a:solidFill>
            <a:ln w="15240">
              <a:solidFill>
                <a:srgbClr val="F59E0B"/>
              </a:solidFill>
              <a:prstDash val="solid"/>
            </a:ln>
          </p:spPr>
          <p:txBody>
            <a:bodyPr/>
            <a:lstStyle/>
            <a:p>
              <a:endParaRPr lang="zh-TW" altLang="en-US"/>
            </a:p>
          </p:txBody>
        </p:sp>
        <p:sp>
          <p:nvSpPr>
            <p:cNvPr id="823" name="Text 23">
              <a:extLst>
                <a:ext uri="{FF2B5EF4-FFF2-40B4-BE49-F238E27FC236}">
                  <a16:creationId xmlns:a16="http://schemas.microsoft.com/office/drawing/2014/main" id="{887B9639-BA19-3DAE-B505-BC11E9DA82A0}"/>
                </a:ext>
              </a:extLst>
            </p:cNvPr>
            <p:cNvSpPr/>
            <p:nvPr/>
          </p:nvSpPr>
          <p:spPr>
            <a:xfrm>
              <a:off x="377649" y="1860910"/>
              <a:ext cx="2139696" cy="329184"/>
            </a:xfrm>
            <a:prstGeom prst="rect">
              <a:avLst/>
            </a:prstGeom>
            <a:noFill/>
            <a:ln/>
          </p:spPr>
          <p:txBody>
            <a:bodyPr wrap="square" lIns="381" tIns="381" rIns="381" bIns="381" rtlCol="0" anchor="ctr">
              <a:normAutofit/>
            </a:bodyPr>
            <a:lstStyle/>
            <a:p>
              <a:pPr marL="0" indent="0" algn="ctr">
                <a:buNone/>
              </a:pPr>
              <a:r>
                <a:rPr lang="en-US" sz="1200" b="1" dirty="0" err="1">
                  <a:solidFill>
                    <a:srgbClr val="1F2937"/>
                  </a:solidFill>
                  <a:latin typeface="Microsoft JhengHei" pitchFamily="34" charset="0"/>
                  <a:ea typeface="Microsoft JhengHei" pitchFamily="34" charset="-122"/>
                  <a:cs typeface="Microsoft JhengHei" pitchFamily="34" charset="-120"/>
                </a:rPr>
                <a:t>查詢向量化</a:t>
              </a:r>
              <a:endParaRPr lang="en-US" sz="1200" b="1" dirty="0"/>
            </a:p>
          </p:txBody>
        </p:sp>
        <p:sp>
          <p:nvSpPr>
            <p:cNvPr id="824" name="Shape 26">
              <a:extLst>
                <a:ext uri="{FF2B5EF4-FFF2-40B4-BE49-F238E27FC236}">
                  <a16:creationId xmlns:a16="http://schemas.microsoft.com/office/drawing/2014/main" id="{E2312FED-55A3-0BCB-8E91-A2FC2949CD8A}"/>
                </a:ext>
              </a:extLst>
            </p:cNvPr>
            <p:cNvSpPr/>
            <p:nvPr/>
          </p:nvSpPr>
          <p:spPr>
            <a:xfrm>
              <a:off x="379563" y="2247913"/>
              <a:ext cx="2194560" cy="703938"/>
            </a:xfrm>
            <a:prstGeom prst="roundRect">
              <a:avLst>
                <a:gd name="adj" fmla="val 8696"/>
              </a:avLst>
            </a:prstGeom>
            <a:solidFill>
              <a:srgbClr val="FFFDF3"/>
            </a:solidFill>
            <a:ln w="15240">
              <a:solidFill>
                <a:srgbClr val="F59E0B"/>
              </a:solidFill>
              <a:prstDash val="solid"/>
            </a:ln>
          </p:spPr>
          <p:txBody>
            <a:bodyPr/>
            <a:lstStyle/>
            <a:p>
              <a:endParaRPr lang="zh-TW" altLang="en-US"/>
            </a:p>
          </p:txBody>
        </p:sp>
        <p:sp>
          <p:nvSpPr>
            <p:cNvPr id="825" name="Text 27">
              <a:extLst>
                <a:ext uri="{FF2B5EF4-FFF2-40B4-BE49-F238E27FC236}">
                  <a16:creationId xmlns:a16="http://schemas.microsoft.com/office/drawing/2014/main" id="{7CD9D6E7-7342-E7FF-D761-1BFAE2868CF9}"/>
                </a:ext>
              </a:extLst>
            </p:cNvPr>
            <p:cNvSpPr/>
            <p:nvPr/>
          </p:nvSpPr>
          <p:spPr>
            <a:xfrm>
              <a:off x="534553" y="2247116"/>
              <a:ext cx="1911284" cy="381426"/>
            </a:xfrm>
            <a:prstGeom prst="rect">
              <a:avLst/>
            </a:prstGeom>
            <a:noFill/>
            <a:ln/>
          </p:spPr>
          <p:txBody>
            <a:bodyPr wrap="square" lIns="381" tIns="381" rIns="381" bIns="381" rtlCol="0" anchor="ctr">
              <a:normAutofit/>
            </a:bodyPr>
            <a:lstStyle/>
            <a:p>
              <a:pPr algn="ctr"/>
              <a:r>
                <a:rPr lang="en-US" sz="1000" b="1" dirty="0" err="1">
                  <a:solidFill>
                    <a:srgbClr val="1F2937"/>
                  </a:solidFill>
                  <a:latin typeface="Microsoft JhengHei" pitchFamily="34" charset="0"/>
                  <a:ea typeface="Microsoft JhengHei" pitchFamily="34" charset="-122"/>
                  <a:cs typeface="Microsoft JhengHei" pitchFamily="34" charset="-120"/>
                </a:rPr>
                <a:t>第一階段</a:t>
              </a:r>
              <a:r>
                <a:rPr lang="en-US" sz="1000" b="1" dirty="0">
                  <a:solidFill>
                    <a:srgbClr val="1F2937"/>
                  </a:solidFill>
                  <a:latin typeface="Microsoft JhengHei" pitchFamily="34" charset="0"/>
                  <a:ea typeface="Microsoft JhengHei" pitchFamily="34" charset="-122"/>
                  <a:cs typeface="Microsoft JhengHei" pitchFamily="34" charset="-120"/>
                </a:rPr>
                <a:t> </a:t>
              </a:r>
              <a:r>
                <a:rPr lang="en-US" altLang="zh-TW" sz="1000" b="1" dirty="0">
                  <a:solidFill>
                    <a:srgbClr val="1F2937"/>
                  </a:solidFill>
                  <a:latin typeface="Microsoft JhengHei" pitchFamily="34" charset="0"/>
                  <a:ea typeface="Microsoft JhengHei" pitchFamily="34" charset="-122"/>
                  <a:cs typeface="Microsoft JhengHei" pitchFamily="34" charset="-120"/>
                </a:rPr>
                <a:t>Schame</a:t>
              </a:r>
              <a:r>
                <a:rPr lang="en-US" sz="1000" b="1" dirty="0">
                  <a:solidFill>
                    <a:srgbClr val="1F2937"/>
                  </a:solidFill>
                  <a:latin typeface="Microsoft JhengHei" pitchFamily="34" charset="0"/>
                  <a:ea typeface="Microsoft JhengHei" pitchFamily="34" charset="-122"/>
                  <a:cs typeface="Microsoft JhengHei" pitchFamily="34" charset="-120"/>
                </a:rPr>
                <a:t> RAG（</a:t>
              </a:r>
              <a:r>
                <a:rPr lang="zh-TW" altLang="en-US" sz="1000" b="1" dirty="0">
                  <a:solidFill>
                    <a:srgbClr val="1F2937"/>
                  </a:solidFill>
                  <a:latin typeface="Microsoft JhengHei" pitchFamily="34" charset="0"/>
                  <a:ea typeface="Microsoft JhengHei" pitchFamily="34" charset="-122"/>
                  <a:cs typeface="Microsoft JhengHei" pitchFamily="34" charset="-120"/>
                </a:rPr>
                <a:t>獲得相關</a:t>
              </a:r>
              <a:r>
                <a:rPr lang="en-US" sz="1000" b="1" dirty="0" err="1">
                  <a:solidFill>
                    <a:srgbClr val="1F2937"/>
                  </a:solidFill>
                  <a:latin typeface="Microsoft JhengHei" pitchFamily="34" charset="0"/>
                  <a:ea typeface="Microsoft JhengHei" pitchFamily="34" charset="-122"/>
                  <a:cs typeface="Microsoft JhengHei" pitchFamily="34" charset="-120"/>
                </a:rPr>
                <a:t>資料</a:t>
              </a:r>
              <a:r>
                <a:rPr lang="zh-TW" altLang="en-US" sz="1000" b="1" dirty="0">
                  <a:solidFill>
                    <a:srgbClr val="1F2937"/>
                  </a:solidFill>
                  <a:latin typeface="Microsoft JhengHei" pitchFamily="34" charset="0"/>
                  <a:ea typeface="Microsoft JhengHei" pitchFamily="34" charset="-122"/>
                  <a:cs typeface="Microsoft JhengHei" pitchFamily="34" charset="-120"/>
                </a:rPr>
                <a:t>表格的</a:t>
              </a:r>
              <a:r>
                <a:rPr lang="en-US" sz="1000" b="1" dirty="0">
                  <a:solidFill>
                    <a:srgbClr val="1F2937"/>
                  </a:solidFill>
                  <a:latin typeface="Microsoft JhengHei" pitchFamily="34" charset="0"/>
                  <a:ea typeface="Microsoft JhengHei" pitchFamily="34" charset="-122"/>
                  <a:cs typeface="Microsoft JhengHei" pitchFamily="34" charset="-120"/>
                </a:rPr>
                <a:t>Context）</a:t>
              </a:r>
              <a:endParaRPr lang="en-US" sz="1000" dirty="0"/>
            </a:p>
          </p:txBody>
        </p:sp>
        <p:sp>
          <p:nvSpPr>
            <p:cNvPr id="826" name="Shape 28">
              <a:extLst>
                <a:ext uri="{FF2B5EF4-FFF2-40B4-BE49-F238E27FC236}">
                  <a16:creationId xmlns:a16="http://schemas.microsoft.com/office/drawing/2014/main" id="{06745CA3-AE51-967B-AEF3-BC42ED60031F}"/>
                </a:ext>
              </a:extLst>
            </p:cNvPr>
            <p:cNvSpPr/>
            <p:nvPr/>
          </p:nvSpPr>
          <p:spPr>
            <a:xfrm>
              <a:off x="407334" y="2623167"/>
              <a:ext cx="640080" cy="283464"/>
            </a:xfrm>
            <a:prstGeom prst="roundRect">
              <a:avLst>
                <a:gd name="adj" fmla="val 19355"/>
              </a:avLst>
            </a:prstGeom>
            <a:solidFill>
              <a:srgbClr val="EEF6FF"/>
            </a:solidFill>
            <a:ln w="10160">
              <a:solidFill>
                <a:srgbClr val="2B6CB0"/>
              </a:solidFill>
              <a:prstDash val="solid"/>
            </a:ln>
          </p:spPr>
          <p:txBody>
            <a:bodyPr/>
            <a:lstStyle/>
            <a:p>
              <a:endParaRPr lang="zh-TW" altLang="en-US"/>
            </a:p>
          </p:txBody>
        </p:sp>
        <p:sp>
          <p:nvSpPr>
            <p:cNvPr id="827" name="Text 29">
              <a:extLst>
                <a:ext uri="{FF2B5EF4-FFF2-40B4-BE49-F238E27FC236}">
                  <a16:creationId xmlns:a16="http://schemas.microsoft.com/office/drawing/2014/main" id="{8270CFC0-262A-12FF-69E5-8E4C656E3C15}"/>
                </a:ext>
              </a:extLst>
            </p:cNvPr>
            <p:cNvSpPr/>
            <p:nvPr/>
          </p:nvSpPr>
          <p:spPr>
            <a:xfrm>
              <a:off x="404348" y="2629803"/>
              <a:ext cx="621792" cy="265176"/>
            </a:xfrm>
            <a:prstGeom prst="rect">
              <a:avLst/>
            </a:prstGeom>
            <a:noFill/>
            <a:ln/>
          </p:spPr>
          <p:txBody>
            <a:bodyPr wrap="square" lIns="381" tIns="381" rIns="381" bIns="381" rtlCol="0" anchor="ctr">
              <a:normAutofit/>
            </a:bodyPr>
            <a:lstStyle/>
            <a:p>
              <a:pPr marL="0" indent="0" algn="ctr">
                <a:buNone/>
              </a:pPr>
              <a:r>
                <a:rPr lang="en-US" sz="520" b="1" dirty="0">
                  <a:solidFill>
                    <a:srgbClr val="12355B"/>
                  </a:solidFill>
                  <a:latin typeface="Microsoft JhengHei" pitchFamily="34" charset="0"/>
                  <a:ea typeface="Microsoft JhengHei" pitchFamily="34" charset="-122"/>
                  <a:cs typeface="Microsoft JhengHei" pitchFamily="34" charset="-120"/>
                </a:rPr>
                <a:t>Table-level</a:t>
              </a:r>
              <a:endParaRPr lang="en-US" sz="520" b="1" dirty="0"/>
            </a:p>
            <a:p>
              <a:pPr marL="0" indent="0" algn="ctr">
                <a:buNone/>
              </a:pPr>
              <a:r>
                <a:rPr lang="en-US" sz="520" b="1" dirty="0">
                  <a:solidFill>
                    <a:srgbClr val="12355B"/>
                  </a:solidFill>
                  <a:latin typeface="Microsoft JhengHei" pitchFamily="34" charset="0"/>
                  <a:ea typeface="Microsoft JhengHei" pitchFamily="34" charset="-122"/>
                  <a:cs typeface="Microsoft JhengHei" pitchFamily="34" charset="-120"/>
                </a:rPr>
                <a:t>Schema RAG</a:t>
              </a:r>
              <a:endParaRPr lang="en-US" sz="520" b="1" dirty="0"/>
            </a:p>
          </p:txBody>
        </p:sp>
        <p:sp>
          <p:nvSpPr>
            <p:cNvPr id="828" name="Shape 30">
              <a:extLst>
                <a:ext uri="{FF2B5EF4-FFF2-40B4-BE49-F238E27FC236}">
                  <a16:creationId xmlns:a16="http://schemas.microsoft.com/office/drawing/2014/main" id="{AE8BA43C-714A-3FF3-7015-3001B85F0DAF}"/>
                </a:ext>
              </a:extLst>
            </p:cNvPr>
            <p:cNvSpPr/>
            <p:nvPr/>
          </p:nvSpPr>
          <p:spPr>
            <a:xfrm>
              <a:off x="1125817" y="2628604"/>
              <a:ext cx="603504" cy="283464"/>
            </a:xfrm>
            <a:prstGeom prst="roundRect">
              <a:avLst>
                <a:gd name="adj" fmla="val 19355"/>
              </a:avLst>
            </a:prstGeom>
            <a:solidFill>
              <a:srgbClr val="EEF6FF"/>
            </a:solidFill>
            <a:ln w="10160">
              <a:solidFill>
                <a:srgbClr val="2B6CB0"/>
              </a:solidFill>
              <a:prstDash val="solid"/>
            </a:ln>
          </p:spPr>
          <p:txBody>
            <a:bodyPr/>
            <a:lstStyle/>
            <a:p>
              <a:endParaRPr lang="zh-TW" altLang="en-US"/>
            </a:p>
          </p:txBody>
        </p:sp>
        <p:sp>
          <p:nvSpPr>
            <p:cNvPr id="829" name="Text 31">
              <a:extLst>
                <a:ext uri="{FF2B5EF4-FFF2-40B4-BE49-F238E27FC236}">
                  <a16:creationId xmlns:a16="http://schemas.microsoft.com/office/drawing/2014/main" id="{6DD6D8C7-690D-9000-A410-2BDAC6CE4F61}"/>
                </a:ext>
              </a:extLst>
            </p:cNvPr>
            <p:cNvSpPr/>
            <p:nvPr/>
          </p:nvSpPr>
          <p:spPr>
            <a:xfrm>
              <a:off x="1125817" y="2623226"/>
              <a:ext cx="585216" cy="265176"/>
            </a:xfrm>
            <a:prstGeom prst="rect">
              <a:avLst/>
            </a:prstGeom>
            <a:noFill/>
            <a:ln/>
          </p:spPr>
          <p:txBody>
            <a:bodyPr wrap="square" lIns="381" tIns="381" rIns="381" bIns="381" rtlCol="0" anchor="ctr">
              <a:normAutofit/>
            </a:bodyPr>
            <a:lstStyle/>
            <a:p>
              <a:pPr marL="0" indent="0" algn="ctr">
                <a:buNone/>
              </a:pPr>
              <a:r>
                <a:rPr lang="en-US" sz="520" b="1" dirty="0">
                  <a:solidFill>
                    <a:srgbClr val="12355B"/>
                  </a:solidFill>
                  <a:latin typeface="Microsoft JhengHei" pitchFamily="34" charset="0"/>
                  <a:ea typeface="Microsoft JhengHei" pitchFamily="34" charset="-122"/>
                  <a:cs typeface="Microsoft JhengHei" pitchFamily="34" charset="-120"/>
                </a:rPr>
                <a:t>Column-level</a:t>
              </a:r>
              <a:endParaRPr lang="en-US" sz="520" b="1" dirty="0"/>
            </a:p>
            <a:p>
              <a:pPr marL="0" indent="0" algn="ctr">
                <a:buNone/>
              </a:pPr>
              <a:r>
                <a:rPr lang="en-US" sz="520" b="1" dirty="0">
                  <a:solidFill>
                    <a:srgbClr val="12355B"/>
                  </a:solidFill>
                  <a:latin typeface="Microsoft JhengHei" pitchFamily="34" charset="0"/>
                  <a:ea typeface="Microsoft JhengHei" pitchFamily="34" charset="-122"/>
                  <a:cs typeface="Microsoft JhengHei" pitchFamily="34" charset="-120"/>
                </a:rPr>
                <a:t>RAG</a:t>
              </a:r>
              <a:endParaRPr lang="en-US" sz="520" b="1" dirty="0"/>
            </a:p>
          </p:txBody>
        </p:sp>
        <p:sp>
          <p:nvSpPr>
            <p:cNvPr id="830" name="Shape 32">
              <a:extLst>
                <a:ext uri="{FF2B5EF4-FFF2-40B4-BE49-F238E27FC236}">
                  <a16:creationId xmlns:a16="http://schemas.microsoft.com/office/drawing/2014/main" id="{0A7843F5-9ED9-8125-E703-949E0ADCE259}"/>
                </a:ext>
              </a:extLst>
            </p:cNvPr>
            <p:cNvSpPr/>
            <p:nvPr/>
          </p:nvSpPr>
          <p:spPr>
            <a:xfrm>
              <a:off x="1841301" y="2628604"/>
              <a:ext cx="621792" cy="283464"/>
            </a:xfrm>
            <a:prstGeom prst="roundRect">
              <a:avLst>
                <a:gd name="adj" fmla="val 19355"/>
              </a:avLst>
            </a:prstGeom>
            <a:solidFill>
              <a:srgbClr val="EEF6FF"/>
            </a:solidFill>
            <a:ln w="10160">
              <a:solidFill>
                <a:srgbClr val="2B6CB0"/>
              </a:solidFill>
              <a:prstDash val="solid"/>
            </a:ln>
          </p:spPr>
          <p:txBody>
            <a:bodyPr/>
            <a:lstStyle/>
            <a:p>
              <a:endParaRPr lang="zh-TW" altLang="en-US"/>
            </a:p>
          </p:txBody>
        </p:sp>
        <p:sp>
          <p:nvSpPr>
            <p:cNvPr id="831" name="Text 33">
              <a:extLst>
                <a:ext uri="{FF2B5EF4-FFF2-40B4-BE49-F238E27FC236}">
                  <a16:creationId xmlns:a16="http://schemas.microsoft.com/office/drawing/2014/main" id="{03082CB8-54BD-FB13-B010-8E3A23C907A3}"/>
                </a:ext>
              </a:extLst>
            </p:cNvPr>
            <p:cNvSpPr/>
            <p:nvPr/>
          </p:nvSpPr>
          <p:spPr>
            <a:xfrm>
              <a:off x="1859589" y="2623226"/>
              <a:ext cx="603504" cy="265176"/>
            </a:xfrm>
            <a:prstGeom prst="rect">
              <a:avLst/>
            </a:prstGeom>
            <a:noFill/>
            <a:ln/>
          </p:spPr>
          <p:txBody>
            <a:bodyPr wrap="square" lIns="381" tIns="381" rIns="381" bIns="381" rtlCol="0" anchor="ctr">
              <a:normAutofit/>
            </a:bodyPr>
            <a:lstStyle/>
            <a:p>
              <a:pPr marL="0" indent="0" algn="ctr">
                <a:buNone/>
              </a:pPr>
              <a:r>
                <a:rPr lang="zh-TW" altLang="en-US" sz="520" b="1" dirty="0">
                  <a:solidFill>
                    <a:srgbClr val="12355B"/>
                  </a:solidFill>
                  <a:latin typeface="Microsoft JhengHei" pitchFamily="34" charset="0"/>
                  <a:ea typeface="Microsoft JhengHei" pitchFamily="34" charset="-122"/>
                </a:rPr>
                <a:t>組合</a:t>
              </a:r>
              <a:endParaRPr lang="en-US" sz="520" b="1" dirty="0"/>
            </a:p>
            <a:p>
              <a:pPr marL="0" indent="0" algn="ctr">
                <a:buNone/>
              </a:pPr>
              <a:r>
                <a:rPr lang="en-US" sz="520" b="1" dirty="0">
                  <a:solidFill>
                    <a:srgbClr val="12355B"/>
                  </a:solidFill>
                  <a:latin typeface="Microsoft JhengHei" pitchFamily="34" charset="0"/>
                  <a:ea typeface="Microsoft JhengHei" pitchFamily="34" charset="-122"/>
                  <a:cs typeface="Microsoft JhengHei" pitchFamily="34" charset="-120"/>
                </a:rPr>
                <a:t>Schema Context</a:t>
              </a:r>
              <a:endParaRPr lang="en-US" sz="520" b="1" dirty="0"/>
            </a:p>
          </p:txBody>
        </p:sp>
        <p:sp>
          <p:nvSpPr>
            <p:cNvPr id="832" name="Shape 35">
              <a:extLst>
                <a:ext uri="{FF2B5EF4-FFF2-40B4-BE49-F238E27FC236}">
                  <a16:creationId xmlns:a16="http://schemas.microsoft.com/office/drawing/2014/main" id="{CB00813A-4604-9B9F-C01C-0D1601F08FBD}"/>
                </a:ext>
              </a:extLst>
            </p:cNvPr>
            <p:cNvSpPr/>
            <p:nvPr/>
          </p:nvSpPr>
          <p:spPr>
            <a:xfrm>
              <a:off x="379563" y="3073010"/>
              <a:ext cx="2194560" cy="241200"/>
            </a:xfrm>
            <a:prstGeom prst="roundRect">
              <a:avLst>
                <a:gd name="adj" fmla="val 20513"/>
              </a:avLst>
            </a:prstGeom>
            <a:solidFill>
              <a:srgbClr val="FFFFFF"/>
            </a:solidFill>
            <a:ln w="15240">
              <a:solidFill>
                <a:srgbClr val="F59E0B"/>
              </a:solidFill>
              <a:prstDash val="solid"/>
            </a:ln>
          </p:spPr>
          <p:txBody>
            <a:bodyPr/>
            <a:lstStyle/>
            <a:p>
              <a:endParaRPr lang="zh-TW" altLang="en-US"/>
            </a:p>
          </p:txBody>
        </p:sp>
        <p:sp>
          <p:nvSpPr>
            <p:cNvPr id="833" name="Text 36">
              <a:extLst>
                <a:ext uri="{FF2B5EF4-FFF2-40B4-BE49-F238E27FC236}">
                  <a16:creationId xmlns:a16="http://schemas.microsoft.com/office/drawing/2014/main" id="{DBA1D66C-BD31-EF39-225B-2B4917CC149D}"/>
                </a:ext>
              </a:extLst>
            </p:cNvPr>
            <p:cNvSpPr/>
            <p:nvPr/>
          </p:nvSpPr>
          <p:spPr>
            <a:xfrm>
              <a:off x="424770" y="3037120"/>
              <a:ext cx="2139696" cy="320040"/>
            </a:xfrm>
            <a:prstGeom prst="rect">
              <a:avLst/>
            </a:prstGeom>
            <a:noFill/>
            <a:ln/>
          </p:spPr>
          <p:txBody>
            <a:bodyPr wrap="square" lIns="381" tIns="381" rIns="381" bIns="381" rtlCol="0" anchor="ctr">
              <a:normAutofit/>
            </a:bodyPr>
            <a:lstStyle/>
            <a:p>
              <a:pPr marL="0" indent="0" algn="ctr">
                <a:buNone/>
              </a:pPr>
              <a:r>
                <a:rPr lang="en-US" sz="1200" b="1" dirty="0">
                  <a:solidFill>
                    <a:srgbClr val="1F2937"/>
                  </a:solidFill>
                  <a:latin typeface="Microsoft JhengHei" pitchFamily="34" charset="0"/>
                  <a:ea typeface="Microsoft JhengHei" pitchFamily="34" charset="-122"/>
                  <a:cs typeface="Microsoft JhengHei" pitchFamily="34" charset="-120"/>
                </a:rPr>
                <a:t>重塑問題（結構化問題）</a:t>
              </a:r>
              <a:endParaRPr lang="en-US" sz="1200" b="1" dirty="0"/>
            </a:p>
          </p:txBody>
        </p:sp>
        <p:sp>
          <p:nvSpPr>
            <p:cNvPr id="834" name="Text 5">
              <a:extLst>
                <a:ext uri="{FF2B5EF4-FFF2-40B4-BE49-F238E27FC236}">
                  <a16:creationId xmlns:a16="http://schemas.microsoft.com/office/drawing/2014/main" id="{951B0C21-9F91-BA3D-9B6F-7ABB05B68E52}"/>
                </a:ext>
              </a:extLst>
            </p:cNvPr>
            <p:cNvSpPr/>
            <p:nvPr/>
          </p:nvSpPr>
          <p:spPr>
            <a:xfrm>
              <a:off x="752470" y="933269"/>
              <a:ext cx="2404872" cy="164592"/>
            </a:xfrm>
            <a:prstGeom prst="rect">
              <a:avLst/>
            </a:prstGeom>
            <a:noFill/>
            <a:ln/>
          </p:spPr>
          <p:txBody>
            <a:bodyPr wrap="square" lIns="381" tIns="381" rIns="381" bIns="381" rtlCol="0" anchor="ctr">
              <a:noAutofit/>
            </a:bodyPr>
            <a:lstStyle/>
            <a:p>
              <a:pPr marL="0" indent="0" algn="l">
                <a:buNone/>
              </a:pPr>
              <a:r>
                <a:rPr lang="en-US" sz="1000" b="1" dirty="0">
                  <a:solidFill>
                    <a:srgbClr val="64748B"/>
                  </a:solidFill>
                  <a:latin typeface="Microsoft JhengHei" pitchFamily="34" charset="0"/>
                  <a:ea typeface="Microsoft JhengHei" pitchFamily="34" charset="-122"/>
                  <a:cs typeface="Microsoft JhengHei" pitchFamily="34" charset="-120"/>
                </a:rPr>
                <a:t>理解問題與資料表範圍</a:t>
              </a:r>
              <a:endParaRPr lang="en-US" sz="1000" b="1" dirty="0"/>
            </a:p>
          </p:txBody>
        </p:sp>
      </p:grpSp>
      <p:sp>
        <p:nvSpPr>
          <p:cNvPr id="836" name="Text 4">
            <a:extLst>
              <a:ext uri="{FF2B5EF4-FFF2-40B4-BE49-F238E27FC236}">
                <a16:creationId xmlns:a16="http://schemas.microsoft.com/office/drawing/2014/main" id="{5AE58C36-3010-23BD-1D76-0FA7D959EEEF}"/>
              </a:ext>
            </a:extLst>
          </p:cNvPr>
          <p:cNvSpPr/>
          <p:nvPr/>
        </p:nvSpPr>
        <p:spPr>
          <a:xfrm>
            <a:off x="5883500" y="3621180"/>
            <a:ext cx="2468880" cy="246888"/>
          </a:xfrm>
          <a:prstGeom prst="rect">
            <a:avLst/>
          </a:prstGeom>
          <a:noFill/>
          <a:ln/>
        </p:spPr>
        <p:txBody>
          <a:bodyPr wrap="square" lIns="381" tIns="381" rIns="381" bIns="381" rtlCol="0" anchor="ctr">
            <a:normAutofit/>
          </a:bodyPr>
          <a:lstStyle/>
          <a:p>
            <a:pPr marL="0" indent="0" algn="l">
              <a:buNone/>
            </a:pPr>
            <a:r>
              <a:rPr lang="zh-TW" altLang="en-US" sz="1400" b="1" dirty="0">
                <a:solidFill>
                  <a:srgbClr val="FFFFFF"/>
                </a:solidFill>
                <a:latin typeface="Microsoft JhengHei" pitchFamily="34" charset="0"/>
                <a:ea typeface="Microsoft JhengHei" pitchFamily="34" charset="-122"/>
              </a:rPr>
              <a:t>對照案例</a:t>
            </a:r>
            <a:endParaRPr lang="en-US" sz="1400" dirty="0"/>
          </a:p>
        </p:txBody>
      </p:sp>
      <p:sp>
        <p:nvSpPr>
          <p:cNvPr id="838" name="Text 23">
            <a:extLst>
              <a:ext uri="{FF2B5EF4-FFF2-40B4-BE49-F238E27FC236}">
                <a16:creationId xmlns:a16="http://schemas.microsoft.com/office/drawing/2014/main" id="{C2B59637-A50C-23DA-2650-14088BE9CFE2}"/>
              </a:ext>
            </a:extLst>
          </p:cNvPr>
          <p:cNvSpPr/>
          <p:nvPr/>
        </p:nvSpPr>
        <p:spPr>
          <a:xfrm>
            <a:off x="5431188" y="3940100"/>
            <a:ext cx="2063900" cy="158113"/>
          </a:xfrm>
          <a:prstGeom prst="rect">
            <a:avLst/>
          </a:prstGeom>
          <a:noFill/>
          <a:ln/>
        </p:spPr>
        <p:txBody>
          <a:bodyPr wrap="square" lIns="254" tIns="254" rIns="254" bIns="254" rtlCol="0" anchor="t">
            <a:noAutofit/>
          </a:bodyPr>
          <a:lstStyle/>
          <a:p>
            <a:r>
              <a:rPr lang="zh-TW" altLang="en-US" sz="600" b="1" dirty="0">
                <a:solidFill>
                  <a:srgbClr val="1F2937"/>
                </a:solidFill>
                <a:latin typeface="Microsoft JhengHei" pitchFamily="34" charset="0"/>
                <a:ea typeface="Microsoft JhengHei" pitchFamily="34" charset="-122"/>
                <a:cs typeface="Microsoft JhengHei" pitchFamily="34" charset="-120"/>
              </a:rPr>
              <a:t>檢索更多產生</a:t>
            </a:r>
            <a:r>
              <a:rPr lang="en-US" altLang="zh-TW" sz="600" b="1" dirty="0">
                <a:solidFill>
                  <a:srgbClr val="1F2937"/>
                </a:solidFill>
                <a:latin typeface="Microsoft JhengHei" pitchFamily="34" charset="0"/>
                <a:ea typeface="Microsoft JhengHei" pitchFamily="34" charset="-122"/>
                <a:cs typeface="Microsoft JhengHei" pitchFamily="34" charset="-120"/>
              </a:rPr>
              <a:t>SQL</a:t>
            </a:r>
            <a:r>
              <a:rPr lang="zh-TW" altLang="en-US" sz="600" b="1" dirty="0">
                <a:solidFill>
                  <a:srgbClr val="1F2937"/>
                </a:solidFill>
                <a:latin typeface="Microsoft JhengHei" pitchFamily="34" charset="0"/>
                <a:ea typeface="Microsoft JhengHei" pitchFamily="34" charset="-122"/>
                <a:cs typeface="Microsoft JhengHei" pitchFamily="34" charset="-120"/>
              </a:rPr>
              <a:t>碼時，完成相關</a:t>
            </a:r>
            <a:r>
              <a:rPr lang="en-US" altLang="zh-TW" sz="600" b="1" dirty="0">
                <a:solidFill>
                  <a:srgbClr val="1F2937"/>
                </a:solidFill>
                <a:latin typeface="Microsoft JhengHei" pitchFamily="34" charset="0"/>
                <a:ea typeface="Microsoft JhengHei" pitchFamily="34" charset="-122"/>
                <a:cs typeface="Microsoft JhengHei" pitchFamily="34" charset="-120"/>
              </a:rPr>
              <a:t>Context</a:t>
            </a:r>
            <a:endParaRPr lang="zh-TW" altLang="en-US" sz="600" b="1" dirty="0">
              <a:solidFill>
                <a:srgbClr val="1F2937"/>
              </a:solidFill>
              <a:latin typeface="Microsoft JhengHei" pitchFamily="34" charset="0"/>
              <a:ea typeface="Microsoft JhengHei" pitchFamily="34" charset="-122"/>
              <a:cs typeface="Microsoft JhengHei" pitchFamily="34" charset="-120"/>
            </a:endParaRPr>
          </a:p>
        </p:txBody>
      </p:sp>
      <p:sp>
        <p:nvSpPr>
          <p:cNvPr id="842" name="Text 23">
            <a:extLst>
              <a:ext uri="{FF2B5EF4-FFF2-40B4-BE49-F238E27FC236}">
                <a16:creationId xmlns:a16="http://schemas.microsoft.com/office/drawing/2014/main" id="{7942E55C-337C-377F-CD7B-D9895064169F}"/>
              </a:ext>
            </a:extLst>
          </p:cNvPr>
          <p:cNvSpPr/>
          <p:nvPr/>
        </p:nvSpPr>
        <p:spPr>
          <a:xfrm>
            <a:off x="5350894" y="5505035"/>
            <a:ext cx="1828367" cy="235321"/>
          </a:xfrm>
          <a:prstGeom prst="rect">
            <a:avLst/>
          </a:prstGeom>
          <a:noFill/>
          <a:ln/>
        </p:spPr>
        <p:txBody>
          <a:bodyPr wrap="square" lIns="254" tIns="254" rIns="254" bIns="254" rtlCol="0" anchor="t">
            <a:noAutofit/>
          </a:bodyPr>
          <a:lstStyle/>
          <a:p>
            <a:r>
              <a:rPr lang="zh-TW" altLang="en-US" sz="600" dirty="0">
                <a:solidFill>
                  <a:srgbClr val="1F2937"/>
                </a:solidFill>
                <a:latin typeface="Microsoft JhengHei" pitchFamily="34" charset="0"/>
                <a:ea typeface="Microsoft JhengHei" pitchFamily="34" charset="-122"/>
                <a:cs typeface="Microsoft JhengHei" pitchFamily="34" charset="-120"/>
              </a:rPr>
              <a:t>使用者者意圖</a:t>
            </a:r>
            <a:r>
              <a:rPr lang="en-US" altLang="zh-TW" sz="600" dirty="0">
                <a:solidFill>
                  <a:srgbClr val="1F2937"/>
                </a:solidFill>
                <a:latin typeface="Microsoft JhengHei" pitchFamily="34" charset="0"/>
                <a:ea typeface="Microsoft JhengHei" pitchFamily="34" charset="-122"/>
                <a:cs typeface="Microsoft JhengHei" pitchFamily="34" charset="-120"/>
              </a:rPr>
              <a:t>+Schema +</a:t>
            </a:r>
            <a:r>
              <a:rPr lang="zh-TW" altLang="en-US" sz="600" dirty="0">
                <a:solidFill>
                  <a:srgbClr val="1F2937"/>
                </a:solidFill>
                <a:latin typeface="Microsoft JhengHei" pitchFamily="34" charset="0"/>
                <a:ea typeface="Microsoft JhengHei" pitchFamily="34" charset="-122"/>
                <a:cs typeface="Microsoft JhengHei" pitchFamily="34" charset="-120"/>
              </a:rPr>
              <a:t>關聯</a:t>
            </a:r>
            <a:r>
              <a:rPr lang="en-US" altLang="zh-TW" sz="600" dirty="0">
                <a:solidFill>
                  <a:srgbClr val="1F2937"/>
                </a:solidFill>
                <a:latin typeface="Microsoft JhengHei" pitchFamily="34" charset="0"/>
                <a:ea typeface="Microsoft JhengHei" pitchFamily="34" charset="-122"/>
                <a:cs typeface="Microsoft JhengHei" pitchFamily="34" charset="-120"/>
              </a:rPr>
              <a:t> + Business Rules + </a:t>
            </a:r>
            <a:r>
              <a:rPr lang="en-US" altLang="zh-TW" sz="600" dirty="0" err="1">
                <a:solidFill>
                  <a:srgbClr val="1F2937"/>
                </a:solidFill>
                <a:latin typeface="Microsoft JhengHei" pitchFamily="34" charset="0"/>
                <a:ea typeface="Microsoft JhengHei" pitchFamily="34" charset="-122"/>
                <a:cs typeface="Microsoft JhengHei" pitchFamily="34" charset="-120"/>
              </a:rPr>
              <a:t>相似</a:t>
            </a:r>
            <a:r>
              <a:rPr lang="en-US" altLang="zh-TW" sz="600" dirty="0">
                <a:solidFill>
                  <a:srgbClr val="1F2937"/>
                </a:solidFill>
                <a:latin typeface="Microsoft JhengHei" pitchFamily="34" charset="0"/>
                <a:ea typeface="Microsoft JhengHei" pitchFamily="34" charset="-122"/>
                <a:cs typeface="Microsoft JhengHei" pitchFamily="34" charset="-120"/>
              </a:rPr>
              <a:t> SQL </a:t>
            </a:r>
            <a:r>
              <a:rPr lang="zh-TW" altLang="en-US" sz="600" dirty="0">
                <a:solidFill>
                  <a:srgbClr val="1F2937"/>
                </a:solidFill>
                <a:latin typeface="Microsoft JhengHei" pitchFamily="34" charset="0"/>
                <a:ea typeface="Microsoft JhengHei" pitchFamily="34" charset="-122"/>
                <a:cs typeface="Microsoft JhengHei" pitchFamily="34" charset="-120"/>
              </a:rPr>
              <a:t>等上下文資訊</a:t>
            </a:r>
            <a:endParaRPr lang="en-US" altLang="zh-TW" sz="600" dirty="0"/>
          </a:p>
        </p:txBody>
      </p:sp>
      <p:sp>
        <p:nvSpPr>
          <p:cNvPr id="844" name="Text 23">
            <a:extLst>
              <a:ext uri="{FF2B5EF4-FFF2-40B4-BE49-F238E27FC236}">
                <a16:creationId xmlns:a16="http://schemas.microsoft.com/office/drawing/2014/main" id="{8CEEA097-5D13-4375-5D87-84EDC5C09A61}"/>
              </a:ext>
            </a:extLst>
          </p:cNvPr>
          <p:cNvSpPr/>
          <p:nvPr/>
        </p:nvSpPr>
        <p:spPr>
          <a:xfrm>
            <a:off x="7744471" y="4120247"/>
            <a:ext cx="1960617" cy="424211"/>
          </a:xfrm>
          <a:prstGeom prst="rect">
            <a:avLst/>
          </a:prstGeom>
          <a:noFill/>
          <a:ln/>
        </p:spPr>
        <p:txBody>
          <a:bodyPr wrap="square" lIns="254" tIns="254" rIns="254" bIns="254" rtlCol="0" anchor="t">
            <a:noAutofit/>
          </a:bodyPr>
          <a:lstStyle/>
          <a:p>
            <a:r>
              <a:rPr lang="zh-TW" altLang="en-US" sz="600" dirty="0">
                <a:solidFill>
                  <a:srgbClr val="1F2937"/>
                </a:solidFill>
                <a:latin typeface="Microsoft JhengHei" pitchFamily="34" charset="0"/>
                <a:ea typeface="Microsoft JhengHei" pitchFamily="34" charset="-122"/>
                <a:cs typeface="Microsoft JhengHei" pitchFamily="34" charset="-120"/>
              </a:rPr>
              <a:t>找房貸案件 </a:t>
            </a:r>
            <a:r>
              <a:rPr lang="en-US" altLang="zh-TW" sz="600" dirty="0">
                <a:solidFill>
                  <a:srgbClr val="1F2937"/>
                </a:solidFill>
                <a:latin typeface="Microsoft JhengHei" pitchFamily="34" charset="0"/>
                <a:ea typeface="Microsoft JhengHei" pitchFamily="34" charset="-122"/>
                <a:cs typeface="Microsoft JhengHei" pitchFamily="34" charset="-120"/>
              </a:rPr>
              <a:t>-&gt; </a:t>
            </a:r>
            <a:r>
              <a:rPr lang="zh-TW" altLang="en-US" sz="600" dirty="0">
                <a:solidFill>
                  <a:srgbClr val="1F2937"/>
                </a:solidFill>
                <a:latin typeface="Microsoft JhengHei" pitchFamily="34" charset="0"/>
                <a:ea typeface="Microsoft JhengHei" pitchFamily="34" charset="-122"/>
                <a:cs typeface="Microsoft JhengHei" pitchFamily="34" charset="-120"/>
              </a:rPr>
              <a:t>地區篩台北客戶 </a:t>
            </a:r>
            <a:r>
              <a:rPr lang="en-US" altLang="zh-TW" sz="600" dirty="0">
                <a:solidFill>
                  <a:srgbClr val="1F2937"/>
                </a:solidFill>
                <a:latin typeface="Microsoft JhengHei" pitchFamily="34" charset="0"/>
                <a:ea typeface="Microsoft JhengHei" pitchFamily="34" charset="-122"/>
                <a:cs typeface="Microsoft JhengHei" pitchFamily="34" charset="-120"/>
              </a:rPr>
              <a:t>-&gt; </a:t>
            </a:r>
            <a:r>
              <a:rPr lang="zh-TW" altLang="en-US" sz="600" dirty="0">
                <a:solidFill>
                  <a:srgbClr val="1F2937"/>
                </a:solidFill>
                <a:latin typeface="Microsoft JhengHei" pitchFamily="34" charset="0"/>
                <a:ea typeface="Microsoft JhengHei" pitchFamily="34" charset="-122"/>
                <a:cs typeface="Microsoft JhengHei" pitchFamily="34" charset="-120"/>
              </a:rPr>
              <a:t>取有效核貸案件 </a:t>
            </a:r>
            <a:r>
              <a:rPr lang="en-US" altLang="zh-TW" sz="600" dirty="0">
                <a:solidFill>
                  <a:srgbClr val="1F2937"/>
                </a:solidFill>
                <a:latin typeface="Microsoft JhengHei" pitchFamily="34" charset="0"/>
                <a:ea typeface="Microsoft JhengHei" pitchFamily="34" charset="-122"/>
                <a:cs typeface="Microsoft JhengHei" pitchFamily="34" charset="-120"/>
              </a:rPr>
              <a:t>-&gt;</a:t>
            </a:r>
            <a:r>
              <a:rPr lang="zh-TW" altLang="en-US" sz="600" dirty="0">
                <a:solidFill>
                  <a:srgbClr val="1F2937"/>
                </a:solidFill>
                <a:latin typeface="Microsoft JhengHei" pitchFamily="34" charset="0"/>
                <a:ea typeface="Microsoft JhengHei" pitchFamily="34" charset="-122"/>
                <a:cs typeface="Microsoft JhengHei" pitchFamily="34" charset="-120"/>
              </a:rPr>
              <a:t>當前期間</a:t>
            </a:r>
            <a:r>
              <a:rPr lang="en-US" altLang="zh-TW" sz="600" dirty="0">
                <a:solidFill>
                  <a:srgbClr val="1F2937"/>
                </a:solidFill>
                <a:latin typeface="Microsoft JhengHei" pitchFamily="34" charset="0"/>
                <a:ea typeface="Microsoft JhengHei" pitchFamily="34" charset="-122"/>
                <a:cs typeface="Microsoft JhengHei" pitchFamily="34" charset="-120"/>
              </a:rPr>
              <a:t>2026-01-01 ~ 2026-06-30</a:t>
            </a:r>
            <a:r>
              <a:rPr lang="zh-TW" altLang="en-US" sz="600" dirty="0">
                <a:solidFill>
                  <a:srgbClr val="1F2937"/>
                </a:solidFill>
                <a:latin typeface="Microsoft JhengHei" pitchFamily="34" charset="0"/>
                <a:ea typeface="Microsoft JhengHei" pitchFamily="34" charset="-122"/>
                <a:cs typeface="Microsoft JhengHei" pitchFamily="34" charset="-120"/>
              </a:rPr>
              <a:t> </a:t>
            </a:r>
            <a:r>
              <a:rPr lang="en-US" altLang="zh-TW" sz="600" dirty="0">
                <a:solidFill>
                  <a:srgbClr val="1F2937"/>
                </a:solidFill>
                <a:latin typeface="Microsoft JhengHei" pitchFamily="34" charset="0"/>
                <a:ea typeface="Microsoft JhengHei" pitchFamily="34" charset="-122"/>
                <a:cs typeface="Microsoft JhengHei" pitchFamily="34" charset="-120"/>
              </a:rPr>
              <a:t>-&gt; </a:t>
            </a:r>
            <a:r>
              <a:rPr lang="zh-TW" altLang="en-US" sz="600" dirty="0">
                <a:solidFill>
                  <a:srgbClr val="1F2937"/>
                </a:solidFill>
                <a:latin typeface="Microsoft JhengHei" pitchFamily="34" charset="0"/>
                <a:ea typeface="Microsoft JhengHei" pitchFamily="34" charset="-122"/>
                <a:cs typeface="Microsoft JhengHei" pitchFamily="34" charset="-120"/>
              </a:rPr>
              <a:t>先前期間</a:t>
            </a:r>
            <a:r>
              <a:rPr lang="en-US" altLang="zh-TW" sz="600" dirty="0">
                <a:solidFill>
                  <a:srgbClr val="1F2937"/>
                </a:solidFill>
                <a:latin typeface="Microsoft JhengHei" pitchFamily="34" charset="0"/>
                <a:ea typeface="Microsoft JhengHei" pitchFamily="34" charset="-122"/>
                <a:cs typeface="Microsoft JhengHei" pitchFamily="34" charset="-120"/>
              </a:rPr>
              <a:t>2025-01-01 ~ 2025-06-30</a:t>
            </a:r>
            <a:r>
              <a:rPr lang="zh-TW" altLang="en-US" sz="600" dirty="0">
                <a:solidFill>
                  <a:srgbClr val="1F2937"/>
                </a:solidFill>
                <a:latin typeface="Microsoft JhengHei" pitchFamily="34" charset="0"/>
                <a:ea typeface="Microsoft JhengHei" pitchFamily="34" charset="-122"/>
                <a:cs typeface="Microsoft JhengHei" pitchFamily="34" charset="-120"/>
              </a:rPr>
              <a:t> </a:t>
            </a:r>
            <a:r>
              <a:rPr lang="en-US" altLang="zh-TW" sz="600" dirty="0">
                <a:solidFill>
                  <a:srgbClr val="1F2937"/>
                </a:solidFill>
                <a:latin typeface="Microsoft JhengHei" pitchFamily="34" charset="0"/>
                <a:ea typeface="Microsoft JhengHei" pitchFamily="34" charset="-122"/>
                <a:cs typeface="Microsoft JhengHei" pitchFamily="34" charset="-120"/>
              </a:rPr>
              <a:t>-&gt;</a:t>
            </a:r>
            <a:r>
              <a:rPr lang="zh-TW" altLang="en-US" sz="600" dirty="0">
                <a:solidFill>
                  <a:srgbClr val="1F2937"/>
                </a:solidFill>
                <a:latin typeface="Microsoft JhengHei" pitchFamily="34" charset="0"/>
                <a:ea typeface="Microsoft JhengHei" pitchFamily="34" charset="-122"/>
                <a:cs typeface="Microsoft JhengHei" pitchFamily="34" charset="-120"/>
              </a:rPr>
              <a:t>先計算 </a:t>
            </a:r>
            <a:r>
              <a:rPr lang="en-US" altLang="zh-TW" sz="600" dirty="0">
                <a:solidFill>
                  <a:srgbClr val="1F2937"/>
                </a:solidFill>
                <a:latin typeface="Microsoft JhengHei" pitchFamily="34" charset="0"/>
                <a:ea typeface="Microsoft JhengHei" pitchFamily="34" charset="-122"/>
                <a:cs typeface="Microsoft JhengHei" pitchFamily="34" charset="-120"/>
              </a:rPr>
              <a:t>2026 H1 </a:t>
            </a:r>
            <a:r>
              <a:rPr lang="zh-TW" altLang="en-US" sz="600" dirty="0">
                <a:solidFill>
                  <a:srgbClr val="1F2937"/>
                </a:solidFill>
                <a:latin typeface="Microsoft JhengHei" pitchFamily="34" charset="0"/>
                <a:ea typeface="Microsoft JhengHei" pitchFamily="34" charset="-122"/>
                <a:cs typeface="Microsoft JhengHei" pitchFamily="34" charset="-120"/>
              </a:rPr>
              <a:t>與 </a:t>
            </a:r>
            <a:r>
              <a:rPr lang="en-US" altLang="zh-TW" sz="600" dirty="0">
                <a:solidFill>
                  <a:srgbClr val="1F2937"/>
                </a:solidFill>
                <a:latin typeface="Microsoft JhengHei" pitchFamily="34" charset="0"/>
                <a:ea typeface="Microsoft JhengHei" pitchFamily="34" charset="-122"/>
                <a:cs typeface="Microsoft JhengHei" pitchFamily="34" charset="-120"/>
              </a:rPr>
              <a:t>2025 H1 </a:t>
            </a:r>
            <a:r>
              <a:rPr lang="zh-TW" altLang="en-US" sz="600" dirty="0">
                <a:solidFill>
                  <a:srgbClr val="1F2937"/>
                </a:solidFill>
                <a:latin typeface="Microsoft JhengHei" pitchFamily="34" charset="0"/>
                <a:ea typeface="Microsoft JhengHei" pitchFamily="34" charset="-122"/>
                <a:cs typeface="Microsoft JhengHei" pitchFamily="34" charset="-120"/>
              </a:rPr>
              <a:t>台北房貸平均核貸金額 </a:t>
            </a:r>
            <a:r>
              <a:rPr lang="en-US" altLang="zh-TW" sz="600" dirty="0">
                <a:solidFill>
                  <a:srgbClr val="1F2937"/>
                </a:solidFill>
                <a:latin typeface="Microsoft JhengHei" pitchFamily="34" charset="0"/>
                <a:ea typeface="Microsoft JhengHei" pitchFamily="34" charset="-122"/>
                <a:cs typeface="Microsoft JhengHei" pitchFamily="34" charset="-120"/>
              </a:rPr>
              <a:t>-&gt;</a:t>
            </a:r>
            <a:r>
              <a:rPr lang="en-US" altLang="zh-TW" sz="600" dirty="0" err="1">
                <a:solidFill>
                  <a:srgbClr val="1F2937"/>
                </a:solidFill>
                <a:latin typeface="Microsoft JhengHei" pitchFamily="34" charset="0"/>
                <a:ea typeface="Microsoft JhengHei" pitchFamily="34" charset="-122"/>
                <a:cs typeface="Microsoft JhengHei" pitchFamily="34" charset="-120"/>
              </a:rPr>
              <a:t>再算差額與</a:t>
            </a:r>
            <a:r>
              <a:rPr lang="zh-TW" altLang="en-US" sz="600" dirty="0">
                <a:solidFill>
                  <a:srgbClr val="1F2937"/>
                </a:solidFill>
                <a:latin typeface="Microsoft JhengHei" pitchFamily="34" charset="0"/>
                <a:ea typeface="Microsoft JhengHei" pitchFamily="34" charset="-122"/>
                <a:cs typeface="Microsoft JhengHei" pitchFamily="34" charset="-120"/>
              </a:rPr>
              <a:t>成長率</a:t>
            </a:r>
            <a:endParaRPr lang="en-US" altLang="zh-TW" sz="600" dirty="0"/>
          </a:p>
          <a:p>
            <a:pPr marL="171450" indent="-171450">
              <a:buFont typeface="Arial" panose="020B0604020202020204" pitchFamily="34" charset="0"/>
              <a:buChar char="•"/>
            </a:pPr>
            <a:endParaRPr lang="zh-TW" altLang="en-US" sz="600" b="1" dirty="0">
              <a:solidFill>
                <a:srgbClr val="1F2937"/>
              </a:solidFill>
              <a:latin typeface="Microsoft JhengHei" pitchFamily="34" charset="0"/>
              <a:ea typeface="Microsoft JhengHei" pitchFamily="34" charset="-122"/>
              <a:cs typeface="Microsoft JhengHei" pitchFamily="34" charset="-120"/>
            </a:endParaRPr>
          </a:p>
        </p:txBody>
      </p:sp>
      <p:sp>
        <p:nvSpPr>
          <p:cNvPr id="851" name="Text 23">
            <a:extLst>
              <a:ext uri="{FF2B5EF4-FFF2-40B4-BE49-F238E27FC236}">
                <a16:creationId xmlns:a16="http://schemas.microsoft.com/office/drawing/2014/main" id="{E08CB986-51AB-ED6B-369B-C0DD3FBD41D0}"/>
              </a:ext>
            </a:extLst>
          </p:cNvPr>
          <p:cNvSpPr/>
          <p:nvPr/>
        </p:nvSpPr>
        <p:spPr>
          <a:xfrm>
            <a:off x="5469836" y="5304999"/>
            <a:ext cx="2063900" cy="158113"/>
          </a:xfrm>
          <a:prstGeom prst="rect">
            <a:avLst/>
          </a:prstGeom>
          <a:noFill/>
          <a:ln/>
        </p:spPr>
        <p:txBody>
          <a:bodyPr wrap="square" lIns="254" tIns="254" rIns="254" bIns="254" rtlCol="0" anchor="t">
            <a:noAutofit/>
          </a:bodyPr>
          <a:lstStyle/>
          <a:p>
            <a:r>
              <a:rPr lang="en-US" altLang="zh-TW" sz="600" b="1" dirty="0" err="1">
                <a:solidFill>
                  <a:srgbClr val="1F2937"/>
                </a:solidFill>
                <a:latin typeface="Microsoft JhengHei" pitchFamily="34" charset="0"/>
                <a:ea typeface="Microsoft JhengHei" pitchFamily="34" charset="-122"/>
                <a:cs typeface="Microsoft JhengHei" pitchFamily="34" charset="-120"/>
              </a:rPr>
              <a:t>組裝</a:t>
            </a:r>
            <a:r>
              <a:rPr lang="zh-TW" altLang="en-US" sz="600" b="1" dirty="0">
                <a:solidFill>
                  <a:srgbClr val="1F2937"/>
                </a:solidFill>
                <a:latin typeface="Microsoft JhengHei" pitchFamily="34" charset="0"/>
                <a:ea typeface="Microsoft JhengHei" pitchFamily="34" charset="-122"/>
                <a:cs typeface="Microsoft JhengHei" pitchFamily="34" charset="-120"/>
              </a:rPr>
              <a:t>上下文</a:t>
            </a:r>
            <a:r>
              <a:rPr lang="en-US" altLang="zh-TW" sz="600" b="1" dirty="0">
                <a:solidFill>
                  <a:srgbClr val="1F2937"/>
                </a:solidFill>
                <a:latin typeface="Microsoft JhengHei" pitchFamily="34" charset="0"/>
                <a:ea typeface="Microsoft JhengHei" pitchFamily="34" charset="-122"/>
                <a:cs typeface="Microsoft JhengHei" pitchFamily="34" charset="-120"/>
              </a:rPr>
              <a:t>Context</a:t>
            </a:r>
            <a:endParaRPr lang="zh-TW" altLang="en-US" sz="600" b="1" dirty="0">
              <a:solidFill>
                <a:srgbClr val="1F2937"/>
              </a:solidFill>
              <a:latin typeface="Microsoft JhengHei" pitchFamily="34" charset="0"/>
              <a:ea typeface="Microsoft JhengHei" pitchFamily="34" charset="-122"/>
              <a:cs typeface="Microsoft JhengHei" pitchFamily="34" charset="-120"/>
            </a:endParaRPr>
          </a:p>
        </p:txBody>
      </p:sp>
      <p:sp>
        <p:nvSpPr>
          <p:cNvPr id="853" name="Text 23">
            <a:extLst>
              <a:ext uri="{FF2B5EF4-FFF2-40B4-BE49-F238E27FC236}">
                <a16:creationId xmlns:a16="http://schemas.microsoft.com/office/drawing/2014/main" id="{39A065B0-13C8-749A-3C5A-B721058F57E6}"/>
              </a:ext>
            </a:extLst>
          </p:cNvPr>
          <p:cNvSpPr/>
          <p:nvPr/>
        </p:nvSpPr>
        <p:spPr>
          <a:xfrm>
            <a:off x="7850435" y="3962478"/>
            <a:ext cx="816252" cy="158113"/>
          </a:xfrm>
          <a:prstGeom prst="rect">
            <a:avLst/>
          </a:prstGeom>
          <a:noFill/>
          <a:ln/>
        </p:spPr>
        <p:txBody>
          <a:bodyPr wrap="square" lIns="254" tIns="254" rIns="254" bIns="254" rtlCol="0" anchor="t">
            <a:noAutofit/>
          </a:bodyPr>
          <a:lstStyle/>
          <a:p>
            <a:r>
              <a:rPr lang="zh-TW" altLang="en-US" sz="600" b="1" dirty="0">
                <a:solidFill>
                  <a:srgbClr val="1F2937"/>
                </a:solidFill>
                <a:latin typeface="Microsoft JhengHei" pitchFamily="34" charset="0"/>
                <a:ea typeface="Microsoft JhengHei" pitchFamily="34" charset="-122"/>
                <a:cs typeface="Microsoft JhengHei" pitchFamily="34" charset="-120"/>
              </a:rPr>
              <a:t>規劃查詢邏輯</a:t>
            </a:r>
            <a:endParaRPr lang="en-US" altLang="zh-TW" sz="600" b="1" dirty="0">
              <a:solidFill>
                <a:srgbClr val="1F2937"/>
              </a:solidFill>
              <a:latin typeface="Microsoft JhengHei" pitchFamily="34" charset="0"/>
              <a:ea typeface="Microsoft JhengHei" pitchFamily="34" charset="-122"/>
              <a:cs typeface="Microsoft JhengHei" pitchFamily="34" charset="-120"/>
            </a:endParaRPr>
          </a:p>
        </p:txBody>
      </p:sp>
      <p:sp>
        <p:nvSpPr>
          <p:cNvPr id="857" name="Text 23">
            <a:extLst>
              <a:ext uri="{FF2B5EF4-FFF2-40B4-BE49-F238E27FC236}">
                <a16:creationId xmlns:a16="http://schemas.microsoft.com/office/drawing/2014/main" id="{31BE292B-9665-2D18-B661-01F905D89121}"/>
              </a:ext>
            </a:extLst>
          </p:cNvPr>
          <p:cNvSpPr/>
          <p:nvPr/>
        </p:nvSpPr>
        <p:spPr>
          <a:xfrm>
            <a:off x="7837239" y="4838075"/>
            <a:ext cx="1100300" cy="158113"/>
          </a:xfrm>
          <a:prstGeom prst="rect">
            <a:avLst/>
          </a:prstGeom>
          <a:noFill/>
          <a:ln/>
        </p:spPr>
        <p:txBody>
          <a:bodyPr wrap="square" lIns="254" tIns="254" rIns="254" bIns="254" rtlCol="0" anchor="t">
            <a:noAutofit/>
          </a:bodyPr>
          <a:lstStyle/>
          <a:p>
            <a:r>
              <a:rPr lang="en-US" altLang="zh-TW" sz="600" b="1" dirty="0">
                <a:solidFill>
                  <a:srgbClr val="1F2937"/>
                </a:solidFill>
                <a:latin typeface="Microsoft JhengHei" pitchFamily="34" charset="0"/>
                <a:ea typeface="Microsoft JhengHei" pitchFamily="34" charset="-122"/>
                <a:cs typeface="Microsoft JhengHei" pitchFamily="34" charset="-120"/>
              </a:rPr>
              <a:t>Text-to-SQL</a:t>
            </a:r>
            <a:r>
              <a:rPr lang="zh-TW" altLang="en-US" sz="600" b="1" dirty="0">
                <a:solidFill>
                  <a:srgbClr val="1F2937"/>
                </a:solidFill>
                <a:latin typeface="Microsoft JhengHei" pitchFamily="34" charset="0"/>
                <a:ea typeface="Microsoft JhengHei" pitchFamily="34" charset="-122"/>
                <a:cs typeface="Microsoft JhengHei" pitchFamily="34" charset="-120"/>
              </a:rPr>
              <a:t>（</a:t>
            </a:r>
            <a:r>
              <a:rPr lang="en-US" altLang="zh-TW" sz="600" b="1" dirty="0">
                <a:solidFill>
                  <a:srgbClr val="1F2937"/>
                </a:solidFill>
                <a:latin typeface="Microsoft JhengHei" pitchFamily="34" charset="0"/>
                <a:ea typeface="Microsoft JhengHei" pitchFamily="34" charset="-122"/>
                <a:cs typeface="Microsoft JhengHei" pitchFamily="34" charset="-120"/>
              </a:rPr>
              <a:t>Semantic SQL</a:t>
            </a:r>
            <a:r>
              <a:rPr lang="zh-TW" altLang="en-US" sz="600" b="1" dirty="0">
                <a:solidFill>
                  <a:srgbClr val="1F2937"/>
                </a:solidFill>
                <a:latin typeface="Microsoft JhengHei" pitchFamily="34" charset="0"/>
                <a:ea typeface="Microsoft JhengHei" pitchFamily="34" charset="-122"/>
                <a:cs typeface="Microsoft JhengHei" pitchFamily="34" charset="-120"/>
              </a:rPr>
              <a:t>）</a:t>
            </a:r>
          </a:p>
        </p:txBody>
      </p:sp>
      <p:sp>
        <p:nvSpPr>
          <p:cNvPr id="859" name="Text 23">
            <a:extLst>
              <a:ext uri="{FF2B5EF4-FFF2-40B4-BE49-F238E27FC236}">
                <a16:creationId xmlns:a16="http://schemas.microsoft.com/office/drawing/2014/main" id="{AEA9B15E-95EF-0FB7-B191-03A437A3176E}"/>
              </a:ext>
            </a:extLst>
          </p:cNvPr>
          <p:cNvSpPr/>
          <p:nvPr/>
        </p:nvSpPr>
        <p:spPr>
          <a:xfrm>
            <a:off x="7744471" y="4772823"/>
            <a:ext cx="1960617" cy="424211"/>
          </a:xfrm>
          <a:prstGeom prst="rect">
            <a:avLst/>
          </a:prstGeom>
          <a:noFill/>
          <a:ln/>
        </p:spPr>
        <p:txBody>
          <a:bodyPr wrap="square" lIns="254" tIns="254" rIns="254" bIns="254" rtlCol="0" anchor="t">
            <a:noAutofit/>
          </a:bodyPr>
          <a:lstStyle/>
          <a:p>
            <a:endParaRPr lang="zh-TW" altLang="en-US" sz="600" b="1" dirty="0">
              <a:solidFill>
                <a:srgbClr val="1F2937"/>
              </a:solidFill>
              <a:latin typeface="Microsoft JhengHei" pitchFamily="34" charset="0"/>
              <a:ea typeface="Microsoft JhengHei" pitchFamily="34" charset="-122"/>
              <a:cs typeface="Microsoft JhengHei" pitchFamily="34" charset="-120"/>
            </a:endParaRPr>
          </a:p>
        </p:txBody>
      </p:sp>
      <p:sp>
        <p:nvSpPr>
          <p:cNvPr id="861" name="Text 23">
            <a:extLst>
              <a:ext uri="{FF2B5EF4-FFF2-40B4-BE49-F238E27FC236}">
                <a16:creationId xmlns:a16="http://schemas.microsoft.com/office/drawing/2014/main" id="{B0044653-383F-1A11-B3BF-3480269FB213}"/>
              </a:ext>
            </a:extLst>
          </p:cNvPr>
          <p:cNvSpPr/>
          <p:nvPr/>
        </p:nvSpPr>
        <p:spPr>
          <a:xfrm>
            <a:off x="7828517" y="4976135"/>
            <a:ext cx="1960617" cy="424211"/>
          </a:xfrm>
          <a:prstGeom prst="rect">
            <a:avLst/>
          </a:prstGeom>
          <a:noFill/>
          <a:ln/>
        </p:spPr>
        <p:txBody>
          <a:bodyPr wrap="square" lIns="254" tIns="254" rIns="254" bIns="254" rtlCol="0" anchor="t">
            <a:noAutofit/>
          </a:bodyPr>
          <a:lstStyle/>
          <a:p>
            <a:r>
              <a:rPr lang="en-US" altLang="zh-TW" sz="600" dirty="0">
                <a:solidFill>
                  <a:srgbClr val="1F2937"/>
                </a:solidFill>
                <a:latin typeface="Microsoft JhengHei" pitchFamily="34" charset="0"/>
                <a:ea typeface="Microsoft JhengHei" pitchFamily="34" charset="-122"/>
                <a:cs typeface="Microsoft JhengHei" pitchFamily="34" charset="-120"/>
              </a:rPr>
              <a:t>SELECT</a:t>
            </a:r>
            <a:r>
              <a:rPr lang="zh-TW" altLang="en-US" sz="600" dirty="0">
                <a:solidFill>
                  <a:srgbClr val="1F2937"/>
                </a:solidFill>
                <a:latin typeface="Microsoft JhengHei" pitchFamily="34" charset="0"/>
                <a:ea typeface="Microsoft JhengHei" pitchFamily="34" charset="-122"/>
                <a:cs typeface="Microsoft JhengHei" pitchFamily="34" charset="-120"/>
              </a:rPr>
              <a:t> </a:t>
            </a:r>
            <a:r>
              <a:rPr lang="en-US" altLang="zh-TW" sz="600" dirty="0">
                <a:solidFill>
                  <a:srgbClr val="1F2937"/>
                </a:solidFill>
                <a:latin typeface="Microsoft JhengHei" pitchFamily="34" charset="0"/>
                <a:ea typeface="Microsoft JhengHei" pitchFamily="34" charset="-122"/>
                <a:cs typeface="Microsoft JhengHei" pitchFamily="34" charset="-120"/>
              </a:rPr>
              <a:t>AVG(</a:t>
            </a:r>
            <a:r>
              <a:rPr lang="en-US" altLang="zh-TW" sz="600" dirty="0" err="1">
                <a:solidFill>
                  <a:srgbClr val="1F2937"/>
                </a:solidFill>
                <a:latin typeface="Microsoft JhengHei" pitchFamily="34" charset="0"/>
                <a:ea typeface="Microsoft JhengHei" pitchFamily="34" charset="-122"/>
                <a:cs typeface="Microsoft JhengHei" pitchFamily="34" charset="-120"/>
              </a:rPr>
              <a:t>approved_amount</a:t>
            </a:r>
            <a:r>
              <a:rPr lang="en-US" altLang="zh-TW" sz="600" dirty="0">
                <a:solidFill>
                  <a:srgbClr val="1F2937"/>
                </a:solidFill>
                <a:latin typeface="Microsoft JhengHei" pitchFamily="34" charset="0"/>
                <a:ea typeface="Microsoft JhengHei" pitchFamily="34" charset="-122"/>
                <a:cs typeface="Microsoft JhengHei" pitchFamily="34" charset="-120"/>
              </a:rPr>
              <a:t>)</a:t>
            </a:r>
          </a:p>
          <a:p>
            <a:r>
              <a:rPr lang="en-US" altLang="zh-TW" sz="600" dirty="0">
                <a:solidFill>
                  <a:srgbClr val="1F2937"/>
                </a:solidFill>
                <a:latin typeface="Microsoft JhengHei" pitchFamily="34" charset="0"/>
                <a:ea typeface="Microsoft JhengHei" pitchFamily="34" charset="-122"/>
                <a:cs typeface="Microsoft JhengHei" pitchFamily="34" charset="-120"/>
              </a:rPr>
              <a:t>FROM </a:t>
            </a:r>
            <a:r>
              <a:rPr lang="en-US" altLang="zh-TW" sz="600" dirty="0" err="1">
                <a:solidFill>
                  <a:srgbClr val="1F2937"/>
                </a:solidFill>
                <a:latin typeface="Microsoft JhengHei" pitchFamily="34" charset="0"/>
                <a:ea typeface="Microsoft JhengHei" pitchFamily="34" charset="-122"/>
                <a:cs typeface="Microsoft JhengHei" pitchFamily="34" charset="-120"/>
              </a:rPr>
              <a:t>LoanApplication</a:t>
            </a:r>
            <a:endParaRPr lang="en-US" altLang="zh-TW" sz="600" dirty="0">
              <a:solidFill>
                <a:srgbClr val="1F2937"/>
              </a:solidFill>
              <a:latin typeface="Microsoft JhengHei" pitchFamily="34" charset="0"/>
              <a:ea typeface="Microsoft JhengHei" pitchFamily="34" charset="-122"/>
              <a:cs typeface="Microsoft JhengHei" pitchFamily="34" charset="-120"/>
            </a:endParaRPr>
          </a:p>
          <a:p>
            <a:r>
              <a:rPr lang="en-US" altLang="zh-TW" sz="600" dirty="0">
                <a:solidFill>
                  <a:srgbClr val="1F2937"/>
                </a:solidFill>
                <a:latin typeface="Microsoft JhengHei" pitchFamily="34" charset="0"/>
                <a:ea typeface="Microsoft JhengHei" pitchFamily="34" charset="-122"/>
                <a:cs typeface="Microsoft JhengHei" pitchFamily="34" charset="-120"/>
              </a:rPr>
              <a:t>WHERE</a:t>
            </a:r>
          </a:p>
          <a:p>
            <a:r>
              <a:rPr lang="zh-TW" altLang="en-US" sz="600" dirty="0">
                <a:solidFill>
                  <a:srgbClr val="1F2937"/>
                </a:solidFill>
                <a:latin typeface="Microsoft JhengHei" pitchFamily="34" charset="0"/>
                <a:ea typeface="Microsoft JhengHei" pitchFamily="34" charset="-122"/>
                <a:cs typeface="Microsoft JhengHei" pitchFamily="34" charset="-120"/>
              </a:rPr>
              <a:t>            </a:t>
            </a:r>
            <a:r>
              <a:rPr lang="en-US" altLang="zh-TW" sz="600" dirty="0">
                <a:solidFill>
                  <a:srgbClr val="1F2937"/>
                </a:solidFill>
                <a:latin typeface="Microsoft JhengHei" pitchFamily="34" charset="0"/>
                <a:ea typeface="Microsoft JhengHei" pitchFamily="34" charset="-122"/>
                <a:cs typeface="Microsoft JhengHei" pitchFamily="34" charset="-120"/>
              </a:rPr>
              <a:t>region = 'Taipei’</a:t>
            </a:r>
          </a:p>
          <a:p>
            <a:r>
              <a:rPr lang="zh-TW" altLang="en-US" sz="600" dirty="0">
                <a:solidFill>
                  <a:srgbClr val="1F2937"/>
                </a:solidFill>
                <a:latin typeface="Microsoft JhengHei" pitchFamily="34" charset="0"/>
                <a:ea typeface="Microsoft JhengHei" pitchFamily="34" charset="-122"/>
                <a:cs typeface="Microsoft JhengHei" pitchFamily="34" charset="-120"/>
              </a:rPr>
              <a:t>            </a:t>
            </a:r>
            <a:r>
              <a:rPr lang="en-US" altLang="zh-TW" sz="600" dirty="0">
                <a:solidFill>
                  <a:srgbClr val="1F2937"/>
                </a:solidFill>
                <a:latin typeface="Microsoft JhengHei" pitchFamily="34" charset="0"/>
                <a:ea typeface="Microsoft JhengHei" pitchFamily="34" charset="-122"/>
                <a:cs typeface="Microsoft JhengHei" pitchFamily="34" charset="-120"/>
              </a:rPr>
              <a:t>AND </a:t>
            </a:r>
            <a:r>
              <a:rPr lang="en-US" altLang="zh-TW" sz="600" dirty="0" err="1">
                <a:solidFill>
                  <a:srgbClr val="1F2937"/>
                </a:solidFill>
                <a:latin typeface="Microsoft JhengHei" pitchFamily="34" charset="0"/>
                <a:ea typeface="Microsoft JhengHei" pitchFamily="34" charset="-122"/>
                <a:cs typeface="Microsoft JhengHei" pitchFamily="34" charset="-120"/>
              </a:rPr>
              <a:t>product_type</a:t>
            </a:r>
            <a:r>
              <a:rPr lang="en-US" altLang="zh-TW" sz="600" dirty="0">
                <a:solidFill>
                  <a:srgbClr val="1F2937"/>
                </a:solidFill>
                <a:latin typeface="Microsoft JhengHei" pitchFamily="34" charset="0"/>
                <a:ea typeface="Microsoft JhengHei" pitchFamily="34" charset="-122"/>
                <a:cs typeface="Microsoft JhengHei" pitchFamily="34" charset="-120"/>
              </a:rPr>
              <a:t> = 'Mortgage’</a:t>
            </a:r>
          </a:p>
          <a:p>
            <a:r>
              <a:rPr lang="zh-TW" altLang="en-US" sz="600" dirty="0">
                <a:solidFill>
                  <a:srgbClr val="1F2937"/>
                </a:solidFill>
                <a:latin typeface="Microsoft JhengHei" pitchFamily="34" charset="0"/>
                <a:ea typeface="Microsoft JhengHei" pitchFamily="34" charset="-122"/>
                <a:cs typeface="Microsoft JhengHei" pitchFamily="34" charset="-120"/>
              </a:rPr>
              <a:t>            </a:t>
            </a:r>
            <a:r>
              <a:rPr lang="en-US" altLang="zh-TW" sz="600" dirty="0">
                <a:solidFill>
                  <a:srgbClr val="1F2937"/>
                </a:solidFill>
                <a:latin typeface="Microsoft JhengHei" pitchFamily="34" charset="0"/>
                <a:ea typeface="Microsoft JhengHei" pitchFamily="34" charset="-122"/>
                <a:cs typeface="Microsoft JhengHei" pitchFamily="34" charset="-120"/>
              </a:rPr>
              <a:t>AND status IN ('APPROVED','DISBURSED’)</a:t>
            </a:r>
          </a:p>
          <a:p>
            <a:r>
              <a:rPr lang="zh-TW" altLang="en-US" sz="600" dirty="0">
                <a:solidFill>
                  <a:srgbClr val="1F2937"/>
                </a:solidFill>
                <a:latin typeface="Microsoft JhengHei" pitchFamily="34" charset="0"/>
                <a:ea typeface="Microsoft JhengHei" pitchFamily="34" charset="-122"/>
                <a:cs typeface="Microsoft JhengHei" pitchFamily="34" charset="-120"/>
              </a:rPr>
              <a:t>            </a:t>
            </a:r>
            <a:r>
              <a:rPr lang="en-US" altLang="zh-TW" sz="600" dirty="0">
                <a:solidFill>
                  <a:srgbClr val="1F2937"/>
                </a:solidFill>
                <a:latin typeface="Microsoft JhengHei" pitchFamily="34" charset="0"/>
                <a:ea typeface="Microsoft JhengHei" pitchFamily="34" charset="-122"/>
                <a:cs typeface="Microsoft JhengHei" pitchFamily="34" charset="-120"/>
              </a:rPr>
              <a:t>AND </a:t>
            </a:r>
            <a:r>
              <a:rPr lang="en-US" altLang="zh-TW" sz="600" dirty="0" err="1">
                <a:solidFill>
                  <a:srgbClr val="1F2937"/>
                </a:solidFill>
                <a:latin typeface="Microsoft JhengHei" pitchFamily="34" charset="0"/>
                <a:ea typeface="Microsoft JhengHei" pitchFamily="34" charset="-122"/>
                <a:cs typeface="Microsoft JhengHei" pitchFamily="34" charset="-120"/>
              </a:rPr>
              <a:t>application_date</a:t>
            </a:r>
            <a:r>
              <a:rPr lang="en-US" altLang="zh-TW" sz="600" dirty="0">
                <a:solidFill>
                  <a:srgbClr val="1F2937"/>
                </a:solidFill>
                <a:latin typeface="Microsoft JhengHei" pitchFamily="34" charset="0"/>
                <a:ea typeface="Microsoft JhengHei" pitchFamily="34" charset="-122"/>
                <a:cs typeface="Microsoft JhengHei" pitchFamily="34" charset="-120"/>
              </a:rPr>
              <a:t> BETWEEN </a:t>
            </a:r>
            <a:r>
              <a:rPr lang="en-US" altLang="zh-TW" sz="600" dirty="0" err="1">
                <a:solidFill>
                  <a:srgbClr val="1F2937"/>
                </a:solidFill>
                <a:latin typeface="Microsoft JhengHei" pitchFamily="34" charset="0"/>
                <a:ea typeface="Microsoft JhengHei" pitchFamily="34" charset="-122"/>
                <a:cs typeface="Microsoft JhengHei" pitchFamily="34" charset="-120"/>
              </a:rPr>
              <a:t>CurrentPeriod</a:t>
            </a:r>
            <a:endParaRPr lang="zh-TW" altLang="en-US" sz="600" b="1" dirty="0">
              <a:solidFill>
                <a:srgbClr val="1F2937"/>
              </a:solidFill>
              <a:latin typeface="Microsoft JhengHei" pitchFamily="34" charset="0"/>
              <a:ea typeface="Microsoft JhengHei" pitchFamily="34" charset="-122"/>
              <a:cs typeface="Microsoft JhengHei" pitchFamily="34" charset="-120"/>
            </a:endParaRPr>
          </a:p>
        </p:txBody>
      </p:sp>
      <p:sp>
        <p:nvSpPr>
          <p:cNvPr id="863" name="Text 23">
            <a:extLst>
              <a:ext uri="{FF2B5EF4-FFF2-40B4-BE49-F238E27FC236}">
                <a16:creationId xmlns:a16="http://schemas.microsoft.com/office/drawing/2014/main" id="{A225BBCB-50B4-44E1-6396-07C1D705976B}"/>
              </a:ext>
            </a:extLst>
          </p:cNvPr>
          <p:cNvSpPr/>
          <p:nvPr/>
        </p:nvSpPr>
        <p:spPr>
          <a:xfrm>
            <a:off x="7815402" y="5872787"/>
            <a:ext cx="1323419" cy="158113"/>
          </a:xfrm>
          <a:prstGeom prst="rect">
            <a:avLst/>
          </a:prstGeom>
          <a:noFill/>
          <a:ln/>
        </p:spPr>
        <p:txBody>
          <a:bodyPr wrap="square" lIns="254" tIns="254" rIns="254" bIns="254" rtlCol="0" anchor="t">
            <a:noAutofit/>
          </a:bodyPr>
          <a:lstStyle/>
          <a:p>
            <a:r>
              <a:rPr lang="en-US" altLang="zh-TW" sz="600" b="1" dirty="0">
                <a:solidFill>
                  <a:srgbClr val="1F2937"/>
                </a:solidFill>
                <a:latin typeface="Microsoft JhengHei" pitchFamily="34" charset="0"/>
                <a:ea typeface="Microsoft JhengHei" pitchFamily="34" charset="-122"/>
                <a:cs typeface="Microsoft JhengHei" pitchFamily="34" charset="-120"/>
              </a:rPr>
              <a:t>SQL Planning</a:t>
            </a:r>
            <a:r>
              <a:rPr lang="zh-TW" altLang="en-US" sz="600" b="1" dirty="0">
                <a:solidFill>
                  <a:srgbClr val="1F2937"/>
                </a:solidFill>
                <a:latin typeface="Microsoft JhengHei" pitchFamily="34" charset="0"/>
                <a:ea typeface="Microsoft JhengHei" pitchFamily="34" charset="-122"/>
                <a:cs typeface="Microsoft JhengHei" pitchFamily="34" charset="-120"/>
              </a:rPr>
              <a:t>（</a:t>
            </a:r>
            <a:r>
              <a:rPr lang="en-US" altLang="zh-TW" sz="600" b="1" dirty="0">
                <a:solidFill>
                  <a:srgbClr val="1F2937"/>
                </a:solidFill>
                <a:latin typeface="Microsoft JhengHei" pitchFamily="34" charset="0"/>
                <a:ea typeface="Microsoft JhengHei" pitchFamily="34" charset="-122"/>
                <a:cs typeface="Microsoft JhengHei" pitchFamily="34" charset="-120"/>
              </a:rPr>
              <a:t>Executable SQL)</a:t>
            </a:r>
            <a:endParaRPr lang="zh-TW" altLang="en-US" sz="600" b="1" dirty="0">
              <a:solidFill>
                <a:srgbClr val="1F2937"/>
              </a:solidFill>
              <a:latin typeface="Microsoft JhengHei" pitchFamily="34" charset="0"/>
              <a:ea typeface="Microsoft JhengHei" pitchFamily="34" charset="-122"/>
              <a:cs typeface="Microsoft JhengHei" pitchFamily="34" charset="-120"/>
            </a:endParaRPr>
          </a:p>
        </p:txBody>
      </p:sp>
      <p:pic>
        <p:nvPicPr>
          <p:cNvPr id="865" name="圖片 864">
            <a:extLst>
              <a:ext uri="{FF2B5EF4-FFF2-40B4-BE49-F238E27FC236}">
                <a16:creationId xmlns:a16="http://schemas.microsoft.com/office/drawing/2014/main" id="{9063CD28-E2AE-683C-6448-E620C74B65A0}"/>
              </a:ext>
            </a:extLst>
          </p:cNvPr>
          <p:cNvPicPr>
            <a:picLocks noChangeAspect="1"/>
          </p:cNvPicPr>
          <p:nvPr/>
        </p:nvPicPr>
        <p:blipFill>
          <a:blip r:embed="rId3"/>
          <a:srcRect t="493" r="10080" b="44734"/>
          <a:stretch>
            <a:fillRect/>
          </a:stretch>
        </p:blipFill>
        <p:spPr>
          <a:xfrm>
            <a:off x="7789304" y="6017081"/>
            <a:ext cx="1548612" cy="418688"/>
          </a:xfrm>
          <a:prstGeom prst="rect">
            <a:avLst/>
          </a:prstGeom>
        </p:spPr>
      </p:pic>
      <p:sp>
        <p:nvSpPr>
          <p:cNvPr id="867" name="Shape 21">
            <a:extLst>
              <a:ext uri="{FF2B5EF4-FFF2-40B4-BE49-F238E27FC236}">
                <a16:creationId xmlns:a16="http://schemas.microsoft.com/office/drawing/2014/main" id="{8BD0031E-D7F6-0421-3C02-E45307BE5CB6}"/>
              </a:ext>
            </a:extLst>
          </p:cNvPr>
          <p:cNvSpPr/>
          <p:nvPr/>
        </p:nvSpPr>
        <p:spPr>
          <a:xfrm>
            <a:off x="5216314" y="3913692"/>
            <a:ext cx="180000" cy="180000"/>
          </a:xfrm>
          <a:prstGeom prst="ellipse">
            <a:avLst/>
          </a:prstGeom>
          <a:solidFill>
            <a:srgbClr val="10B981"/>
          </a:solidFill>
          <a:ln w="12700">
            <a:solidFill>
              <a:srgbClr val="F59E0B">
                <a:alpha val="0"/>
              </a:srgbClr>
            </a:solidFill>
            <a:prstDash val="solid"/>
          </a:ln>
        </p:spPr>
        <p:txBody>
          <a:bodyPr/>
          <a:lstStyle/>
          <a:p>
            <a:endParaRPr lang="zh-TW" altLang="en-US" dirty="0"/>
          </a:p>
        </p:txBody>
      </p:sp>
      <p:sp>
        <p:nvSpPr>
          <p:cNvPr id="869" name="Text 22">
            <a:extLst>
              <a:ext uri="{FF2B5EF4-FFF2-40B4-BE49-F238E27FC236}">
                <a16:creationId xmlns:a16="http://schemas.microsoft.com/office/drawing/2014/main" id="{86670F20-C0BE-E7EA-1D39-68FCADBC34CF}"/>
              </a:ext>
            </a:extLst>
          </p:cNvPr>
          <p:cNvSpPr/>
          <p:nvPr/>
        </p:nvSpPr>
        <p:spPr>
          <a:xfrm>
            <a:off x="5202039" y="3907680"/>
            <a:ext cx="219456" cy="192024"/>
          </a:xfrm>
          <a:prstGeom prst="rect">
            <a:avLst/>
          </a:prstGeom>
          <a:noFill/>
          <a:ln/>
        </p:spPr>
        <p:txBody>
          <a:bodyPr wrap="square" lIns="0" tIns="0" rIns="0" bIns="0" rtlCol="0" anchor="ctr">
            <a:normAutofit/>
          </a:bodyPr>
          <a:lstStyle/>
          <a:p>
            <a:pPr marL="0" indent="0" algn="ctr">
              <a:buNone/>
            </a:pPr>
            <a:r>
              <a:rPr lang="en-US" sz="560" b="1" dirty="0">
                <a:solidFill>
                  <a:srgbClr val="FFFFFF"/>
                </a:solidFill>
                <a:latin typeface="Microsoft JhengHei" pitchFamily="34" charset="0"/>
                <a:ea typeface="Microsoft JhengHei" pitchFamily="34" charset="-122"/>
                <a:cs typeface="Microsoft JhengHei" pitchFamily="34" charset="-120"/>
              </a:rPr>
              <a:t>1</a:t>
            </a:r>
            <a:endParaRPr lang="en-US" sz="560" dirty="0"/>
          </a:p>
        </p:txBody>
      </p:sp>
      <p:sp>
        <p:nvSpPr>
          <p:cNvPr id="871" name="Shape 25">
            <a:extLst>
              <a:ext uri="{FF2B5EF4-FFF2-40B4-BE49-F238E27FC236}">
                <a16:creationId xmlns:a16="http://schemas.microsoft.com/office/drawing/2014/main" id="{72FA6273-7186-633C-08BD-CA69D3A1BC24}"/>
              </a:ext>
            </a:extLst>
          </p:cNvPr>
          <p:cNvSpPr/>
          <p:nvPr/>
        </p:nvSpPr>
        <p:spPr>
          <a:xfrm>
            <a:off x="5216314" y="5274433"/>
            <a:ext cx="180000" cy="180000"/>
          </a:xfrm>
          <a:prstGeom prst="ellipse">
            <a:avLst/>
          </a:prstGeom>
          <a:solidFill>
            <a:srgbClr val="10B981"/>
          </a:solidFill>
          <a:ln w="12700">
            <a:solidFill>
              <a:srgbClr val="F59E0B">
                <a:alpha val="0"/>
              </a:srgbClr>
            </a:solidFill>
            <a:prstDash val="solid"/>
          </a:ln>
        </p:spPr>
        <p:txBody>
          <a:bodyPr/>
          <a:lstStyle/>
          <a:p>
            <a:endParaRPr lang="zh-TW" altLang="en-US"/>
          </a:p>
        </p:txBody>
      </p:sp>
      <p:sp>
        <p:nvSpPr>
          <p:cNvPr id="873" name="Text 26">
            <a:extLst>
              <a:ext uri="{FF2B5EF4-FFF2-40B4-BE49-F238E27FC236}">
                <a16:creationId xmlns:a16="http://schemas.microsoft.com/office/drawing/2014/main" id="{5F12A437-456C-3580-845D-A65E564A13D7}"/>
              </a:ext>
            </a:extLst>
          </p:cNvPr>
          <p:cNvSpPr/>
          <p:nvPr/>
        </p:nvSpPr>
        <p:spPr>
          <a:xfrm>
            <a:off x="5185874" y="5251581"/>
            <a:ext cx="256032" cy="228600"/>
          </a:xfrm>
          <a:prstGeom prst="rect">
            <a:avLst/>
          </a:prstGeom>
          <a:noFill/>
          <a:ln/>
        </p:spPr>
        <p:txBody>
          <a:bodyPr wrap="square" lIns="381" tIns="381" rIns="381" bIns="381" rtlCol="0" anchor="ctr">
            <a:normAutofit/>
          </a:bodyPr>
          <a:lstStyle/>
          <a:p>
            <a:pPr marL="0" indent="0" algn="ctr">
              <a:buNone/>
            </a:pPr>
            <a:r>
              <a:rPr lang="en-US" sz="650" b="1" dirty="0">
                <a:solidFill>
                  <a:srgbClr val="FFFFFF"/>
                </a:solidFill>
                <a:latin typeface="Microsoft JhengHei" pitchFamily="34" charset="0"/>
                <a:ea typeface="Microsoft JhengHei" pitchFamily="34" charset="-122"/>
                <a:cs typeface="Microsoft JhengHei" pitchFamily="34" charset="-120"/>
              </a:rPr>
              <a:t>2</a:t>
            </a:r>
            <a:endParaRPr lang="en-US" sz="650" dirty="0"/>
          </a:p>
        </p:txBody>
      </p:sp>
      <p:sp>
        <p:nvSpPr>
          <p:cNvPr id="875" name="Shape 25">
            <a:extLst>
              <a:ext uri="{FF2B5EF4-FFF2-40B4-BE49-F238E27FC236}">
                <a16:creationId xmlns:a16="http://schemas.microsoft.com/office/drawing/2014/main" id="{DE2E487F-B368-5521-547B-9482550EEC89}"/>
              </a:ext>
            </a:extLst>
          </p:cNvPr>
          <p:cNvSpPr/>
          <p:nvPr/>
        </p:nvSpPr>
        <p:spPr>
          <a:xfrm>
            <a:off x="7598625" y="4794340"/>
            <a:ext cx="180000" cy="180000"/>
          </a:xfrm>
          <a:prstGeom prst="ellipse">
            <a:avLst/>
          </a:prstGeom>
          <a:solidFill>
            <a:srgbClr val="2563EB"/>
          </a:solidFill>
          <a:ln w="12700">
            <a:solidFill>
              <a:srgbClr val="F59E0B">
                <a:alpha val="0"/>
              </a:srgbClr>
            </a:solidFill>
            <a:prstDash val="solid"/>
          </a:ln>
        </p:spPr>
        <p:txBody>
          <a:bodyPr/>
          <a:lstStyle/>
          <a:p>
            <a:endParaRPr lang="zh-TW" altLang="en-US"/>
          </a:p>
        </p:txBody>
      </p:sp>
      <p:sp>
        <p:nvSpPr>
          <p:cNvPr id="877" name="Text 26">
            <a:extLst>
              <a:ext uri="{FF2B5EF4-FFF2-40B4-BE49-F238E27FC236}">
                <a16:creationId xmlns:a16="http://schemas.microsoft.com/office/drawing/2014/main" id="{36B8BB1A-DF39-017E-CF5B-57DEC7F0B832}"/>
              </a:ext>
            </a:extLst>
          </p:cNvPr>
          <p:cNvSpPr/>
          <p:nvPr/>
        </p:nvSpPr>
        <p:spPr>
          <a:xfrm>
            <a:off x="7565413" y="4775723"/>
            <a:ext cx="256032" cy="228600"/>
          </a:xfrm>
          <a:prstGeom prst="rect">
            <a:avLst/>
          </a:prstGeom>
          <a:noFill/>
          <a:ln/>
        </p:spPr>
        <p:txBody>
          <a:bodyPr wrap="square" lIns="381" tIns="381" rIns="381" bIns="381" rtlCol="0" anchor="ctr">
            <a:normAutofit/>
          </a:bodyPr>
          <a:lstStyle/>
          <a:p>
            <a:pPr marL="0" indent="0" algn="ctr">
              <a:buNone/>
            </a:pPr>
            <a:r>
              <a:rPr lang="en-US" sz="650" b="1" dirty="0">
                <a:solidFill>
                  <a:srgbClr val="FFFFFF"/>
                </a:solidFill>
                <a:latin typeface="Microsoft JhengHei" pitchFamily="34" charset="0"/>
                <a:ea typeface="Microsoft JhengHei" pitchFamily="34" charset="-122"/>
                <a:cs typeface="Microsoft JhengHei" pitchFamily="34" charset="-120"/>
              </a:rPr>
              <a:t>2</a:t>
            </a:r>
            <a:endParaRPr lang="en-US" sz="650" dirty="0"/>
          </a:p>
        </p:txBody>
      </p:sp>
      <p:sp>
        <p:nvSpPr>
          <p:cNvPr id="879" name="Shape 29">
            <a:extLst>
              <a:ext uri="{FF2B5EF4-FFF2-40B4-BE49-F238E27FC236}">
                <a16:creationId xmlns:a16="http://schemas.microsoft.com/office/drawing/2014/main" id="{7DB3F757-ACE6-7E22-390E-74C09049DAD5}"/>
              </a:ext>
            </a:extLst>
          </p:cNvPr>
          <p:cNvSpPr/>
          <p:nvPr/>
        </p:nvSpPr>
        <p:spPr>
          <a:xfrm>
            <a:off x="7602232" y="5837081"/>
            <a:ext cx="180000" cy="180000"/>
          </a:xfrm>
          <a:prstGeom prst="ellipse">
            <a:avLst/>
          </a:prstGeom>
          <a:solidFill>
            <a:srgbClr val="2563EB"/>
          </a:solidFill>
          <a:ln w="12700">
            <a:solidFill>
              <a:srgbClr val="F59E0B">
                <a:alpha val="0"/>
              </a:srgbClr>
            </a:solidFill>
            <a:prstDash val="solid"/>
          </a:ln>
        </p:spPr>
        <p:txBody>
          <a:bodyPr/>
          <a:lstStyle/>
          <a:p>
            <a:endParaRPr lang="zh-TW" altLang="en-US"/>
          </a:p>
        </p:txBody>
      </p:sp>
      <p:sp>
        <p:nvSpPr>
          <p:cNvPr id="881" name="Text 30">
            <a:extLst>
              <a:ext uri="{FF2B5EF4-FFF2-40B4-BE49-F238E27FC236}">
                <a16:creationId xmlns:a16="http://schemas.microsoft.com/office/drawing/2014/main" id="{62213975-205D-A5E7-B483-B67CDEBA5035}"/>
              </a:ext>
            </a:extLst>
          </p:cNvPr>
          <p:cNvSpPr/>
          <p:nvPr/>
        </p:nvSpPr>
        <p:spPr>
          <a:xfrm>
            <a:off x="7588874" y="5825057"/>
            <a:ext cx="219456" cy="192024"/>
          </a:xfrm>
          <a:prstGeom prst="rect">
            <a:avLst/>
          </a:prstGeom>
          <a:noFill/>
          <a:ln/>
        </p:spPr>
        <p:txBody>
          <a:bodyPr wrap="square" lIns="0" tIns="0" rIns="0" bIns="0" rtlCol="0" anchor="ctr">
            <a:normAutofit/>
          </a:bodyPr>
          <a:lstStyle/>
          <a:p>
            <a:pPr marL="0" indent="0" algn="ctr">
              <a:buNone/>
            </a:pPr>
            <a:r>
              <a:rPr lang="en-US" sz="560" b="1" dirty="0">
                <a:solidFill>
                  <a:srgbClr val="FFFFFF"/>
                </a:solidFill>
                <a:latin typeface="Microsoft JhengHei" pitchFamily="34" charset="0"/>
                <a:ea typeface="Microsoft JhengHei" pitchFamily="34" charset="-122"/>
                <a:cs typeface="Microsoft JhengHei" pitchFamily="34" charset="-120"/>
              </a:rPr>
              <a:t>3</a:t>
            </a:r>
            <a:endParaRPr lang="en-US" sz="560" dirty="0"/>
          </a:p>
        </p:txBody>
      </p:sp>
      <p:sp>
        <p:nvSpPr>
          <p:cNvPr id="883" name="Shape 21">
            <a:extLst>
              <a:ext uri="{FF2B5EF4-FFF2-40B4-BE49-F238E27FC236}">
                <a16:creationId xmlns:a16="http://schemas.microsoft.com/office/drawing/2014/main" id="{CD236AF8-C9DF-68A1-7D50-5D814C8EDE3B}"/>
              </a:ext>
            </a:extLst>
          </p:cNvPr>
          <p:cNvSpPr/>
          <p:nvPr/>
        </p:nvSpPr>
        <p:spPr>
          <a:xfrm>
            <a:off x="7595544" y="3922128"/>
            <a:ext cx="180000" cy="180000"/>
          </a:xfrm>
          <a:prstGeom prst="ellipse">
            <a:avLst/>
          </a:prstGeom>
          <a:solidFill>
            <a:srgbClr val="2563EB"/>
          </a:solidFill>
          <a:ln w="12700">
            <a:solidFill>
              <a:srgbClr val="F59E0B">
                <a:alpha val="0"/>
              </a:srgbClr>
            </a:solidFill>
            <a:prstDash val="solid"/>
          </a:ln>
        </p:spPr>
        <p:txBody>
          <a:bodyPr/>
          <a:lstStyle/>
          <a:p>
            <a:endParaRPr lang="zh-TW" altLang="en-US"/>
          </a:p>
        </p:txBody>
      </p:sp>
      <p:sp>
        <p:nvSpPr>
          <p:cNvPr id="885" name="Text 22">
            <a:extLst>
              <a:ext uri="{FF2B5EF4-FFF2-40B4-BE49-F238E27FC236}">
                <a16:creationId xmlns:a16="http://schemas.microsoft.com/office/drawing/2014/main" id="{78D0CB63-2EDA-B83C-6A73-743BB404067C}"/>
              </a:ext>
            </a:extLst>
          </p:cNvPr>
          <p:cNvSpPr/>
          <p:nvPr/>
        </p:nvSpPr>
        <p:spPr>
          <a:xfrm>
            <a:off x="7579932" y="3914694"/>
            <a:ext cx="219456" cy="192024"/>
          </a:xfrm>
          <a:prstGeom prst="rect">
            <a:avLst/>
          </a:prstGeom>
          <a:noFill/>
          <a:ln/>
        </p:spPr>
        <p:txBody>
          <a:bodyPr wrap="square" lIns="0" tIns="0" rIns="0" bIns="0" rtlCol="0" anchor="ctr">
            <a:normAutofit/>
          </a:bodyPr>
          <a:lstStyle/>
          <a:p>
            <a:pPr marL="0" indent="0" algn="ctr">
              <a:buNone/>
            </a:pPr>
            <a:r>
              <a:rPr lang="en-US" sz="560" b="1" dirty="0">
                <a:solidFill>
                  <a:srgbClr val="FFFFFF"/>
                </a:solidFill>
                <a:latin typeface="Microsoft JhengHei" pitchFamily="34" charset="0"/>
                <a:ea typeface="Microsoft JhengHei" pitchFamily="34" charset="-122"/>
                <a:cs typeface="Microsoft JhengHei" pitchFamily="34" charset="-120"/>
              </a:rPr>
              <a:t>1</a:t>
            </a:r>
            <a:endParaRPr lang="en-US" sz="560" dirty="0"/>
          </a:p>
        </p:txBody>
      </p:sp>
      <p:sp>
        <p:nvSpPr>
          <p:cNvPr id="896" name="Shape 14">
            <a:extLst>
              <a:ext uri="{FF2B5EF4-FFF2-40B4-BE49-F238E27FC236}">
                <a16:creationId xmlns:a16="http://schemas.microsoft.com/office/drawing/2014/main" id="{2DE6A433-C31B-8961-91DF-385CCC7DB25B}"/>
              </a:ext>
            </a:extLst>
          </p:cNvPr>
          <p:cNvSpPr/>
          <p:nvPr/>
        </p:nvSpPr>
        <p:spPr>
          <a:xfrm>
            <a:off x="9932210" y="3639721"/>
            <a:ext cx="2196000" cy="2721600"/>
          </a:xfrm>
          <a:prstGeom prst="roundRect">
            <a:avLst>
              <a:gd name="adj" fmla="val 5350"/>
            </a:avLst>
          </a:prstGeom>
          <a:solidFill>
            <a:srgbClr val="F7F0FF"/>
          </a:solidFill>
          <a:ln w="12700">
            <a:solidFill>
              <a:srgbClr val="F7F0FF"/>
            </a:solidFill>
            <a:prstDash val="solid"/>
          </a:ln>
        </p:spPr>
        <p:txBody>
          <a:bodyPr/>
          <a:lstStyle/>
          <a:p>
            <a:endParaRPr lang="zh-TW" altLang="en-US"/>
          </a:p>
        </p:txBody>
      </p:sp>
      <p:sp>
        <p:nvSpPr>
          <p:cNvPr id="898" name="Shape 111">
            <a:extLst>
              <a:ext uri="{FF2B5EF4-FFF2-40B4-BE49-F238E27FC236}">
                <a16:creationId xmlns:a16="http://schemas.microsoft.com/office/drawing/2014/main" id="{1E79497C-6C58-A4DE-8985-9F54EE047FC4}"/>
              </a:ext>
            </a:extLst>
          </p:cNvPr>
          <p:cNvSpPr/>
          <p:nvPr/>
        </p:nvSpPr>
        <p:spPr>
          <a:xfrm>
            <a:off x="9958125" y="3664279"/>
            <a:ext cx="2196000" cy="210698"/>
          </a:xfrm>
          <a:prstGeom prst="roundRect">
            <a:avLst>
              <a:gd name="adj" fmla="val 32143"/>
            </a:avLst>
          </a:prstGeom>
          <a:solidFill>
            <a:srgbClr val="8B5CF6"/>
          </a:solidFill>
          <a:ln w="12700">
            <a:solidFill>
              <a:srgbClr val="8B5CF6">
                <a:alpha val="0"/>
              </a:srgbClr>
            </a:solidFill>
            <a:prstDash val="solid"/>
          </a:ln>
        </p:spPr>
        <p:txBody>
          <a:bodyPr/>
          <a:lstStyle/>
          <a:p>
            <a:endParaRPr lang="zh-TW" altLang="en-US" dirty="0"/>
          </a:p>
        </p:txBody>
      </p:sp>
      <p:sp>
        <p:nvSpPr>
          <p:cNvPr id="900" name="Shape 113">
            <a:extLst>
              <a:ext uri="{FF2B5EF4-FFF2-40B4-BE49-F238E27FC236}">
                <a16:creationId xmlns:a16="http://schemas.microsoft.com/office/drawing/2014/main" id="{A1412ABE-1B0B-CC72-4585-D50C52E42EFB}"/>
              </a:ext>
            </a:extLst>
          </p:cNvPr>
          <p:cNvSpPr/>
          <p:nvPr/>
        </p:nvSpPr>
        <p:spPr>
          <a:xfrm>
            <a:off x="9933399" y="3924137"/>
            <a:ext cx="2196000" cy="603504"/>
          </a:xfrm>
          <a:prstGeom prst="roundRect">
            <a:avLst>
              <a:gd name="adj" fmla="val 9091"/>
            </a:avLst>
          </a:prstGeom>
          <a:solidFill>
            <a:srgbClr val="FFFFFF"/>
          </a:solidFill>
          <a:ln w="8890">
            <a:solidFill>
              <a:srgbClr val="D7E3F3"/>
            </a:solidFill>
            <a:prstDash val="solid"/>
          </a:ln>
        </p:spPr>
        <p:txBody>
          <a:bodyPr/>
          <a:lstStyle/>
          <a:p>
            <a:endParaRPr lang="zh-TW" altLang="en-US"/>
          </a:p>
        </p:txBody>
      </p:sp>
      <p:sp>
        <p:nvSpPr>
          <p:cNvPr id="902" name="Text 116">
            <a:extLst>
              <a:ext uri="{FF2B5EF4-FFF2-40B4-BE49-F238E27FC236}">
                <a16:creationId xmlns:a16="http://schemas.microsoft.com/office/drawing/2014/main" id="{66C479F1-E5EE-0255-708B-400401945BCD}"/>
              </a:ext>
            </a:extLst>
          </p:cNvPr>
          <p:cNvSpPr/>
          <p:nvPr/>
        </p:nvSpPr>
        <p:spPr>
          <a:xfrm>
            <a:off x="10071386" y="4175790"/>
            <a:ext cx="1819656" cy="466344"/>
          </a:xfrm>
          <a:prstGeom prst="rect">
            <a:avLst/>
          </a:prstGeom>
          <a:noFill/>
          <a:ln/>
        </p:spPr>
        <p:txBody>
          <a:bodyPr wrap="square" lIns="254" tIns="254" rIns="254" bIns="254" rtlCol="0" anchor="t">
            <a:normAutofit/>
          </a:bodyPr>
          <a:lstStyle/>
          <a:p>
            <a:pPr marL="0" indent="0" algn="l">
              <a:buNone/>
            </a:pPr>
            <a:r>
              <a:rPr lang="en-US" sz="600" dirty="0" err="1">
                <a:solidFill>
                  <a:srgbClr val="1F2937"/>
                </a:solidFill>
                <a:latin typeface="Microsoft JhengHei" pitchFamily="34" charset="0"/>
                <a:ea typeface="Microsoft JhengHei" pitchFamily="34" charset="-122"/>
                <a:cs typeface="Microsoft JhengHei" pitchFamily="34" charset="-120"/>
              </a:rPr>
              <a:t>列出</a:t>
            </a:r>
            <a:r>
              <a:rPr lang="en-US" sz="600" dirty="0">
                <a:solidFill>
                  <a:srgbClr val="1F2937"/>
                </a:solidFill>
                <a:latin typeface="Microsoft JhengHei" pitchFamily="34" charset="0"/>
                <a:ea typeface="Microsoft JhengHei" pitchFamily="34" charset="-122"/>
                <a:cs typeface="Microsoft JhengHei" pitchFamily="34" charset="-120"/>
              </a:rPr>
              <a:t> 2026 H1 平均核貸額、2025 H1 平均核貸額、差額與 YoY 成長率</a:t>
            </a:r>
            <a:endParaRPr lang="en-US" sz="600" dirty="0"/>
          </a:p>
        </p:txBody>
      </p:sp>
      <p:sp>
        <p:nvSpPr>
          <p:cNvPr id="904" name="Text 23">
            <a:extLst>
              <a:ext uri="{FF2B5EF4-FFF2-40B4-BE49-F238E27FC236}">
                <a16:creationId xmlns:a16="http://schemas.microsoft.com/office/drawing/2014/main" id="{ED9A118F-013D-4551-113D-FEB5DAA0FEDA}"/>
              </a:ext>
            </a:extLst>
          </p:cNvPr>
          <p:cNvSpPr/>
          <p:nvPr/>
        </p:nvSpPr>
        <p:spPr>
          <a:xfrm>
            <a:off x="10225926" y="3972569"/>
            <a:ext cx="816252" cy="158113"/>
          </a:xfrm>
          <a:prstGeom prst="rect">
            <a:avLst/>
          </a:prstGeom>
          <a:noFill/>
          <a:ln/>
        </p:spPr>
        <p:txBody>
          <a:bodyPr wrap="square" lIns="254" tIns="254" rIns="254" bIns="254" rtlCol="0" anchor="t">
            <a:noAutofit/>
          </a:bodyPr>
          <a:lstStyle/>
          <a:p>
            <a:r>
              <a:rPr lang="en-US" altLang="zh-TW" sz="700" b="1" dirty="0" err="1">
                <a:solidFill>
                  <a:srgbClr val="1F2937"/>
                </a:solidFill>
                <a:latin typeface="Microsoft JhengHei" pitchFamily="34" charset="0"/>
                <a:ea typeface="Microsoft JhengHei" pitchFamily="34" charset="-122"/>
                <a:cs typeface="Microsoft JhengHei" pitchFamily="34" charset="-120"/>
              </a:rPr>
              <a:t>解釋結果</a:t>
            </a:r>
            <a:endParaRPr lang="en-US" altLang="zh-TW" sz="600" b="1" dirty="0">
              <a:solidFill>
                <a:srgbClr val="1F2937"/>
              </a:solidFill>
              <a:latin typeface="Microsoft JhengHei" pitchFamily="34" charset="0"/>
              <a:ea typeface="Microsoft JhengHei" pitchFamily="34" charset="-122"/>
              <a:cs typeface="Microsoft JhengHei" pitchFamily="34" charset="-120"/>
            </a:endParaRPr>
          </a:p>
        </p:txBody>
      </p:sp>
      <p:sp>
        <p:nvSpPr>
          <p:cNvPr id="906" name="Text 4">
            <a:extLst>
              <a:ext uri="{FF2B5EF4-FFF2-40B4-BE49-F238E27FC236}">
                <a16:creationId xmlns:a16="http://schemas.microsoft.com/office/drawing/2014/main" id="{B16916F5-15A4-E1E9-0B0D-80D841B712AF}"/>
              </a:ext>
            </a:extLst>
          </p:cNvPr>
          <p:cNvSpPr/>
          <p:nvPr/>
        </p:nvSpPr>
        <p:spPr>
          <a:xfrm>
            <a:off x="10562354" y="3664279"/>
            <a:ext cx="2468880" cy="246888"/>
          </a:xfrm>
          <a:prstGeom prst="rect">
            <a:avLst/>
          </a:prstGeom>
          <a:noFill/>
          <a:ln/>
        </p:spPr>
        <p:txBody>
          <a:bodyPr wrap="square" lIns="381" tIns="381" rIns="381" bIns="381" rtlCol="0" anchor="ctr">
            <a:normAutofit/>
          </a:bodyPr>
          <a:lstStyle/>
          <a:p>
            <a:pPr marL="0" indent="0" algn="l">
              <a:buNone/>
            </a:pPr>
            <a:r>
              <a:rPr lang="zh-TW" altLang="en-US" sz="1400" b="1" dirty="0">
                <a:solidFill>
                  <a:srgbClr val="FFFFFF"/>
                </a:solidFill>
                <a:latin typeface="Microsoft JhengHei" pitchFamily="34" charset="0"/>
                <a:ea typeface="Microsoft JhengHei" pitchFamily="34" charset="-122"/>
              </a:rPr>
              <a:t>對照案例</a:t>
            </a:r>
            <a:endParaRPr lang="en-US" sz="1400" dirty="0"/>
          </a:p>
        </p:txBody>
      </p:sp>
      <p:sp>
        <p:nvSpPr>
          <p:cNvPr id="908" name="Shape 21">
            <a:extLst>
              <a:ext uri="{FF2B5EF4-FFF2-40B4-BE49-F238E27FC236}">
                <a16:creationId xmlns:a16="http://schemas.microsoft.com/office/drawing/2014/main" id="{C006EB51-A0C1-7635-2B17-A1D58567D23A}"/>
              </a:ext>
            </a:extLst>
          </p:cNvPr>
          <p:cNvSpPr/>
          <p:nvPr/>
        </p:nvSpPr>
        <p:spPr>
          <a:xfrm>
            <a:off x="9987624" y="3951534"/>
            <a:ext cx="180000" cy="180000"/>
          </a:xfrm>
          <a:prstGeom prst="ellipse">
            <a:avLst/>
          </a:prstGeom>
          <a:solidFill>
            <a:srgbClr val="8B5CF6"/>
          </a:solidFill>
          <a:ln w="12700">
            <a:solidFill>
              <a:srgbClr val="F59E0B">
                <a:alpha val="0"/>
              </a:srgbClr>
            </a:solidFill>
            <a:prstDash val="solid"/>
          </a:ln>
        </p:spPr>
        <p:txBody>
          <a:bodyPr/>
          <a:lstStyle/>
          <a:p>
            <a:endParaRPr lang="zh-TW" altLang="en-US"/>
          </a:p>
        </p:txBody>
      </p:sp>
      <p:sp>
        <p:nvSpPr>
          <p:cNvPr id="910" name="Text 22">
            <a:extLst>
              <a:ext uri="{FF2B5EF4-FFF2-40B4-BE49-F238E27FC236}">
                <a16:creationId xmlns:a16="http://schemas.microsoft.com/office/drawing/2014/main" id="{2AA1FF43-462D-54E8-4543-1869AF4AB7B6}"/>
              </a:ext>
            </a:extLst>
          </p:cNvPr>
          <p:cNvSpPr/>
          <p:nvPr/>
        </p:nvSpPr>
        <p:spPr>
          <a:xfrm>
            <a:off x="9968847" y="3940916"/>
            <a:ext cx="219456" cy="192024"/>
          </a:xfrm>
          <a:prstGeom prst="rect">
            <a:avLst/>
          </a:prstGeom>
          <a:noFill/>
          <a:ln/>
        </p:spPr>
        <p:txBody>
          <a:bodyPr wrap="square" lIns="0" tIns="0" rIns="0" bIns="0" rtlCol="0" anchor="ctr">
            <a:normAutofit/>
          </a:bodyPr>
          <a:lstStyle/>
          <a:p>
            <a:pPr marL="0" indent="0" algn="ctr">
              <a:buNone/>
            </a:pPr>
            <a:r>
              <a:rPr lang="en-US" sz="560" b="1" dirty="0">
                <a:solidFill>
                  <a:srgbClr val="FFFFFF"/>
                </a:solidFill>
                <a:latin typeface="Microsoft JhengHei" pitchFamily="34" charset="0"/>
                <a:ea typeface="Microsoft JhengHei" pitchFamily="34" charset="-122"/>
                <a:cs typeface="Microsoft JhengHei" pitchFamily="34" charset="-120"/>
              </a:rPr>
              <a:t>1</a:t>
            </a:r>
            <a:endParaRPr lang="en-US" sz="560" dirty="0"/>
          </a:p>
        </p:txBody>
      </p:sp>
      <p:sp>
        <p:nvSpPr>
          <p:cNvPr id="913" name="Shape 113">
            <a:extLst>
              <a:ext uri="{FF2B5EF4-FFF2-40B4-BE49-F238E27FC236}">
                <a16:creationId xmlns:a16="http://schemas.microsoft.com/office/drawing/2014/main" id="{FA4F3011-51A5-50B9-5965-D59BFB3F4C3C}"/>
              </a:ext>
            </a:extLst>
          </p:cNvPr>
          <p:cNvSpPr/>
          <p:nvPr/>
        </p:nvSpPr>
        <p:spPr>
          <a:xfrm>
            <a:off x="9940471" y="4683176"/>
            <a:ext cx="2196000" cy="603504"/>
          </a:xfrm>
          <a:prstGeom prst="roundRect">
            <a:avLst>
              <a:gd name="adj" fmla="val 9091"/>
            </a:avLst>
          </a:prstGeom>
          <a:solidFill>
            <a:srgbClr val="FFFFFF"/>
          </a:solidFill>
          <a:ln w="8890">
            <a:solidFill>
              <a:srgbClr val="D7E3F3"/>
            </a:solidFill>
            <a:prstDash val="solid"/>
          </a:ln>
        </p:spPr>
        <p:txBody>
          <a:bodyPr/>
          <a:lstStyle/>
          <a:p>
            <a:endParaRPr lang="zh-TW" altLang="en-US"/>
          </a:p>
        </p:txBody>
      </p:sp>
      <p:sp>
        <p:nvSpPr>
          <p:cNvPr id="915" name="Text 23">
            <a:extLst>
              <a:ext uri="{FF2B5EF4-FFF2-40B4-BE49-F238E27FC236}">
                <a16:creationId xmlns:a16="http://schemas.microsoft.com/office/drawing/2014/main" id="{B66BB0AF-9CF3-A8C0-72E5-CABC622DD491}"/>
              </a:ext>
            </a:extLst>
          </p:cNvPr>
          <p:cNvSpPr/>
          <p:nvPr/>
        </p:nvSpPr>
        <p:spPr>
          <a:xfrm>
            <a:off x="10252596" y="4759018"/>
            <a:ext cx="1196486" cy="158113"/>
          </a:xfrm>
          <a:prstGeom prst="rect">
            <a:avLst/>
          </a:prstGeom>
          <a:noFill/>
          <a:ln/>
        </p:spPr>
        <p:txBody>
          <a:bodyPr wrap="square" lIns="254" tIns="254" rIns="254" bIns="254" rtlCol="0" anchor="t">
            <a:noAutofit/>
          </a:bodyPr>
          <a:lstStyle/>
          <a:p>
            <a:r>
              <a:rPr lang="zh-TW" altLang="en-US" sz="700" b="1" dirty="0">
                <a:solidFill>
                  <a:srgbClr val="1F2937"/>
                </a:solidFill>
                <a:latin typeface="Microsoft JhengHei" pitchFamily="34" charset="0"/>
                <a:ea typeface="Microsoft JhengHei" pitchFamily="34" charset="-122"/>
                <a:cs typeface="Microsoft JhengHei" pitchFamily="34" charset="-120"/>
              </a:rPr>
              <a:t>最後用自然語言回答使用者</a:t>
            </a:r>
            <a:endParaRPr lang="en-US" altLang="zh-TW" sz="600" b="1" dirty="0">
              <a:solidFill>
                <a:srgbClr val="1F2937"/>
              </a:solidFill>
              <a:latin typeface="Microsoft JhengHei" pitchFamily="34" charset="0"/>
              <a:ea typeface="Microsoft JhengHei" pitchFamily="34" charset="-122"/>
              <a:cs typeface="Microsoft JhengHei" pitchFamily="34" charset="-120"/>
            </a:endParaRPr>
          </a:p>
        </p:txBody>
      </p:sp>
      <p:sp>
        <p:nvSpPr>
          <p:cNvPr id="919" name="Text 22">
            <a:extLst>
              <a:ext uri="{FF2B5EF4-FFF2-40B4-BE49-F238E27FC236}">
                <a16:creationId xmlns:a16="http://schemas.microsoft.com/office/drawing/2014/main" id="{C5A2F8EC-2FBB-621E-C3F7-22E86045C98A}"/>
              </a:ext>
            </a:extLst>
          </p:cNvPr>
          <p:cNvSpPr/>
          <p:nvPr/>
        </p:nvSpPr>
        <p:spPr>
          <a:xfrm>
            <a:off x="9979134" y="4724598"/>
            <a:ext cx="219456" cy="192024"/>
          </a:xfrm>
          <a:prstGeom prst="rect">
            <a:avLst/>
          </a:prstGeom>
          <a:noFill/>
          <a:ln/>
        </p:spPr>
        <p:txBody>
          <a:bodyPr wrap="square" lIns="0" tIns="0" rIns="0" bIns="0" rtlCol="0" anchor="ctr">
            <a:normAutofit/>
          </a:bodyPr>
          <a:lstStyle/>
          <a:p>
            <a:pPr marL="0" indent="0" algn="ctr">
              <a:buNone/>
            </a:pPr>
            <a:r>
              <a:rPr lang="en-US" sz="560" b="1" dirty="0">
                <a:solidFill>
                  <a:srgbClr val="FFFFFF"/>
                </a:solidFill>
                <a:latin typeface="Microsoft JhengHei" pitchFamily="34" charset="0"/>
                <a:ea typeface="Microsoft JhengHei" pitchFamily="34" charset="-122"/>
                <a:cs typeface="Microsoft JhengHei" pitchFamily="34" charset="-120"/>
              </a:rPr>
              <a:t>1</a:t>
            </a:r>
            <a:endParaRPr lang="en-US" sz="560" dirty="0"/>
          </a:p>
        </p:txBody>
      </p:sp>
      <p:sp>
        <p:nvSpPr>
          <p:cNvPr id="921" name="Text 116">
            <a:extLst>
              <a:ext uri="{FF2B5EF4-FFF2-40B4-BE49-F238E27FC236}">
                <a16:creationId xmlns:a16="http://schemas.microsoft.com/office/drawing/2014/main" id="{0FA4E4D2-B977-8B7A-046D-793C3BB8A262}"/>
              </a:ext>
            </a:extLst>
          </p:cNvPr>
          <p:cNvSpPr/>
          <p:nvPr/>
        </p:nvSpPr>
        <p:spPr>
          <a:xfrm>
            <a:off x="10123456" y="4949832"/>
            <a:ext cx="1819656" cy="466344"/>
          </a:xfrm>
          <a:prstGeom prst="rect">
            <a:avLst/>
          </a:prstGeom>
          <a:noFill/>
          <a:ln/>
        </p:spPr>
        <p:txBody>
          <a:bodyPr wrap="square" lIns="254" tIns="254" rIns="254" bIns="254" rtlCol="0" anchor="t">
            <a:normAutofit/>
          </a:bodyPr>
          <a:lstStyle/>
          <a:p>
            <a:pPr marL="0" indent="0" algn="l">
              <a:buNone/>
            </a:pPr>
            <a:r>
              <a:rPr lang="en-US" sz="600" dirty="0">
                <a:solidFill>
                  <a:srgbClr val="1F2937"/>
                </a:solidFill>
                <a:latin typeface="Microsoft JhengHei" pitchFamily="34" charset="0"/>
                <a:ea typeface="Microsoft JhengHei" pitchFamily="34" charset="-122"/>
              </a:rPr>
              <a:t>2026</a:t>
            </a:r>
            <a:r>
              <a:rPr lang="zh-TW" altLang="en-US" sz="600" dirty="0">
                <a:solidFill>
                  <a:srgbClr val="1F2937"/>
                </a:solidFill>
                <a:latin typeface="Microsoft JhengHei" pitchFamily="34" charset="0"/>
                <a:ea typeface="Microsoft JhengHei" pitchFamily="34" charset="-122"/>
              </a:rPr>
              <a:t>年上半年台北房貸平均被核貸金額約</a:t>
            </a:r>
            <a:r>
              <a:rPr lang="en-US" altLang="zh-TW" sz="600" dirty="0">
                <a:solidFill>
                  <a:srgbClr val="1F2937"/>
                </a:solidFill>
                <a:latin typeface="Microsoft JhengHei" pitchFamily="34" charset="0"/>
                <a:ea typeface="Microsoft JhengHei" pitchFamily="34" charset="-122"/>
              </a:rPr>
              <a:t>562</a:t>
            </a:r>
            <a:r>
              <a:rPr lang="zh-TW" altLang="en-US" sz="600" dirty="0">
                <a:solidFill>
                  <a:srgbClr val="1F2937"/>
                </a:solidFill>
                <a:latin typeface="Microsoft JhengHei" pitchFamily="34" charset="0"/>
                <a:ea typeface="Microsoft JhengHei" pitchFamily="34" charset="-122"/>
              </a:rPr>
              <a:t>萬元，較去年同期</a:t>
            </a:r>
            <a:r>
              <a:rPr lang="en-US" altLang="zh-TW" sz="600" dirty="0">
                <a:solidFill>
                  <a:srgbClr val="1F2937"/>
                </a:solidFill>
                <a:latin typeface="Microsoft JhengHei" pitchFamily="34" charset="0"/>
                <a:ea typeface="Microsoft JhengHei" pitchFamily="34" charset="-122"/>
              </a:rPr>
              <a:t>524</a:t>
            </a:r>
            <a:r>
              <a:rPr lang="zh-TW" altLang="en-US" sz="600" dirty="0">
                <a:solidFill>
                  <a:srgbClr val="1F2937"/>
                </a:solidFill>
                <a:latin typeface="Microsoft JhengHei" pitchFamily="34" charset="0"/>
                <a:ea typeface="Microsoft JhengHei" pitchFamily="34" charset="-122"/>
              </a:rPr>
              <a:t>萬增加越</a:t>
            </a:r>
            <a:r>
              <a:rPr lang="en-US" altLang="zh-TW" sz="600" dirty="0">
                <a:solidFill>
                  <a:srgbClr val="1F2937"/>
                </a:solidFill>
                <a:latin typeface="Microsoft JhengHei" pitchFamily="34" charset="0"/>
                <a:ea typeface="Microsoft JhengHei" pitchFamily="34" charset="-122"/>
              </a:rPr>
              <a:t>38</a:t>
            </a:r>
            <a:r>
              <a:rPr lang="zh-TW" altLang="en-US" sz="600" dirty="0">
                <a:solidFill>
                  <a:srgbClr val="1F2937"/>
                </a:solidFill>
                <a:latin typeface="Microsoft JhengHei" pitchFamily="34" charset="0"/>
                <a:ea typeface="Microsoft JhengHei" pitchFamily="34" charset="-122"/>
              </a:rPr>
              <a:t>萬，年增率約</a:t>
            </a:r>
            <a:r>
              <a:rPr lang="en-US" altLang="zh-TW" sz="600" dirty="0">
                <a:solidFill>
                  <a:srgbClr val="1F2937"/>
                </a:solidFill>
                <a:latin typeface="Microsoft JhengHei" pitchFamily="34" charset="0"/>
                <a:ea typeface="Microsoft JhengHei" pitchFamily="34" charset="-122"/>
              </a:rPr>
              <a:t>7.3%</a:t>
            </a:r>
            <a:endParaRPr lang="en-US" sz="600" dirty="0"/>
          </a:p>
        </p:txBody>
      </p:sp>
      <p:sp>
        <p:nvSpPr>
          <p:cNvPr id="923" name="Shape 118">
            <a:extLst>
              <a:ext uri="{FF2B5EF4-FFF2-40B4-BE49-F238E27FC236}">
                <a16:creationId xmlns:a16="http://schemas.microsoft.com/office/drawing/2014/main" id="{34D7AC9D-19FB-FEAC-5955-FB0A9953A8C4}"/>
              </a:ext>
            </a:extLst>
          </p:cNvPr>
          <p:cNvSpPr/>
          <p:nvPr/>
        </p:nvSpPr>
        <p:spPr>
          <a:xfrm>
            <a:off x="9998862" y="4713766"/>
            <a:ext cx="180000" cy="180000"/>
          </a:xfrm>
          <a:prstGeom prst="ellipse">
            <a:avLst/>
          </a:prstGeom>
          <a:solidFill>
            <a:srgbClr val="8B5CF6"/>
          </a:solidFill>
          <a:ln w="12700">
            <a:solidFill>
              <a:srgbClr val="8B5CF6">
                <a:alpha val="0"/>
              </a:srgbClr>
            </a:solidFill>
            <a:prstDash val="solid"/>
          </a:ln>
        </p:spPr>
        <p:txBody>
          <a:bodyPr/>
          <a:lstStyle/>
          <a:p>
            <a:endParaRPr lang="zh-TW" altLang="en-US"/>
          </a:p>
        </p:txBody>
      </p:sp>
      <p:sp>
        <p:nvSpPr>
          <p:cNvPr id="925" name="Text 119">
            <a:extLst>
              <a:ext uri="{FF2B5EF4-FFF2-40B4-BE49-F238E27FC236}">
                <a16:creationId xmlns:a16="http://schemas.microsoft.com/office/drawing/2014/main" id="{6AFBB63F-1494-F3DC-1AD3-E8CF729CD52F}"/>
              </a:ext>
            </a:extLst>
          </p:cNvPr>
          <p:cNvSpPr/>
          <p:nvPr/>
        </p:nvSpPr>
        <p:spPr>
          <a:xfrm>
            <a:off x="9965197" y="4689293"/>
            <a:ext cx="256032" cy="228600"/>
          </a:xfrm>
          <a:prstGeom prst="rect">
            <a:avLst/>
          </a:prstGeom>
          <a:noFill/>
          <a:ln/>
        </p:spPr>
        <p:txBody>
          <a:bodyPr wrap="square" lIns="381" tIns="381" rIns="381" bIns="381" rtlCol="0" anchor="ctr">
            <a:normAutofit/>
          </a:bodyPr>
          <a:lstStyle/>
          <a:p>
            <a:pPr marL="0" indent="0" algn="ctr">
              <a:buNone/>
            </a:pPr>
            <a:r>
              <a:rPr lang="en-US" sz="650" b="1" dirty="0">
                <a:solidFill>
                  <a:srgbClr val="FFFFFF"/>
                </a:solidFill>
                <a:latin typeface="Microsoft JhengHei" pitchFamily="34" charset="0"/>
                <a:ea typeface="Microsoft JhengHei" pitchFamily="34" charset="-122"/>
                <a:cs typeface="Microsoft JhengHei" pitchFamily="34" charset="-120"/>
              </a:rPr>
              <a:t>2</a:t>
            </a:r>
            <a:endParaRPr lang="en-US" sz="650" dirty="0"/>
          </a:p>
        </p:txBody>
      </p:sp>
      <p:sp>
        <p:nvSpPr>
          <p:cNvPr id="927" name="Shape 18">
            <a:extLst>
              <a:ext uri="{FF2B5EF4-FFF2-40B4-BE49-F238E27FC236}">
                <a16:creationId xmlns:a16="http://schemas.microsoft.com/office/drawing/2014/main" id="{3C13151F-064F-22D8-94CD-EFADB7B183F1}"/>
              </a:ext>
            </a:extLst>
          </p:cNvPr>
          <p:cNvSpPr/>
          <p:nvPr/>
        </p:nvSpPr>
        <p:spPr>
          <a:xfrm>
            <a:off x="357753" y="1805297"/>
            <a:ext cx="2194560" cy="240106"/>
          </a:xfrm>
          <a:prstGeom prst="roundRect">
            <a:avLst>
              <a:gd name="adj" fmla="val 20000"/>
            </a:avLst>
          </a:prstGeom>
          <a:solidFill>
            <a:srgbClr val="FFFFFF"/>
          </a:solidFill>
          <a:ln w="15240">
            <a:solidFill>
              <a:srgbClr val="0EA5A4"/>
            </a:solidFill>
            <a:prstDash val="solid"/>
          </a:ln>
        </p:spPr>
        <p:txBody>
          <a:bodyPr/>
          <a:lstStyle/>
          <a:p>
            <a:endParaRPr lang="zh-TW" altLang="en-US" dirty="0"/>
          </a:p>
        </p:txBody>
      </p:sp>
      <p:sp>
        <p:nvSpPr>
          <p:cNvPr id="929" name="Text 19">
            <a:extLst>
              <a:ext uri="{FF2B5EF4-FFF2-40B4-BE49-F238E27FC236}">
                <a16:creationId xmlns:a16="http://schemas.microsoft.com/office/drawing/2014/main" id="{1EABE5F3-3BF0-90C4-0BB8-B638BF622D17}"/>
              </a:ext>
            </a:extLst>
          </p:cNvPr>
          <p:cNvSpPr/>
          <p:nvPr/>
        </p:nvSpPr>
        <p:spPr>
          <a:xfrm>
            <a:off x="299959" y="1757867"/>
            <a:ext cx="2139696" cy="329184"/>
          </a:xfrm>
          <a:prstGeom prst="rect">
            <a:avLst/>
          </a:prstGeom>
          <a:noFill/>
          <a:ln/>
        </p:spPr>
        <p:txBody>
          <a:bodyPr wrap="square" lIns="381" tIns="381" rIns="381" bIns="381" rtlCol="0" anchor="ctr">
            <a:normAutofit/>
          </a:bodyPr>
          <a:lstStyle/>
          <a:p>
            <a:pPr algn="ctr"/>
            <a:r>
              <a:rPr lang="en-US" altLang="zh-TW" sz="800" b="1" dirty="0">
                <a:solidFill>
                  <a:srgbClr val="1F2937"/>
                </a:solidFill>
                <a:latin typeface="Microsoft JhengHei" pitchFamily="34" charset="0"/>
                <a:ea typeface="Microsoft JhengHei" pitchFamily="34" charset="-122"/>
                <a:cs typeface="Microsoft JhengHei" pitchFamily="34" charset="-120"/>
              </a:rPr>
              <a:t>Relationship / Metrics </a:t>
            </a:r>
            <a:r>
              <a:rPr lang="en-US" altLang="zh-TW" sz="800" b="1" dirty="0" err="1">
                <a:solidFill>
                  <a:srgbClr val="1F2937"/>
                </a:solidFill>
                <a:latin typeface="Microsoft JhengHei" pitchFamily="34" charset="0"/>
                <a:ea typeface="Microsoft JhengHei" pitchFamily="34" charset="-122"/>
                <a:cs typeface="Microsoft JhengHei" pitchFamily="34" charset="-120"/>
              </a:rPr>
              <a:t>建置</a:t>
            </a:r>
            <a:endParaRPr lang="en-US" altLang="zh-TW" sz="800" dirty="0"/>
          </a:p>
        </p:txBody>
      </p:sp>
      <p:sp>
        <p:nvSpPr>
          <p:cNvPr id="931" name="Text 19">
            <a:extLst>
              <a:ext uri="{FF2B5EF4-FFF2-40B4-BE49-F238E27FC236}">
                <a16:creationId xmlns:a16="http://schemas.microsoft.com/office/drawing/2014/main" id="{D5CB8A92-EFEB-37E7-A237-14700E57EA68}"/>
              </a:ext>
            </a:extLst>
          </p:cNvPr>
          <p:cNvSpPr/>
          <p:nvPr/>
        </p:nvSpPr>
        <p:spPr>
          <a:xfrm>
            <a:off x="274559" y="2167911"/>
            <a:ext cx="2139696" cy="329184"/>
          </a:xfrm>
          <a:prstGeom prst="rect">
            <a:avLst/>
          </a:prstGeom>
          <a:noFill/>
          <a:ln/>
        </p:spPr>
        <p:txBody>
          <a:bodyPr wrap="square" lIns="381" tIns="381" rIns="381" bIns="381" rtlCol="0" anchor="ctr">
            <a:normAutofit/>
          </a:bodyPr>
          <a:lstStyle/>
          <a:p>
            <a:pPr algn="ctr"/>
            <a:r>
              <a:rPr lang="en-US" altLang="zh-TW" sz="800" b="1" dirty="0">
                <a:solidFill>
                  <a:srgbClr val="1F2937"/>
                </a:solidFill>
                <a:latin typeface="Microsoft JhengHei" pitchFamily="34" charset="0"/>
                <a:ea typeface="Microsoft JhengHei" pitchFamily="34" charset="-122"/>
                <a:cs typeface="Microsoft JhengHei" pitchFamily="34" charset="-120"/>
              </a:rPr>
              <a:t>Business Rule </a:t>
            </a:r>
            <a:r>
              <a:rPr lang="en-US" altLang="zh-TW" sz="800" b="1" dirty="0" err="1">
                <a:solidFill>
                  <a:srgbClr val="1F2937"/>
                </a:solidFill>
                <a:latin typeface="Microsoft JhengHei" pitchFamily="34" charset="0"/>
                <a:ea typeface="Microsoft JhengHei" pitchFamily="34" charset="-122"/>
                <a:cs typeface="Microsoft JhengHei" pitchFamily="34" charset="-120"/>
              </a:rPr>
              <a:t>建置</a:t>
            </a:r>
            <a:endParaRPr lang="en-US" altLang="zh-TW" sz="800" dirty="0"/>
          </a:p>
        </p:txBody>
      </p:sp>
      <p:sp>
        <p:nvSpPr>
          <p:cNvPr id="933" name="Shape 20">
            <a:extLst>
              <a:ext uri="{FF2B5EF4-FFF2-40B4-BE49-F238E27FC236}">
                <a16:creationId xmlns:a16="http://schemas.microsoft.com/office/drawing/2014/main" id="{ADF7C68E-6E3D-D526-0D59-9B3D02B6C197}"/>
              </a:ext>
            </a:extLst>
          </p:cNvPr>
          <p:cNvSpPr/>
          <p:nvPr/>
        </p:nvSpPr>
        <p:spPr>
          <a:xfrm>
            <a:off x="346143" y="2600656"/>
            <a:ext cx="2194560" cy="241200"/>
          </a:xfrm>
          <a:prstGeom prst="roundRect">
            <a:avLst>
              <a:gd name="adj" fmla="val 20000"/>
            </a:avLst>
          </a:prstGeom>
          <a:solidFill>
            <a:srgbClr val="FFFFFF"/>
          </a:solidFill>
          <a:ln w="15240">
            <a:solidFill>
              <a:srgbClr val="0EA5A4"/>
            </a:solidFill>
            <a:prstDash val="solid"/>
          </a:ln>
        </p:spPr>
        <p:txBody>
          <a:bodyPr/>
          <a:lstStyle/>
          <a:p>
            <a:endParaRPr lang="zh-TW" altLang="en-US"/>
          </a:p>
        </p:txBody>
      </p:sp>
      <p:sp>
        <p:nvSpPr>
          <p:cNvPr id="935" name="Text 19">
            <a:extLst>
              <a:ext uri="{FF2B5EF4-FFF2-40B4-BE49-F238E27FC236}">
                <a16:creationId xmlns:a16="http://schemas.microsoft.com/office/drawing/2014/main" id="{32FE5C3C-3D1E-A6CE-3868-C2D5CED352E0}"/>
              </a:ext>
            </a:extLst>
          </p:cNvPr>
          <p:cNvSpPr/>
          <p:nvPr/>
        </p:nvSpPr>
        <p:spPr>
          <a:xfrm>
            <a:off x="322819" y="2556531"/>
            <a:ext cx="2139696" cy="329184"/>
          </a:xfrm>
          <a:prstGeom prst="rect">
            <a:avLst/>
          </a:prstGeom>
          <a:noFill/>
          <a:ln/>
        </p:spPr>
        <p:txBody>
          <a:bodyPr wrap="square" lIns="381" tIns="381" rIns="381" bIns="381" rtlCol="0" anchor="ctr">
            <a:normAutofit/>
          </a:bodyPr>
          <a:lstStyle/>
          <a:p>
            <a:pPr algn="ctr"/>
            <a:r>
              <a:rPr lang="en-US" altLang="zh-TW" sz="800" b="1" dirty="0">
                <a:solidFill>
                  <a:srgbClr val="1F2937"/>
                </a:solidFill>
                <a:latin typeface="Microsoft JhengHei" pitchFamily="34" charset="0"/>
                <a:ea typeface="Microsoft JhengHei" pitchFamily="34" charset="-122"/>
                <a:cs typeface="Microsoft JhengHei" pitchFamily="34" charset="-120"/>
              </a:rPr>
              <a:t>Embedding / Index</a:t>
            </a:r>
            <a:endParaRPr lang="en-US" altLang="zh-TW" sz="800" dirty="0"/>
          </a:p>
        </p:txBody>
      </p:sp>
      <p:sp>
        <p:nvSpPr>
          <p:cNvPr id="937" name="Shape 2">
            <a:extLst>
              <a:ext uri="{FF2B5EF4-FFF2-40B4-BE49-F238E27FC236}">
                <a16:creationId xmlns:a16="http://schemas.microsoft.com/office/drawing/2014/main" id="{838D71CD-3890-B8FF-1B4C-B91E5D625925}"/>
              </a:ext>
            </a:extLst>
          </p:cNvPr>
          <p:cNvSpPr/>
          <p:nvPr/>
        </p:nvSpPr>
        <p:spPr>
          <a:xfrm>
            <a:off x="429441" y="3639721"/>
            <a:ext cx="2196474" cy="3073413"/>
          </a:xfrm>
          <a:prstGeom prst="roundRect">
            <a:avLst>
              <a:gd name="adj" fmla="val 4514"/>
            </a:avLst>
          </a:prstGeom>
          <a:solidFill>
            <a:srgbClr val="EFFFFD"/>
          </a:solidFill>
          <a:ln w="12700">
            <a:solidFill>
              <a:srgbClr val="FFF9E9"/>
            </a:solidFill>
            <a:prstDash val="solid"/>
          </a:ln>
        </p:spPr>
        <p:txBody>
          <a:bodyPr/>
          <a:lstStyle/>
          <a:p>
            <a:endParaRPr lang="zh-TW" altLang="en-US"/>
          </a:p>
        </p:txBody>
      </p:sp>
      <p:sp>
        <p:nvSpPr>
          <p:cNvPr id="938" name="文字方塊 937">
            <a:extLst>
              <a:ext uri="{FF2B5EF4-FFF2-40B4-BE49-F238E27FC236}">
                <a16:creationId xmlns:a16="http://schemas.microsoft.com/office/drawing/2014/main" id="{3138D9FB-C90E-CD8A-FF2D-CA56C50A4CEC}"/>
              </a:ext>
            </a:extLst>
          </p:cNvPr>
          <p:cNvSpPr txBox="1"/>
          <p:nvPr/>
        </p:nvSpPr>
        <p:spPr>
          <a:xfrm>
            <a:off x="0" y="1325761"/>
            <a:ext cx="287383" cy="1384995"/>
          </a:xfrm>
          <a:prstGeom prst="rect">
            <a:avLst/>
          </a:prstGeom>
          <a:noFill/>
        </p:spPr>
        <p:txBody>
          <a:bodyPr wrap="square" rtlCol="0">
            <a:spAutoFit/>
          </a:bodyPr>
          <a:lstStyle/>
          <a:p>
            <a:r>
              <a:rPr lang="zh-TW" altLang="en-US" sz="1200" b="1" dirty="0"/>
              <a:t>結構演算法流程</a:t>
            </a:r>
          </a:p>
        </p:txBody>
      </p:sp>
      <p:sp>
        <p:nvSpPr>
          <p:cNvPr id="940" name="文字方塊 939">
            <a:extLst>
              <a:ext uri="{FF2B5EF4-FFF2-40B4-BE49-F238E27FC236}">
                <a16:creationId xmlns:a16="http://schemas.microsoft.com/office/drawing/2014/main" id="{001590CF-03DF-9F01-8554-90C3E6AE269F}"/>
              </a:ext>
            </a:extLst>
          </p:cNvPr>
          <p:cNvSpPr txBox="1"/>
          <p:nvPr/>
        </p:nvSpPr>
        <p:spPr>
          <a:xfrm>
            <a:off x="62601" y="4295022"/>
            <a:ext cx="287383" cy="830997"/>
          </a:xfrm>
          <a:prstGeom prst="rect">
            <a:avLst/>
          </a:prstGeom>
          <a:noFill/>
        </p:spPr>
        <p:txBody>
          <a:bodyPr wrap="square" rtlCol="0">
            <a:spAutoFit/>
          </a:bodyPr>
          <a:lstStyle/>
          <a:p>
            <a:r>
              <a:rPr lang="zh-TW" altLang="en-US" sz="1200" b="1" dirty="0"/>
              <a:t>案例對照</a:t>
            </a:r>
          </a:p>
        </p:txBody>
      </p:sp>
      <p:sp>
        <p:nvSpPr>
          <p:cNvPr id="942" name="Shape 3">
            <a:extLst>
              <a:ext uri="{FF2B5EF4-FFF2-40B4-BE49-F238E27FC236}">
                <a16:creationId xmlns:a16="http://schemas.microsoft.com/office/drawing/2014/main" id="{9EA59CBA-CFB6-F5AD-66A3-FD6286C3CE4F}"/>
              </a:ext>
            </a:extLst>
          </p:cNvPr>
          <p:cNvSpPr/>
          <p:nvPr/>
        </p:nvSpPr>
        <p:spPr>
          <a:xfrm>
            <a:off x="459207" y="3652450"/>
            <a:ext cx="2194560" cy="206417"/>
          </a:xfrm>
          <a:prstGeom prst="roundRect">
            <a:avLst>
              <a:gd name="adj" fmla="val 27083"/>
            </a:avLst>
          </a:prstGeom>
          <a:solidFill>
            <a:srgbClr val="0EA5A4"/>
          </a:solidFill>
          <a:ln w="12700">
            <a:solidFill>
              <a:srgbClr val="F59E0B">
                <a:alpha val="0"/>
              </a:srgbClr>
            </a:solidFill>
            <a:prstDash val="solid"/>
          </a:ln>
        </p:spPr>
        <p:txBody>
          <a:bodyPr/>
          <a:lstStyle/>
          <a:p>
            <a:endParaRPr lang="zh-TW" altLang="en-US"/>
          </a:p>
        </p:txBody>
      </p:sp>
      <p:sp>
        <p:nvSpPr>
          <p:cNvPr id="946" name="Text 4">
            <a:extLst>
              <a:ext uri="{FF2B5EF4-FFF2-40B4-BE49-F238E27FC236}">
                <a16:creationId xmlns:a16="http://schemas.microsoft.com/office/drawing/2014/main" id="{BA35D1B6-036A-5DC5-2A4B-1AC0AB2E7BE2}"/>
              </a:ext>
            </a:extLst>
          </p:cNvPr>
          <p:cNvSpPr/>
          <p:nvPr/>
        </p:nvSpPr>
        <p:spPr>
          <a:xfrm>
            <a:off x="1098539" y="3646054"/>
            <a:ext cx="2468880" cy="246888"/>
          </a:xfrm>
          <a:prstGeom prst="rect">
            <a:avLst/>
          </a:prstGeom>
          <a:noFill/>
          <a:ln/>
        </p:spPr>
        <p:txBody>
          <a:bodyPr wrap="square" lIns="381" tIns="381" rIns="381" bIns="381" rtlCol="0" anchor="ctr">
            <a:normAutofit/>
          </a:bodyPr>
          <a:lstStyle/>
          <a:p>
            <a:pPr marL="0" indent="0" algn="l">
              <a:buNone/>
            </a:pPr>
            <a:r>
              <a:rPr lang="zh-TW" altLang="en-US" sz="1400" b="1" dirty="0">
                <a:solidFill>
                  <a:srgbClr val="FFFFFF"/>
                </a:solidFill>
                <a:latin typeface="Microsoft JhengHei" pitchFamily="34" charset="0"/>
                <a:ea typeface="Microsoft JhengHei" pitchFamily="34" charset="-122"/>
              </a:rPr>
              <a:t>對照案例</a:t>
            </a:r>
            <a:endParaRPr lang="en-US" sz="1400" dirty="0"/>
          </a:p>
        </p:txBody>
      </p:sp>
      <p:sp>
        <p:nvSpPr>
          <p:cNvPr id="948" name="Shape 20">
            <a:extLst>
              <a:ext uri="{FF2B5EF4-FFF2-40B4-BE49-F238E27FC236}">
                <a16:creationId xmlns:a16="http://schemas.microsoft.com/office/drawing/2014/main" id="{7ED43268-878C-DF8B-DF09-FD7FA5484267}"/>
              </a:ext>
            </a:extLst>
          </p:cNvPr>
          <p:cNvSpPr/>
          <p:nvPr/>
        </p:nvSpPr>
        <p:spPr>
          <a:xfrm>
            <a:off x="451072" y="3907680"/>
            <a:ext cx="2196000" cy="1200209"/>
          </a:xfrm>
          <a:prstGeom prst="roundRect">
            <a:avLst>
              <a:gd name="adj" fmla="val 11458"/>
            </a:avLst>
          </a:prstGeom>
          <a:solidFill>
            <a:srgbClr val="FFFFFF"/>
          </a:solidFill>
          <a:ln w="6985">
            <a:solidFill>
              <a:srgbClr val="D7E3F3"/>
            </a:solidFill>
            <a:prstDash val="solid"/>
          </a:ln>
        </p:spPr>
        <p:txBody>
          <a:bodyPr/>
          <a:lstStyle/>
          <a:p>
            <a:endParaRPr lang="zh-TW" altLang="en-US" dirty="0"/>
          </a:p>
        </p:txBody>
      </p:sp>
      <p:sp>
        <p:nvSpPr>
          <p:cNvPr id="950" name="Text 23">
            <a:extLst>
              <a:ext uri="{FF2B5EF4-FFF2-40B4-BE49-F238E27FC236}">
                <a16:creationId xmlns:a16="http://schemas.microsoft.com/office/drawing/2014/main" id="{06F459BB-43A7-FB68-9725-017A609A370D}"/>
              </a:ext>
            </a:extLst>
          </p:cNvPr>
          <p:cNvSpPr/>
          <p:nvPr/>
        </p:nvSpPr>
        <p:spPr>
          <a:xfrm>
            <a:off x="915541" y="3953506"/>
            <a:ext cx="2063900" cy="158113"/>
          </a:xfrm>
          <a:prstGeom prst="rect">
            <a:avLst/>
          </a:prstGeom>
          <a:noFill/>
          <a:ln/>
        </p:spPr>
        <p:txBody>
          <a:bodyPr wrap="square" lIns="254" tIns="254" rIns="254" bIns="254" rtlCol="0" anchor="t">
            <a:noAutofit/>
          </a:bodyPr>
          <a:lstStyle/>
          <a:p>
            <a:r>
              <a:rPr lang="zh-TW" altLang="en-US" sz="800" b="1" dirty="0">
                <a:solidFill>
                  <a:srgbClr val="1F2937"/>
                </a:solidFill>
                <a:latin typeface="Microsoft JhengHei" pitchFamily="34" charset="0"/>
                <a:ea typeface="Microsoft JhengHei" pitchFamily="34" charset="-122"/>
                <a:cs typeface="Microsoft JhengHei" pitchFamily="34" charset="-120"/>
              </a:rPr>
              <a:t>每一張表格</a:t>
            </a:r>
            <a:r>
              <a:rPr lang="en-US" altLang="zh-TW" sz="800" b="1" dirty="0">
                <a:solidFill>
                  <a:srgbClr val="1F2937"/>
                </a:solidFill>
                <a:latin typeface="Microsoft JhengHei" pitchFamily="34" charset="0"/>
                <a:ea typeface="Microsoft JhengHei" pitchFamily="34" charset="-122"/>
                <a:cs typeface="Microsoft JhengHei" pitchFamily="34" charset="-120"/>
              </a:rPr>
              <a:t>Schema </a:t>
            </a:r>
            <a:r>
              <a:rPr lang="zh-TW" altLang="en-US" sz="800" b="1" dirty="0">
                <a:solidFill>
                  <a:srgbClr val="1F2937"/>
                </a:solidFill>
                <a:latin typeface="Microsoft JhengHei" pitchFamily="34" charset="0"/>
                <a:ea typeface="Microsoft JhengHei" pitchFamily="34" charset="-122"/>
                <a:cs typeface="Microsoft JhengHei" pitchFamily="34" charset="-120"/>
              </a:rPr>
              <a:t>標準化</a:t>
            </a:r>
            <a:endParaRPr lang="en-US" altLang="zh-TW" sz="800" b="1" dirty="0">
              <a:solidFill>
                <a:srgbClr val="1F2937"/>
              </a:solidFill>
              <a:latin typeface="Microsoft JhengHei" pitchFamily="34" charset="0"/>
              <a:ea typeface="Microsoft JhengHei" pitchFamily="34" charset="-122"/>
              <a:cs typeface="Microsoft JhengHei" pitchFamily="34" charset="-120"/>
            </a:endParaRPr>
          </a:p>
        </p:txBody>
      </p:sp>
      <p:sp>
        <p:nvSpPr>
          <p:cNvPr id="952" name="Text 56">
            <a:extLst>
              <a:ext uri="{FF2B5EF4-FFF2-40B4-BE49-F238E27FC236}">
                <a16:creationId xmlns:a16="http://schemas.microsoft.com/office/drawing/2014/main" id="{35769A62-1C81-AC12-F822-6901EEFDA164}"/>
              </a:ext>
            </a:extLst>
          </p:cNvPr>
          <p:cNvSpPr/>
          <p:nvPr/>
        </p:nvSpPr>
        <p:spPr>
          <a:xfrm>
            <a:off x="662681" y="4095764"/>
            <a:ext cx="1980492" cy="1048575"/>
          </a:xfrm>
          <a:prstGeom prst="rect">
            <a:avLst/>
          </a:prstGeom>
          <a:noFill/>
          <a:ln/>
        </p:spPr>
        <p:txBody>
          <a:bodyPr wrap="square" lIns="254" tIns="254" rIns="254" bIns="254" rtlCol="0" anchor="t">
            <a:normAutofit/>
          </a:bodyPr>
          <a:lstStyle/>
          <a:p>
            <a:r>
              <a:rPr lang="en-US" sz="600" b="1" dirty="0">
                <a:solidFill>
                  <a:srgbClr val="1F2937"/>
                </a:solidFill>
                <a:latin typeface="Microsoft JhengHei" pitchFamily="34" charset="0"/>
                <a:ea typeface="Microsoft JhengHei" pitchFamily="34" charset="-122"/>
                <a:cs typeface="Microsoft JhengHei" pitchFamily="34" charset="-120"/>
              </a:rPr>
              <a:t>table： </a:t>
            </a:r>
            <a:r>
              <a:rPr lang="en-US" sz="600" b="1" dirty="0" err="1">
                <a:solidFill>
                  <a:srgbClr val="1F2937"/>
                </a:solidFill>
                <a:latin typeface="Microsoft JhengHei" pitchFamily="34" charset="0"/>
                <a:ea typeface="Microsoft JhengHei" pitchFamily="34" charset="-122"/>
                <a:cs typeface="Microsoft JhengHei" pitchFamily="34" charset="-120"/>
              </a:rPr>
              <a:t>LoanApplication</a:t>
            </a:r>
            <a:endParaRPr lang="en-US" sz="600" b="1" dirty="0">
              <a:solidFill>
                <a:srgbClr val="1F2937"/>
              </a:solidFill>
              <a:latin typeface="Microsoft JhengHei" pitchFamily="34" charset="0"/>
              <a:ea typeface="Microsoft JhengHei" pitchFamily="34" charset="-122"/>
              <a:cs typeface="Microsoft JhengHei" pitchFamily="34" charset="-120"/>
            </a:endParaRPr>
          </a:p>
          <a:p>
            <a:r>
              <a:rPr lang="en-US" altLang="zh-TW" sz="600" dirty="0" err="1">
                <a:solidFill>
                  <a:srgbClr val="1F2937"/>
                </a:solidFill>
                <a:latin typeface="Microsoft JhengHei" pitchFamily="34" charset="0"/>
                <a:ea typeface="Microsoft JhengHei" pitchFamily="34" charset="-122"/>
                <a:cs typeface="Microsoft JhengHei" pitchFamily="34" charset="-120"/>
              </a:rPr>
              <a:t>primary_key</a:t>
            </a:r>
            <a:r>
              <a:rPr lang="en-US" altLang="zh-TW" sz="600" dirty="0">
                <a:solidFill>
                  <a:srgbClr val="1F2937"/>
                </a:solidFill>
                <a:latin typeface="Microsoft JhengHei" pitchFamily="34" charset="0"/>
                <a:ea typeface="Microsoft JhengHei" pitchFamily="34" charset="-122"/>
                <a:cs typeface="Microsoft JhengHei" pitchFamily="34" charset="-120"/>
              </a:rPr>
              <a:t>:  </a:t>
            </a:r>
            <a:r>
              <a:rPr lang="en-US" altLang="zh-TW" sz="600" dirty="0" err="1">
                <a:solidFill>
                  <a:srgbClr val="1F2937"/>
                </a:solidFill>
                <a:latin typeface="Microsoft JhengHei" pitchFamily="34" charset="0"/>
                <a:ea typeface="Microsoft JhengHei" pitchFamily="34" charset="-122"/>
                <a:cs typeface="Microsoft JhengHei" pitchFamily="34" charset="-120"/>
              </a:rPr>
              <a:t>application_id</a:t>
            </a:r>
            <a:endParaRPr lang="en-US" altLang="zh-TW" sz="600" dirty="0">
              <a:solidFill>
                <a:srgbClr val="1F2937"/>
              </a:solidFill>
              <a:latin typeface="Microsoft JhengHei" pitchFamily="34" charset="0"/>
              <a:ea typeface="Microsoft JhengHei" pitchFamily="34" charset="-122"/>
              <a:cs typeface="Microsoft JhengHei" pitchFamily="34" charset="-120"/>
            </a:endParaRPr>
          </a:p>
          <a:p>
            <a:r>
              <a:rPr lang="en-US" altLang="zh-TW" sz="600" dirty="0">
                <a:solidFill>
                  <a:srgbClr val="1F2937"/>
                </a:solidFill>
                <a:latin typeface="Microsoft JhengHei" pitchFamily="34" charset="0"/>
                <a:ea typeface="Microsoft JhengHei" pitchFamily="34" charset="-122"/>
                <a:cs typeface="Microsoft JhengHei" pitchFamily="34" charset="-120"/>
              </a:rPr>
              <a:t>properties: description: </a:t>
            </a:r>
            <a:r>
              <a:rPr lang="zh-TW" altLang="en-US" sz="600" dirty="0">
                <a:solidFill>
                  <a:srgbClr val="1F2937"/>
                </a:solidFill>
                <a:latin typeface="Microsoft JhengHei" pitchFamily="34" charset="0"/>
                <a:ea typeface="Microsoft JhengHei" pitchFamily="34" charset="-122"/>
                <a:cs typeface="Microsoft JhengHei" pitchFamily="34" charset="-120"/>
              </a:rPr>
              <a:t>房貸與其他貸款申請案件，包含申請日期、核貸金額、撥款金額及案件狀態</a:t>
            </a:r>
            <a:endParaRPr lang="en-US" altLang="zh-TW" sz="600" dirty="0">
              <a:solidFill>
                <a:srgbClr val="1F2937"/>
              </a:solidFill>
              <a:latin typeface="Microsoft JhengHei" pitchFamily="34" charset="0"/>
              <a:ea typeface="Microsoft JhengHei" pitchFamily="34" charset="-122"/>
              <a:cs typeface="Microsoft JhengHei" pitchFamily="34" charset="-120"/>
            </a:endParaRPr>
          </a:p>
          <a:p>
            <a:r>
              <a:rPr lang="en-US" altLang="zh-TW" sz="600" dirty="0">
                <a:solidFill>
                  <a:srgbClr val="1F2937"/>
                </a:solidFill>
                <a:latin typeface="Microsoft JhengHei" pitchFamily="34" charset="0"/>
                <a:ea typeface="Microsoft JhengHei" pitchFamily="34" charset="-122"/>
                <a:cs typeface="Microsoft JhengHei" pitchFamily="34" charset="-120"/>
              </a:rPr>
              <a:t>columns:</a:t>
            </a:r>
          </a:p>
          <a:p>
            <a:r>
              <a:rPr lang="en-US" altLang="zh-TW" sz="600" dirty="0">
                <a:solidFill>
                  <a:srgbClr val="1F2937"/>
                </a:solidFill>
                <a:latin typeface="Microsoft JhengHei" pitchFamily="34" charset="0"/>
                <a:ea typeface="Microsoft JhengHei" pitchFamily="34" charset="-122"/>
                <a:cs typeface="Microsoft JhengHei" pitchFamily="34" charset="-120"/>
              </a:rPr>
              <a:t>      name: </a:t>
            </a:r>
            <a:r>
              <a:rPr lang="en-US" altLang="zh-TW" sz="600" dirty="0" err="1">
                <a:solidFill>
                  <a:srgbClr val="1F2937"/>
                </a:solidFill>
                <a:latin typeface="Microsoft JhengHei" pitchFamily="34" charset="0"/>
                <a:ea typeface="Microsoft JhengHei" pitchFamily="34" charset="-122"/>
                <a:cs typeface="Microsoft JhengHei" pitchFamily="34" charset="-120"/>
              </a:rPr>
              <a:t>application_id</a:t>
            </a:r>
            <a:r>
              <a:rPr lang="en-US" altLang="zh-TW" sz="600" dirty="0">
                <a:solidFill>
                  <a:srgbClr val="1F2937"/>
                </a:solidFill>
                <a:latin typeface="Microsoft JhengHei" pitchFamily="34" charset="0"/>
                <a:ea typeface="Microsoft JhengHei" pitchFamily="34" charset="-122"/>
                <a:cs typeface="Microsoft JhengHei" pitchFamily="34" charset="-120"/>
              </a:rPr>
              <a:t> </a:t>
            </a:r>
          </a:p>
          <a:p>
            <a:r>
              <a:rPr lang="en-US" altLang="zh-TW" sz="600" dirty="0">
                <a:solidFill>
                  <a:srgbClr val="1F2937"/>
                </a:solidFill>
                <a:latin typeface="Microsoft JhengHei" pitchFamily="34" charset="0"/>
                <a:ea typeface="Microsoft JhengHei" pitchFamily="34" charset="-122"/>
                <a:cs typeface="Microsoft JhengHei" pitchFamily="34" charset="-120"/>
              </a:rPr>
              <a:t>       type: VARCHAR </a:t>
            </a:r>
          </a:p>
          <a:p>
            <a:r>
              <a:rPr lang="en-US" altLang="zh-TW" sz="600" dirty="0">
                <a:solidFill>
                  <a:srgbClr val="1F2937"/>
                </a:solidFill>
                <a:latin typeface="Microsoft JhengHei" pitchFamily="34" charset="0"/>
                <a:ea typeface="Microsoft JhengHei" pitchFamily="34" charset="-122"/>
                <a:cs typeface="Microsoft JhengHei" pitchFamily="34" charset="-120"/>
              </a:rPr>
              <a:t>       </a:t>
            </a:r>
            <a:r>
              <a:rPr lang="en-US" altLang="zh-TW" sz="600" dirty="0" err="1">
                <a:solidFill>
                  <a:srgbClr val="1F2937"/>
                </a:solidFill>
                <a:latin typeface="Microsoft JhengHei" pitchFamily="34" charset="0"/>
                <a:ea typeface="Microsoft JhengHei" pitchFamily="34" charset="-122"/>
                <a:cs typeface="Microsoft JhengHei" pitchFamily="34" charset="-120"/>
              </a:rPr>
              <a:t>is_primary_key</a:t>
            </a:r>
            <a:r>
              <a:rPr lang="en-US" altLang="zh-TW" sz="600" dirty="0">
                <a:solidFill>
                  <a:srgbClr val="1F2937"/>
                </a:solidFill>
                <a:latin typeface="Microsoft JhengHei" pitchFamily="34" charset="0"/>
                <a:ea typeface="Microsoft JhengHei" pitchFamily="34" charset="-122"/>
                <a:cs typeface="Microsoft JhengHei" pitchFamily="34" charset="-120"/>
              </a:rPr>
              <a:t>: true </a:t>
            </a:r>
          </a:p>
          <a:p>
            <a:r>
              <a:rPr lang="en-US" altLang="zh-TW" sz="600" dirty="0">
                <a:solidFill>
                  <a:srgbClr val="1F2937"/>
                </a:solidFill>
                <a:latin typeface="Microsoft JhengHei" pitchFamily="34" charset="0"/>
                <a:ea typeface="Microsoft JhengHei" pitchFamily="34" charset="-122"/>
                <a:cs typeface="Microsoft JhengHei" pitchFamily="34" charset="-120"/>
              </a:rPr>
              <a:t>       </a:t>
            </a:r>
            <a:r>
              <a:rPr lang="en-US" altLang="zh-TW" sz="600" dirty="0" err="1">
                <a:solidFill>
                  <a:srgbClr val="1F2937"/>
                </a:solidFill>
                <a:latin typeface="Microsoft JhengHei" pitchFamily="34" charset="0"/>
                <a:ea typeface="Microsoft JhengHei" pitchFamily="34" charset="-122"/>
                <a:cs typeface="Microsoft JhengHei" pitchFamily="34" charset="-120"/>
              </a:rPr>
              <a:t>not_null</a:t>
            </a:r>
            <a:r>
              <a:rPr lang="en-US" altLang="zh-TW" sz="600" dirty="0">
                <a:solidFill>
                  <a:srgbClr val="1F2937"/>
                </a:solidFill>
                <a:latin typeface="Microsoft JhengHei" pitchFamily="34" charset="0"/>
                <a:ea typeface="Microsoft JhengHei" pitchFamily="34" charset="-122"/>
                <a:cs typeface="Microsoft JhengHei" pitchFamily="34" charset="-120"/>
              </a:rPr>
              <a:t>: true </a:t>
            </a:r>
          </a:p>
          <a:p>
            <a:r>
              <a:rPr lang="en-US" altLang="zh-TW" sz="600" dirty="0">
                <a:solidFill>
                  <a:srgbClr val="1F2937"/>
                </a:solidFill>
                <a:latin typeface="Microsoft JhengHei" pitchFamily="34" charset="0"/>
                <a:ea typeface="Microsoft JhengHei" pitchFamily="34" charset="-122"/>
                <a:cs typeface="Microsoft JhengHei" pitchFamily="34" charset="-120"/>
              </a:rPr>
              <a:t>       properties: description: </a:t>
            </a:r>
            <a:r>
              <a:rPr lang="zh-TW" altLang="en-US" sz="600" dirty="0">
                <a:solidFill>
                  <a:srgbClr val="1F2937"/>
                </a:solidFill>
                <a:latin typeface="Microsoft JhengHei" pitchFamily="34" charset="0"/>
                <a:ea typeface="Microsoft JhengHei" pitchFamily="34" charset="-122"/>
                <a:cs typeface="Microsoft JhengHei" pitchFamily="34" charset="-120"/>
              </a:rPr>
              <a:t>貸款申請案件唯一識別碼</a:t>
            </a:r>
            <a:endParaRPr lang="en-US" altLang="zh-TW" sz="600" b="1" dirty="0">
              <a:solidFill>
                <a:srgbClr val="1F2937"/>
              </a:solidFill>
              <a:latin typeface="Microsoft JhengHei" pitchFamily="34" charset="0"/>
              <a:ea typeface="Microsoft JhengHei" pitchFamily="34" charset="-122"/>
              <a:cs typeface="Microsoft JhengHei" pitchFamily="34" charset="-120"/>
            </a:endParaRPr>
          </a:p>
          <a:p>
            <a:endParaRPr lang="zh-TW" altLang="en-US" sz="400" b="1" dirty="0">
              <a:ln w="3175">
                <a:solidFill>
                  <a:srgbClr val="DCEBFF"/>
                </a:solidFill>
              </a:ln>
            </a:endParaRPr>
          </a:p>
        </p:txBody>
      </p:sp>
      <p:sp>
        <p:nvSpPr>
          <p:cNvPr id="956" name="Shape 20">
            <a:extLst>
              <a:ext uri="{FF2B5EF4-FFF2-40B4-BE49-F238E27FC236}">
                <a16:creationId xmlns:a16="http://schemas.microsoft.com/office/drawing/2014/main" id="{9892E015-D5F1-AE10-855C-57DFEEA39B7A}"/>
              </a:ext>
            </a:extLst>
          </p:cNvPr>
          <p:cNvSpPr/>
          <p:nvPr/>
        </p:nvSpPr>
        <p:spPr>
          <a:xfrm>
            <a:off x="444250" y="5166222"/>
            <a:ext cx="2196000" cy="711434"/>
          </a:xfrm>
          <a:prstGeom prst="roundRect">
            <a:avLst>
              <a:gd name="adj" fmla="val 11458"/>
            </a:avLst>
          </a:prstGeom>
          <a:solidFill>
            <a:srgbClr val="FFFFFF"/>
          </a:solidFill>
          <a:ln w="6985">
            <a:solidFill>
              <a:srgbClr val="D7E3F3"/>
            </a:solidFill>
            <a:prstDash val="solid"/>
          </a:ln>
        </p:spPr>
        <p:txBody>
          <a:bodyPr/>
          <a:lstStyle/>
          <a:p>
            <a:endParaRPr lang="zh-TW" altLang="en-US" dirty="0"/>
          </a:p>
        </p:txBody>
      </p:sp>
      <p:sp>
        <p:nvSpPr>
          <p:cNvPr id="960" name="Text 23">
            <a:extLst>
              <a:ext uri="{FF2B5EF4-FFF2-40B4-BE49-F238E27FC236}">
                <a16:creationId xmlns:a16="http://schemas.microsoft.com/office/drawing/2014/main" id="{D4F399A8-DFD1-B41E-57B2-A7D84A933DCE}"/>
              </a:ext>
            </a:extLst>
          </p:cNvPr>
          <p:cNvSpPr/>
          <p:nvPr/>
        </p:nvSpPr>
        <p:spPr>
          <a:xfrm>
            <a:off x="487233" y="5225942"/>
            <a:ext cx="2063900" cy="158113"/>
          </a:xfrm>
          <a:prstGeom prst="rect">
            <a:avLst/>
          </a:prstGeom>
          <a:noFill/>
          <a:ln/>
        </p:spPr>
        <p:txBody>
          <a:bodyPr wrap="square" lIns="254" tIns="254" rIns="254" bIns="254" rtlCol="0" anchor="t">
            <a:noAutofit/>
          </a:bodyPr>
          <a:lstStyle/>
          <a:p>
            <a:pPr algn="ctr"/>
            <a:r>
              <a:rPr lang="en-US" altLang="zh-TW" sz="800" b="1" dirty="0">
                <a:solidFill>
                  <a:srgbClr val="1F2937"/>
                </a:solidFill>
                <a:latin typeface="Microsoft JhengHei" pitchFamily="34" charset="0"/>
                <a:ea typeface="Microsoft JhengHei" pitchFamily="34" charset="-122"/>
                <a:cs typeface="Microsoft JhengHei" pitchFamily="34" charset="-120"/>
              </a:rPr>
              <a:t>Relationship / Metrics </a:t>
            </a:r>
            <a:r>
              <a:rPr lang="en-US" altLang="zh-TW" sz="800" b="1" dirty="0" err="1">
                <a:solidFill>
                  <a:srgbClr val="1F2937"/>
                </a:solidFill>
                <a:latin typeface="Microsoft JhengHei" pitchFamily="34" charset="0"/>
                <a:ea typeface="Microsoft JhengHei" pitchFamily="34" charset="-122"/>
                <a:cs typeface="Microsoft JhengHei" pitchFamily="34" charset="-120"/>
              </a:rPr>
              <a:t>建置</a:t>
            </a:r>
            <a:endParaRPr lang="en-US" altLang="zh-TW" sz="800" dirty="0"/>
          </a:p>
        </p:txBody>
      </p:sp>
      <p:sp>
        <p:nvSpPr>
          <p:cNvPr id="962" name="Text 56">
            <a:extLst>
              <a:ext uri="{FF2B5EF4-FFF2-40B4-BE49-F238E27FC236}">
                <a16:creationId xmlns:a16="http://schemas.microsoft.com/office/drawing/2014/main" id="{4EE998AD-24F0-8AAD-0A2A-6D12AD1CBB0A}"/>
              </a:ext>
            </a:extLst>
          </p:cNvPr>
          <p:cNvSpPr/>
          <p:nvPr/>
        </p:nvSpPr>
        <p:spPr>
          <a:xfrm>
            <a:off x="748844" y="5368983"/>
            <a:ext cx="1980492" cy="507423"/>
          </a:xfrm>
          <a:prstGeom prst="rect">
            <a:avLst/>
          </a:prstGeom>
          <a:noFill/>
          <a:ln/>
        </p:spPr>
        <p:txBody>
          <a:bodyPr wrap="square" lIns="254" tIns="254" rIns="254" bIns="254" rtlCol="0" anchor="t">
            <a:normAutofit/>
          </a:bodyPr>
          <a:lstStyle/>
          <a:p>
            <a:r>
              <a:rPr lang="en-US" sz="600" b="1" dirty="0">
                <a:solidFill>
                  <a:srgbClr val="1F2937"/>
                </a:solidFill>
                <a:latin typeface="Microsoft JhengHei" pitchFamily="34" charset="0"/>
                <a:ea typeface="Microsoft JhengHei" pitchFamily="34" charset="-122"/>
                <a:cs typeface="Microsoft JhengHei" pitchFamily="34" charset="-120"/>
              </a:rPr>
              <a:t>name: </a:t>
            </a:r>
            <a:r>
              <a:rPr lang="en-US" sz="600" b="1" dirty="0" err="1">
                <a:solidFill>
                  <a:srgbClr val="1F2937"/>
                </a:solidFill>
                <a:latin typeface="Microsoft JhengHei" pitchFamily="34" charset="0"/>
                <a:ea typeface="Microsoft JhengHei" pitchFamily="34" charset="-122"/>
                <a:cs typeface="Microsoft JhengHei" pitchFamily="34" charset="-120"/>
              </a:rPr>
              <a:t>loan_customer</a:t>
            </a:r>
            <a:r>
              <a:rPr lang="en-US" sz="600" b="1" dirty="0">
                <a:solidFill>
                  <a:srgbClr val="1F2937"/>
                </a:solidFill>
                <a:latin typeface="Microsoft JhengHei" pitchFamily="34" charset="0"/>
                <a:ea typeface="Microsoft JhengHei" pitchFamily="34" charset="-122"/>
                <a:cs typeface="Microsoft JhengHei" pitchFamily="34" charset="-120"/>
              </a:rPr>
              <a:t> models:</a:t>
            </a:r>
          </a:p>
          <a:p>
            <a:pPr marL="72000" indent="-72000">
              <a:buFont typeface="Arial" panose="020B0604020202020204" pitchFamily="34" charset="0"/>
              <a:buChar char="•"/>
            </a:pPr>
            <a:r>
              <a:rPr lang="en-US" sz="600" b="1" dirty="0" err="1">
                <a:solidFill>
                  <a:srgbClr val="1F2937"/>
                </a:solidFill>
                <a:latin typeface="Microsoft JhengHei" pitchFamily="34" charset="0"/>
                <a:ea typeface="Microsoft JhengHei" pitchFamily="34" charset="-122"/>
                <a:cs typeface="Microsoft JhengHei" pitchFamily="34" charset="-120"/>
              </a:rPr>
              <a:t>LoanApplication</a:t>
            </a:r>
            <a:endParaRPr lang="en-US" sz="600" b="1" dirty="0">
              <a:solidFill>
                <a:srgbClr val="1F2937"/>
              </a:solidFill>
              <a:latin typeface="Microsoft JhengHei" pitchFamily="34" charset="0"/>
              <a:ea typeface="Microsoft JhengHei" pitchFamily="34" charset="-122"/>
              <a:cs typeface="Microsoft JhengHei" pitchFamily="34" charset="-120"/>
            </a:endParaRPr>
          </a:p>
          <a:p>
            <a:pPr marL="72000" indent="-72000">
              <a:buFont typeface="Arial" panose="020B0604020202020204" pitchFamily="34" charset="0"/>
              <a:buChar char="•"/>
            </a:pPr>
            <a:r>
              <a:rPr lang="en-US" sz="600" b="1" dirty="0">
                <a:solidFill>
                  <a:srgbClr val="1F2937"/>
                </a:solidFill>
                <a:latin typeface="Microsoft JhengHei" pitchFamily="34" charset="0"/>
                <a:ea typeface="Microsoft JhengHei" pitchFamily="34" charset="-122"/>
                <a:cs typeface="Microsoft JhengHei" pitchFamily="34" charset="-120"/>
              </a:rPr>
              <a:t>Customer </a:t>
            </a:r>
            <a:r>
              <a:rPr lang="en-US" sz="600" b="1" dirty="0" err="1">
                <a:solidFill>
                  <a:srgbClr val="1F2937"/>
                </a:solidFill>
                <a:latin typeface="Microsoft JhengHei" pitchFamily="34" charset="0"/>
                <a:ea typeface="Microsoft JhengHei" pitchFamily="34" charset="-122"/>
                <a:cs typeface="Microsoft JhengHei" pitchFamily="34" charset="-120"/>
              </a:rPr>
              <a:t>join_type</a:t>
            </a:r>
            <a:r>
              <a:rPr lang="en-US" sz="600" b="1" dirty="0">
                <a:solidFill>
                  <a:srgbClr val="1F2937"/>
                </a:solidFill>
                <a:latin typeface="Microsoft JhengHei" pitchFamily="34" charset="0"/>
                <a:ea typeface="Microsoft JhengHei" pitchFamily="34" charset="-122"/>
                <a:cs typeface="Microsoft JhengHei" pitchFamily="34" charset="-120"/>
              </a:rPr>
              <a:t>: MANY_TO_ONE </a:t>
            </a:r>
          </a:p>
          <a:p>
            <a:pPr marL="72000" indent="-72000">
              <a:buFont typeface="Arial" panose="020B0604020202020204" pitchFamily="34" charset="0"/>
              <a:buChar char="•"/>
            </a:pPr>
            <a:r>
              <a:rPr lang="en-US" sz="600" b="1" dirty="0">
                <a:solidFill>
                  <a:srgbClr val="1F2937"/>
                </a:solidFill>
                <a:latin typeface="Microsoft JhengHei" pitchFamily="34" charset="0"/>
                <a:ea typeface="Microsoft JhengHei" pitchFamily="34" charset="-122"/>
                <a:cs typeface="Microsoft JhengHei" pitchFamily="34" charset="-120"/>
              </a:rPr>
              <a:t>condition: </a:t>
            </a:r>
            <a:r>
              <a:rPr lang="en-US" sz="600" b="1" dirty="0" err="1">
                <a:solidFill>
                  <a:srgbClr val="1F2937"/>
                </a:solidFill>
                <a:latin typeface="Microsoft JhengHei" pitchFamily="34" charset="0"/>
                <a:ea typeface="Microsoft JhengHei" pitchFamily="34" charset="-122"/>
                <a:cs typeface="Microsoft JhengHei" pitchFamily="34" charset="-120"/>
              </a:rPr>
              <a:t>LoanApplication.customer_id</a:t>
            </a:r>
            <a:r>
              <a:rPr lang="en-US" sz="600" b="1" dirty="0">
                <a:solidFill>
                  <a:srgbClr val="1F2937"/>
                </a:solidFill>
                <a:latin typeface="Microsoft JhengHei" pitchFamily="34" charset="0"/>
                <a:ea typeface="Microsoft JhengHei" pitchFamily="34" charset="-122"/>
                <a:cs typeface="Microsoft JhengHei" pitchFamily="34" charset="-120"/>
              </a:rPr>
              <a:t> = </a:t>
            </a:r>
            <a:r>
              <a:rPr lang="en-US" sz="600" b="1" dirty="0" err="1">
                <a:solidFill>
                  <a:srgbClr val="1F2937"/>
                </a:solidFill>
                <a:latin typeface="Microsoft JhengHei" pitchFamily="34" charset="0"/>
                <a:ea typeface="Microsoft JhengHei" pitchFamily="34" charset="-122"/>
                <a:cs typeface="Microsoft JhengHei" pitchFamily="34" charset="-120"/>
              </a:rPr>
              <a:t>Customer.customer_id</a:t>
            </a:r>
            <a:endParaRPr lang="en-US" sz="600" b="1" dirty="0">
              <a:solidFill>
                <a:srgbClr val="1F2937"/>
              </a:solidFill>
              <a:latin typeface="Microsoft JhengHei" pitchFamily="34" charset="0"/>
              <a:ea typeface="Microsoft JhengHei" pitchFamily="34" charset="-122"/>
              <a:cs typeface="Microsoft JhengHei" pitchFamily="34" charset="-120"/>
            </a:endParaRPr>
          </a:p>
          <a:p>
            <a:endParaRPr lang="en-US" sz="600" b="1" dirty="0">
              <a:solidFill>
                <a:srgbClr val="1F2937"/>
              </a:solidFill>
              <a:latin typeface="Microsoft JhengHei" pitchFamily="34" charset="0"/>
              <a:ea typeface="Microsoft JhengHei" pitchFamily="34" charset="-122"/>
              <a:cs typeface="Microsoft JhengHei" pitchFamily="34" charset="-120"/>
            </a:endParaRPr>
          </a:p>
        </p:txBody>
      </p:sp>
      <p:sp>
        <p:nvSpPr>
          <p:cNvPr id="964" name="Shape 20">
            <a:extLst>
              <a:ext uri="{FF2B5EF4-FFF2-40B4-BE49-F238E27FC236}">
                <a16:creationId xmlns:a16="http://schemas.microsoft.com/office/drawing/2014/main" id="{FC26CE45-C20A-B3D7-C57F-77E9D9EE394B}"/>
              </a:ext>
            </a:extLst>
          </p:cNvPr>
          <p:cNvSpPr/>
          <p:nvPr/>
        </p:nvSpPr>
        <p:spPr>
          <a:xfrm>
            <a:off x="442682" y="5925875"/>
            <a:ext cx="2196000" cy="757876"/>
          </a:xfrm>
          <a:prstGeom prst="roundRect">
            <a:avLst>
              <a:gd name="adj" fmla="val 11458"/>
            </a:avLst>
          </a:prstGeom>
          <a:solidFill>
            <a:srgbClr val="FFFFFF"/>
          </a:solidFill>
          <a:ln w="6985">
            <a:solidFill>
              <a:srgbClr val="D7E3F3"/>
            </a:solidFill>
            <a:prstDash val="solid"/>
          </a:ln>
        </p:spPr>
        <p:txBody>
          <a:bodyPr/>
          <a:lstStyle/>
          <a:p>
            <a:endParaRPr lang="zh-TW" altLang="en-US" dirty="0"/>
          </a:p>
        </p:txBody>
      </p:sp>
      <p:sp>
        <p:nvSpPr>
          <p:cNvPr id="966" name="Text 23">
            <a:extLst>
              <a:ext uri="{FF2B5EF4-FFF2-40B4-BE49-F238E27FC236}">
                <a16:creationId xmlns:a16="http://schemas.microsoft.com/office/drawing/2014/main" id="{5836B6C2-E848-F80E-4591-B8793D568824}"/>
              </a:ext>
            </a:extLst>
          </p:cNvPr>
          <p:cNvSpPr/>
          <p:nvPr/>
        </p:nvSpPr>
        <p:spPr>
          <a:xfrm>
            <a:off x="506466" y="5925165"/>
            <a:ext cx="2063900" cy="158113"/>
          </a:xfrm>
          <a:prstGeom prst="rect">
            <a:avLst/>
          </a:prstGeom>
          <a:noFill/>
          <a:ln/>
        </p:spPr>
        <p:txBody>
          <a:bodyPr wrap="square" lIns="254" tIns="254" rIns="254" bIns="254" rtlCol="0" anchor="t">
            <a:noAutofit/>
          </a:bodyPr>
          <a:lstStyle/>
          <a:p>
            <a:pPr algn="ctr"/>
            <a:r>
              <a:rPr lang="en-US" altLang="zh-TW" sz="800" b="1" dirty="0"/>
              <a:t>Business Rule </a:t>
            </a:r>
            <a:r>
              <a:rPr lang="zh-TW" altLang="en-US" sz="800" b="1" dirty="0"/>
              <a:t>建置</a:t>
            </a:r>
          </a:p>
          <a:p>
            <a:pPr algn="ctr"/>
            <a:endParaRPr lang="en-US" altLang="zh-TW" sz="800" dirty="0"/>
          </a:p>
        </p:txBody>
      </p:sp>
      <p:sp>
        <p:nvSpPr>
          <p:cNvPr id="968" name="Text 56">
            <a:extLst>
              <a:ext uri="{FF2B5EF4-FFF2-40B4-BE49-F238E27FC236}">
                <a16:creationId xmlns:a16="http://schemas.microsoft.com/office/drawing/2014/main" id="{B5BB49BF-4712-2568-1EA1-AB9AE7F5E1DC}"/>
              </a:ext>
            </a:extLst>
          </p:cNvPr>
          <p:cNvSpPr/>
          <p:nvPr/>
        </p:nvSpPr>
        <p:spPr>
          <a:xfrm>
            <a:off x="684180" y="6090909"/>
            <a:ext cx="1956109" cy="507423"/>
          </a:xfrm>
          <a:prstGeom prst="rect">
            <a:avLst/>
          </a:prstGeom>
          <a:noFill/>
          <a:ln/>
        </p:spPr>
        <p:txBody>
          <a:bodyPr wrap="square" lIns="254" tIns="254" rIns="254" bIns="254" rtlCol="0" anchor="t">
            <a:noAutofit/>
          </a:bodyPr>
          <a:lstStyle/>
          <a:p>
            <a:r>
              <a:rPr lang="zh-TW" altLang="en-US" sz="600" b="1" dirty="0">
                <a:solidFill>
                  <a:srgbClr val="1F2937"/>
                </a:solidFill>
                <a:latin typeface="Microsoft JhengHei" pitchFamily="34" charset="0"/>
                <a:ea typeface="Microsoft JhengHei" pitchFamily="34" charset="-122"/>
                <a:cs typeface="Microsoft JhengHei" pitchFamily="34" charset="-120"/>
              </a:rPr>
              <a:t>房貸案件定義</a:t>
            </a:r>
          </a:p>
          <a:p>
            <a:pPr marL="72000" indent="-72000">
              <a:buFont typeface="Arial" panose="020B0604020202020204" pitchFamily="34" charset="0"/>
              <a:buChar char="•"/>
            </a:pPr>
            <a:r>
              <a:rPr lang="zh-TW" altLang="en-US" sz="600" b="1" dirty="0">
                <a:solidFill>
                  <a:srgbClr val="1F2937"/>
                </a:solidFill>
                <a:latin typeface="Microsoft JhengHei" pitchFamily="34" charset="0"/>
                <a:ea typeface="Microsoft JhengHei" pitchFamily="34" charset="-122"/>
                <a:cs typeface="Microsoft JhengHei" pitchFamily="34" charset="-120"/>
              </a:rPr>
              <a:t>「房貸」一律指 </a:t>
            </a:r>
            <a:r>
              <a:rPr lang="en-US" sz="600" b="1" dirty="0" err="1">
                <a:solidFill>
                  <a:srgbClr val="1F2937"/>
                </a:solidFill>
                <a:latin typeface="Microsoft JhengHei" pitchFamily="34" charset="0"/>
                <a:ea typeface="Microsoft JhengHei" pitchFamily="34" charset="-122"/>
                <a:cs typeface="Microsoft JhengHei" pitchFamily="34" charset="-120"/>
              </a:rPr>
              <a:t>MortgageProduct.product_type</a:t>
            </a:r>
            <a:r>
              <a:rPr lang="en-US" sz="600" b="1" dirty="0">
                <a:solidFill>
                  <a:srgbClr val="1F2937"/>
                </a:solidFill>
                <a:latin typeface="Microsoft JhengHei" pitchFamily="34" charset="0"/>
                <a:ea typeface="Microsoft JhengHei" pitchFamily="34" charset="-122"/>
                <a:cs typeface="Microsoft JhengHei" pitchFamily="34" charset="-120"/>
              </a:rPr>
              <a:t> = 'MORTGAGE’。</a:t>
            </a:r>
          </a:p>
          <a:p>
            <a:pPr marL="72000" indent="-72000">
              <a:buFont typeface="Arial" panose="020B0604020202020204" pitchFamily="34" charset="0"/>
              <a:buChar char="•"/>
            </a:pPr>
            <a:r>
              <a:rPr lang="zh-TW" altLang="en-US" sz="600" b="1" dirty="0">
                <a:solidFill>
                  <a:srgbClr val="1F2937"/>
                </a:solidFill>
                <a:latin typeface="Microsoft JhengHei" pitchFamily="34" charset="0"/>
                <a:ea typeface="Microsoft JhengHei" pitchFamily="34" charset="-122"/>
                <a:cs typeface="Microsoft JhengHei" pitchFamily="34" charset="-120"/>
              </a:rPr>
              <a:t>不可將個人信貸或其他貸款產品納入房貸統計。</a:t>
            </a:r>
            <a:endParaRPr lang="en-US" altLang="zh-TW" sz="600" b="1" dirty="0">
              <a:solidFill>
                <a:srgbClr val="1F2937"/>
              </a:solidFill>
              <a:latin typeface="Microsoft JhengHei" pitchFamily="34" charset="0"/>
              <a:ea typeface="Microsoft JhengHei" pitchFamily="34" charset="-122"/>
              <a:cs typeface="Microsoft JhengHei" pitchFamily="34" charset="-120"/>
            </a:endParaRPr>
          </a:p>
          <a:p>
            <a:r>
              <a:rPr lang="zh-TW" altLang="en-US" sz="600" b="1" dirty="0">
                <a:solidFill>
                  <a:srgbClr val="1F2937"/>
                </a:solidFill>
                <a:latin typeface="Microsoft JhengHei" pitchFamily="34" charset="0"/>
                <a:ea typeface="Microsoft JhengHei" pitchFamily="34" charset="-122"/>
                <a:cs typeface="Microsoft JhengHei" pitchFamily="34" charset="-120"/>
              </a:rPr>
              <a:t>核貸金額定義</a:t>
            </a:r>
          </a:p>
          <a:p>
            <a:pPr marL="72000" indent="-72000">
              <a:buFont typeface="Arial" panose="020B0604020202020204" pitchFamily="34" charset="0"/>
              <a:buChar char="•"/>
            </a:pPr>
            <a:r>
              <a:rPr lang="zh-TW" altLang="en-US" sz="600" b="1" dirty="0">
                <a:solidFill>
                  <a:srgbClr val="1F2937"/>
                </a:solidFill>
                <a:latin typeface="Microsoft JhengHei" pitchFamily="34" charset="0"/>
                <a:ea typeface="Microsoft JhengHei" pitchFamily="34" charset="-122"/>
                <a:cs typeface="Microsoft JhengHei" pitchFamily="34" charset="-120"/>
              </a:rPr>
              <a:t>使用者提到「核貸額」、「核貸金額」、「核准額度」時， 一律使用 </a:t>
            </a:r>
            <a:r>
              <a:rPr lang="en-US" sz="600" b="1" dirty="0" err="1">
                <a:solidFill>
                  <a:srgbClr val="1F2937"/>
                </a:solidFill>
                <a:latin typeface="Microsoft JhengHei" pitchFamily="34" charset="0"/>
                <a:ea typeface="Microsoft JhengHei" pitchFamily="34" charset="-122"/>
                <a:cs typeface="Microsoft JhengHei" pitchFamily="34" charset="-120"/>
              </a:rPr>
              <a:t>LoanApplication.approved_amount</a:t>
            </a:r>
            <a:r>
              <a:rPr lang="en-US" sz="600" b="1" dirty="0">
                <a:solidFill>
                  <a:srgbClr val="1F2937"/>
                </a:solidFill>
                <a:latin typeface="Microsoft JhengHei" pitchFamily="34" charset="0"/>
                <a:ea typeface="Microsoft JhengHei" pitchFamily="34" charset="-122"/>
                <a:cs typeface="Microsoft JhengHei" pitchFamily="34" charset="-120"/>
              </a:rPr>
              <a:t>。</a:t>
            </a:r>
          </a:p>
          <a:p>
            <a:pPr marL="72000" indent="-72000">
              <a:buFont typeface="Arial" panose="020B0604020202020204" pitchFamily="34" charset="0"/>
              <a:buChar char="•"/>
            </a:pPr>
            <a:r>
              <a:rPr lang="zh-TW" altLang="en-US" sz="600" b="1" dirty="0">
                <a:solidFill>
                  <a:srgbClr val="1F2937"/>
                </a:solidFill>
                <a:latin typeface="Microsoft JhengHei" pitchFamily="34" charset="0"/>
                <a:ea typeface="Microsoft JhengHei" pitchFamily="34" charset="-122"/>
                <a:cs typeface="Microsoft JhengHei" pitchFamily="34" charset="-120"/>
              </a:rPr>
              <a:t>不得使用 </a:t>
            </a:r>
            <a:r>
              <a:rPr lang="en-US" sz="600" b="1" dirty="0" err="1">
                <a:solidFill>
                  <a:srgbClr val="1F2937"/>
                </a:solidFill>
                <a:latin typeface="Microsoft JhengHei" pitchFamily="34" charset="0"/>
                <a:ea typeface="Microsoft JhengHei" pitchFamily="34" charset="-122"/>
                <a:cs typeface="Microsoft JhengHei" pitchFamily="34" charset="-120"/>
              </a:rPr>
              <a:t>disbursed_amount</a:t>
            </a:r>
            <a:r>
              <a:rPr lang="en-US" sz="600" b="1" dirty="0">
                <a:solidFill>
                  <a:srgbClr val="1F2937"/>
                </a:solidFill>
                <a:latin typeface="Microsoft JhengHei" pitchFamily="34" charset="0"/>
                <a:ea typeface="Microsoft JhengHei" pitchFamily="34" charset="-122"/>
                <a:cs typeface="Microsoft JhengHei" pitchFamily="34" charset="-120"/>
              </a:rPr>
              <a:t> </a:t>
            </a:r>
            <a:r>
              <a:rPr lang="zh-TW" altLang="en-US" sz="600" b="1" dirty="0">
                <a:solidFill>
                  <a:srgbClr val="1F2937"/>
                </a:solidFill>
                <a:latin typeface="Microsoft JhengHei" pitchFamily="34" charset="0"/>
                <a:ea typeface="Microsoft JhengHei" pitchFamily="34" charset="-122"/>
                <a:cs typeface="Microsoft JhengHei" pitchFamily="34" charset="-120"/>
              </a:rPr>
              <a:t>代替核貸金額。</a:t>
            </a:r>
            <a:endParaRPr lang="en-US" sz="600" b="1" dirty="0">
              <a:solidFill>
                <a:srgbClr val="1F2937"/>
              </a:solidFill>
              <a:latin typeface="Microsoft JhengHei" pitchFamily="34" charset="0"/>
              <a:ea typeface="Microsoft JhengHei" pitchFamily="34" charset="-122"/>
              <a:cs typeface="Microsoft JhengHei" pitchFamily="34" charset="-120"/>
            </a:endParaRPr>
          </a:p>
        </p:txBody>
      </p:sp>
      <p:sp>
        <p:nvSpPr>
          <p:cNvPr id="970" name="Shape 21">
            <a:extLst>
              <a:ext uri="{FF2B5EF4-FFF2-40B4-BE49-F238E27FC236}">
                <a16:creationId xmlns:a16="http://schemas.microsoft.com/office/drawing/2014/main" id="{EFA9D5AD-3C32-2C07-7F0C-1429BCE5567E}"/>
              </a:ext>
            </a:extLst>
          </p:cNvPr>
          <p:cNvSpPr/>
          <p:nvPr/>
        </p:nvSpPr>
        <p:spPr>
          <a:xfrm>
            <a:off x="489966" y="3910812"/>
            <a:ext cx="182880" cy="182880"/>
          </a:xfrm>
          <a:prstGeom prst="ellipse">
            <a:avLst/>
          </a:prstGeom>
          <a:solidFill>
            <a:srgbClr val="0EA5A4"/>
          </a:solidFill>
          <a:ln w="12700">
            <a:solidFill>
              <a:srgbClr val="0EA5A4">
                <a:alpha val="0"/>
              </a:srgbClr>
            </a:solidFill>
            <a:prstDash val="solid"/>
          </a:ln>
        </p:spPr>
        <p:txBody>
          <a:bodyPr/>
          <a:lstStyle/>
          <a:p>
            <a:endParaRPr lang="zh-TW" altLang="en-US"/>
          </a:p>
        </p:txBody>
      </p:sp>
      <p:sp>
        <p:nvSpPr>
          <p:cNvPr id="972" name="Text 22">
            <a:extLst>
              <a:ext uri="{FF2B5EF4-FFF2-40B4-BE49-F238E27FC236}">
                <a16:creationId xmlns:a16="http://schemas.microsoft.com/office/drawing/2014/main" id="{093797CB-779E-C31C-E124-E5835CCA30B1}"/>
              </a:ext>
            </a:extLst>
          </p:cNvPr>
          <p:cNvSpPr/>
          <p:nvPr/>
        </p:nvSpPr>
        <p:spPr>
          <a:xfrm>
            <a:off x="486156" y="3921991"/>
            <a:ext cx="182880" cy="155448"/>
          </a:xfrm>
          <a:prstGeom prst="rect">
            <a:avLst/>
          </a:prstGeom>
          <a:noFill/>
          <a:ln/>
        </p:spPr>
        <p:txBody>
          <a:bodyPr wrap="square" lIns="0" tIns="0" rIns="0" bIns="0" rtlCol="0" anchor="ctr">
            <a:normAutofit/>
          </a:bodyPr>
          <a:lstStyle/>
          <a:p>
            <a:pPr marL="0" indent="0" algn="ctr">
              <a:buNone/>
            </a:pPr>
            <a:r>
              <a:rPr lang="en-US" sz="445" b="1" dirty="0">
                <a:solidFill>
                  <a:srgbClr val="FFFFFF"/>
                </a:solidFill>
                <a:latin typeface="Microsoft JhengHei" pitchFamily="34" charset="0"/>
                <a:ea typeface="Microsoft JhengHei" pitchFamily="34" charset="-122"/>
                <a:cs typeface="Microsoft JhengHei" pitchFamily="34" charset="-120"/>
              </a:rPr>
              <a:t>1</a:t>
            </a:r>
            <a:endParaRPr lang="en-US" sz="445" dirty="0"/>
          </a:p>
        </p:txBody>
      </p:sp>
      <p:sp>
        <p:nvSpPr>
          <p:cNvPr id="974" name="Shape 25">
            <a:extLst>
              <a:ext uri="{FF2B5EF4-FFF2-40B4-BE49-F238E27FC236}">
                <a16:creationId xmlns:a16="http://schemas.microsoft.com/office/drawing/2014/main" id="{D4175720-FA43-9AAD-7F06-65F0E949A368}"/>
              </a:ext>
            </a:extLst>
          </p:cNvPr>
          <p:cNvSpPr/>
          <p:nvPr/>
        </p:nvSpPr>
        <p:spPr>
          <a:xfrm>
            <a:off x="489966" y="5180160"/>
            <a:ext cx="182880" cy="182880"/>
          </a:xfrm>
          <a:prstGeom prst="ellipse">
            <a:avLst/>
          </a:prstGeom>
          <a:solidFill>
            <a:srgbClr val="0EA5A4"/>
          </a:solidFill>
          <a:ln w="12700">
            <a:solidFill>
              <a:srgbClr val="0EA5A4">
                <a:alpha val="0"/>
              </a:srgbClr>
            </a:solidFill>
            <a:prstDash val="solid"/>
          </a:ln>
        </p:spPr>
        <p:txBody>
          <a:bodyPr/>
          <a:lstStyle/>
          <a:p>
            <a:endParaRPr lang="zh-TW" altLang="en-US"/>
          </a:p>
        </p:txBody>
      </p:sp>
      <p:sp>
        <p:nvSpPr>
          <p:cNvPr id="976" name="Text 26">
            <a:extLst>
              <a:ext uri="{FF2B5EF4-FFF2-40B4-BE49-F238E27FC236}">
                <a16:creationId xmlns:a16="http://schemas.microsoft.com/office/drawing/2014/main" id="{26A1D1B9-B468-96C0-A307-3A1BFEFEB3BC}"/>
              </a:ext>
            </a:extLst>
          </p:cNvPr>
          <p:cNvSpPr/>
          <p:nvPr/>
        </p:nvSpPr>
        <p:spPr>
          <a:xfrm>
            <a:off x="493776" y="5196709"/>
            <a:ext cx="182880" cy="155448"/>
          </a:xfrm>
          <a:prstGeom prst="rect">
            <a:avLst/>
          </a:prstGeom>
          <a:noFill/>
          <a:ln/>
        </p:spPr>
        <p:txBody>
          <a:bodyPr wrap="square" lIns="0" tIns="0" rIns="0" bIns="0" rtlCol="0" anchor="ctr">
            <a:normAutofit/>
          </a:bodyPr>
          <a:lstStyle/>
          <a:p>
            <a:pPr marL="0" indent="0" algn="ctr">
              <a:buNone/>
            </a:pPr>
            <a:r>
              <a:rPr lang="en-US" sz="445" b="1" dirty="0">
                <a:solidFill>
                  <a:srgbClr val="FFFFFF"/>
                </a:solidFill>
                <a:latin typeface="Microsoft JhengHei" pitchFamily="34" charset="0"/>
                <a:ea typeface="Microsoft JhengHei" pitchFamily="34" charset="-122"/>
                <a:cs typeface="Microsoft JhengHei" pitchFamily="34" charset="-120"/>
              </a:rPr>
              <a:t>2</a:t>
            </a:r>
            <a:endParaRPr lang="en-US" sz="445" dirty="0"/>
          </a:p>
        </p:txBody>
      </p:sp>
      <p:sp>
        <p:nvSpPr>
          <p:cNvPr id="978" name="Shape 29">
            <a:extLst>
              <a:ext uri="{FF2B5EF4-FFF2-40B4-BE49-F238E27FC236}">
                <a16:creationId xmlns:a16="http://schemas.microsoft.com/office/drawing/2014/main" id="{B625EC06-081A-9212-405F-8B7F133031E8}"/>
              </a:ext>
            </a:extLst>
          </p:cNvPr>
          <p:cNvSpPr/>
          <p:nvPr/>
        </p:nvSpPr>
        <p:spPr>
          <a:xfrm>
            <a:off x="475996" y="5939460"/>
            <a:ext cx="182880" cy="182880"/>
          </a:xfrm>
          <a:prstGeom prst="ellipse">
            <a:avLst/>
          </a:prstGeom>
          <a:solidFill>
            <a:srgbClr val="0EA5A4"/>
          </a:solidFill>
          <a:ln w="12700">
            <a:solidFill>
              <a:srgbClr val="0EA5A4">
                <a:alpha val="0"/>
              </a:srgbClr>
            </a:solidFill>
            <a:prstDash val="solid"/>
          </a:ln>
        </p:spPr>
        <p:txBody>
          <a:bodyPr/>
          <a:lstStyle/>
          <a:p>
            <a:endParaRPr lang="zh-TW" altLang="en-US"/>
          </a:p>
        </p:txBody>
      </p:sp>
      <p:sp>
        <p:nvSpPr>
          <p:cNvPr id="980" name="Text 30">
            <a:extLst>
              <a:ext uri="{FF2B5EF4-FFF2-40B4-BE49-F238E27FC236}">
                <a16:creationId xmlns:a16="http://schemas.microsoft.com/office/drawing/2014/main" id="{E6A722B6-C62A-5931-E846-A9ACD84BCB87}"/>
              </a:ext>
            </a:extLst>
          </p:cNvPr>
          <p:cNvSpPr/>
          <p:nvPr/>
        </p:nvSpPr>
        <p:spPr>
          <a:xfrm>
            <a:off x="475996" y="5942203"/>
            <a:ext cx="182880" cy="155448"/>
          </a:xfrm>
          <a:prstGeom prst="rect">
            <a:avLst/>
          </a:prstGeom>
          <a:noFill/>
          <a:ln/>
        </p:spPr>
        <p:txBody>
          <a:bodyPr wrap="square" lIns="0" tIns="0" rIns="0" bIns="0" rtlCol="0" anchor="ctr">
            <a:normAutofit/>
          </a:bodyPr>
          <a:lstStyle/>
          <a:p>
            <a:pPr marL="0" indent="0" algn="ctr">
              <a:buNone/>
            </a:pPr>
            <a:r>
              <a:rPr lang="en-US" sz="445" b="1" dirty="0">
                <a:solidFill>
                  <a:srgbClr val="FFFFFF"/>
                </a:solidFill>
                <a:latin typeface="Microsoft JhengHei" pitchFamily="34" charset="0"/>
                <a:ea typeface="Microsoft JhengHei" pitchFamily="34" charset="-122"/>
                <a:cs typeface="Microsoft JhengHei" pitchFamily="34" charset="-120"/>
              </a:rPr>
              <a:t>3</a:t>
            </a:r>
            <a:endParaRPr lang="en-US" sz="445" dirty="0"/>
          </a:p>
        </p:txBody>
      </p:sp>
      <p:sp>
        <p:nvSpPr>
          <p:cNvPr id="6" name="文字方塊 5">
            <a:extLst>
              <a:ext uri="{FF2B5EF4-FFF2-40B4-BE49-F238E27FC236}">
                <a16:creationId xmlns:a16="http://schemas.microsoft.com/office/drawing/2014/main" id="{9E5A4606-0922-9277-F6AC-A9585C85462A}"/>
              </a:ext>
            </a:extLst>
          </p:cNvPr>
          <p:cNvSpPr txBox="1"/>
          <p:nvPr/>
        </p:nvSpPr>
        <p:spPr>
          <a:xfrm>
            <a:off x="531969" y="550293"/>
            <a:ext cx="11721508" cy="307777"/>
          </a:xfrm>
          <a:prstGeom prst="rect">
            <a:avLst/>
          </a:prstGeom>
          <a:noFill/>
        </p:spPr>
        <p:txBody>
          <a:bodyPr wrap="square">
            <a:spAutoFit/>
          </a:bodyPr>
          <a:lstStyle/>
          <a:p>
            <a:r>
              <a:rPr lang="zh-TW" altLang="en-US" sz="1400" b="1" dirty="0">
                <a:solidFill>
                  <a:srgbClr val="FF0000"/>
                </a:solidFill>
              </a:rPr>
              <a:t>適用情境：針對資料庫中的結構化數據進行查詢和計算與文件內容為主的非結構化知識檢索採不同處理流程。</a:t>
            </a:r>
          </a:p>
        </p:txBody>
      </p:sp>
    </p:spTree>
    <p:extLst>
      <p:ext uri="{BB962C8B-B14F-4D97-AF65-F5344CB8AC3E}">
        <p14:creationId xmlns:p14="http://schemas.microsoft.com/office/powerpoint/2010/main" val="2254702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46894-6C61-F442-091D-D8C3BB7A8F90}"/>
            </a:ext>
          </a:extLst>
        </p:cNvPr>
        <p:cNvGrpSpPr/>
        <p:nvPr/>
      </p:nvGrpSpPr>
      <p:grpSpPr>
        <a:xfrm>
          <a:off x="0" y="0"/>
          <a:ext cx="0" cy="0"/>
          <a:chOff x="0" y="0"/>
          <a:chExt cx="0" cy="0"/>
        </a:xfrm>
      </p:grpSpPr>
      <p:sp>
        <p:nvSpPr>
          <p:cNvPr id="44" name="Shape 28">
            <a:extLst>
              <a:ext uri="{FF2B5EF4-FFF2-40B4-BE49-F238E27FC236}">
                <a16:creationId xmlns:a16="http://schemas.microsoft.com/office/drawing/2014/main" id="{3F8D0DF2-E740-B2C0-39F3-9211AD3DA706}"/>
              </a:ext>
            </a:extLst>
          </p:cNvPr>
          <p:cNvSpPr/>
          <p:nvPr/>
        </p:nvSpPr>
        <p:spPr>
          <a:xfrm>
            <a:off x="-2179383" y="6713135"/>
            <a:ext cx="11467745" cy="58347"/>
          </a:xfrm>
          <a:prstGeom prst="rect">
            <a:avLst/>
          </a:prstGeom>
          <a:solidFill>
            <a:srgbClr val="F7F1F9"/>
          </a:solidFill>
          <a:ln w="12700">
            <a:noFill/>
            <a:prstDash val="solid"/>
          </a:ln>
        </p:spPr>
        <p:txBody>
          <a:bodyPr/>
          <a:lstStyle/>
          <a:p>
            <a:endParaRPr lang="zh-TW" altLang="en-US"/>
          </a:p>
        </p:txBody>
      </p:sp>
      <p:sp>
        <p:nvSpPr>
          <p:cNvPr id="5" name="文字版面配置區 1">
            <a:extLst>
              <a:ext uri="{FF2B5EF4-FFF2-40B4-BE49-F238E27FC236}">
                <a16:creationId xmlns:a16="http://schemas.microsoft.com/office/drawing/2014/main" id="{31A9DBCB-1984-635D-8453-04BCC7B74C62}"/>
              </a:ext>
            </a:extLst>
          </p:cNvPr>
          <p:cNvSpPr>
            <a:spLocks noGrp="1"/>
          </p:cNvSpPr>
          <p:nvPr>
            <p:ph type="body" sz="quarter" idx="21"/>
          </p:nvPr>
        </p:nvSpPr>
        <p:spPr>
          <a:xfrm>
            <a:off x="665940" y="-213225"/>
            <a:ext cx="8221501" cy="659975"/>
          </a:xfrm>
        </p:spPr>
        <p:txBody>
          <a:bodyPr/>
          <a:lstStyle/>
          <a:p>
            <a:r>
              <a:rPr lang="en-US" altLang="zh-TW" sz="2400" dirty="0"/>
              <a:t>【</a:t>
            </a:r>
            <a:r>
              <a:rPr lang="zh-TW" altLang="en-US" sz="2400" dirty="0"/>
              <a:t>結構化 </a:t>
            </a:r>
            <a:r>
              <a:rPr lang="en-US" altLang="zh-TW" sz="2400" dirty="0"/>
              <a:t>+</a:t>
            </a:r>
            <a:r>
              <a:rPr lang="zh-TW" altLang="en-US" sz="2400" dirty="0"/>
              <a:t>非結構化</a:t>
            </a:r>
            <a:r>
              <a:rPr lang="en-US" altLang="zh-TW" sz="2400" dirty="0"/>
              <a:t>】</a:t>
            </a:r>
            <a:r>
              <a:rPr lang="zh-TW" altLang="en-US" sz="2400" dirty="0"/>
              <a:t>知識檢索技術方案</a:t>
            </a:r>
          </a:p>
        </p:txBody>
      </p:sp>
      <p:sp>
        <p:nvSpPr>
          <p:cNvPr id="7" name="矩形 6">
            <a:extLst>
              <a:ext uri="{FF2B5EF4-FFF2-40B4-BE49-F238E27FC236}">
                <a16:creationId xmlns:a16="http://schemas.microsoft.com/office/drawing/2014/main" id="{C1ED9677-7EE8-1496-CD4B-8E4E6D0A57AB}"/>
              </a:ext>
            </a:extLst>
          </p:cNvPr>
          <p:cNvSpPr/>
          <p:nvPr/>
        </p:nvSpPr>
        <p:spPr>
          <a:xfrm rot="10800000" flipV="1">
            <a:off x="795027" y="542559"/>
            <a:ext cx="10865004" cy="53730"/>
          </a:xfrm>
          <a:prstGeom prst="rect">
            <a:avLst/>
          </a:prstGeom>
          <a:gradFill>
            <a:gsLst>
              <a:gs pos="11000">
                <a:srgbClr val="00F9D3">
                  <a:alpha val="0"/>
                </a:srgbClr>
              </a:gs>
              <a:gs pos="39000">
                <a:srgbClr val="00F9D3"/>
              </a:gs>
              <a:gs pos="70000">
                <a:srgbClr val="00C3CD"/>
              </a:gs>
              <a:gs pos="100000">
                <a:srgbClr val="008FC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圖片 2">
            <a:extLst>
              <a:ext uri="{FF2B5EF4-FFF2-40B4-BE49-F238E27FC236}">
                <a16:creationId xmlns:a16="http://schemas.microsoft.com/office/drawing/2014/main" id="{F7F37A98-9684-3D2E-B294-91FB94DC00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8760" y="7096137"/>
            <a:ext cx="10287000" cy="6858000"/>
          </a:xfrm>
          <a:prstGeom prst="rect">
            <a:avLst/>
          </a:prstGeom>
        </p:spPr>
      </p:pic>
      <p:sp>
        <p:nvSpPr>
          <p:cNvPr id="4" name="文字方塊 3">
            <a:extLst>
              <a:ext uri="{FF2B5EF4-FFF2-40B4-BE49-F238E27FC236}">
                <a16:creationId xmlns:a16="http://schemas.microsoft.com/office/drawing/2014/main" id="{7AA97EAF-A354-F61C-AE46-0AADC8968B3A}"/>
              </a:ext>
            </a:extLst>
          </p:cNvPr>
          <p:cNvSpPr txBox="1"/>
          <p:nvPr/>
        </p:nvSpPr>
        <p:spPr>
          <a:xfrm>
            <a:off x="12461910" y="3977243"/>
            <a:ext cx="10170160" cy="646331"/>
          </a:xfrm>
          <a:prstGeom prst="rect">
            <a:avLst/>
          </a:prstGeom>
          <a:noFill/>
        </p:spPr>
        <p:txBody>
          <a:bodyPr wrap="square" rtlCol="0">
            <a:spAutoFit/>
          </a:bodyPr>
          <a:lstStyle/>
          <a:p>
            <a:r>
              <a:rPr lang="zh-TW" altLang="en-US"/>
              <a:t>非結構化知識檢索以</a:t>
            </a:r>
            <a:r>
              <a:rPr lang="en-US" altLang="zh-TW"/>
              <a:t>「</a:t>
            </a:r>
            <a:r>
              <a:rPr lang="zh-TW" altLang="en-US"/>
              <a:t>找文件證據」為核心，結構化以</a:t>
            </a:r>
            <a:r>
              <a:rPr lang="en-US" altLang="zh-TW"/>
              <a:t>「</a:t>
            </a:r>
            <a:r>
              <a:rPr lang="zh-TW" altLang="en-US"/>
              <a:t>數據查找並計算資料」為核心，而</a:t>
            </a:r>
            <a:r>
              <a:rPr lang="en-US" altLang="zh-TW"/>
              <a:t>Hybrid </a:t>
            </a:r>
            <a:r>
              <a:rPr lang="zh-TW" altLang="en-US"/>
              <a:t>結合兩種能力提供更完整、可驗證的答案</a:t>
            </a:r>
          </a:p>
        </p:txBody>
      </p:sp>
      <p:sp>
        <p:nvSpPr>
          <p:cNvPr id="475" name="Shape 10">
            <a:extLst>
              <a:ext uri="{FF2B5EF4-FFF2-40B4-BE49-F238E27FC236}">
                <a16:creationId xmlns:a16="http://schemas.microsoft.com/office/drawing/2014/main" id="{224269CE-0175-3076-81D1-D6DD5E91F752}"/>
              </a:ext>
            </a:extLst>
          </p:cNvPr>
          <p:cNvSpPr/>
          <p:nvPr/>
        </p:nvSpPr>
        <p:spPr>
          <a:xfrm>
            <a:off x="1032921" y="703744"/>
            <a:ext cx="2471945" cy="6055755"/>
          </a:xfrm>
          <a:prstGeom prst="roundRect">
            <a:avLst>
              <a:gd name="adj" fmla="val 3591"/>
            </a:avLst>
          </a:prstGeom>
          <a:solidFill>
            <a:srgbClr val="EFF6FF"/>
          </a:solidFill>
          <a:ln w="12700">
            <a:solidFill>
              <a:srgbClr val="85B9FF"/>
            </a:solidFill>
            <a:prstDash val="solid"/>
          </a:ln>
        </p:spPr>
        <p:txBody>
          <a:bodyPr/>
          <a:lstStyle/>
          <a:p>
            <a:endParaRPr lang="zh-TW" altLang="en-US" dirty="0"/>
          </a:p>
        </p:txBody>
      </p:sp>
      <p:sp>
        <p:nvSpPr>
          <p:cNvPr id="10" name="Shape 51">
            <a:extLst>
              <a:ext uri="{FF2B5EF4-FFF2-40B4-BE49-F238E27FC236}">
                <a16:creationId xmlns:a16="http://schemas.microsoft.com/office/drawing/2014/main" id="{FB5CAFF1-1389-8F1F-094A-599BEFE0A2A4}"/>
              </a:ext>
            </a:extLst>
          </p:cNvPr>
          <p:cNvSpPr/>
          <p:nvPr/>
        </p:nvSpPr>
        <p:spPr>
          <a:xfrm>
            <a:off x="1388430" y="989349"/>
            <a:ext cx="1803600" cy="380061"/>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使用者問題</a:t>
            </a:r>
          </a:p>
        </p:txBody>
      </p:sp>
      <p:sp>
        <p:nvSpPr>
          <p:cNvPr id="12" name="Shape 51">
            <a:extLst>
              <a:ext uri="{FF2B5EF4-FFF2-40B4-BE49-F238E27FC236}">
                <a16:creationId xmlns:a16="http://schemas.microsoft.com/office/drawing/2014/main" id="{15C5BD09-F965-42F8-F840-418FDFC636E2}"/>
              </a:ext>
            </a:extLst>
          </p:cNvPr>
          <p:cNvSpPr/>
          <p:nvPr/>
        </p:nvSpPr>
        <p:spPr>
          <a:xfrm>
            <a:off x="1388430" y="1503048"/>
            <a:ext cx="1803600" cy="378893"/>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意圖理解</a:t>
            </a:r>
          </a:p>
        </p:txBody>
      </p:sp>
      <p:sp>
        <p:nvSpPr>
          <p:cNvPr id="14" name="Shape 51">
            <a:extLst>
              <a:ext uri="{FF2B5EF4-FFF2-40B4-BE49-F238E27FC236}">
                <a16:creationId xmlns:a16="http://schemas.microsoft.com/office/drawing/2014/main" id="{0558A719-FB86-E863-27D4-9C0F076D4673}"/>
              </a:ext>
            </a:extLst>
          </p:cNvPr>
          <p:cNvSpPr/>
          <p:nvPr/>
        </p:nvSpPr>
        <p:spPr>
          <a:xfrm>
            <a:off x="1388430" y="2015579"/>
            <a:ext cx="1803600" cy="378893"/>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問題改寫</a:t>
            </a:r>
          </a:p>
        </p:txBody>
      </p:sp>
      <p:sp>
        <p:nvSpPr>
          <p:cNvPr id="16" name="Shape 51">
            <a:extLst>
              <a:ext uri="{FF2B5EF4-FFF2-40B4-BE49-F238E27FC236}">
                <a16:creationId xmlns:a16="http://schemas.microsoft.com/office/drawing/2014/main" id="{75E0033D-276A-1521-07C7-7553B2EF7903}"/>
              </a:ext>
            </a:extLst>
          </p:cNvPr>
          <p:cNvSpPr/>
          <p:nvPr/>
        </p:nvSpPr>
        <p:spPr>
          <a:xfrm>
            <a:off x="1388430" y="2528110"/>
            <a:ext cx="1803600" cy="378893"/>
          </a:xfrm>
          <a:prstGeom prst="roundRect">
            <a:avLst>
              <a:gd name="adj" fmla="val 17391"/>
            </a:avLst>
          </a:prstGeom>
          <a:solidFill>
            <a:srgbClr val="FFFFFF"/>
          </a:solidFill>
          <a:ln w="15240">
            <a:solidFill>
              <a:srgbClr val="2563EB"/>
            </a:solidFill>
            <a:prstDash val="solid"/>
          </a:ln>
        </p:spPr>
        <p:txBody>
          <a:bodyPr/>
          <a:lstStyle/>
          <a:p>
            <a:pPr algn="ctr"/>
            <a:r>
              <a:rPr lang="en-US" altLang="zh-TW" sz="1200" b="1">
                <a:solidFill>
                  <a:schemeClr val="accent5"/>
                </a:solidFill>
              </a:rPr>
              <a:t>Retrieval</a:t>
            </a:r>
            <a:endParaRPr lang="zh-TW" altLang="en-US" sz="1200" b="1">
              <a:solidFill>
                <a:schemeClr val="accent5"/>
              </a:solidFill>
            </a:endParaRPr>
          </a:p>
        </p:txBody>
      </p:sp>
      <p:sp>
        <p:nvSpPr>
          <p:cNvPr id="18" name="Shape 51">
            <a:extLst>
              <a:ext uri="{FF2B5EF4-FFF2-40B4-BE49-F238E27FC236}">
                <a16:creationId xmlns:a16="http://schemas.microsoft.com/office/drawing/2014/main" id="{AE78970B-1872-16E8-635C-A924E4B79770}"/>
              </a:ext>
            </a:extLst>
          </p:cNvPr>
          <p:cNvSpPr/>
          <p:nvPr/>
        </p:nvSpPr>
        <p:spPr>
          <a:xfrm>
            <a:off x="1388430" y="3040641"/>
            <a:ext cx="1803600" cy="378893"/>
          </a:xfrm>
          <a:prstGeom prst="roundRect">
            <a:avLst>
              <a:gd name="adj" fmla="val 17391"/>
            </a:avLst>
          </a:prstGeom>
          <a:solidFill>
            <a:srgbClr val="FFFFFF"/>
          </a:solidFill>
          <a:ln w="15240">
            <a:solidFill>
              <a:srgbClr val="2563EB"/>
            </a:solidFill>
            <a:prstDash val="solid"/>
          </a:ln>
        </p:spPr>
        <p:txBody>
          <a:bodyPr/>
          <a:lstStyle/>
          <a:p>
            <a:pPr algn="ctr"/>
            <a:r>
              <a:rPr lang="en-US" altLang="zh-TW" sz="1200" b="1">
                <a:solidFill>
                  <a:schemeClr val="accent5"/>
                </a:solidFill>
              </a:rPr>
              <a:t>Reranking</a:t>
            </a:r>
            <a:endParaRPr lang="zh-TW" altLang="en-US" sz="1200" b="1">
              <a:solidFill>
                <a:schemeClr val="accent5"/>
              </a:solidFill>
            </a:endParaRPr>
          </a:p>
        </p:txBody>
      </p:sp>
      <p:sp>
        <p:nvSpPr>
          <p:cNvPr id="20" name="Shape 51">
            <a:extLst>
              <a:ext uri="{FF2B5EF4-FFF2-40B4-BE49-F238E27FC236}">
                <a16:creationId xmlns:a16="http://schemas.microsoft.com/office/drawing/2014/main" id="{4123703C-48BF-BAB0-D03D-C5F3E6E539D5}"/>
              </a:ext>
            </a:extLst>
          </p:cNvPr>
          <p:cNvSpPr/>
          <p:nvPr/>
        </p:nvSpPr>
        <p:spPr>
          <a:xfrm>
            <a:off x="1387902" y="3553172"/>
            <a:ext cx="1804656" cy="378893"/>
          </a:xfrm>
          <a:prstGeom prst="roundRect">
            <a:avLst>
              <a:gd name="adj" fmla="val 17391"/>
            </a:avLst>
          </a:prstGeom>
          <a:solidFill>
            <a:srgbClr val="FFFFFF"/>
          </a:solidFill>
          <a:ln w="15240">
            <a:solidFill>
              <a:srgbClr val="2563EB"/>
            </a:solidFill>
            <a:prstDash val="solid"/>
          </a:ln>
        </p:spPr>
        <p:txBody>
          <a:bodyPr/>
          <a:lstStyle/>
          <a:p>
            <a:pPr algn="ctr"/>
            <a:r>
              <a:rPr lang="en-US" altLang="zh-TW" sz="1200" b="1" err="1">
                <a:solidFill>
                  <a:schemeClr val="accent5"/>
                </a:solidFill>
                <a:latin typeface="微軟正黑體" panose="020B0604030504040204" pitchFamily="34" charset="-120"/>
              </a:rPr>
              <a:t>ReAct</a:t>
            </a:r>
            <a:r>
              <a:rPr lang="en-US" altLang="zh-TW" sz="1200" b="1">
                <a:solidFill>
                  <a:schemeClr val="accent5"/>
                </a:solidFill>
                <a:latin typeface="微軟正黑體" panose="020B0604030504040204" pitchFamily="34" charset="-120"/>
              </a:rPr>
              <a:t> &amp; Retry </a:t>
            </a:r>
            <a:endParaRPr lang="zh-TW" altLang="en-US" sz="1200" b="1">
              <a:solidFill>
                <a:schemeClr val="accent5"/>
              </a:solidFill>
            </a:endParaRPr>
          </a:p>
        </p:txBody>
      </p:sp>
      <p:sp>
        <p:nvSpPr>
          <p:cNvPr id="22" name="Shape 51">
            <a:extLst>
              <a:ext uri="{FF2B5EF4-FFF2-40B4-BE49-F238E27FC236}">
                <a16:creationId xmlns:a16="http://schemas.microsoft.com/office/drawing/2014/main" id="{13E4ECC2-1ED8-7503-F931-9F826DFD2A55}"/>
              </a:ext>
            </a:extLst>
          </p:cNvPr>
          <p:cNvSpPr/>
          <p:nvPr/>
        </p:nvSpPr>
        <p:spPr>
          <a:xfrm>
            <a:off x="1388430" y="4065704"/>
            <a:ext cx="1803600" cy="378893"/>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回覆生成 </a:t>
            </a:r>
          </a:p>
        </p:txBody>
      </p:sp>
      <p:sp>
        <p:nvSpPr>
          <p:cNvPr id="479" name="Shape 11">
            <a:extLst>
              <a:ext uri="{FF2B5EF4-FFF2-40B4-BE49-F238E27FC236}">
                <a16:creationId xmlns:a16="http://schemas.microsoft.com/office/drawing/2014/main" id="{A0ED8C68-88F7-6FAF-B2CE-3AE4F1FFCD1A}"/>
              </a:ext>
            </a:extLst>
          </p:cNvPr>
          <p:cNvSpPr/>
          <p:nvPr/>
        </p:nvSpPr>
        <p:spPr>
          <a:xfrm>
            <a:off x="1032921" y="690110"/>
            <a:ext cx="2471945" cy="227258"/>
          </a:xfrm>
          <a:prstGeom prst="roundRect">
            <a:avLst>
              <a:gd name="adj" fmla="val 27083"/>
            </a:avLst>
          </a:prstGeom>
          <a:solidFill>
            <a:srgbClr val="2563EB"/>
          </a:solidFill>
          <a:ln w="12700">
            <a:solidFill>
              <a:srgbClr val="2563EB">
                <a:alpha val="0"/>
              </a:srgbClr>
            </a:solidFill>
            <a:prstDash val="solid"/>
          </a:ln>
        </p:spPr>
        <p:txBody>
          <a:bodyPr/>
          <a:lstStyle/>
          <a:p>
            <a:endParaRPr lang="zh-TW" altLang="en-US"/>
          </a:p>
        </p:txBody>
      </p:sp>
      <p:sp>
        <p:nvSpPr>
          <p:cNvPr id="483" name="Text 4">
            <a:extLst>
              <a:ext uri="{FF2B5EF4-FFF2-40B4-BE49-F238E27FC236}">
                <a16:creationId xmlns:a16="http://schemas.microsoft.com/office/drawing/2014/main" id="{DA8AC7ED-BC6C-D630-1252-C590C132A504}"/>
              </a:ext>
            </a:extLst>
          </p:cNvPr>
          <p:cNvSpPr/>
          <p:nvPr/>
        </p:nvSpPr>
        <p:spPr>
          <a:xfrm>
            <a:off x="1025938" y="651953"/>
            <a:ext cx="2468880" cy="316884"/>
          </a:xfrm>
          <a:prstGeom prst="rect">
            <a:avLst/>
          </a:prstGeom>
          <a:noFill/>
          <a:ln/>
        </p:spPr>
        <p:txBody>
          <a:bodyPr wrap="square" lIns="381" tIns="381" rIns="381" bIns="381" rtlCol="0" anchor="ctr">
            <a:noAutofit/>
          </a:bodyPr>
          <a:lstStyle/>
          <a:p>
            <a:pPr marL="0" indent="0" algn="ctr">
              <a:buNone/>
            </a:pPr>
            <a:r>
              <a:rPr lang="zh-TW" altLang="en-US" sz="1400" b="1">
                <a:solidFill>
                  <a:srgbClr val="FFFFFF"/>
                </a:solidFill>
                <a:latin typeface="Microsoft JhengHei" pitchFamily="34" charset="0"/>
                <a:ea typeface="Microsoft JhengHei" pitchFamily="34" charset="-122"/>
              </a:rPr>
              <a:t>非結構化知識檢索</a:t>
            </a:r>
            <a:endParaRPr lang="en-US" sz="1400"/>
          </a:p>
        </p:txBody>
      </p:sp>
      <p:sp>
        <p:nvSpPr>
          <p:cNvPr id="499" name="Shape 2">
            <a:extLst>
              <a:ext uri="{FF2B5EF4-FFF2-40B4-BE49-F238E27FC236}">
                <a16:creationId xmlns:a16="http://schemas.microsoft.com/office/drawing/2014/main" id="{F463848D-7B5D-6714-4B17-E748E61E3024}"/>
              </a:ext>
            </a:extLst>
          </p:cNvPr>
          <p:cNvSpPr/>
          <p:nvPr/>
        </p:nvSpPr>
        <p:spPr>
          <a:xfrm>
            <a:off x="3956242" y="715723"/>
            <a:ext cx="2984400" cy="6055758"/>
          </a:xfrm>
          <a:prstGeom prst="roundRect">
            <a:avLst>
              <a:gd name="adj" fmla="val 4514"/>
            </a:avLst>
          </a:prstGeom>
          <a:solidFill>
            <a:srgbClr val="ECFDF5"/>
          </a:solidFill>
          <a:ln w="12700">
            <a:solidFill>
              <a:srgbClr val="10B981"/>
            </a:solidFill>
            <a:prstDash val="solid"/>
          </a:ln>
        </p:spPr>
        <p:txBody>
          <a:bodyPr/>
          <a:lstStyle/>
          <a:p>
            <a:endParaRPr lang="zh-TW" altLang="en-US"/>
          </a:p>
        </p:txBody>
      </p:sp>
      <p:sp>
        <p:nvSpPr>
          <p:cNvPr id="30" name="Shape 46">
            <a:extLst>
              <a:ext uri="{FF2B5EF4-FFF2-40B4-BE49-F238E27FC236}">
                <a16:creationId xmlns:a16="http://schemas.microsoft.com/office/drawing/2014/main" id="{5EC97A38-EE5D-DB51-953B-A4121F34DD82}"/>
              </a:ext>
            </a:extLst>
          </p:cNvPr>
          <p:cNvSpPr/>
          <p:nvPr/>
        </p:nvSpPr>
        <p:spPr>
          <a:xfrm>
            <a:off x="4360024" y="1339703"/>
            <a:ext cx="2220163"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原始查詢解析與向量化</a:t>
            </a:r>
          </a:p>
        </p:txBody>
      </p:sp>
      <p:sp>
        <p:nvSpPr>
          <p:cNvPr id="32" name="Shape 46">
            <a:extLst>
              <a:ext uri="{FF2B5EF4-FFF2-40B4-BE49-F238E27FC236}">
                <a16:creationId xmlns:a16="http://schemas.microsoft.com/office/drawing/2014/main" id="{C79522FC-13BC-2A8F-D349-0769A5B02E91}"/>
              </a:ext>
            </a:extLst>
          </p:cNvPr>
          <p:cNvSpPr/>
          <p:nvPr/>
        </p:nvSpPr>
        <p:spPr>
          <a:xfrm>
            <a:off x="4358987" y="1708883"/>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t>Schema Linking</a:t>
            </a:r>
            <a:endParaRPr lang="zh-TW" altLang="en-US" sz="1200" b="1"/>
          </a:p>
        </p:txBody>
      </p:sp>
      <p:sp>
        <p:nvSpPr>
          <p:cNvPr id="34" name="Shape 46">
            <a:extLst>
              <a:ext uri="{FF2B5EF4-FFF2-40B4-BE49-F238E27FC236}">
                <a16:creationId xmlns:a16="http://schemas.microsoft.com/office/drawing/2014/main" id="{0337C671-B847-A76D-17AB-1B2EABB91BA0}"/>
              </a:ext>
            </a:extLst>
          </p:cNvPr>
          <p:cNvSpPr/>
          <p:nvPr/>
        </p:nvSpPr>
        <p:spPr>
          <a:xfrm>
            <a:off x="4358987" y="2084090"/>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業務規則與指標定義</a:t>
            </a:r>
          </a:p>
        </p:txBody>
      </p:sp>
      <p:sp>
        <p:nvSpPr>
          <p:cNvPr id="36" name="Shape 46">
            <a:extLst>
              <a:ext uri="{FF2B5EF4-FFF2-40B4-BE49-F238E27FC236}">
                <a16:creationId xmlns:a16="http://schemas.microsoft.com/office/drawing/2014/main" id="{43061266-24DC-768B-C2E4-800E47E02E71}"/>
              </a:ext>
            </a:extLst>
          </p:cNvPr>
          <p:cNvSpPr/>
          <p:nvPr/>
        </p:nvSpPr>
        <p:spPr>
          <a:xfrm>
            <a:off x="4337842" y="3195532"/>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latin typeface="+mj-lt"/>
                <a:ea typeface="+mj-ea"/>
              </a:rPr>
              <a:t>相似</a:t>
            </a:r>
            <a:r>
              <a:rPr lang="en-US" altLang="zh-TW" sz="1200" b="1">
                <a:latin typeface="+mj-lt"/>
                <a:ea typeface="+mj-ea"/>
              </a:rPr>
              <a:t>NL-SQL</a:t>
            </a:r>
            <a:r>
              <a:rPr lang="zh-TW" altLang="en-US" sz="1200" b="1">
                <a:latin typeface="+mj-lt"/>
                <a:ea typeface="+mj-ea"/>
              </a:rPr>
              <a:t>範例</a:t>
            </a:r>
          </a:p>
        </p:txBody>
      </p:sp>
      <p:sp>
        <p:nvSpPr>
          <p:cNvPr id="38" name="Shape 46">
            <a:extLst>
              <a:ext uri="{FF2B5EF4-FFF2-40B4-BE49-F238E27FC236}">
                <a16:creationId xmlns:a16="http://schemas.microsoft.com/office/drawing/2014/main" id="{53BC5CBE-D169-F257-BDF6-FC773FEBCBF6}"/>
              </a:ext>
            </a:extLst>
          </p:cNvPr>
          <p:cNvSpPr/>
          <p:nvPr/>
        </p:nvSpPr>
        <p:spPr>
          <a:xfrm>
            <a:off x="4360024" y="2453649"/>
            <a:ext cx="2220163"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SQL Reasoning Plan</a:t>
            </a:r>
            <a:endParaRPr lang="en-US" altLang="zh-TW" sz="1200" b="1"/>
          </a:p>
        </p:txBody>
      </p:sp>
      <p:sp>
        <p:nvSpPr>
          <p:cNvPr id="40" name="Shape 46">
            <a:extLst>
              <a:ext uri="{FF2B5EF4-FFF2-40B4-BE49-F238E27FC236}">
                <a16:creationId xmlns:a16="http://schemas.microsoft.com/office/drawing/2014/main" id="{B7027A13-84C1-34F6-34F9-49EF7CD86D02}"/>
              </a:ext>
            </a:extLst>
          </p:cNvPr>
          <p:cNvSpPr/>
          <p:nvPr/>
        </p:nvSpPr>
        <p:spPr>
          <a:xfrm>
            <a:off x="4346631" y="2815443"/>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400" b="1">
                <a:solidFill>
                  <a:srgbClr val="1F2937"/>
                </a:solidFill>
                <a:latin typeface="Microsoft JhengHei" pitchFamily="34" charset="0"/>
                <a:ea typeface="Microsoft JhengHei" pitchFamily="34" charset="-122"/>
                <a:cs typeface="Microsoft JhengHei" pitchFamily="34" charset="-120"/>
              </a:rPr>
              <a:t>Text-to-SQL</a:t>
            </a:r>
            <a:endParaRPr lang="en-US" altLang="zh-TW" sz="1400" b="1"/>
          </a:p>
        </p:txBody>
      </p:sp>
      <p:sp>
        <p:nvSpPr>
          <p:cNvPr id="42" name="Shape 46">
            <a:extLst>
              <a:ext uri="{FF2B5EF4-FFF2-40B4-BE49-F238E27FC236}">
                <a16:creationId xmlns:a16="http://schemas.microsoft.com/office/drawing/2014/main" id="{FC16749B-FAC2-148B-B458-89EEEC0CD903}"/>
              </a:ext>
            </a:extLst>
          </p:cNvPr>
          <p:cNvSpPr/>
          <p:nvPr/>
        </p:nvSpPr>
        <p:spPr>
          <a:xfrm>
            <a:off x="4337842" y="3546796"/>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SQL</a:t>
            </a:r>
            <a:r>
              <a:rPr lang="zh-TW" altLang="en-US" sz="1200" b="1">
                <a:solidFill>
                  <a:srgbClr val="1F2937"/>
                </a:solidFill>
                <a:latin typeface="Microsoft JhengHei" pitchFamily="34" charset="0"/>
                <a:ea typeface="Microsoft JhengHei" pitchFamily="34" charset="-122"/>
                <a:cs typeface="Microsoft JhengHei" pitchFamily="34" charset="-120"/>
              </a:rPr>
              <a:t>驗證與修正</a:t>
            </a:r>
            <a:endParaRPr lang="en-US" altLang="zh-TW" sz="1200" b="1"/>
          </a:p>
        </p:txBody>
      </p:sp>
      <p:sp>
        <p:nvSpPr>
          <p:cNvPr id="45" name="Shape 46">
            <a:extLst>
              <a:ext uri="{FF2B5EF4-FFF2-40B4-BE49-F238E27FC236}">
                <a16:creationId xmlns:a16="http://schemas.microsoft.com/office/drawing/2014/main" id="{46DEB9BA-E324-962C-F827-4A1E64E060D3}"/>
              </a:ext>
            </a:extLst>
          </p:cNvPr>
          <p:cNvSpPr/>
          <p:nvPr/>
        </p:nvSpPr>
        <p:spPr>
          <a:xfrm>
            <a:off x="4337842" y="3894049"/>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SQL</a:t>
            </a:r>
            <a:r>
              <a:rPr lang="zh-TW" altLang="en-US" sz="1200" b="1">
                <a:solidFill>
                  <a:srgbClr val="1F2937"/>
                </a:solidFill>
                <a:latin typeface="Microsoft JhengHei" pitchFamily="34" charset="0"/>
                <a:ea typeface="Microsoft JhengHei" pitchFamily="34" charset="-122"/>
                <a:cs typeface="Microsoft JhengHei" pitchFamily="34" charset="-120"/>
              </a:rPr>
              <a:t>執行</a:t>
            </a:r>
            <a:endParaRPr lang="en-US" altLang="zh-TW" sz="1200" b="1"/>
          </a:p>
        </p:txBody>
      </p:sp>
      <p:sp>
        <p:nvSpPr>
          <p:cNvPr id="47" name="Shape 46">
            <a:extLst>
              <a:ext uri="{FF2B5EF4-FFF2-40B4-BE49-F238E27FC236}">
                <a16:creationId xmlns:a16="http://schemas.microsoft.com/office/drawing/2014/main" id="{D0F0D1F4-E19F-A8BE-FF9D-2CD1425D9BED}"/>
              </a:ext>
            </a:extLst>
          </p:cNvPr>
          <p:cNvSpPr/>
          <p:nvPr/>
        </p:nvSpPr>
        <p:spPr>
          <a:xfrm>
            <a:off x="4337842" y="4241302"/>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分析與生成</a:t>
            </a:r>
            <a:endParaRPr lang="en-US" altLang="zh-TW" sz="1200" b="1"/>
          </a:p>
        </p:txBody>
      </p:sp>
      <p:sp>
        <p:nvSpPr>
          <p:cNvPr id="502" name="Shape 3">
            <a:extLst>
              <a:ext uri="{FF2B5EF4-FFF2-40B4-BE49-F238E27FC236}">
                <a16:creationId xmlns:a16="http://schemas.microsoft.com/office/drawing/2014/main" id="{F792AD2A-1DC8-53AB-CC2C-2AEE8F2FF045}"/>
              </a:ext>
            </a:extLst>
          </p:cNvPr>
          <p:cNvSpPr/>
          <p:nvPr/>
        </p:nvSpPr>
        <p:spPr>
          <a:xfrm>
            <a:off x="3956242" y="690110"/>
            <a:ext cx="2984400" cy="220476"/>
          </a:xfrm>
          <a:prstGeom prst="roundRect">
            <a:avLst>
              <a:gd name="adj" fmla="val 27083"/>
            </a:avLst>
          </a:prstGeom>
          <a:solidFill>
            <a:srgbClr val="10B981"/>
          </a:solidFill>
          <a:ln w="12700">
            <a:solidFill>
              <a:srgbClr val="F59E0B">
                <a:alpha val="0"/>
              </a:srgbClr>
            </a:solidFill>
            <a:prstDash val="solid"/>
          </a:ln>
        </p:spPr>
        <p:txBody>
          <a:bodyPr/>
          <a:lstStyle/>
          <a:p>
            <a:endParaRPr lang="zh-TW" altLang="en-US"/>
          </a:p>
        </p:txBody>
      </p:sp>
      <p:sp>
        <p:nvSpPr>
          <p:cNvPr id="903" name="Text 4">
            <a:extLst>
              <a:ext uri="{FF2B5EF4-FFF2-40B4-BE49-F238E27FC236}">
                <a16:creationId xmlns:a16="http://schemas.microsoft.com/office/drawing/2014/main" id="{9005746E-6609-60D2-7D88-47FC4585CBE8}"/>
              </a:ext>
            </a:extLst>
          </p:cNvPr>
          <p:cNvSpPr/>
          <p:nvPr/>
        </p:nvSpPr>
        <p:spPr>
          <a:xfrm>
            <a:off x="4214002" y="692399"/>
            <a:ext cx="2468880" cy="246888"/>
          </a:xfrm>
          <a:prstGeom prst="rect">
            <a:avLst/>
          </a:prstGeom>
          <a:noFill/>
          <a:ln/>
        </p:spPr>
        <p:txBody>
          <a:bodyPr wrap="square" lIns="381" tIns="381" rIns="381" bIns="381" rtlCol="0" anchor="ctr">
            <a:noAutofit/>
          </a:bodyPr>
          <a:lstStyle/>
          <a:p>
            <a:pPr marL="0" indent="0" algn="ctr">
              <a:buNone/>
            </a:pPr>
            <a:r>
              <a:rPr lang="zh-TW" altLang="en-US" sz="1400" b="1">
                <a:solidFill>
                  <a:srgbClr val="FFFFFF"/>
                </a:solidFill>
                <a:latin typeface="Microsoft JhengHei" pitchFamily="34" charset="0"/>
                <a:ea typeface="Microsoft JhengHei" pitchFamily="34" charset="-122"/>
              </a:rPr>
              <a:t>結構化知識檢索</a:t>
            </a:r>
            <a:endParaRPr lang="en-US" sz="1400"/>
          </a:p>
        </p:txBody>
      </p:sp>
      <p:sp>
        <p:nvSpPr>
          <p:cNvPr id="523" name="Shape 46">
            <a:extLst>
              <a:ext uri="{FF2B5EF4-FFF2-40B4-BE49-F238E27FC236}">
                <a16:creationId xmlns:a16="http://schemas.microsoft.com/office/drawing/2014/main" id="{6F2916BF-273C-9C32-198B-FD94DCF13B8C}"/>
              </a:ext>
            </a:extLst>
          </p:cNvPr>
          <p:cNvSpPr/>
          <p:nvPr/>
        </p:nvSpPr>
        <p:spPr>
          <a:xfrm>
            <a:off x="4337842" y="974576"/>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使用者問題</a:t>
            </a:r>
          </a:p>
        </p:txBody>
      </p:sp>
      <p:pic>
        <p:nvPicPr>
          <p:cNvPr id="525" name="圖片 524">
            <a:extLst>
              <a:ext uri="{FF2B5EF4-FFF2-40B4-BE49-F238E27FC236}">
                <a16:creationId xmlns:a16="http://schemas.microsoft.com/office/drawing/2014/main" id="{CDCC8DAD-982D-806C-E3C9-D99154F42934}"/>
              </a:ext>
            </a:extLst>
          </p:cNvPr>
          <p:cNvPicPr>
            <a:picLocks noChangeAspect="1"/>
          </p:cNvPicPr>
          <p:nvPr/>
        </p:nvPicPr>
        <p:blipFill>
          <a:blip r:embed="rId3">
            <a:extLst>
              <a:ext uri="{28A0092B-C50C-407E-A947-70E740481C1C}">
                <a14:useLocalDpi xmlns:a14="http://schemas.microsoft.com/office/drawing/2010/main" val="0"/>
              </a:ext>
            </a:extLst>
          </a:blip>
          <a:srcRect l="1892" t="71207" r="3465" b="6681"/>
          <a:stretch>
            <a:fillRect/>
          </a:stretch>
        </p:blipFill>
        <p:spPr>
          <a:xfrm>
            <a:off x="-288853" y="7180750"/>
            <a:ext cx="9735886" cy="1516465"/>
          </a:xfrm>
          <a:prstGeom prst="rect">
            <a:avLst/>
          </a:prstGeom>
        </p:spPr>
      </p:pic>
      <p:sp>
        <p:nvSpPr>
          <p:cNvPr id="508" name="Shape 14">
            <a:extLst>
              <a:ext uri="{FF2B5EF4-FFF2-40B4-BE49-F238E27FC236}">
                <a16:creationId xmlns:a16="http://schemas.microsoft.com/office/drawing/2014/main" id="{F4DAF70E-386B-AFFE-6F09-EEB7AC17B962}"/>
              </a:ext>
            </a:extLst>
          </p:cNvPr>
          <p:cNvSpPr/>
          <p:nvPr/>
        </p:nvSpPr>
        <p:spPr>
          <a:xfrm>
            <a:off x="7068485" y="780458"/>
            <a:ext cx="4364956" cy="5991023"/>
          </a:xfrm>
          <a:prstGeom prst="roundRect">
            <a:avLst>
              <a:gd name="adj" fmla="val 5350"/>
            </a:avLst>
          </a:prstGeom>
          <a:solidFill>
            <a:srgbClr val="FFF9E9"/>
          </a:solidFill>
          <a:ln w="12700">
            <a:solidFill>
              <a:srgbClr val="F59E0B"/>
            </a:solidFill>
            <a:prstDash val="solid"/>
          </a:ln>
        </p:spPr>
        <p:txBody>
          <a:bodyPr/>
          <a:lstStyle/>
          <a:p>
            <a:endParaRPr lang="zh-TW" altLang="en-US"/>
          </a:p>
        </p:txBody>
      </p:sp>
      <p:sp>
        <p:nvSpPr>
          <p:cNvPr id="455" name="Shape 35">
            <a:extLst>
              <a:ext uri="{FF2B5EF4-FFF2-40B4-BE49-F238E27FC236}">
                <a16:creationId xmlns:a16="http://schemas.microsoft.com/office/drawing/2014/main" id="{F7E6408E-63BA-0E9B-7C10-65F33FC3240F}"/>
              </a:ext>
            </a:extLst>
          </p:cNvPr>
          <p:cNvSpPr/>
          <p:nvPr/>
        </p:nvSpPr>
        <p:spPr>
          <a:xfrm>
            <a:off x="8204398" y="996389"/>
            <a:ext cx="22212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使用者問題</a:t>
            </a:r>
          </a:p>
          <a:p>
            <a:endParaRPr lang="zh-TW" altLang="en-US"/>
          </a:p>
        </p:txBody>
      </p:sp>
      <p:sp>
        <p:nvSpPr>
          <p:cNvPr id="459" name="Shape 35">
            <a:extLst>
              <a:ext uri="{FF2B5EF4-FFF2-40B4-BE49-F238E27FC236}">
                <a16:creationId xmlns:a16="http://schemas.microsoft.com/office/drawing/2014/main" id="{80229968-02FA-C13C-5003-766947B246C8}"/>
              </a:ext>
            </a:extLst>
          </p:cNvPr>
          <p:cNvSpPr/>
          <p:nvPr/>
        </p:nvSpPr>
        <p:spPr>
          <a:xfrm>
            <a:off x="8197481" y="1375784"/>
            <a:ext cx="22212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任務拆解 </a:t>
            </a:r>
            <a:r>
              <a:rPr lang="en-US" altLang="zh-TW" sz="1200" b="1"/>
              <a:t>/ </a:t>
            </a:r>
            <a:r>
              <a:rPr lang="zh-TW" altLang="en-US" sz="1200" b="1"/>
              <a:t>規劃</a:t>
            </a:r>
          </a:p>
        </p:txBody>
      </p:sp>
      <p:sp>
        <p:nvSpPr>
          <p:cNvPr id="463" name="Shape 35">
            <a:extLst>
              <a:ext uri="{FF2B5EF4-FFF2-40B4-BE49-F238E27FC236}">
                <a16:creationId xmlns:a16="http://schemas.microsoft.com/office/drawing/2014/main" id="{AD6BE670-5C9F-7716-2F8E-E60DBA511AC6}"/>
              </a:ext>
            </a:extLst>
          </p:cNvPr>
          <p:cNvSpPr/>
          <p:nvPr/>
        </p:nvSpPr>
        <p:spPr>
          <a:xfrm>
            <a:off x="8157765" y="3815218"/>
            <a:ext cx="19836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證據融合</a:t>
            </a:r>
          </a:p>
        </p:txBody>
      </p:sp>
      <p:sp>
        <p:nvSpPr>
          <p:cNvPr id="467" name="Shape 35">
            <a:extLst>
              <a:ext uri="{FF2B5EF4-FFF2-40B4-BE49-F238E27FC236}">
                <a16:creationId xmlns:a16="http://schemas.microsoft.com/office/drawing/2014/main" id="{609D9566-29F3-D1E3-BD5C-F5699F1DAC38}"/>
              </a:ext>
            </a:extLst>
          </p:cNvPr>
          <p:cNvSpPr/>
          <p:nvPr/>
        </p:nvSpPr>
        <p:spPr>
          <a:xfrm>
            <a:off x="8157763" y="4169128"/>
            <a:ext cx="19836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跨來源推理與驗證</a:t>
            </a:r>
          </a:p>
        </p:txBody>
      </p:sp>
      <p:sp>
        <p:nvSpPr>
          <p:cNvPr id="471" name="Shape 35">
            <a:extLst>
              <a:ext uri="{FF2B5EF4-FFF2-40B4-BE49-F238E27FC236}">
                <a16:creationId xmlns:a16="http://schemas.microsoft.com/office/drawing/2014/main" id="{67262155-97D2-2AAD-0118-9C6FDC349E3B}"/>
              </a:ext>
            </a:extLst>
          </p:cNvPr>
          <p:cNvSpPr/>
          <p:nvPr/>
        </p:nvSpPr>
        <p:spPr>
          <a:xfrm>
            <a:off x="8158950" y="4518938"/>
            <a:ext cx="19836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最終答案 </a:t>
            </a:r>
          </a:p>
        </p:txBody>
      </p:sp>
      <p:sp>
        <p:nvSpPr>
          <p:cNvPr id="899" name="Shape 111">
            <a:extLst>
              <a:ext uri="{FF2B5EF4-FFF2-40B4-BE49-F238E27FC236}">
                <a16:creationId xmlns:a16="http://schemas.microsoft.com/office/drawing/2014/main" id="{DEA68598-E6D3-290A-75DE-99AE9C545EDA}"/>
              </a:ext>
            </a:extLst>
          </p:cNvPr>
          <p:cNvSpPr/>
          <p:nvPr/>
        </p:nvSpPr>
        <p:spPr>
          <a:xfrm>
            <a:off x="7068485" y="718047"/>
            <a:ext cx="4364956" cy="196064"/>
          </a:xfrm>
          <a:prstGeom prst="roundRect">
            <a:avLst>
              <a:gd name="adj" fmla="val 32143"/>
            </a:avLst>
          </a:prstGeom>
          <a:solidFill>
            <a:srgbClr val="F59E0B"/>
          </a:solidFill>
          <a:ln w="12700">
            <a:solidFill>
              <a:srgbClr val="8B5CF6">
                <a:alpha val="0"/>
              </a:srgbClr>
            </a:solidFill>
            <a:prstDash val="solid"/>
          </a:ln>
        </p:spPr>
        <p:txBody>
          <a:bodyPr/>
          <a:lstStyle/>
          <a:p>
            <a:endParaRPr lang="zh-TW" altLang="en-US"/>
          </a:p>
        </p:txBody>
      </p:sp>
      <p:sp>
        <p:nvSpPr>
          <p:cNvPr id="505" name="Text 4">
            <a:extLst>
              <a:ext uri="{FF2B5EF4-FFF2-40B4-BE49-F238E27FC236}">
                <a16:creationId xmlns:a16="http://schemas.microsoft.com/office/drawing/2014/main" id="{206FE1C1-A806-99E3-B0E2-4807C512A9CA}"/>
              </a:ext>
            </a:extLst>
          </p:cNvPr>
          <p:cNvSpPr/>
          <p:nvPr/>
        </p:nvSpPr>
        <p:spPr>
          <a:xfrm>
            <a:off x="8016523" y="699650"/>
            <a:ext cx="2468880" cy="246888"/>
          </a:xfrm>
          <a:prstGeom prst="rect">
            <a:avLst/>
          </a:prstGeom>
          <a:noFill/>
          <a:ln/>
        </p:spPr>
        <p:txBody>
          <a:bodyPr wrap="square" lIns="381" tIns="381" rIns="381" bIns="381" rtlCol="0" anchor="ctr">
            <a:noAutofit/>
          </a:bodyPr>
          <a:lstStyle/>
          <a:p>
            <a:pPr marL="0" indent="0" algn="ctr">
              <a:buNone/>
            </a:pPr>
            <a:r>
              <a:rPr lang="en-US" altLang="zh-TW" sz="1400" b="1">
                <a:solidFill>
                  <a:srgbClr val="FFFFFF"/>
                </a:solidFill>
                <a:latin typeface="Microsoft JhengHei" pitchFamily="34" charset="0"/>
                <a:ea typeface="Microsoft JhengHei" pitchFamily="34" charset="-122"/>
              </a:rPr>
              <a:t>Hybrid </a:t>
            </a:r>
            <a:r>
              <a:rPr lang="zh-TW" altLang="en-US" sz="1400" b="1">
                <a:solidFill>
                  <a:srgbClr val="FFFFFF"/>
                </a:solidFill>
                <a:latin typeface="Microsoft JhengHei" pitchFamily="34" charset="0"/>
                <a:ea typeface="Microsoft JhengHei" pitchFamily="34" charset="-122"/>
              </a:rPr>
              <a:t>知識檢索</a:t>
            </a:r>
            <a:endParaRPr lang="en-US" sz="1400"/>
          </a:p>
        </p:txBody>
      </p:sp>
      <p:sp>
        <p:nvSpPr>
          <p:cNvPr id="529" name="Shape 10">
            <a:extLst>
              <a:ext uri="{FF2B5EF4-FFF2-40B4-BE49-F238E27FC236}">
                <a16:creationId xmlns:a16="http://schemas.microsoft.com/office/drawing/2014/main" id="{FDFF810B-1785-1328-7D50-736E3195F8C1}"/>
              </a:ext>
            </a:extLst>
          </p:cNvPr>
          <p:cNvSpPr/>
          <p:nvPr/>
        </p:nvSpPr>
        <p:spPr>
          <a:xfrm>
            <a:off x="7118998" y="1864870"/>
            <a:ext cx="2030565" cy="1772121"/>
          </a:xfrm>
          <a:prstGeom prst="roundRect">
            <a:avLst>
              <a:gd name="adj" fmla="val 3591"/>
            </a:avLst>
          </a:prstGeom>
          <a:solidFill>
            <a:srgbClr val="EFF6FF"/>
          </a:solidFill>
          <a:ln w="12700">
            <a:solidFill>
              <a:srgbClr val="EFF6FF"/>
            </a:solidFill>
            <a:prstDash val="solid"/>
          </a:ln>
        </p:spPr>
        <p:txBody>
          <a:bodyPr/>
          <a:lstStyle/>
          <a:p>
            <a:endParaRPr lang="zh-TW" altLang="en-US"/>
          </a:p>
        </p:txBody>
      </p:sp>
      <p:sp>
        <p:nvSpPr>
          <p:cNvPr id="53" name="Shape 51">
            <a:extLst>
              <a:ext uri="{FF2B5EF4-FFF2-40B4-BE49-F238E27FC236}">
                <a16:creationId xmlns:a16="http://schemas.microsoft.com/office/drawing/2014/main" id="{154A5600-7D98-0374-2CE8-28292FA2723E}"/>
              </a:ext>
            </a:extLst>
          </p:cNvPr>
          <p:cNvSpPr/>
          <p:nvPr/>
        </p:nvSpPr>
        <p:spPr>
          <a:xfrm>
            <a:off x="7254447" y="1928044"/>
            <a:ext cx="1742400" cy="295200"/>
          </a:xfrm>
          <a:prstGeom prst="roundRect">
            <a:avLst>
              <a:gd name="adj" fmla="val 17391"/>
            </a:avLst>
          </a:prstGeom>
          <a:solidFill>
            <a:srgbClr val="FFFFFF"/>
          </a:solidFill>
          <a:ln w="15240">
            <a:solidFill>
              <a:srgbClr val="729AF2"/>
            </a:solidFill>
            <a:prstDash val="solid"/>
          </a:ln>
        </p:spPr>
        <p:txBody>
          <a:bodyPr/>
          <a:lstStyle/>
          <a:p>
            <a:pPr algn="ctr"/>
            <a:r>
              <a:rPr lang="zh-TW" altLang="en-US" sz="1200" b="1"/>
              <a:t>問題改寫</a:t>
            </a:r>
          </a:p>
        </p:txBody>
      </p:sp>
      <p:sp>
        <p:nvSpPr>
          <p:cNvPr id="55" name="Shape 51">
            <a:extLst>
              <a:ext uri="{FF2B5EF4-FFF2-40B4-BE49-F238E27FC236}">
                <a16:creationId xmlns:a16="http://schemas.microsoft.com/office/drawing/2014/main" id="{46BAF9AE-A4AE-E7A5-3810-F2AC0D856167}"/>
              </a:ext>
            </a:extLst>
          </p:cNvPr>
          <p:cNvSpPr/>
          <p:nvPr/>
        </p:nvSpPr>
        <p:spPr>
          <a:xfrm>
            <a:off x="7254447" y="2366315"/>
            <a:ext cx="1742400" cy="295200"/>
          </a:xfrm>
          <a:prstGeom prst="roundRect">
            <a:avLst>
              <a:gd name="adj" fmla="val 17391"/>
            </a:avLst>
          </a:prstGeom>
          <a:solidFill>
            <a:srgbClr val="FFFFFF"/>
          </a:solidFill>
          <a:ln w="15240">
            <a:solidFill>
              <a:srgbClr val="729AF2"/>
            </a:solidFill>
            <a:prstDash val="solid"/>
          </a:ln>
        </p:spPr>
        <p:txBody>
          <a:bodyPr/>
          <a:lstStyle/>
          <a:p>
            <a:pPr algn="ctr"/>
            <a:r>
              <a:rPr lang="en-US" altLang="zh-TW" sz="1200" b="1"/>
              <a:t>Retrieval</a:t>
            </a:r>
            <a:endParaRPr lang="zh-TW" altLang="en-US" sz="1200" b="1"/>
          </a:p>
        </p:txBody>
      </p:sp>
      <p:sp>
        <p:nvSpPr>
          <p:cNvPr id="57" name="Shape 51">
            <a:extLst>
              <a:ext uri="{FF2B5EF4-FFF2-40B4-BE49-F238E27FC236}">
                <a16:creationId xmlns:a16="http://schemas.microsoft.com/office/drawing/2014/main" id="{F99D577F-E5C3-E646-ACBF-D151EDEB80AF}"/>
              </a:ext>
            </a:extLst>
          </p:cNvPr>
          <p:cNvSpPr/>
          <p:nvPr/>
        </p:nvSpPr>
        <p:spPr>
          <a:xfrm>
            <a:off x="7253495" y="2832161"/>
            <a:ext cx="1742400" cy="295200"/>
          </a:xfrm>
          <a:prstGeom prst="roundRect">
            <a:avLst>
              <a:gd name="adj" fmla="val 17391"/>
            </a:avLst>
          </a:prstGeom>
          <a:solidFill>
            <a:srgbClr val="FFFFFF"/>
          </a:solidFill>
          <a:ln w="15240">
            <a:solidFill>
              <a:srgbClr val="729AF2"/>
            </a:solidFill>
            <a:prstDash val="solid"/>
          </a:ln>
        </p:spPr>
        <p:txBody>
          <a:bodyPr/>
          <a:lstStyle/>
          <a:p>
            <a:pPr algn="ctr"/>
            <a:r>
              <a:rPr lang="en-US" altLang="zh-TW" sz="1200" b="1"/>
              <a:t>Reranking</a:t>
            </a:r>
            <a:endParaRPr lang="zh-TW" altLang="en-US" sz="1200" b="1"/>
          </a:p>
        </p:txBody>
      </p:sp>
      <p:sp>
        <p:nvSpPr>
          <p:cNvPr id="59" name="Shape 51">
            <a:extLst>
              <a:ext uri="{FF2B5EF4-FFF2-40B4-BE49-F238E27FC236}">
                <a16:creationId xmlns:a16="http://schemas.microsoft.com/office/drawing/2014/main" id="{8080EC07-CB5C-AAFD-2A77-380BEAEBB822}"/>
              </a:ext>
            </a:extLst>
          </p:cNvPr>
          <p:cNvSpPr/>
          <p:nvPr/>
        </p:nvSpPr>
        <p:spPr>
          <a:xfrm>
            <a:off x="7254447" y="3298007"/>
            <a:ext cx="1741448" cy="295200"/>
          </a:xfrm>
          <a:prstGeom prst="roundRect">
            <a:avLst>
              <a:gd name="adj" fmla="val 17391"/>
            </a:avLst>
          </a:prstGeom>
          <a:solidFill>
            <a:srgbClr val="FFFFFF"/>
          </a:solidFill>
          <a:ln w="15240">
            <a:solidFill>
              <a:srgbClr val="729AF2"/>
            </a:solidFill>
            <a:prstDash val="solid"/>
          </a:ln>
        </p:spPr>
        <p:txBody>
          <a:bodyPr/>
          <a:lstStyle/>
          <a:p>
            <a:r>
              <a:rPr lang="zh-TW" altLang="en-US" sz="1200" b="1"/>
              <a:t>文件證據</a:t>
            </a:r>
            <a:r>
              <a:rPr lang="en-US" altLang="zh-TW" sz="1200" b="1"/>
              <a:t>(</a:t>
            </a:r>
            <a:r>
              <a:rPr lang="zh-TW" altLang="en-US" sz="1200" b="1"/>
              <a:t>段落 </a:t>
            </a:r>
            <a:r>
              <a:rPr lang="en-US" altLang="zh-TW" sz="1200" b="1"/>
              <a:t>/ </a:t>
            </a:r>
            <a:r>
              <a:rPr lang="zh-TW" altLang="en-US" sz="1200" b="1"/>
              <a:t>圖表</a:t>
            </a:r>
            <a:r>
              <a:rPr lang="en-US" altLang="zh-TW" sz="1200" b="1"/>
              <a:t>)</a:t>
            </a:r>
            <a:endParaRPr lang="zh-TW" altLang="en-US" sz="1200" b="1"/>
          </a:p>
        </p:txBody>
      </p:sp>
      <p:sp>
        <p:nvSpPr>
          <p:cNvPr id="531" name="Text 23">
            <a:extLst>
              <a:ext uri="{FF2B5EF4-FFF2-40B4-BE49-F238E27FC236}">
                <a16:creationId xmlns:a16="http://schemas.microsoft.com/office/drawing/2014/main" id="{6A646708-7F34-E582-C92C-C33374771244}"/>
              </a:ext>
            </a:extLst>
          </p:cNvPr>
          <p:cNvSpPr/>
          <p:nvPr/>
        </p:nvSpPr>
        <p:spPr>
          <a:xfrm>
            <a:off x="7091614" y="2076901"/>
            <a:ext cx="181573" cy="64723"/>
          </a:xfrm>
          <a:prstGeom prst="rect">
            <a:avLst/>
          </a:prstGeom>
          <a:noFill/>
          <a:ln/>
        </p:spPr>
        <p:txBody>
          <a:bodyPr wrap="square" lIns="254" tIns="254" rIns="254" bIns="254" rtlCol="0" anchor="t">
            <a:noAutofit/>
          </a:bodyPr>
          <a:lstStyle/>
          <a:p>
            <a:r>
              <a:rPr lang="zh-TW" altLang="en-US" sz="1200" b="1">
                <a:solidFill>
                  <a:schemeClr val="accent5"/>
                </a:solidFill>
                <a:latin typeface="Microsoft JhengHei" pitchFamily="34" charset="0"/>
                <a:ea typeface="Microsoft JhengHei" pitchFamily="34" charset="-122"/>
                <a:cs typeface="Microsoft JhengHei" pitchFamily="34" charset="-120"/>
              </a:rPr>
              <a:t>文本檢索</a:t>
            </a:r>
          </a:p>
        </p:txBody>
      </p:sp>
      <p:sp>
        <p:nvSpPr>
          <p:cNvPr id="533" name="Shape 10">
            <a:extLst>
              <a:ext uri="{FF2B5EF4-FFF2-40B4-BE49-F238E27FC236}">
                <a16:creationId xmlns:a16="http://schemas.microsoft.com/office/drawing/2014/main" id="{2AD9C6F3-91C6-BC47-AF9B-4FA6DB047B05}"/>
              </a:ext>
            </a:extLst>
          </p:cNvPr>
          <p:cNvSpPr/>
          <p:nvPr/>
        </p:nvSpPr>
        <p:spPr>
          <a:xfrm>
            <a:off x="9298566" y="1864871"/>
            <a:ext cx="2094235" cy="1772120"/>
          </a:xfrm>
          <a:prstGeom prst="roundRect">
            <a:avLst>
              <a:gd name="adj" fmla="val 3591"/>
            </a:avLst>
          </a:prstGeom>
          <a:solidFill>
            <a:srgbClr val="ECFDF5"/>
          </a:solidFill>
          <a:ln w="12700">
            <a:solidFill>
              <a:srgbClr val="EFF6FF"/>
            </a:solidFill>
            <a:prstDash val="solid"/>
          </a:ln>
        </p:spPr>
        <p:txBody>
          <a:bodyPr/>
          <a:lstStyle/>
          <a:p>
            <a:endParaRPr lang="zh-TW" altLang="en-US"/>
          </a:p>
        </p:txBody>
      </p:sp>
      <p:sp>
        <p:nvSpPr>
          <p:cNvPr id="61" name="Shape 46">
            <a:extLst>
              <a:ext uri="{FF2B5EF4-FFF2-40B4-BE49-F238E27FC236}">
                <a16:creationId xmlns:a16="http://schemas.microsoft.com/office/drawing/2014/main" id="{5B763101-54DB-062B-B4EC-709E4420276F}"/>
              </a:ext>
            </a:extLst>
          </p:cNvPr>
          <p:cNvSpPr/>
          <p:nvPr/>
        </p:nvSpPr>
        <p:spPr>
          <a:xfrm>
            <a:off x="9360518" y="1914212"/>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原始查詢解析與向量化</a:t>
            </a:r>
          </a:p>
        </p:txBody>
      </p:sp>
      <p:sp>
        <p:nvSpPr>
          <p:cNvPr id="63" name="Shape 46">
            <a:extLst>
              <a:ext uri="{FF2B5EF4-FFF2-40B4-BE49-F238E27FC236}">
                <a16:creationId xmlns:a16="http://schemas.microsoft.com/office/drawing/2014/main" id="{47BBED00-F43A-8D94-4AC7-06694311F3C1}"/>
              </a:ext>
            </a:extLst>
          </p:cNvPr>
          <p:cNvSpPr/>
          <p:nvPr/>
        </p:nvSpPr>
        <p:spPr>
          <a:xfrm>
            <a:off x="9360518" y="2272702"/>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t>Schema Linking</a:t>
            </a:r>
            <a:endParaRPr lang="zh-TW" altLang="en-US" sz="1200" b="1"/>
          </a:p>
        </p:txBody>
      </p:sp>
      <p:sp>
        <p:nvSpPr>
          <p:cNvPr id="449" name="Shape 46">
            <a:extLst>
              <a:ext uri="{FF2B5EF4-FFF2-40B4-BE49-F238E27FC236}">
                <a16:creationId xmlns:a16="http://schemas.microsoft.com/office/drawing/2014/main" id="{E911CD4D-5BEE-CCD2-B7A9-9C4E74505DFA}"/>
              </a:ext>
            </a:extLst>
          </p:cNvPr>
          <p:cNvSpPr/>
          <p:nvPr/>
        </p:nvSpPr>
        <p:spPr>
          <a:xfrm>
            <a:off x="9373498" y="2619018"/>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Text-to-SQL</a:t>
            </a:r>
            <a:endParaRPr lang="en-US" altLang="zh-TW" sz="1200" b="1"/>
          </a:p>
        </p:txBody>
      </p:sp>
      <p:sp>
        <p:nvSpPr>
          <p:cNvPr id="451" name="Shape 46">
            <a:extLst>
              <a:ext uri="{FF2B5EF4-FFF2-40B4-BE49-F238E27FC236}">
                <a16:creationId xmlns:a16="http://schemas.microsoft.com/office/drawing/2014/main" id="{3A535000-0B4B-9A44-B40F-E76282B8ED0D}"/>
              </a:ext>
            </a:extLst>
          </p:cNvPr>
          <p:cNvSpPr/>
          <p:nvPr/>
        </p:nvSpPr>
        <p:spPr>
          <a:xfrm>
            <a:off x="9373498" y="2963129"/>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rPr>
              <a:t>SQL</a:t>
            </a:r>
            <a:r>
              <a:rPr lang="zh-TW" altLang="en-US" sz="1200" b="1">
                <a:solidFill>
                  <a:srgbClr val="1F2937"/>
                </a:solidFill>
                <a:latin typeface="Microsoft JhengHei" pitchFamily="34" charset="0"/>
                <a:ea typeface="Microsoft JhengHei" pitchFamily="34" charset="-122"/>
              </a:rPr>
              <a:t>驗證與執行</a:t>
            </a:r>
            <a:endParaRPr lang="en-US" altLang="zh-TW" sz="1200" b="1"/>
          </a:p>
        </p:txBody>
      </p:sp>
      <p:sp>
        <p:nvSpPr>
          <p:cNvPr id="453" name="Shape 46">
            <a:extLst>
              <a:ext uri="{FF2B5EF4-FFF2-40B4-BE49-F238E27FC236}">
                <a16:creationId xmlns:a16="http://schemas.microsoft.com/office/drawing/2014/main" id="{2716C60D-013C-9581-2910-38A56C1B30C2}"/>
              </a:ext>
            </a:extLst>
          </p:cNvPr>
          <p:cNvSpPr/>
          <p:nvPr/>
        </p:nvSpPr>
        <p:spPr>
          <a:xfrm>
            <a:off x="9377327" y="3302374"/>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solidFill>
                  <a:srgbClr val="1F2937"/>
                </a:solidFill>
                <a:latin typeface="Microsoft JhengHei" pitchFamily="34" charset="0"/>
                <a:ea typeface="Microsoft JhengHei" pitchFamily="34" charset="-122"/>
              </a:rPr>
              <a:t>資料結果</a:t>
            </a:r>
            <a:r>
              <a:rPr lang="en-US" altLang="zh-TW" sz="1200" b="1">
                <a:solidFill>
                  <a:srgbClr val="1F2937"/>
                </a:solidFill>
                <a:latin typeface="Microsoft JhengHei" pitchFamily="34" charset="0"/>
                <a:ea typeface="Microsoft JhengHei" pitchFamily="34" charset="-122"/>
              </a:rPr>
              <a:t>(</a:t>
            </a:r>
            <a:r>
              <a:rPr lang="zh-TW" altLang="en-US" sz="1200" b="1">
                <a:solidFill>
                  <a:srgbClr val="1F2937"/>
                </a:solidFill>
                <a:latin typeface="Microsoft JhengHei" pitchFamily="34" charset="0"/>
                <a:ea typeface="Microsoft JhengHei" pitchFamily="34" charset="-122"/>
              </a:rPr>
              <a:t>數據 </a:t>
            </a:r>
            <a:r>
              <a:rPr lang="en-US" altLang="zh-TW" sz="1200" b="1">
                <a:solidFill>
                  <a:srgbClr val="1F2937"/>
                </a:solidFill>
                <a:latin typeface="Microsoft JhengHei" pitchFamily="34" charset="0"/>
                <a:ea typeface="Microsoft JhengHei" pitchFamily="34" charset="-122"/>
              </a:rPr>
              <a:t>/ </a:t>
            </a:r>
            <a:r>
              <a:rPr lang="zh-TW" altLang="en-US" sz="1200" b="1">
                <a:solidFill>
                  <a:srgbClr val="1F2937"/>
                </a:solidFill>
                <a:latin typeface="Microsoft JhengHei" pitchFamily="34" charset="0"/>
                <a:ea typeface="Microsoft JhengHei" pitchFamily="34" charset="-122"/>
              </a:rPr>
              <a:t>圖表</a:t>
            </a:r>
            <a:r>
              <a:rPr lang="en-US" altLang="zh-TW" sz="1200" b="1">
                <a:solidFill>
                  <a:srgbClr val="1F2937"/>
                </a:solidFill>
                <a:latin typeface="Microsoft JhengHei" pitchFamily="34" charset="0"/>
                <a:ea typeface="Microsoft JhengHei" pitchFamily="34" charset="-122"/>
              </a:rPr>
              <a:t>)</a:t>
            </a:r>
            <a:endParaRPr lang="en-US" altLang="zh-TW" sz="1200" b="1"/>
          </a:p>
        </p:txBody>
      </p:sp>
      <p:sp>
        <p:nvSpPr>
          <p:cNvPr id="541" name="Text 23">
            <a:extLst>
              <a:ext uri="{FF2B5EF4-FFF2-40B4-BE49-F238E27FC236}">
                <a16:creationId xmlns:a16="http://schemas.microsoft.com/office/drawing/2014/main" id="{9D8E9D8C-857F-1194-0C15-4011374BBF3D}"/>
              </a:ext>
            </a:extLst>
          </p:cNvPr>
          <p:cNvSpPr/>
          <p:nvPr/>
        </p:nvSpPr>
        <p:spPr>
          <a:xfrm>
            <a:off x="11244494" y="1999547"/>
            <a:ext cx="181573" cy="707418"/>
          </a:xfrm>
          <a:prstGeom prst="rect">
            <a:avLst/>
          </a:prstGeom>
          <a:noFill/>
          <a:ln/>
        </p:spPr>
        <p:txBody>
          <a:bodyPr wrap="square" lIns="254" tIns="254" rIns="254" bIns="254" rtlCol="0" anchor="t">
            <a:noAutofit/>
          </a:bodyPr>
          <a:lstStyle/>
          <a:p>
            <a:r>
              <a:rPr lang="zh-TW" altLang="en-US" sz="1200" b="1">
                <a:solidFill>
                  <a:schemeClr val="accent2">
                    <a:lumMod val="50000"/>
                  </a:schemeClr>
                </a:solidFill>
                <a:latin typeface="Microsoft JhengHei" pitchFamily="34" charset="0"/>
                <a:ea typeface="Microsoft JhengHei" pitchFamily="34" charset="-122"/>
                <a:cs typeface="Microsoft JhengHei" pitchFamily="34" charset="-120"/>
              </a:rPr>
              <a:t>數據查找</a:t>
            </a:r>
          </a:p>
        </p:txBody>
      </p:sp>
      <p:cxnSp>
        <p:nvCxnSpPr>
          <p:cNvPr id="545" name="直線單箭頭接點 544">
            <a:extLst>
              <a:ext uri="{FF2B5EF4-FFF2-40B4-BE49-F238E27FC236}">
                <a16:creationId xmlns:a16="http://schemas.microsoft.com/office/drawing/2014/main" id="{47557FA5-EC67-A378-3089-4DD475DDD884}"/>
              </a:ext>
            </a:extLst>
          </p:cNvPr>
          <p:cNvCxnSpPr>
            <a:cxnSpLocks/>
            <a:stCxn id="455" idx="2"/>
            <a:endCxn id="459" idx="0"/>
          </p:cNvCxnSpPr>
          <p:nvPr/>
        </p:nvCxnSpPr>
        <p:spPr>
          <a:xfrm flipH="1">
            <a:off x="9308081" y="1251989"/>
            <a:ext cx="6917" cy="1237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9" name="接點: 肘形 548">
            <a:extLst>
              <a:ext uri="{FF2B5EF4-FFF2-40B4-BE49-F238E27FC236}">
                <a16:creationId xmlns:a16="http://schemas.microsoft.com/office/drawing/2014/main" id="{AC6795E3-1E1D-D021-5D8E-99B18FF58DE1}"/>
              </a:ext>
            </a:extLst>
          </p:cNvPr>
          <p:cNvCxnSpPr>
            <a:cxnSpLocks/>
            <a:stCxn id="459" idx="2"/>
            <a:endCxn id="529" idx="0"/>
          </p:cNvCxnSpPr>
          <p:nvPr/>
        </p:nvCxnSpPr>
        <p:spPr>
          <a:xfrm rot="5400000">
            <a:off x="8604438" y="1161227"/>
            <a:ext cx="233486" cy="117380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55" name="接點: 肘形 554">
            <a:extLst>
              <a:ext uri="{FF2B5EF4-FFF2-40B4-BE49-F238E27FC236}">
                <a16:creationId xmlns:a16="http://schemas.microsoft.com/office/drawing/2014/main" id="{15A29938-FD9B-0025-776A-689F191BA7DC}"/>
              </a:ext>
            </a:extLst>
          </p:cNvPr>
          <p:cNvCxnSpPr>
            <a:cxnSpLocks/>
            <a:stCxn id="459" idx="2"/>
            <a:endCxn id="533" idx="0"/>
          </p:cNvCxnSpPr>
          <p:nvPr/>
        </p:nvCxnSpPr>
        <p:spPr>
          <a:xfrm rot="16200000" flipH="1">
            <a:off x="9710139" y="1229325"/>
            <a:ext cx="233487" cy="103760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63" name="接點: 肘形 562">
            <a:extLst>
              <a:ext uri="{FF2B5EF4-FFF2-40B4-BE49-F238E27FC236}">
                <a16:creationId xmlns:a16="http://schemas.microsoft.com/office/drawing/2014/main" id="{613C73F0-4C76-1F0E-13CC-6B12422F611E}"/>
              </a:ext>
            </a:extLst>
          </p:cNvPr>
          <p:cNvCxnSpPr>
            <a:cxnSpLocks/>
            <a:stCxn id="529" idx="2"/>
            <a:endCxn id="463" idx="0"/>
          </p:cNvCxnSpPr>
          <p:nvPr/>
        </p:nvCxnSpPr>
        <p:spPr>
          <a:xfrm rot="16200000" flipH="1">
            <a:off x="8552810" y="3218462"/>
            <a:ext cx="178227" cy="101528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75" name="接點: 肘形 574">
            <a:extLst>
              <a:ext uri="{FF2B5EF4-FFF2-40B4-BE49-F238E27FC236}">
                <a16:creationId xmlns:a16="http://schemas.microsoft.com/office/drawing/2014/main" id="{314EC25F-E6FD-1C7B-1CF1-28D87ED586E0}"/>
              </a:ext>
            </a:extLst>
          </p:cNvPr>
          <p:cNvCxnSpPr>
            <a:cxnSpLocks/>
            <a:stCxn id="533" idx="2"/>
            <a:endCxn id="463" idx="0"/>
          </p:cNvCxnSpPr>
          <p:nvPr/>
        </p:nvCxnSpPr>
        <p:spPr>
          <a:xfrm rot="5400000">
            <a:off x="9658512" y="3128045"/>
            <a:ext cx="178227" cy="119611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983" name="直線單箭頭接點 982">
            <a:extLst>
              <a:ext uri="{FF2B5EF4-FFF2-40B4-BE49-F238E27FC236}">
                <a16:creationId xmlns:a16="http://schemas.microsoft.com/office/drawing/2014/main" id="{1499F207-3FE4-AE25-0D7C-887DCD0AB56C}"/>
              </a:ext>
            </a:extLst>
          </p:cNvPr>
          <p:cNvCxnSpPr>
            <a:cxnSpLocks/>
            <a:stCxn id="463" idx="2"/>
            <a:endCxn id="467" idx="0"/>
          </p:cNvCxnSpPr>
          <p:nvPr/>
        </p:nvCxnSpPr>
        <p:spPr>
          <a:xfrm flipH="1">
            <a:off x="9149563" y="4070818"/>
            <a:ext cx="2" cy="983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7" name="直線單箭頭接點 996">
            <a:extLst>
              <a:ext uri="{FF2B5EF4-FFF2-40B4-BE49-F238E27FC236}">
                <a16:creationId xmlns:a16="http://schemas.microsoft.com/office/drawing/2014/main" id="{2B5FB98D-7D64-81C4-7894-28BAD4AA388F}"/>
              </a:ext>
            </a:extLst>
          </p:cNvPr>
          <p:cNvCxnSpPr>
            <a:cxnSpLocks/>
            <a:stCxn id="467" idx="2"/>
            <a:endCxn id="471" idx="0"/>
          </p:cNvCxnSpPr>
          <p:nvPr/>
        </p:nvCxnSpPr>
        <p:spPr>
          <a:xfrm>
            <a:off x="9149563" y="4424728"/>
            <a:ext cx="1187" cy="94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表格 1">
            <a:extLst>
              <a:ext uri="{FF2B5EF4-FFF2-40B4-BE49-F238E27FC236}">
                <a16:creationId xmlns:a16="http://schemas.microsoft.com/office/drawing/2014/main" id="{E11A5BA4-3005-F338-28DB-BBC8B630E65C}"/>
              </a:ext>
            </a:extLst>
          </p:cNvPr>
          <p:cNvGraphicFramePr>
            <a:graphicFrameLocks noGrp="1"/>
          </p:cNvGraphicFramePr>
          <p:nvPr>
            <p:extLst>
              <p:ext uri="{D42A27DB-BD31-4B8C-83A1-F6EECF244321}">
                <p14:modId xmlns:p14="http://schemas.microsoft.com/office/powerpoint/2010/main" val="473465875"/>
              </p:ext>
            </p:extLst>
          </p:nvPr>
        </p:nvGraphicFramePr>
        <p:xfrm>
          <a:off x="8791315" y="6973473"/>
          <a:ext cx="8128000" cy="1356919"/>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074213432"/>
                    </a:ext>
                  </a:extLst>
                </a:gridCol>
                <a:gridCol w="2032000">
                  <a:extLst>
                    <a:ext uri="{9D8B030D-6E8A-4147-A177-3AD203B41FA5}">
                      <a16:colId xmlns:a16="http://schemas.microsoft.com/office/drawing/2014/main" val="29449462"/>
                    </a:ext>
                  </a:extLst>
                </a:gridCol>
                <a:gridCol w="2032000">
                  <a:extLst>
                    <a:ext uri="{9D8B030D-6E8A-4147-A177-3AD203B41FA5}">
                      <a16:colId xmlns:a16="http://schemas.microsoft.com/office/drawing/2014/main" val="2254775350"/>
                    </a:ext>
                  </a:extLst>
                </a:gridCol>
                <a:gridCol w="2032000">
                  <a:extLst>
                    <a:ext uri="{9D8B030D-6E8A-4147-A177-3AD203B41FA5}">
                      <a16:colId xmlns:a16="http://schemas.microsoft.com/office/drawing/2014/main" val="249556923"/>
                    </a:ext>
                  </a:extLst>
                </a:gridCol>
              </a:tblGrid>
              <a:tr h="167098">
                <a:tc>
                  <a:txBody>
                    <a:bodyPr/>
                    <a:lstStyle/>
                    <a:p>
                      <a:r>
                        <a:rPr lang="zh-TW" altLang="en-US" sz="800" dirty="0"/>
                        <a:t>關鍵差異比較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800" b="1">
                          <a:solidFill>
                            <a:srgbClr val="FFFFFF"/>
                          </a:solidFill>
                          <a:latin typeface="Microsoft JhengHei" pitchFamily="34" charset="0"/>
                          <a:ea typeface="Microsoft JhengHei" pitchFamily="34" charset="-122"/>
                        </a:rPr>
                        <a:t>非結構化知識檢索</a:t>
                      </a:r>
                      <a:endParaRPr lang="en-US" altLang="zh-TW" sz="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800" b="1">
                          <a:solidFill>
                            <a:srgbClr val="FFFFFF"/>
                          </a:solidFill>
                          <a:latin typeface="Microsoft JhengHei" pitchFamily="34" charset="0"/>
                          <a:ea typeface="Microsoft JhengHei" pitchFamily="34" charset="-122"/>
                        </a:rPr>
                        <a:t>結構化知識檢索</a:t>
                      </a:r>
                      <a:endParaRPr lang="en-US" altLang="zh-TW" sz="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1">
                          <a:solidFill>
                            <a:srgbClr val="FFFFFF"/>
                          </a:solidFill>
                          <a:latin typeface="Microsoft JhengHei" pitchFamily="34" charset="0"/>
                          <a:ea typeface="Microsoft JhengHei" pitchFamily="34" charset="-122"/>
                        </a:rPr>
                        <a:t>Hybrid </a:t>
                      </a:r>
                      <a:r>
                        <a:rPr lang="zh-TW" altLang="en-US" sz="800" b="1">
                          <a:solidFill>
                            <a:srgbClr val="FFFFFF"/>
                          </a:solidFill>
                          <a:latin typeface="Microsoft JhengHei" pitchFamily="34" charset="0"/>
                          <a:ea typeface="Microsoft JhengHei" pitchFamily="34" charset="-122"/>
                        </a:rPr>
                        <a:t>知識檢索</a:t>
                      </a:r>
                      <a:endParaRPr lang="en-US" altLang="zh-TW" sz="800"/>
                    </a:p>
                  </a:txBody>
                  <a:tcPr/>
                </a:tc>
                <a:extLst>
                  <a:ext uri="{0D108BD9-81ED-4DB2-BD59-A6C34878D82A}">
                    <a16:rowId xmlns:a16="http://schemas.microsoft.com/office/drawing/2014/main" val="2370527082"/>
                  </a:ext>
                </a:extLst>
              </a:tr>
              <a:tr h="166918">
                <a:tc>
                  <a:txBody>
                    <a:bodyPr/>
                    <a:lstStyle/>
                    <a:p>
                      <a:r>
                        <a:rPr lang="zh-TW" altLang="en-US" sz="800"/>
                        <a:t>比較項目</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2122588073"/>
                  </a:ext>
                </a:extLst>
              </a:tr>
              <a:tr h="166918">
                <a:tc>
                  <a:txBody>
                    <a:bodyPr/>
                    <a:lstStyle/>
                    <a:p>
                      <a:r>
                        <a:rPr lang="zh-TW" altLang="en-US" sz="800"/>
                        <a:t>主要資料來源</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905888775"/>
                  </a:ext>
                </a:extLst>
              </a:tr>
              <a:tr h="166918">
                <a:tc>
                  <a:txBody>
                    <a:bodyPr/>
                    <a:lstStyle/>
                    <a:p>
                      <a:r>
                        <a:rPr lang="zh-TW" altLang="en-US" sz="800"/>
                        <a:t>核心演算法</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68578028"/>
                  </a:ext>
                </a:extLst>
              </a:tr>
              <a:tr h="166918">
                <a:tc>
                  <a:txBody>
                    <a:bodyPr/>
                    <a:lstStyle/>
                    <a:p>
                      <a:r>
                        <a:rPr lang="zh-TW" altLang="en-US" sz="800"/>
                        <a:t>輸出內容</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4098257733"/>
                  </a:ext>
                </a:extLst>
              </a:tr>
              <a:tr h="290119">
                <a:tc>
                  <a:txBody>
                    <a:bodyPr/>
                    <a:lstStyle/>
                    <a:p>
                      <a:r>
                        <a:rPr lang="zh-TW" altLang="en-US" sz="800"/>
                        <a:t>適用題行</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dirty="0"/>
                    </a:p>
                  </a:txBody>
                  <a:tcPr/>
                </a:tc>
                <a:extLst>
                  <a:ext uri="{0D108BD9-81ED-4DB2-BD59-A6C34878D82A}">
                    <a16:rowId xmlns:a16="http://schemas.microsoft.com/office/drawing/2014/main" val="1832045631"/>
                  </a:ext>
                </a:extLst>
              </a:tr>
            </a:tbl>
          </a:graphicData>
        </a:graphic>
      </p:graphicFrame>
      <p:cxnSp>
        <p:nvCxnSpPr>
          <p:cNvPr id="8" name="直線接點 7">
            <a:extLst>
              <a:ext uri="{FF2B5EF4-FFF2-40B4-BE49-F238E27FC236}">
                <a16:creationId xmlns:a16="http://schemas.microsoft.com/office/drawing/2014/main" id="{08414B5F-5A6F-5FBF-3B03-24BCA2FC387B}"/>
              </a:ext>
            </a:extLst>
          </p:cNvPr>
          <p:cNvCxnSpPr>
            <a:cxnSpLocks/>
          </p:cNvCxnSpPr>
          <p:nvPr/>
        </p:nvCxnSpPr>
        <p:spPr>
          <a:xfrm>
            <a:off x="127506" y="4925264"/>
            <a:ext cx="11398554" cy="0"/>
          </a:xfrm>
          <a:prstGeom prst="line">
            <a:avLst/>
          </a:prstGeom>
          <a:ln w="19050">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CBB7AEDD-3979-0A36-08C8-02FE76B8425D}"/>
              </a:ext>
            </a:extLst>
          </p:cNvPr>
          <p:cNvSpPr/>
          <p:nvPr/>
        </p:nvSpPr>
        <p:spPr>
          <a:xfrm>
            <a:off x="120377" y="2172681"/>
            <a:ext cx="800219" cy="830997"/>
          </a:xfrm>
          <a:prstGeom prst="rect">
            <a:avLst/>
          </a:prstGeom>
          <a:noFill/>
        </p:spPr>
        <p:txBody>
          <a:bodyPr vert="horz" wrap="none" lIns="91440" tIns="45720" rIns="91440" bIns="45720">
            <a:spAutoFit/>
          </a:bodyPr>
          <a:lstStyle/>
          <a:p>
            <a:pPr algn="ctr"/>
            <a:r>
              <a:rPr lang="zh-TW" altLang="en-US" sz="2400" b="1" cap="none" spc="0">
                <a:ln w="0"/>
                <a:solidFill>
                  <a:schemeClr val="tx1"/>
                </a:solidFill>
              </a:rPr>
              <a:t>檢索</a:t>
            </a:r>
            <a:endParaRPr lang="en-US" altLang="zh-TW" sz="2400" b="1" cap="none" spc="0">
              <a:ln w="0"/>
              <a:solidFill>
                <a:schemeClr val="tx1"/>
              </a:solidFill>
            </a:endParaRPr>
          </a:p>
          <a:p>
            <a:pPr algn="ctr"/>
            <a:r>
              <a:rPr lang="zh-TW" altLang="en-US" sz="2400" b="1" cap="none" spc="0">
                <a:ln w="0"/>
                <a:solidFill>
                  <a:schemeClr val="tx1"/>
                </a:solidFill>
              </a:rPr>
              <a:t>流程</a:t>
            </a:r>
          </a:p>
        </p:txBody>
      </p:sp>
      <p:sp>
        <p:nvSpPr>
          <p:cNvPr id="17" name="矩形 16">
            <a:extLst>
              <a:ext uri="{FF2B5EF4-FFF2-40B4-BE49-F238E27FC236}">
                <a16:creationId xmlns:a16="http://schemas.microsoft.com/office/drawing/2014/main" id="{9A47825C-C29A-4E70-DAC4-421642457BDC}"/>
              </a:ext>
            </a:extLst>
          </p:cNvPr>
          <p:cNvSpPr/>
          <p:nvPr/>
        </p:nvSpPr>
        <p:spPr>
          <a:xfrm>
            <a:off x="61498" y="5020275"/>
            <a:ext cx="1005403" cy="338554"/>
          </a:xfrm>
          <a:prstGeom prst="rect">
            <a:avLst/>
          </a:prstGeom>
          <a:noFill/>
        </p:spPr>
        <p:txBody>
          <a:bodyPr vert="horz" wrap="none" lIns="91440" tIns="45720" rIns="91440" bIns="45720">
            <a:spAutoFit/>
          </a:bodyPr>
          <a:lstStyle/>
          <a:p>
            <a:pPr algn="ctr"/>
            <a:r>
              <a:rPr lang="zh-TW" altLang="en-US" sz="1600" b="1" cap="none" spc="0" dirty="0">
                <a:ln w="0"/>
                <a:solidFill>
                  <a:schemeClr val="tx1"/>
                </a:solidFill>
              </a:rPr>
              <a:t>比較項目</a:t>
            </a:r>
          </a:p>
        </p:txBody>
      </p:sp>
      <p:sp>
        <p:nvSpPr>
          <p:cNvPr id="21" name="文字方塊 20">
            <a:extLst>
              <a:ext uri="{FF2B5EF4-FFF2-40B4-BE49-F238E27FC236}">
                <a16:creationId xmlns:a16="http://schemas.microsoft.com/office/drawing/2014/main" id="{B606225E-84D2-BC08-FCC3-5335E1CFCCCA}"/>
              </a:ext>
            </a:extLst>
          </p:cNvPr>
          <p:cNvSpPr txBox="1"/>
          <p:nvPr/>
        </p:nvSpPr>
        <p:spPr>
          <a:xfrm>
            <a:off x="2866293" y="7150865"/>
            <a:ext cx="12404690" cy="338554"/>
          </a:xfrm>
          <a:prstGeom prst="rect">
            <a:avLst/>
          </a:prstGeom>
          <a:noFill/>
        </p:spPr>
        <p:txBody>
          <a:bodyPr wrap="square">
            <a:spAutoFit/>
          </a:bodyPr>
          <a:lstStyle/>
          <a:p>
            <a:pPr algn="ctr"/>
            <a:r>
              <a:rPr lang="zh-TW" altLang="en-US" sz="1600" b="1">
                <a:ln w="0"/>
              </a:rPr>
              <a:t>資料來源</a:t>
            </a:r>
            <a:endParaRPr lang="zh-TW" altLang="en-US" sz="1600" b="1" cap="none" spc="0">
              <a:ln w="0"/>
              <a:solidFill>
                <a:schemeClr val="tx1"/>
              </a:solidFill>
            </a:endParaRPr>
          </a:p>
        </p:txBody>
      </p:sp>
      <p:cxnSp>
        <p:nvCxnSpPr>
          <p:cNvPr id="23" name="直線接點 22">
            <a:extLst>
              <a:ext uri="{FF2B5EF4-FFF2-40B4-BE49-F238E27FC236}">
                <a16:creationId xmlns:a16="http://schemas.microsoft.com/office/drawing/2014/main" id="{3D677C68-B185-C256-D41B-4992D701027F}"/>
              </a:ext>
            </a:extLst>
          </p:cNvPr>
          <p:cNvCxnSpPr>
            <a:cxnSpLocks/>
          </p:cNvCxnSpPr>
          <p:nvPr/>
        </p:nvCxnSpPr>
        <p:spPr>
          <a:xfrm>
            <a:off x="127506" y="5509743"/>
            <a:ext cx="11398554" cy="0"/>
          </a:xfrm>
          <a:prstGeom prst="line">
            <a:avLst/>
          </a:prstGeom>
          <a:ln w="19050">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8FC5394A-7A1C-2F02-9145-84FBC5AB4E7B}"/>
              </a:ext>
            </a:extLst>
          </p:cNvPr>
          <p:cNvSpPr/>
          <p:nvPr/>
        </p:nvSpPr>
        <p:spPr>
          <a:xfrm>
            <a:off x="61497" y="6167556"/>
            <a:ext cx="1005403" cy="338554"/>
          </a:xfrm>
          <a:prstGeom prst="rect">
            <a:avLst/>
          </a:prstGeom>
          <a:noFill/>
        </p:spPr>
        <p:txBody>
          <a:bodyPr vert="horz" wrap="none" lIns="91440" tIns="45720" rIns="91440" bIns="45720">
            <a:spAutoFit/>
          </a:bodyPr>
          <a:lstStyle/>
          <a:p>
            <a:pPr algn="ctr"/>
            <a:r>
              <a:rPr lang="zh-TW" altLang="en-US" sz="1600" b="1" cap="none" spc="0" dirty="0">
                <a:ln w="0"/>
                <a:solidFill>
                  <a:schemeClr val="tx1"/>
                </a:solidFill>
              </a:rPr>
              <a:t>適用場景</a:t>
            </a:r>
          </a:p>
        </p:txBody>
      </p:sp>
      <p:cxnSp>
        <p:nvCxnSpPr>
          <p:cNvPr id="28" name="直線接點 27">
            <a:extLst>
              <a:ext uri="{FF2B5EF4-FFF2-40B4-BE49-F238E27FC236}">
                <a16:creationId xmlns:a16="http://schemas.microsoft.com/office/drawing/2014/main" id="{062BD182-E63E-C93E-07E3-36C1E001CE16}"/>
              </a:ext>
            </a:extLst>
          </p:cNvPr>
          <p:cNvCxnSpPr>
            <a:cxnSpLocks/>
          </p:cNvCxnSpPr>
          <p:nvPr/>
        </p:nvCxnSpPr>
        <p:spPr>
          <a:xfrm>
            <a:off x="127506" y="6055322"/>
            <a:ext cx="11398554" cy="0"/>
          </a:xfrm>
          <a:prstGeom prst="line">
            <a:avLst/>
          </a:prstGeom>
          <a:ln w="19050">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7CA316B0-1253-B780-513C-5408EC2E59EC}"/>
              </a:ext>
            </a:extLst>
          </p:cNvPr>
          <p:cNvSpPr/>
          <p:nvPr/>
        </p:nvSpPr>
        <p:spPr>
          <a:xfrm>
            <a:off x="61498" y="5610434"/>
            <a:ext cx="1005403" cy="338554"/>
          </a:xfrm>
          <a:prstGeom prst="rect">
            <a:avLst/>
          </a:prstGeom>
          <a:noFill/>
        </p:spPr>
        <p:txBody>
          <a:bodyPr vert="horz" wrap="none" lIns="91440" tIns="45720" rIns="91440" bIns="45720">
            <a:spAutoFit/>
          </a:bodyPr>
          <a:lstStyle/>
          <a:p>
            <a:pPr algn="ctr"/>
            <a:r>
              <a:rPr lang="zh-TW" altLang="en-US" sz="1600" b="1" dirty="0">
                <a:ln w="0"/>
              </a:rPr>
              <a:t>資料來源</a:t>
            </a:r>
            <a:endParaRPr lang="zh-TW" altLang="en-US" sz="1600" b="1" cap="none" spc="0" dirty="0">
              <a:ln w="0"/>
              <a:solidFill>
                <a:schemeClr val="tx1"/>
              </a:solidFill>
            </a:endParaRPr>
          </a:p>
        </p:txBody>
      </p:sp>
      <p:sp>
        <p:nvSpPr>
          <p:cNvPr id="46" name="文字方塊 45">
            <a:extLst>
              <a:ext uri="{FF2B5EF4-FFF2-40B4-BE49-F238E27FC236}">
                <a16:creationId xmlns:a16="http://schemas.microsoft.com/office/drawing/2014/main" id="{2AF3A49C-B430-14EE-E2A9-CABA34DDB28D}"/>
              </a:ext>
            </a:extLst>
          </p:cNvPr>
          <p:cNvSpPr txBox="1"/>
          <p:nvPr/>
        </p:nvSpPr>
        <p:spPr>
          <a:xfrm>
            <a:off x="1075438" y="5018863"/>
            <a:ext cx="2436411" cy="400110"/>
          </a:xfrm>
          <a:prstGeom prst="rect">
            <a:avLst/>
          </a:prstGeom>
          <a:noFill/>
        </p:spPr>
        <p:txBody>
          <a:bodyPr wrap="square" rtlCol="0">
            <a:spAutoFit/>
          </a:bodyPr>
          <a:lstStyle/>
          <a:p>
            <a:r>
              <a:rPr lang="zh-TW" altLang="en-US" sz="1000" dirty="0"/>
              <a:t>從文件中找出相關證據，並根據證據回答</a:t>
            </a:r>
          </a:p>
        </p:txBody>
      </p:sp>
      <p:sp>
        <p:nvSpPr>
          <p:cNvPr id="49" name="文字方塊 48">
            <a:extLst>
              <a:ext uri="{FF2B5EF4-FFF2-40B4-BE49-F238E27FC236}">
                <a16:creationId xmlns:a16="http://schemas.microsoft.com/office/drawing/2014/main" id="{6CF24456-4C61-9296-C5F9-94A112A7FDFC}"/>
              </a:ext>
            </a:extLst>
          </p:cNvPr>
          <p:cNvSpPr txBox="1"/>
          <p:nvPr/>
        </p:nvSpPr>
        <p:spPr>
          <a:xfrm>
            <a:off x="4119663" y="5584166"/>
            <a:ext cx="2657557" cy="400110"/>
          </a:xfrm>
          <a:prstGeom prst="rect">
            <a:avLst/>
          </a:prstGeom>
          <a:noFill/>
        </p:spPr>
        <p:txBody>
          <a:bodyPr wrap="square" rtlCol="0">
            <a:spAutoFit/>
          </a:bodyPr>
          <a:lstStyle/>
          <a:p>
            <a:r>
              <a:rPr lang="zh-TW" altLang="en-US" sz="1000" dirty="0"/>
              <a:t>資料庫</a:t>
            </a:r>
            <a:r>
              <a:rPr lang="en-US" altLang="zh-TW" sz="1000" dirty="0"/>
              <a:t>(Oracle</a:t>
            </a:r>
            <a:r>
              <a:rPr lang="zh-TW" altLang="en-US" sz="1000" dirty="0"/>
              <a:t> </a:t>
            </a:r>
            <a:r>
              <a:rPr lang="en-US" altLang="zh-TW" sz="1000" dirty="0"/>
              <a:t>SQL,</a:t>
            </a:r>
            <a:r>
              <a:rPr lang="zh-TW" altLang="zh-TW" sz="1000" dirty="0"/>
              <a:t> PostgreSQL</a:t>
            </a:r>
            <a:r>
              <a:rPr lang="en-US" altLang="zh-TW" sz="1000" dirty="0"/>
              <a:t>,</a:t>
            </a:r>
            <a:r>
              <a:rPr lang="zh-TW" altLang="zh-TW" sz="1000" dirty="0"/>
              <a:t> Microsoft SQL</a:t>
            </a:r>
            <a:r>
              <a:rPr lang="en-US" altLang="zh-TW" sz="1000" dirty="0"/>
              <a:t>)</a:t>
            </a:r>
            <a:endParaRPr lang="zh-TW" altLang="en-US" sz="1000" dirty="0"/>
          </a:p>
        </p:txBody>
      </p:sp>
      <p:sp>
        <p:nvSpPr>
          <p:cNvPr id="51" name="文字方塊 50">
            <a:extLst>
              <a:ext uri="{FF2B5EF4-FFF2-40B4-BE49-F238E27FC236}">
                <a16:creationId xmlns:a16="http://schemas.microsoft.com/office/drawing/2014/main" id="{D799EA5A-06A4-CDAC-5DE0-ED57E7F76E1A}"/>
              </a:ext>
            </a:extLst>
          </p:cNvPr>
          <p:cNvSpPr txBox="1"/>
          <p:nvPr/>
        </p:nvSpPr>
        <p:spPr>
          <a:xfrm>
            <a:off x="8214539" y="5623857"/>
            <a:ext cx="2657557" cy="246221"/>
          </a:xfrm>
          <a:prstGeom prst="rect">
            <a:avLst/>
          </a:prstGeom>
          <a:noFill/>
        </p:spPr>
        <p:txBody>
          <a:bodyPr wrap="square" rtlCol="0">
            <a:spAutoFit/>
          </a:bodyPr>
          <a:lstStyle/>
          <a:p>
            <a:r>
              <a:rPr lang="zh-TW" altLang="en-US" sz="1000" dirty="0"/>
              <a:t>前面兩者結合資料來源</a:t>
            </a:r>
          </a:p>
        </p:txBody>
      </p:sp>
      <p:sp>
        <p:nvSpPr>
          <p:cNvPr id="54" name="文字方塊 53">
            <a:extLst>
              <a:ext uri="{FF2B5EF4-FFF2-40B4-BE49-F238E27FC236}">
                <a16:creationId xmlns:a16="http://schemas.microsoft.com/office/drawing/2014/main" id="{3E449105-6BDF-5B0B-118D-DD1FD39EF6D6}"/>
              </a:ext>
            </a:extLst>
          </p:cNvPr>
          <p:cNvSpPr txBox="1"/>
          <p:nvPr/>
        </p:nvSpPr>
        <p:spPr>
          <a:xfrm>
            <a:off x="1114764" y="5684833"/>
            <a:ext cx="2436411" cy="246221"/>
          </a:xfrm>
          <a:prstGeom prst="rect">
            <a:avLst/>
          </a:prstGeom>
          <a:noFill/>
        </p:spPr>
        <p:txBody>
          <a:bodyPr wrap="square" rtlCol="0">
            <a:spAutoFit/>
          </a:bodyPr>
          <a:lstStyle/>
          <a:p>
            <a:r>
              <a:rPr lang="en-US" altLang="zh-TW" sz="1000" dirty="0"/>
              <a:t>pdf</a:t>
            </a:r>
            <a:r>
              <a:rPr lang="zh-TW" altLang="en-US" sz="1000" dirty="0"/>
              <a:t>、</a:t>
            </a:r>
            <a:r>
              <a:rPr lang="en-US" altLang="zh-TW" sz="1000" dirty="0"/>
              <a:t>word</a:t>
            </a:r>
            <a:r>
              <a:rPr lang="zh-TW" altLang="en-US" sz="1000" dirty="0"/>
              <a:t>、網頁、</a:t>
            </a:r>
            <a:r>
              <a:rPr lang="en-US" altLang="zh-TW" sz="1000" dirty="0"/>
              <a:t>FAQ</a:t>
            </a:r>
            <a:r>
              <a:rPr lang="zh-TW" altLang="en-US" sz="1000" dirty="0"/>
              <a:t>、規章、報告</a:t>
            </a:r>
          </a:p>
        </p:txBody>
      </p:sp>
      <p:sp>
        <p:nvSpPr>
          <p:cNvPr id="58" name="文字方塊 57">
            <a:extLst>
              <a:ext uri="{FF2B5EF4-FFF2-40B4-BE49-F238E27FC236}">
                <a16:creationId xmlns:a16="http://schemas.microsoft.com/office/drawing/2014/main" id="{8D47A0C8-549D-3F1C-197A-88E59179FE2F}"/>
              </a:ext>
            </a:extLst>
          </p:cNvPr>
          <p:cNvSpPr txBox="1"/>
          <p:nvPr/>
        </p:nvSpPr>
        <p:spPr>
          <a:xfrm>
            <a:off x="4166254" y="5055392"/>
            <a:ext cx="2436411" cy="246221"/>
          </a:xfrm>
          <a:prstGeom prst="rect">
            <a:avLst/>
          </a:prstGeom>
          <a:noFill/>
        </p:spPr>
        <p:txBody>
          <a:bodyPr wrap="square" rtlCol="0">
            <a:spAutoFit/>
          </a:bodyPr>
          <a:lstStyle/>
          <a:p>
            <a:r>
              <a:rPr lang="zh-TW" altLang="en-US" sz="1000" dirty="0"/>
              <a:t>理解業務語意，轉換為</a:t>
            </a:r>
            <a:r>
              <a:rPr lang="en-US" altLang="zh-TW" sz="1000" dirty="0"/>
              <a:t>SQL</a:t>
            </a:r>
            <a:r>
              <a:rPr lang="zh-TW" altLang="en-US" sz="1000" dirty="0"/>
              <a:t>並計算資料</a:t>
            </a:r>
          </a:p>
        </p:txBody>
      </p:sp>
      <p:sp>
        <p:nvSpPr>
          <p:cNvPr id="62" name="文字方塊 61">
            <a:extLst>
              <a:ext uri="{FF2B5EF4-FFF2-40B4-BE49-F238E27FC236}">
                <a16:creationId xmlns:a16="http://schemas.microsoft.com/office/drawing/2014/main" id="{55C5ABEC-194E-1C5C-16DE-9866FB63FE23}"/>
              </a:ext>
            </a:extLst>
          </p:cNvPr>
          <p:cNvSpPr txBox="1"/>
          <p:nvPr/>
        </p:nvSpPr>
        <p:spPr>
          <a:xfrm>
            <a:off x="7722890" y="5057056"/>
            <a:ext cx="3448287" cy="246221"/>
          </a:xfrm>
          <a:prstGeom prst="rect">
            <a:avLst/>
          </a:prstGeom>
          <a:noFill/>
        </p:spPr>
        <p:txBody>
          <a:bodyPr wrap="square" rtlCol="0">
            <a:spAutoFit/>
          </a:bodyPr>
          <a:lstStyle/>
          <a:p>
            <a:r>
              <a:rPr lang="zh-TW" altLang="en-US" sz="1000" dirty="0"/>
              <a:t>整合文件證據與資料計算結果，提供可驗證的答案</a:t>
            </a:r>
          </a:p>
        </p:txBody>
      </p:sp>
      <p:sp>
        <p:nvSpPr>
          <p:cNvPr id="897" name="文字方塊 896">
            <a:extLst>
              <a:ext uri="{FF2B5EF4-FFF2-40B4-BE49-F238E27FC236}">
                <a16:creationId xmlns:a16="http://schemas.microsoft.com/office/drawing/2014/main" id="{D5CFEB91-5AB4-6F99-EB6A-1FC8ECECB967}"/>
              </a:ext>
            </a:extLst>
          </p:cNvPr>
          <p:cNvSpPr txBox="1"/>
          <p:nvPr/>
        </p:nvSpPr>
        <p:spPr>
          <a:xfrm>
            <a:off x="1073883" y="6223041"/>
            <a:ext cx="2436411" cy="400110"/>
          </a:xfrm>
          <a:prstGeom prst="rect">
            <a:avLst/>
          </a:prstGeom>
          <a:noFill/>
        </p:spPr>
        <p:txBody>
          <a:bodyPr wrap="square" rtlCol="0">
            <a:spAutoFit/>
          </a:bodyPr>
          <a:lstStyle/>
          <a:p>
            <a:r>
              <a:rPr lang="zh-TW" altLang="en-US" sz="1000" dirty="0"/>
              <a:t>什麼、為什麼、如何、政策、定義例如亞資中心高雄專區進度？、</a:t>
            </a:r>
          </a:p>
        </p:txBody>
      </p:sp>
      <p:sp>
        <p:nvSpPr>
          <p:cNvPr id="900" name="文字方塊 899">
            <a:extLst>
              <a:ext uri="{FF2B5EF4-FFF2-40B4-BE49-F238E27FC236}">
                <a16:creationId xmlns:a16="http://schemas.microsoft.com/office/drawing/2014/main" id="{E024EA24-152C-7DCE-7A9E-52ECD62CBB69}"/>
              </a:ext>
            </a:extLst>
          </p:cNvPr>
          <p:cNvSpPr txBox="1"/>
          <p:nvPr/>
        </p:nvSpPr>
        <p:spPr>
          <a:xfrm>
            <a:off x="4214002" y="6118734"/>
            <a:ext cx="2726640" cy="553998"/>
          </a:xfrm>
          <a:prstGeom prst="rect">
            <a:avLst/>
          </a:prstGeom>
          <a:noFill/>
        </p:spPr>
        <p:txBody>
          <a:bodyPr wrap="square" rtlCol="0">
            <a:spAutoFit/>
          </a:bodyPr>
          <a:lstStyle/>
          <a:p>
            <a:r>
              <a:rPr lang="zh-TW" altLang="en-US" sz="1000" dirty="0"/>
              <a:t>多少、趨勢、比較、排行、佔比、</a:t>
            </a:r>
            <a:r>
              <a:rPr lang="en-US" altLang="zh-TW" sz="1000" dirty="0"/>
              <a:t>KPI</a:t>
            </a:r>
            <a:r>
              <a:rPr lang="zh-TW" altLang="en-US" sz="1000" dirty="0"/>
              <a:t>例如金同處</a:t>
            </a:r>
            <a:r>
              <a:rPr lang="en-US" altLang="zh-TW" sz="1000" dirty="0"/>
              <a:t>9</a:t>
            </a:r>
            <a:r>
              <a:rPr lang="zh-TW" altLang="en-US" sz="1000" dirty="0"/>
              <a:t>月授信利差是多少</a:t>
            </a:r>
            <a:r>
              <a:rPr lang="en-US" altLang="zh-TW" sz="1000" dirty="0"/>
              <a:t>?</a:t>
            </a:r>
            <a:r>
              <a:rPr lang="zh-TW" altLang="en-US" sz="1000" dirty="0"/>
              <a:t>、</a:t>
            </a:r>
            <a:r>
              <a:rPr lang="en-US" altLang="zh-TW" sz="1000" dirty="0"/>
              <a:t>2024Q1</a:t>
            </a:r>
            <a:r>
              <a:rPr lang="zh-TW" altLang="en-US" sz="1000" dirty="0"/>
              <a:t>國泰銀新加坡分行</a:t>
            </a:r>
            <a:r>
              <a:rPr lang="en-US" altLang="zh-TW" sz="1000" dirty="0"/>
              <a:t>2023</a:t>
            </a:r>
            <a:r>
              <a:rPr lang="zh-TW" altLang="en-US" sz="1000" dirty="0"/>
              <a:t>年放款餘額是多少</a:t>
            </a:r>
            <a:r>
              <a:rPr lang="en-US" altLang="zh-TW" sz="1000" dirty="0"/>
              <a:t>?</a:t>
            </a:r>
            <a:endParaRPr lang="zh-TW" altLang="en-US" sz="1000" dirty="0"/>
          </a:p>
        </p:txBody>
      </p:sp>
      <p:sp>
        <p:nvSpPr>
          <p:cNvPr id="902" name="文字方塊 901">
            <a:extLst>
              <a:ext uri="{FF2B5EF4-FFF2-40B4-BE49-F238E27FC236}">
                <a16:creationId xmlns:a16="http://schemas.microsoft.com/office/drawing/2014/main" id="{60F30CF0-43F9-136F-915F-EA3F85E72402}"/>
              </a:ext>
            </a:extLst>
          </p:cNvPr>
          <p:cNvSpPr txBox="1"/>
          <p:nvPr/>
        </p:nvSpPr>
        <p:spPr>
          <a:xfrm>
            <a:off x="7813314" y="6130026"/>
            <a:ext cx="3094407" cy="553998"/>
          </a:xfrm>
          <a:prstGeom prst="rect">
            <a:avLst/>
          </a:prstGeom>
          <a:noFill/>
        </p:spPr>
        <p:txBody>
          <a:bodyPr wrap="square" rtlCol="0">
            <a:spAutoFit/>
          </a:bodyPr>
          <a:lstStyle/>
          <a:p>
            <a:r>
              <a:rPr lang="zh-TW" altLang="en-US" sz="1000" dirty="0"/>
              <a:t>複合型問題：數據</a:t>
            </a:r>
            <a:r>
              <a:rPr lang="en-US" altLang="zh-TW" sz="1000" dirty="0"/>
              <a:t>+</a:t>
            </a:r>
            <a:r>
              <a:rPr lang="zh-TW" altLang="en-US" sz="1000" dirty="0"/>
              <a:t>原因  活動影響、策略分析例如</a:t>
            </a:r>
            <a:r>
              <a:rPr lang="en-US" altLang="zh-TW" sz="1000" dirty="0"/>
              <a:t>2024</a:t>
            </a:r>
            <a:r>
              <a:rPr lang="zh-TW" altLang="en-US" sz="1000" dirty="0"/>
              <a:t>年國泰銀保險收益超越本行的原因？、北富銀有哪些轉投資公司及其持股比為何</a:t>
            </a:r>
          </a:p>
        </p:txBody>
      </p:sp>
    </p:spTree>
    <p:extLst>
      <p:ext uri="{BB962C8B-B14F-4D97-AF65-F5344CB8AC3E}">
        <p14:creationId xmlns:p14="http://schemas.microsoft.com/office/powerpoint/2010/main" val="2330057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E85CF-E8AD-B75A-D677-4FE152FB8E04}"/>
            </a:ext>
          </a:extLst>
        </p:cNvPr>
        <p:cNvGrpSpPr/>
        <p:nvPr/>
      </p:nvGrpSpPr>
      <p:grpSpPr>
        <a:xfrm>
          <a:off x="0" y="0"/>
          <a:ext cx="0" cy="0"/>
          <a:chOff x="0" y="0"/>
          <a:chExt cx="0" cy="0"/>
        </a:xfrm>
      </p:grpSpPr>
      <p:sp>
        <p:nvSpPr>
          <p:cNvPr id="44" name="Shape 28">
            <a:extLst>
              <a:ext uri="{FF2B5EF4-FFF2-40B4-BE49-F238E27FC236}">
                <a16:creationId xmlns:a16="http://schemas.microsoft.com/office/drawing/2014/main" id="{AC1D2B2D-A719-93FD-5EA9-F70395885D7A}"/>
              </a:ext>
            </a:extLst>
          </p:cNvPr>
          <p:cNvSpPr/>
          <p:nvPr/>
        </p:nvSpPr>
        <p:spPr>
          <a:xfrm>
            <a:off x="-2179383" y="6713135"/>
            <a:ext cx="11467745" cy="58347"/>
          </a:xfrm>
          <a:prstGeom prst="rect">
            <a:avLst/>
          </a:prstGeom>
          <a:solidFill>
            <a:srgbClr val="F7F1F9"/>
          </a:solidFill>
          <a:ln w="12700">
            <a:noFill/>
            <a:prstDash val="solid"/>
          </a:ln>
        </p:spPr>
        <p:txBody>
          <a:bodyPr/>
          <a:lstStyle/>
          <a:p>
            <a:endParaRPr lang="zh-TW" altLang="en-US"/>
          </a:p>
        </p:txBody>
      </p:sp>
      <p:sp>
        <p:nvSpPr>
          <p:cNvPr id="5" name="文字版面配置區 1">
            <a:extLst>
              <a:ext uri="{FF2B5EF4-FFF2-40B4-BE49-F238E27FC236}">
                <a16:creationId xmlns:a16="http://schemas.microsoft.com/office/drawing/2014/main" id="{2DE193FB-D1F2-8310-1EE8-BC58654283F5}"/>
              </a:ext>
            </a:extLst>
          </p:cNvPr>
          <p:cNvSpPr>
            <a:spLocks noGrp="1"/>
          </p:cNvSpPr>
          <p:nvPr>
            <p:ph type="body" sz="quarter" idx="21"/>
          </p:nvPr>
        </p:nvSpPr>
        <p:spPr>
          <a:xfrm>
            <a:off x="858250" y="-104987"/>
            <a:ext cx="8221501" cy="659975"/>
          </a:xfrm>
        </p:spPr>
        <p:txBody>
          <a:bodyPr/>
          <a:lstStyle/>
          <a:p>
            <a:r>
              <a:rPr lang="zh-TW" altLang="en-US" sz="2400" dirty="0"/>
              <a:t>不同知識應用情境之技術選型</a:t>
            </a:r>
          </a:p>
        </p:txBody>
      </p:sp>
      <p:sp>
        <p:nvSpPr>
          <p:cNvPr id="7" name="矩形 6">
            <a:extLst>
              <a:ext uri="{FF2B5EF4-FFF2-40B4-BE49-F238E27FC236}">
                <a16:creationId xmlns:a16="http://schemas.microsoft.com/office/drawing/2014/main" id="{13943871-0A8C-BAD5-0E9A-4C3CD71BFA26}"/>
              </a:ext>
            </a:extLst>
          </p:cNvPr>
          <p:cNvSpPr/>
          <p:nvPr/>
        </p:nvSpPr>
        <p:spPr>
          <a:xfrm rot="10800000" flipV="1">
            <a:off x="795027" y="542559"/>
            <a:ext cx="10865004" cy="53730"/>
          </a:xfrm>
          <a:prstGeom prst="rect">
            <a:avLst/>
          </a:prstGeom>
          <a:gradFill>
            <a:gsLst>
              <a:gs pos="11000">
                <a:srgbClr val="00F9D3">
                  <a:alpha val="0"/>
                </a:srgbClr>
              </a:gs>
              <a:gs pos="39000">
                <a:srgbClr val="00F9D3"/>
              </a:gs>
              <a:gs pos="70000">
                <a:srgbClr val="00C3CD"/>
              </a:gs>
              <a:gs pos="100000">
                <a:srgbClr val="008FC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圖片 2">
            <a:extLst>
              <a:ext uri="{FF2B5EF4-FFF2-40B4-BE49-F238E27FC236}">
                <a16:creationId xmlns:a16="http://schemas.microsoft.com/office/drawing/2014/main" id="{083E414A-F30C-617C-48D0-AFD97748D8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8760" y="7096137"/>
            <a:ext cx="10287000" cy="6858000"/>
          </a:xfrm>
          <a:prstGeom prst="rect">
            <a:avLst/>
          </a:prstGeom>
        </p:spPr>
      </p:pic>
      <p:sp>
        <p:nvSpPr>
          <p:cNvPr id="4" name="文字方塊 3">
            <a:extLst>
              <a:ext uri="{FF2B5EF4-FFF2-40B4-BE49-F238E27FC236}">
                <a16:creationId xmlns:a16="http://schemas.microsoft.com/office/drawing/2014/main" id="{AD574053-336B-9B38-1ACB-EDE5C558F407}"/>
              </a:ext>
            </a:extLst>
          </p:cNvPr>
          <p:cNvSpPr txBox="1"/>
          <p:nvPr/>
        </p:nvSpPr>
        <p:spPr>
          <a:xfrm>
            <a:off x="12461910" y="3977243"/>
            <a:ext cx="10170160" cy="646331"/>
          </a:xfrm>
          <a:prstGeom prst="rect">
            <a:avLst/>
          </a:prstGeom>
          <a:noFill/>
        </p:spPr>
        <p:txBody>
          <a:bodyPr wrap="square" rtlCol="0">
            <a:spAutoFit/>
          </a:bodyPr>
          <a:lstStyle/>
          <a:p>
            <a:r>
              <a:rPr lang="zh-TW" altLang="en-US"/>
              <a:t>非結構化知識檢索以</a:t>
            </a:r>
            <a:r>
              <a:rPr lang="en-US" altLang="zh-TW"/>
              <a:t>「</a:t>
            </a:r>
            <a:r>
              <a:rPr lang="zh-TW" altLang="en-US"/>
              <a:t>找文件證據」為核心，結構化以</a:t>
            </a:r>
            <a:r>
              <a:rPr lang="en-US" altLang="zh-TW"/>
              <a:t>「</a:t>
            </a:r>
            <a:r>
              <a:rPr lang="zh-TW" altLang="en-US"/>
              <a:t>數據查找並計算資料」為核心，而</a:t>
            </a:r>
            <a:r>
              <a:rPr lang="en-US" altLang="zh-TW"/>
              <a:t>Hybrid </a:t>
            </a:r>
            <a:r>
              <a:rPr lang="zh-TW" altLang="en-US"/>
              <a:t>結合兩種能力提供更完整、可驗證的答案</a:t>
            </a:r>
          </a:p>
        </p:txBody>
      </p:sp>
      <p:sp>
        <p:nvSpPr>
          <p:cNvPr id="475" name="Shape 10">
            <a:extLst>
              <a:ext uri="{FF2B5EF4-FFF2-40B4-BE49-F238E27FC236}">
                <a16:creationId xmlns:a16="http://schemas.microsoft.com/office/drawing/2014/main" id="{54F47011-C22E-A13D-9F6A-ACD2DB84BD9E}"/>
              </a:ext>
            </a:extLst>
          </p:cNvPr>
          <p:cNvSpPr/>
          <p:nvPr/>
        </p:nvSpPr>
        <p:spPr>
          <a:xfrm>
            <a:off x="1032921" y="703744"/>
            <a:ext cx="2471945" cy="6055755"/>
          </a:xfrm>
          <a:prstGeom prst="roundRect">
            <a:avLst>
              <a:gd name="adj" fmla="val 3591"/>
            </a:avLst>
          </a:prstGeom>
          <a:solidFill>
            <a:srgbClr val="EFF6FF"/>
          </a:solidFill>
          <a:ln w="12700">
            <a:solidFill>
              <a:srgbClr val="85B9FF"/>
            </a:solidFill>
            <a:prstDash val="solid"/>
          </a:ln>
        </p:spPr>
        <p:txBody>
          <a:bodyPr/>
          <a:lstStyle/>
          <a:p>
            <a:endParaRPr lang="zh-TW" altLang="en-US" dirty="0"/>
          </a:p>
        </p:txBody>
      </p:sp>
      <p:sp>
        <p:nvSpPr>
          <p:cNvPr id="10" name="Shape 51">
            <a:extLst>
              <a:ext uri="{FF2B5EF4-FFF2-40B4-BE49-F238E27FC236}">
                <a16:creationId xmlns:a16="http://schemas.microsoft.com/office/drawing/2014/main" id="{F51984AB-79F4-95B5-6D84-8D9C1429248E}"/>
              </a:ext>
            </a:extLst>
          </p:cNvPr>
          <p:cNvSpPr/>
          <p:nvPr/>
        </p:nvSpPr>
        <p:spPr>
          <a:xfrm>
            <a:off x="1388430" y="989349"/>
            <a:ext cx="1803600" cy="380061"/>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使用者問題</a:t>
            </a:r>
          </a:p>
        </p:txBody>
      </p:sp>
      <p:sp>
        <p:nvSpPr>
          <p:cNvPr id="12" name="Shape 51">
            <a:extLst>
              <a:ext uri="{FF2B5EF4-FFF2-40B4-BE49-F238E27FC236}">
                <a16:creationId xmlns:a16="http://schemas.microsoft.com/office/drawing/2014/main" id="{64194A2B-4823-067F-E6EB-E13FB547A600}"/>
              </a:ext>
            </a:extLst>
          </p:cNvPr>
          <p:cNvSpPr/>
          <p:nvPr/>
        </p:nvSpPr>
        <p:spPr>
          <a:xfrm>
            <a:off x="1388430" y="1503048"/>
            <a:ext cx="1803600" cy="378893"/>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意圖理解</a:t>
            </a:r>
          </a:p>
        </p:txBody>
      </p:sp>
      <p:sp>
        <p:nvSpPr>
          <p:cNvPr id="14" name="Shape 51">
            <a:extLst>
              <a:ext uri="{FF2B5EF4-FFF2-40B4-BE49-F238E27FC236}">
                <a16:creationId xmlns:a16="http://schemas.microsoft.com/office/drawing/2014/main" id="{2BE86E88-C333-A85F-BCAD-2B23F1825A9B}"/>
              </a:ext>
            </a:extLst>
          </p:cNvPr>
          <p:cNvSpPr/>
          <p:nvPr/>
        </p:nvSpPr>
        <p:spPr>
          <a:xfrm>
            <a:off x="1388430" y="2015579"/>
            <a:ext cx="1803600" cy="378893"/>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問題改寫</a:t>
            </a:r>
          </a:p>
        </p:txBody>
      </p:sp>
      <p:sp>
        <p:nvSpPr>
          <p:cNvPr id="16" name="Shape 51">
            <a:extLst>
              <a:ext uri="{FF2B5EF4-FFF2-40B4-BE49-F238E27FC236}">
                <a16:creationId xmlns:a16="http://schemas.microsoft.com/office/drawing/2014/main" id="{51FCE66B-D25E-61A2-C000-0A152880F23A}"/>
              </a:ext>
            </a:extLst>
          </p:cNvPr>
          <p:cNvSpPr/>
          <p:nvPr/>
        </p:nvSpPr>
        <p:spPr>
          <a:xfrm>
            <a:off x="1388430" y="2528110"/>
            <a:ext cx="1803600" cy="378893"/>
          </a:xfrm>
          <a:prstGeom prst="roundRect">
            <a:avLst>
              <a:gd name="adj" fmla="val 17391"/>
            </a:avLst>
          </a:prstGeom>
          <a:solidFill>
            <a:srgbClr val="FFFFFF"/>
          </a:solidFill>
          <a:ln w="15240">
            <a:solidFill>
              <a:srgbClr val="2563EB"/>
            </a:solidFill>
            <a:prstDash val="solid"/>
          </a:ln>
        </p:spPr>
        <p:txBody>
          <a:bodyPr/>
          <a:lstStyle/>
          <a:p>
            <a:pPr algn="ctr"/>
            <a:r>
              <a:rPr lang="en-US" altLang="zh-TW" sz="1200" b="1">
                <a:solidFill>
                  <a:schemeClr val="accent5"/>
                </a:solidFill>
              </a:rPr>
              <a:t>Retrieval</a:t>
            </a:r>
            <a:endParaRPr lang="zh-TW" altLang="en-US" sz="1200" b="1">
              <a:solidFill>
                <a:schemeClr val="accent5"/>
              </a:solidFill>
            </a:endParaRPr>
          </a:p>
        </p:txBody>
      </p:sp>
      <p:sp>
        <p:nvSpPr>
          <p:cNvPr id="18" name="Shape 51">
            <a:extLst>
              <a:ext uri="{FF2B5EF4-FFF2-40B4-BE49-F238E27FC236}">
                <a16:creationId xmlns:a16="http://schemas.microsoft.com/office/drawing/2014/main" id="{46A3A92B-ADFA-57A1-B5E8-825897087218}"/>
              </a:ext>
            </a:extLst>
          </p:cNvPr>
          <p:cNvSpPr/>
          <p:nvPr/>
        </p:nvSpPr>
        <p:spPr>
          <a:xfrm>
            <a:off x="1388430" y="3040641"/>
            <a:ext cx="1803600" cy="378893"/>
          </a:xfrm>
          <a:prstGeom prst="roundRect">
            <a:avLst>
              <a:gd name="adj" fmla="val 17391"/>
            </a:avLst>
          </a:prstGeom>
          <a:solidFill>
            <a:srgbClr val="FFFFFF"/>
          </a:solidFill>
          <a:ln w="15240">
            <a:solidFill>
              <a:srgbClr val="2563EB"/>
            </a:solidFill>
            <a:prstDash val="solid"/>
          </a:ln>
        </p:spPr>
        <p:txBody>
          <a:bodyPr/>
          <a:lstStyle/>
          <a:p>
            <a:pPr algn="ctr"/>
            <a:r>
              <a:rPr lang="en-US" altLang="zh-TW" sz="1200" b="1">
                <a:solidFill>
                  <a:schemeClr val="accent5"/>
                </a:solidFill>
              </a:rPr>
              <a:t>Reranking</a:t>
            </a:r>
            <a:endParaRPr lang="zh-TW" altLang="en-US" sz="1200" b="1">
              <a:solidFill>
                <a:schemeClr val="accent5"/>
              </a:solidFill>
            </a:endParaRPr>
          </a:p>
        </p:txBody>
      </p:sp>
      <p:sp>
        <p:nvSpPr>
          <p:cNvPr id="20" name="Shape 51">
            <a:extLst>
              <a:ext uri="{FF2B5EF4-FFF2-40B4-BE49-F238E27FC236}">
                <a16:creationId xmlns:a16="http://schemas.microsoft.com/office/drawing/2014/main" id="{8FCA2364-3150-FE98-D5F0-0F85A2E7DF7D}"/>
              </a:ext>
            </a:extLst>
          </p:cNvPr>
          <p:cNvSpPr/>
          <p:nvPr/>
        </p:nvSpPr>
        <p:spPr>
          <a:xfrm>
            <a:off x="1387902" y="3553172"/>
            <a:ext cx="1804656" cy="378893"/>
          </a:xfrm>
          <a:prstGeom prst="roundRect">
            <a:avLst>
              <a:gd name="adj" fmla="val 17391"/>
            </a:avLst>
          </a:prstGeom>
          <a:solidFill>
            <a:srgbClr val="FFFFFF"/>
          </a:solidFill>
          <a:ln w="15240">
            <a:solidFill>
              <a:srgbClr val="2563EB"/>
            </a:solidFill>
            <a:prstDash val="solid"/>
          </a:ln>
        </p:spPr>
        <p:txBody>
          <a:bodyPr/>
          <a:lstStyle/>
          <a:p>
            <a:pPr algn="ctr"/>
            <a:r>
              <a:rPr lang="en-US" altLang="zh-TW" sz="1200" b="1" err="1">
                <a:solidFill>
                  <a:schemeClr val="accent5"/>
                </a:solidFill>
                <a:latin typeface="微軟正黑體" panose="020B0604030504040204" pitchFamily="34" charset="-120"/>
              </a:rPr>
              <a:t>ReAct</a:t>
            </a:r>
            <a:r>
              <a:rPr lang="en-US" altLang="zh-TW" sz="1200" b="1">
                <a:solidFill>
                  <a:schemeClr val="accent5"/>
                </a:solidFill>
                <a:latin typeface="微軟正黑體" panose="020B0604030504040204" pitchFamily="34" charset="-120"/>
              </a:rPr>
              <a:t> &amp; Retry </a:t>
            </a:r>
            <a:endParaRPr lang="zh-TW" altLang="en-US" sz="1200" b="1">
              <a:solidFill>
                <a:schemeClr val="accent5"/>
              </a:solidFill>
            </a:endParaRPr>
          </a:p>
        </p:txBody>
      </p:sp>
      <p:sp>
        <p:nvSpPr>
          <p:cNvPr id="22" name="Shape 51">
            <a:extLst>
              <a:ext uri="{FF2B5EF4-FFF2-40B4-BE49-F238E27FC236}">
                <a16:creationId xmlns:a16="http://schemas.microsoft.com/office/drawing/2014/main" id="{C38D535D-6BDD-9A68-3C10-8D1EFC7680F0}"/>
              </a:ext>
            </a:extLst>
          </p:cNvPr>
          <p:cNvSpPr/>
          <p:nvPr/>
        </p:nvSpPr>
        <p:spPr>
          <a:xfrm>
            <a:off x="1388430" y="4065704"/>
            <a:ext cx="1803600" cy="378893"/>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回覆生成 </a:t>
            </a:r>
          </a:p>
        </p:txBody>
      </p:sp>
      <p:sp>
        <p:nvSpPr>
          <p:cNvPr id="479" name="Shape 11">
            <a:extLst>
              <a:ext uri="{FF2B5EF4-FFF2-40B4-BE49-F238E27FC236}">
                <a16:creationId xmlns:a16="http://schemas.microsoft.com/office/drawing/2014/main" id="{2B88B415-7A56-E20B-4FAC-AA853687D0D9}"/>
              </a:ext>
            </a:extLst>
          </p:cNvPr>
          <p:cNvSpPr/>
          <p:nvPr/>
        </p:nvSpPr>
        <p:spPr>
          <a:xfrm>
            <a:off x="1032921" y="690110"/>
            <a:ext cx="2471945" cy="227258"/>
          </a:xfrm>
          <a:prstGeom prst="roundRect">
            <a:avLst>
              <a:gd name="adj" fmla="val 27083"/>
            </a:avLst>
          </a:prstGeom>
          <a:solidFill>
            <a:srgbClr val="2563EB"/>
          </a:solidFill>
          <a:ln w="12700">
            <a:solidFill>
              <a:srgbClr val="2563EB">
                <a:alpha val="0"/>
              </a:srgbClr>
            </a:solidFill>
            <a:prstDash val="solid"/>
          </a:ln>
        </p:spPr>
        <p:txBody>
          <a:bodyPr/>
          <a:lstStyle/>
          <a:p>
            <a:endParaRPr lang="zh-TW" altLang="en-US"/>
          </a:p>
        </p:txBody>
      </p:sp>
      <p:sp>
        <p:nvSpPr>
          <p:cNvPr id="483" name="Text 4">
            <a:extLst>
              <a:ext uri="{FF2B5EF4-FFF2-40B4-BE49-F238E27FC236}">
                <a16:creationId xmlns:a16="http://schemas.microsoft.com/office/drawing/2014/main" id="{325DC852-D7C2-84D5-0E0D-787440BA8BBB}"/>
              </a:ext>
            </a:extLst>
          </p:cNvPr>
          <p:cNvSpPr/>
          <p:nvPr/>
        </p:nvSpPr>
        <p:spPr>
          <a:xfrm>
            <a:off x="1025938" y="651953"/>
            <a:ext cx="2468880" cy="316884"/>
          </a:xfrm>
          <a:prstGeom prst="rect">
            <a:avLst/>
          </a:prstGeom>
          <a:noFill/>
          <a:ln/>
        </p:spPr>
        <p:txBody>
          <a:bodyPr wrap="square" lIns="381" tIns="381" rIns="381" bIns="381" rtlCol="0" anchor="ctr">
            <a:noAutofit/>
          </a:bodyPr>
          <a:lstStyle/>
          <a:p>
            <a:pPr marL="0" indent="0" algn="ctr">
              <a:buNone/>
            </a:pPr>
            <a:r>
              <a:rPr lang="zh-TW" altLang="en-US" sz="1400" b="1">
                <a:solidFill>
                  <a:srgbClr val="FFFFFF"/>
                </a:solidFill>
                <a:latin typeface="Microsoft JhengHei" pitchFamily="34" charset="0"/>
                <a:ea typeface="Microsoft JhengHei" pitchFamily="34" charset="-122"/>
              </a:rPr>
              <a:t>非結構化知識檢索</a:t>
            </a:r>
            <a:endParaRPr lang="en-US" sz="1400"/>
          </a:p>
        </p:txBody>
      </p:sp>
      <p:sp>
        <p:nvSpPr>
          <p:cNvPr id="499" name="Shape 2">
            <a:extLst>
              <a:ext uri="{FF2B5EF4-FFF2-40B4-BE49-F238E27FC236}">
                <a16:creationId xmlns:a16="http://schemas.microsoft.com/office/drawing/2014/main" id="{D2C612D7-9EB3-0B16-EE9B-E3EAEB0B5EAA}"/>
              </a:ext>
            </a:extLst>
          </p:cNvPr>
          <p:cNvSpPr/>
          <p:nvPr/>
        </p:nvSpPr>
        <p:spPr>
          <a:xfrm>
            <a:off x="3956242" y="715723"/>
            <a:ext cx="2984400" cy="6055758"/>
          </a:xfrm>
          <a:prstGeom prst="roundRect">
            <a:avLst>
              <a:gd name="adj" fmla="val 4514"/>
            </a:avLst>
          </a:prstGeom>
          <a:solidFill>
            <a:srgbClr val="ECFDF5"/>
          </a:solidFill>
          <a:ln w="12700">
            <a:solidFill>
              <a:srgbClr val="10B981"/>
            </a:solidFill>
            <a:prstDash val="solid"/>
          </a:ln>
        </p:spPr>
        <p:txBody>
          <a:bodyPr/>
          <a:lstStyle/>
          <a:p>
            <a:endParaRPr lang="zh-TW" altLang="en-US"/>
          </a:p>
        </p:txBody>
      </p:sp>
      <p:sp>
        <p:nvSpPr>
          <p:cNvPr id="30" name="Shape 46">
            <a:extLst>
              <a:ext uri="{FF2B5EF4-FFF2-40B4-BE49-F238E27FC236}">
                <a16:creationId xmlns:a16="http://schemas.microsoft.com/office/drawing/2014/main" id="{A66C2F5A-B45B-37E9-27F2-B5B8E5B8A551}"/>
              </a:ext>
            </a:extLst>
          </p:cNvPr>
          <p:cNvSpPr/>
          <p:nvPr/>
        </p:nvSpPr>
        <p:spPr>
          <a:xfrm>
            <a:off x="4360024" y="1339703"/>
            <a:ext cx="2220163"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原始查詢解析與向量化</a:t>
            </a:r>
          </a:p>
        </p:txBody>
      </p:sp>
      <p:sp>
        <p:nvSpPr>
          <p:cNvPr id="32" name="Shape 46">
            <a:extLst>
              <a:ext uri="{FF2B5EF4-FFF2-40B4-BE49-F238E27FC236}">
                <a16:creationId xmlns:a16="http://schemas.microsoft.com/office/drawing/2014/main" id="{03B48BF0-C607-2058-F50A-3D25546CF161}"/>
              </a:ext>
            </a:extLst>
          </p:cNvPr>
          <p:cNvSpPr/>
          <p:nvPr/>
        </p:nvSpPr>
        <p:spPr>
          <a:xfrm>
            <a:off x="4358987" y="1708883"/>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t>Schema Linking</a:t>
            </a:r>
            <a:endParaRPr lang="zh-TW" altLang="en-US" sz="1200" b="1"/>
          </a:p>
        </p:txBody>
      </p:sp>
      <p:sp>
        <p:nvSpPr>
          <p:cNvPr id="34" name="Shape 46">
            <a:extLst>
              <a:ext uri="{FF2B5EF4-FFF2-40B4-BE49-F238E27FC236}">
                <a16:creationId xmlns:a16="http://schemas.microsoft.com/office/drawing/2014/main" id="{5090C4B7-198A-1006-F9E3-436A3712A53D}"/>
              </a:ext>
            </a:extLst>
          </p:cNvPr>
          <p:cNvSpPr/>
          <p:nvPr/>
        </p:nvSpPr>
        <p:spPr>
          <a:xfrm>
            <a:off x="4358987" y="2084090"/>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業務規則與指標定義</a:t>
            </a:r>
          </a:p>
        </p:txBody>
      </p:sp>
      <p:sp>
        <p:nvSpPr>
          <p:cNvPr id="36" name="Shape 46">
            <a:extLst>
              <a:ext uri="{FF2B5EF4-FFF2-40B4-BE49-F238E27FC236}">
                <a16:creationId xmlns:a16="http://schemas.microsoft.com/office/drawing/2014/main" id="{84A6ED96-4520-CB52-91E6-31316EC156B5}"/>
              </a:ext>
            </a:extLst>
          </p:cNvPr>
          <p:cNvSpPr/>
          <p:nvPr/>
        </p:nvSpPr>
        <p:spPr>
          <a:xfrm>
            <a:off x="4337842" y="3195532"/>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latin typeface="+mj-lt"/>
                <a:ea typeface="+mj-ea"/>
              </a:rPr>
              <a:t>相似</a:t>
            </a:r>
            <a:r>
              <a:rPr lang="en-US" altLang="zh-TW" sz="1200" b="1">
                <a:latin typeface="+mj-lt"/>
                <a:ea typeface="+mj-ea"/>
              </a:rPr>
              <a:t>NL-SQL</a:t>
            </a:r>
            <a:r>
              <a:rPr lang="zh-TW" altLang="en-US" sz="1200" b="1">
                <a:latin typeface="+mj-lt"/>
                <a:ea typeface="+mj-ea"/>
              </a:rPr>
              <a:t>範例</a:t>
            </a:r>
          </a:p>
        </p:txBody>
      </p:sp>
      <p:sp>
        <p:nvSpPr>
          <p:cNvPr id="38" name="Shape 46">
            <a:extLst>
              <a:ext uri="{FF2B5EF4-FFF2-40B4-BE49-F238E27FC236}">
                <a16:creationId xmlns:a16="http://schemas.microsoft.com/office/drawing/2014/main" id="{EE03A5AE-A674-B5D0-81F3-F1FC8CD6E3A7}"/>
              </a:ext>
            </a:extLst>
          </p:cNvPr>
          <p:cNvSpPr/>
          <p:nvPr/>
        </p:nvSpPr>
        <p:spPr>
          <a:xfrm>
            <a:off x="4360024" y="2453649"/>
            <a:ext cx="2220163"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SQL Reasoning Plan</a:t>
            </a:r>
            <a:endParaRPr lang="en-US" altLang="zh-TW" sz="1200" b="1"/>
          </a:p>
        </p:txBody>
      </p:sp>
      <p:sp>
        <p:nvSpPr>
          <p:cNvPr id="40" name="Shape 46">
            <a:extLst>
              <a:ext uri="{FF2B5EF4-FFF2-40B4-BE49-F238E27FC236}">
                <a16:creationId xmlns:a16="http://schemas.microsoft.com/office/drawing/2014/main" id="{ACE9C684-B559-DD34-D427-977E54DFD7A5}"/>
              </a:ext>
            </a:extLst>
          </p:cNvPr>
          <p:cNvSpPr/>
          <p:nvPr/>
        </p:nvSpPr>
        <p:spPr>
          <a:xfrm>
            <a:off x="4346631" y="2815443"/>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400" b="1">
                <a:solidFill>
                  <a:srgbClr val="1F2937"/>
                </a:solidFill>
                <a:latin typeface="Microsoft JhengHei" pitchFamily="34" charset="0"/>
                <a:ea typeface="Microsoft JhengHei" pitchFamily="34" charset="-122"/>
                <a:cs typeface="Microsoft JhengHei" pitchFamily="34" charset="-120"/>
              </a:rPr>
              <a:t>Text-to-SQL</a:t>
            </a:r>
            <a:endParaRPr lang="en-US" altLang="zh-TW" sz="1400" b="1"/>
          </a:p>
        </p:txBody>
      </p:sp>
      <p:sp>
        <p:nvSpPr>
          <p:cNvPr id="42" name="Shape 46">
            <a:extLst>
              <a:ext uri="{FF2B5EF4-FFF2-40B4-BE49-F238E27FC236}">
                <a16:creationId xmlns:a16="http://schemas.microsoft.com/office/drawing/2014/main" id="{DF8B0366-4AB0-183B-836A-4CA5D4672785}"/>
              </a:ext>
            </a:extLst>
          </p:cNvPr>
          <p:cNvSpPr/>
          <p:nvPr/>
        </p:nvSpPr>
        <p:spPr>
          <a:xfrm>
            <a:off x="4337842" y="3546796"/>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SQL</a:t>
            </a:r>
            <a:r>
              <a:rPr lang="zh-TW" altLang="en-US" sz="1200" b="1">
                <a:solidFill>
                  <a:srgbClr val="1F2937"/>
                </a:solidFill>
                <a:latin typeface="Microsoft JhengHei" pitchFamily="34" charset="0"/>
                <a:ea typeface="Microsoft JhengHei" pitchFamily="34" charset="-122"/>
                <a:cs typeface="Microsoft JhengHei" pitchFamily="34" charset="-120"/>
              </a:rPr>
              <a:t>驗證與修正</a:t>
            </a:r>
            <a:endParaRPr lang="en-US" altLang="zh-TW" sz="1200" b="1"/>
          </a:p>
        </p:txBody>
      </p:sp>
      <p:sp>
        <p:nvSpPr>
          <p:cNvPr id="45" name="Shape 46">
            <a:extLst>
              <a:ext uri="{FF2B5EF4-FFF2-40B4-BE49-F238E27FC236}">
                <a16:creationId xmlns:a16="http://schemas.microsoft.com/office/drawing/2014/main" id="{D529A514-CF40-0907-087D-FBE5F86DA6F9}"/>
              </a:ext>
            </a:extLst>
          </p:cNvPr>
          <p:cNvSpPr/>
          <p:nvPr/>
        </p:nvSpPr>
        <p:spPr>
          <a:xfrm>
            <a:off x="4337842" y="3894049"/>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SQL</a:t>
            </a:r>
            <a:r>
              <a:rPr lang="zh-TW" altLang="en-US" sz="1200" b="1">
                <a:solidFill>
                  <a:srgbClr val="1F2937"/>
                </a:solidFill>
                <a:latin typeface="Microsoft JhengHei" pitchFamily="34" charset="0"/>
                <a:ea typeface="Microsoft JhengHei" pitchFamily="34" charset="-122"/>
                <a:cs typeface="Microsoft JhengHei" pitchFamily="34" charset="-120"/>
              </a:rPr>
              <a:t>執行</a:t>
            </a:r>
            <a:endParaRPr lang="en-US" altLang="zh-TW" sz="1200" b="1"/>
          </a:p>
        </p:txBody>
      </p:sp>
      <p:sp>
        <p:nvSpPr>
          <p:cNvPr id="47" name="Shape 46">
            <a:extLst>
              <a:ext uri="{FF2B5EF4-FFF2-40B4-BE49-F238E27FC236}">
                <a16:creationId xmlns:a16="http://schemas.microsoft.com/office/drawing/2014/main" id="{1B80D02B-C582-4214-9338-0806DDE78623}"/>
              </a:ext>
            </a:extLst>
          </p:cNvPr>
          <p:cNvSpPr/>
          <p:nvPr/>
        </p:nvSpPr>
        <p:spPr>
          <a:xfrm>
            <a:off x="4337842" y="4241302"/>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分析與生成</a:t>
            </a:r>
            <a:endParaRPr lang="en-US" altLang="zh-TW" sz="1200" b="1"/>
          </a:p>
        </p:txBody>
      </p:sp>
      <p:sp>
        <p:nvSpPr>
          <p:cNvPr id="502" name="Shape 3">
            <a:extLst>
              <a:ext uri="{FF2B5EF4-FFF2-40B4-BE49-F238E27FC236}">
                <a16:creationId xmlns:a16="http://schemas.microsoft.com/office/drawing/2014/main" id="{3827305F-A355-E24C-E696-9CE9FAB83674}"/>
              </a:ext>
            </a:extLst>
          </p:cNvPr>
          <p:cNvSpPr/>
          <p:nvPr/>
        </p:nvSpPr>
        <p:spPr>
          <a:xfrm>
            <a:off x="3956242" y="690110"/>
            <a:ext cx="2984400" cy="220476"/>
          </a:xfrm>
          <a:prstGeom prst="roundRect">
            <a:avLst>
              <a:gd name="adj" fmla="val 27083"/>
            </a:avLst>
          </a:prstGeom>
          <a:solidFill>
            <a:srgbClr val="10B981"/>
          </a:solidFill>
          <a:ln w="12700">
            <a:solidFill>
              <a:srgbClr val="F59E0B">
                <a:alpha val="0"/>
              </a:srgbClr>
            </a:solidFill>
            <a:prstDash val="solid"/>
          </a:ln>
        </p:spPr>
        <p:txBody>
          <a:bodyPr/>
          <a:lstStyle/>
          <a:p>
            <a:endParaRPr lang="zh-TW" altLang="en-US"/>
          </a:p>
        </p:txBody>
      </p:sp>
      <p:sp>
        <p:nvSpPr>
          <p:cNvPr id="903" name="Text 4">
            <a:extLst>
              <a:ext uri="{FF2B5EF4-FFF2-40B4-BE49-F238E27FC236}">
                <a16:creationId xmlns:a16="http://schemas.microsoft.com/office/drawing/2014/main" id="{295A4A9B-B2CA-72B5-884E-49C6724957E0}"/>
              </a:ext>
            </a:extLst>
          </p:cNvPr>
          <p:cNvSpPr/>
          <p:nvPr/>
        </p:nvSpPr>
        <p:spPr>
          <a:xfrm>
            <a:off x="4214002" y="692399"/>
            <a:ext cx="2468880" cy="246888"/>
          </a:xfrm>
          <a:prstGeom prst="rect">
            <a:avLst/>
          </a:prstGeom>
          <a:noFill/>
          <a:ln/>
        </p:spPr>
        <p:txBody>
          <a:bodyPr wrap="square" lIns="381" tIns="381" rIns="381" bIns="381" rtlCol="0" anchor="ctr">
            <a:noAutofit/>
          </a:bodyPr>
          <a:lstStyle/>
          <a:p>
            <a:pPr marL="0" indent="0" algn="ctr">
              <a:buNone/>
            </a:pPr>
            <a:r>
              <a:rPr lang="zh-TW" altLang="en-US" sz="1400" b="1">
                <a:solidFill>
                  <a:srgbClr val="FFFFFF"/>
                </a:solidFill>
                <a:latin typeface="Microsoft JhengHei" pitchFamily="34" charset="0"/>
                <a:ea typeface="Microsoft JhengHei" pitchFamily="34" charset="-122"/>
              </a:rPr>
              <a:t>結構化知識檢索</a:t>
            </a:r>
            <a:endParaRPr lang="en-US" sz="1400"/>
          </a:p>
        </p:txBody>
      </p:sp>
      <p:sp>
        <p:nvSpPr>
          <p:cNvPr id="523" name="Shape 46">
            <a:extLst>
              <a:ext uri="{FF2B5EF4-FFF2-40B4-BE49-F238E27FC236}">
                <a16:creationId xmlns:a16="http://schemas.microsoft.com/office/drawing/2014/main" id="{21A5F196-3AE8-0E12-0E01-68F035AD0651}"/>
              </a:ext>
            </a:extLst>
          </p:cNvPr>
          <p:cNvSpPr/>
          <p:nvPr/>
        </p:nvSpPr>
        <p:spPr>
          <a:xfrm>
            <a:off x="4337842" y="974576"/>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使用者問題</a:t>
            </a:r>
          </a:p>
        </p:txBody>
      </p:sp>
      <p:pic>
        <p:nvPicPr>
          <p:cNvPr id="525" name="圖片 524">
            <a:extLst>
              <a:ext uri="{FF2B5EF4-FFF2-40B4-BE49-F238E27FC236}">
                <a16:creationId xmlns:a16="http://schemas.microsoft.com/office/drawing/2014/main" id="{0DC16CDA-2F00-9EF3-FC13-5DC82ED4A6B3}"/>
              </a:ext>
            </a:extLst>
          </p:cNvPr>
          <p:cNvPicPr>
            <a:picLocks noChangeAspect="1"/>
          </p:cNvPicPr>
          <p:nvPr/>
        </p:nvPicPr>
        <p:blipFill>
          <a:blip r:embed="rId3">
            <a:extLst>
              <a:ext uri="{28A0092B-C50C-407E-A947-70E740481C1C}">
                <a14:useLocalDpi xmlns:a14="http://schemas.microsoft.com/office/drawing/2010/main" val="0"/>
              </a:ext>
            </a:extLst>
          </a:blip>
          <a:srcRect l="1892" t="71207" r="3465" b="6681"/>
          <a:stretch>
            <a:fillRect/>
          </a:stretch>
        </p:blipFill>
        <p:spPr>
          <a:xfrm>
            <a:off x="-288853" y="7180750"/>
            <a:ext cx="9735886" cy="1516465"/>
          </a:xfrm>
          <a:prstGeom prst="rect">
            <a:avLst/>
          </a:prstGeom>
        </p:spPr>
      </p:pic>
      <p:sp>
        <p:nvSpPr>
          <p:cNvPr id="508" name="Shape 14">
            <a:extLst>
              <a:ext uri="{FF2B5EF4-FFF2-40B4-BE49-F238E27FC236}">
                <a16:creationId xmlns:a16="http://schemas.microsoft.com/office/drawing/2014/main" id="{02AE4193-0BBD-AC1C-06CA-38F986C25B47}"/>
              </a:ext>
            </a:extLst>
          </p:cNvPr>
          <p:cNvSpPr/>
          <p:nvPr/>
        </p:nvSpPr>
        <p:spPr>
          <a:xfrm>
            <a:off x="7068485" y="780458"/>
            <a:ext cx="4364956" cy="5991023"/>
          </a:xfrm>
          <a:prstGeom prst="roundRect">
            <a:avLst>
              <a:gd name="adj" fmla="val 5350"/>
            </a:avLst>
          </a:prstGeom>
          <a:solidFill>
            <a:srgbClr val="FFF9E9"/>
          </a:solidFill>
          <a:ln w="12700">
            <a:solidFill>
              <a:srgbClr val="F59E0B"/>
            </a:solidFill>
            <a:prstDash val="solid"/>
          </a:ln>
        </p:spPr>
        <p:txBody>
          <a:bodyPr/>
          <a:lstStyle/>
          <a:p>
            <a:endParaRPr lang="zh-TW" altLang="en-US"/>
          </a:p>
        </p:txBody>
      </p:sp>
      <p:sp>
        <p:nvSpPr>
          <p:cNvPr id="455" name="Shape 35">
            <a:extLst>
              <a:ext uri="{FF2B5EF4-FFF2-40B4-BE49-F238E27FC236}">
                <a16:creationId xmlns:a16="http://schemas.microsoft.com/office/drawing/2014/main" id="{5A5D5848-2CB7-7B2E-D3EB-E8EA96BDEC3D}"/>
              </a:ext>
            </a:extLst>
          </p:cNvPr>
          <p:cNvSpPr/>
          <p:nvPr/>
        </p:nvSpPr>
        <p:spPr>
          <a:xfrm>
            <a:off x="8204398" y="996389"/>
            <a:ext cx="22212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使用者問題</a:t>
            </a:r>
          </a:p>
          <a:p>
            <a:endParaRPr lang="zh-TW" altLang="en-US"/>
          </a:p>
        </p:txBody>
      </p:sp>
      <p:sp>
        <p:nvSpPr>
          <p:cNvPr id="459" name="Shape 35">
            <a:extLst>
              <a:ext uri="{FF2B5EF4-FFF2-40B4-BE49-F238E27FC236}">
                <a16:creationId xmlns:a16="http://schemas.microsoft.com/office/drawing/2014/main" id="{A71459C8-7744-66E9-46B9-180B0557DA91}"/>
              </a:ext>
            </a:extLst>
          </p:cNvPr>
          <p:cNvSpPr/>
          <p:nvPr/>
        </p:nvSpPr>
        <p:spPr>
          <a:xfrm>
            <a:off x="8197481" y="1375784"/>
            <a:ext cx="22212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任務拆解 </a:t>
            </a:r>
            <a:r>
              <a:rPr lang="en-US" altLang="zh-TW" sz="1200" b="1"/>
              <a:t>/ </a:t>
            </a:r>
            <a:r>
              <a:rPr lang="zh-TW" altLang="en-US" sz="1200" b="1"/>
              <a:t>規劃</a:t>
            </a:r>
          </a:p>
        </p:txBody>
      </p:sp>
      <p:sp>
        <p:nvSpPr>
          <p:cNvPr id="463" name="Shape 35">
            <a:extLst>
              <a:ext uri="{FF2B5EF4-FFF2-40B4-BE49-F238E27FC236}">
                <a16:creationId xmlns:a16="http://schemas.microsoft.com/office/drawing/2014/main" id="{62835FD2-31D2-4A65-596A-2B947B8C0B6E}"/>
              </a:ext>
            </a:extLst>
          </p:cNvPr>
          <p:cNvSpPr/>
          <p:nvPr/>
        </p:nvSpPr>
        <p:spPr>
          <a:xfrm>
            <a:off x="8157765" y="3815218"/>
            <a:ext cx="19836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證據融合</a:t>
            </a:r>
          </a:p>
        </p:txBody>
      </p:sp>
      <p:sp>
        <p:nvSpPr>
          <p:cNvPr id="467" name="Shape 35">
            <a:extLst>
              <a:ext uri="{FF2B5EF4-FFF2-40B4-BE49-F238E27FC236}">
                <a16:creationId xmlns:a16="http://schemas.microsoft.com/office/drawing/2014/main" id="{9AB059A1-968B-07DE-BD65-2AED59AE5812}"/>
              </a:ext>
            </a:extLst>
          </p:cNvPr>
          <p:cNvSpPr/>
          <p:nvPr/>
        </p:nvSpPr>
        <p:spPr>
          <a:xfrm>
            <a:off x="8157763" y="4169128"/>
            <a:ext cx="19836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跨來源推理與驗證</a:t>
            </a:r>
          </a:p>
        </p:txBody>
      </p:sp>
      <p:sp>
        <p:nvSpPr>
          <p:cNvPr id="471" name="Shape 35">
            <a:extLst>
              <a:ext uri="{FF2B5EF4-FFF2-40B4-BE49-F238E27FC236}">
                <a16:creationId xmlns:a16="http://schemas.microsoft.com/office/drawing/2014/main" id="{E7EC688B-1366-4AC7-A3EF-1477834CC917}"/>
              </a:ext>
            </a:extLst>
          </p:cNvPr>
          <p:cNvSpPr/>
          <p:nvPr/>
        </p:nvSpPr>
        <p:spPr>
          <a:xfrm>
            <a:off x="8158950" y="4518938"/>
            <a:ext cx="19836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最終答案 </a:t>
            </a:r>
          </a:p>
        </p:txBody>
      </p:sp>
      <p:sp>
        <p:nvSpPr>
          <p:cNvPr id="899" name="Shape 111">
            <a:extLst>
              <a:ext uri="{FF2B5EF4-FFF2-40B4-BE49-F238E27FC236}">
                <a16:creationId xmlns:a16="http://schemas.microsoft.com/office/drawing/2014/main" id="{84BBF02D-BA9B-C6A2-0183-CDA1CFAE5577}"/>
              </a:ext>
            </a:extLst>
          </p:cNvPr>
          <p:cNvSpPr/>
          <p:nvPr/>
        </p:nvSpPr>
        <p:spPr>
          <a:xfrm>
            <a:off x="7068485" y="718047"/>
            <a:ext cx="4364956" cy="196064"/>
          </a:xfrm>
          <a:prstGeom prst="roundRect">
            <a:avLst>
              <a:gd name="adj" fmla="val 32143"/>
            </a:avLst>
          </a:prstGeom>
          <a:solidFill>
            <a:srgbClr val="F59E0B"/>
          </a:solidFill>
          <a:ln w="12700">
            <a:solidFill>
              <a:srgbClr val="8B5CF6">
                <a:alpha val="0"/>
              </a:srgbClr>
            </a:solidFill>
            <a:prstDash val="solid"/>
          </a:ln>
        </p:spPr>
        <p:txBody>
          <a:bodyPr/>
          <a:lstStyle/>
          <a:p>
            <a:endParaRPr lang="zh-TW" altLang="en-US"/>
          </a:p>
        </p:txBody>
      </p:sp>
      <p:sp>
        <p:nvSpPr>
          <p:cNvPr id="505" name="Text 4">
            <a:extLst>
              <a:ext uri="{FF2B5EF4-FFF2-40B4-BE49-F238E27FC236}">
                <a16:creationId xmlns:a16="http://schemas.microsoft.com/office/drawing/2014/main" id="{DD8EA1CA-E0CA-BA44-F73C-37235C2CA74A}"/>
              </a:ext>
            </a:extLst>
          </p:cNvPr>
          <p:cNvSpPr/>
          <p:nvPr/>
        </p:nvSpPr>
        <p:spPr>
          <a:xfrm>
            <a:off x="8016523" y="699650"/>
            <a:ext cx="2468880" cy="246888"/>
          </a:xfrm>
          <a:prstGeom prst="rect">
            <a:avLst/>
          </a:prstGeom>
          <a:noFill/>
          <a:ln/>
        </p:spPr>
        <p:txBody>
          <a:bodyPr wrap="square" lIns="381" tIns="381" rIns="381" bIns="381" rtlCol="0" anchor="ctr">
            <a:noAutofit/>
          </a:bodyPr>
          <a:lstStyle/>
          <a:p>
            <a:pPr marL="0" indent="0" algn="ctr">
              <a:buNone/>
            </a:pPr>
            <a:r>
              <a:rPr lang="en-US" altLang="zh-TW" sz="1400" b="1">
                <a:solidFill>
                  <a:srgbClr val="FFFFFF"/>
                </a:solidFill>
                <a:latin typeface="Microsoft JhengHei" pitchFamily="34" charset="0"/>
                <a:ea typeface="Microsoft JhengHei" pitchFamily="34" charset="-122"/>
              </a:rPr>
              <a:t>Hybrid </a:t>
            </a:r>
            <a:r>
              <a:rPr lang="zh-TW" altLang="en-US" sz="1400" b="1">
                <a:solidFill>
                  <a:srgbClr val="FFFFFF"/>
                </a:solidFill>
                <a:latin typeface="Microsoft JhengHei" pitchFamily="34" charset="0"/>
                <a:ea typeface="Microsoft JhengHei" pitchFamily="34" charset="-122"/>
              </a:rPr>
              <a:t>知識檢索</a:t>
            </a:r>
            <a:endParaRPr lang="en-US" sz="1400"/>
          </a:p>
        </p:txBody>
      </p:sp>
      <p:sp>
        <p:nvSpPr>
          <p:cNvPr id="529" name="Shape 10">
            <a:extLst>
              <a:ext uri="{FF2B5EF4-FFF2-40B4-BE49-F238E27FC236}">
                <a16:creationId xmlns:a16="http://schemas.microsoft.com/office/drawing/2014/main" id="{D7D3DCB3-B23D-3728-6063-954730908834}"/>
              </a:ext>
            </a:extLst>
          </p:cNvPr>
          <p:cNvSpPr/>
          <p:nvPr/>
        </p:nvSpPr>
        <p:spPr>
          <a:xfrm>
            <a:off x="7118998" y="1864870"/>
            <a:ext cx="2030565" cy="1772121"/>
          </a:xfrm>
          <a:prstGeom prst="roundRect">
            <a:avLst>
              <a:gd name="adj" fmla="val 3591"/>
            </a:avLst>
          </a:prstGeom>
          <a:solidFill>
            <a:srgbClr val="EFF6FF"/>
          </a:solidFill>
          <a:ln w="12700">
            <a:solidFill>
              <a:srgbClr val="EFF6FF"/>
            </a:solidFill>
            <a:prstDash val="solid"/>
          </a:ln>
        </p:spPr>
        <p:txBody>
          <a:bodyPr/>
          <a:lstStyle/>
          <a:p>
            <a:endParaRPr lang="zh-TW" altLang="en-US"/>
          </a:p>
        </p:txBody>
      </p:sp>
      <p:sp>
        <p:nvSpPr>
          <p:cNvPr id="53" name="Shape 51">
            <a:extLst>
              <a:ext uri="{FF2B5EF4-FFF2-40B4-BE49-F238E27FC236}">
                <a16:creationId xmlns:a16="http://schemas.microsoft.com/office/drawing/2014/main" id="{617385B0-B501-E504-FDD6-19B6034980A9}"/>
              </a:ext>
            </a:extLst>
          </p:cNvPr>
          <p:cNvSpPr/>
          <p:nvPr/>
        </p:nvSpPr>
        <p:spPr>
          <a:xfrm>
            <a:off x="7254447" y="1928044"/>
            <a:ext cx="1742400" cy="295200"/>
          </a:xfrm>
          <a:prstGeom prst="roundRect">
            <a:avLst>
              <a:gd name="adj" fmla="val 17391"/>
            </a:avLst>
          </a:prstGeom>
          <a:solidFill>
            <a:srgbClr val="FFFFFF"/>
          </a:solidFill>
          <a:ln w="15240">
            <a:solidFill>
              <a:srgbClr val="729AF2"/>
            </a:solidFill>
            <a:prstDash val="solid"/>
          </a:ln>
        </p:spPr>
        <p:txBody>
          <a:bodyPr/>
          <a:lstStyle/>
          <a:p>
            <a:pPr algn="ctr"/>
            <a:r>
              <a:rPr lang="zh-TW" altLang="en-US" sz="1200" b="1"/>
              <a:t>問題改寫</a:t>
            </a:r>
          </a:p>
        </p:txBody>
      </p:sp>
      <p:sp>
        <p:nvSpPr>
          <p:cNvPr id="55" name="Shape 51">
            <a:extLst>
              <a:ext uri="{FF2B5EF4-FFF2-40B4-BE49-F238E27FC236}">
                <a16:creationId xmlns:a16="http://schemas.microsoft.com/office/drawing/2014/main" id="{EA55A390-834B-5EE0-6ABF-455046971460}"/>
              </a:ext>
            </a:extLst>
          </p:cNvPr>
          <p:cNvSpPr/>
          <p:nvPr/>
        </p:nvSpPr>
        <p:spPr>
          <a:xfrm>
            <a:off x="7254447" y="2366315"/>
            <a:ext cx="1742400" cy="295200"/>
          </a:xfrm>
          <a:prstGeom prst="roundRect">
            <a:avLst>
              <a:gd name="adj" fmla="val 17391"/>
            </a:avLst>
          </a:prstGeom>
          <a:solidFill>
            <a:srgbClr val="FFFFFF"/>
          </a:solidFill>
          <a:ln w="15240">
            <a:solidFill>
              <a:srgbClr val="729AF2"/>
            </a:solidFill>
            <a:prstDash val="solid"/>
          </a:ln>
        </p:spPr>
        <p:txBody>
          <a:bodyPr/>
          <a:lstStyle/>
          <a:p>
            <a:pPr algn="ctr"/>
            <a:r>
              <a:rPr lang="en-US" altLang="zh-TW" sz="1200" b="1"/>
              <a:t>Retrieval</a:t>
            </a:r>
            <a:endParaRPr lang="zh-TW" altLang="en-US" sz="1200" b="1"/>
          </a:p>
        </p:txBody>
      </p:sp>
      <p:sp>
        <p:nvSpPr>
          <p:cNvPr id="57" name="Shape 51">
            <a:extLst>
              <a:ext uri="{FF2B5EF4-FFF2-40B4-BE49-F238E27FC236}">
                <a16:creationId xmlns:a16="http://schemas.microsoft.com/office/drawing/2014/main" id="{FC769496-FBFF-0124-DD80-77614440586B}"/>
              </a:ext>
            </a:extLst>
          </p:cNvPr>
          <p:cNvSpPr/>
          <p:nvPr/>
        </p:nvSpPr>
        <p:spPr>
          <a:xfrm>
            <a:off x="7253495" y="2832161"/>
            <a:ext cx="1742400" cy="295200"/>
          </a:xfrm>
          <a:prstGeom prst="roundRect">
            <a:avLst>
              <a:gd name="adj" fmla="val 17391"/>
            </a:avLst>
          </a:prstGeom>
          <a:solidFill>
            <a:srgbClr val="FFFFFF"/>
          </a:solidFill>
          <a:ln w="15240">
            <a:solidFill>
              <a:srgbClr val="729AF2"/>
            </a:solidFill>
            <a:prstDash val="solid"/>
          </a:ln>
        </p:spPr>
        <p:txBody>
          <a:bodyPr/>
          <a:lstStyle/>
          <a:p>
            <a:pPr algn="ctr"/>
            <a:r>
              <a:rPr lang="en-US" altLang="zh-TW" sz="1200" b="1"/>
              <a:t>Reranking</a:t>
            </a:r>
            <a:endParaRPr lang="zh-TW" altLang="en-US" sz="1200" b="1"/>
          </a:p>
        </p:txBody>
      </p:sp>
      <p:sp>
        <p:nvSpPr>
          <p:cNvPr id="59" name="Shape 51">
            <a:extLst>
              <a:ext uri="{FF2B5EF4-FFF2-40B4-BE49-F238E27FC236}">
                <a16:creationId xmlns:a16="http://schemas.microsoft.com/office/drawing/2014/main" id="{1B2B4DE6-67B3-2300-445F-1BE392F7BB96}"/>
              </a:ext>
            </a:extLst>
          </p:cNvPr>
          <p:cNvSpPr/>
          <p:nvPr/>
        </p:nvSpPr>
        <p:spPr>
          <a:xfrm>
            <a:off x="7254447" y="3298007"/>
            <a:ext cx="1741448" cy="295200"/>
          </a:xfrm>
          <a:prstGeom prst="roundRect">
            <a:avLst>
              <a:gd name="adj" fmla="val 17391"/>
            </a:avLst>
          </a:prstGeom>
          <a:solidFill>
            <a:srgbClr val="FFFFFF"/>
          </a:solidFill>
          <a:ln w="15240">
            <a:solidFill>
              <a:srgbClr val="729AF2"/>
            </a:solidFill>
            <a:prstDash val="solid"/>
          </a:ln>
        </p:spPr>
        <p:txBody>
          <a:bodyPr/>
          <a:lstStyle/>
          <a:p>
            <a:r>
              <a:rPr lang="zh-TW" altLang="en-US" sz="1200" b="1"/>
              <a:t>文件證據</a:t>
            </a:r>
            <a:r>
              <a:rPr lang="en-US" altLang="zh-TW" sz="1200" b="1"/>
              <a:t>(</a:t>
            </a:r>
            <a:r>
              <a:rPr lang="zh-TW" altLang="en-US" sz="1200" b="1"/>
              <a:t>段落 </a:t>
            </a:r>
            <a:r>
              <a:rPr lang="en-US" altLang="zh-TW" sz="1200" b="1"/>
              <a:t>/ </a:t>
            </a:r>
            <a:r>
              <a:rPr lang="zh-TW" altLang="en-US" sz="1200" b="1"/>
              <a:t>圖表</a:t>
            </a:r>
            <a:r>
              <a:rPr lang="en-US" altLang="zh-TW" sz="1200" b="1"/>
              <a:t>)</a:t>
            </a:r>
            <a:endParaRPr lang="zh-TW" altLang="en-US" sz="1200" b="1"/>
          </a:p>
        </p:txBody>
      </p:sp>
      <p:sp>
        <p:nvSpPr>
          <p:cNvPr id="531" name="Text 23">
            <a:extLst>
              <a:ext uri="{FF2B5EF4-FFF2-40B4-BE49-F238E27FC236}">
                <a16:creationId xmlns:a16="http://schemas.microsoft.com/office/drawing/2014/main" id="{02FC2831-C43E-3A29-FC35-F43BBF7FADA4}"/>
              </a:ext>
            </a:extLst>
          </p:cNvPr>
          <p:cNvSpPr/>
          <p:nvPr/>
        </p:nvSpPr>
        <p:spPr>
          <a:xfrm>
            <a:off x="7091614" y="2076901"/>
            <a:ext cx="181573" cy="64723"/>
          </a:xfrm>
          <a:prstGeom prst="rect">
            <a:avLst/>
          </a:prstGeom>
          <a:noFill/>
          <a:ln/>
        </p:spPr>
        <p:txBody>
          <a:bodyPr wrap="square" lIns="254" tIns="254" rIns="254" bIns="254" rtlCol="0" anchor="t">
            <a:noAutofit/>
          </a:bodyPr>
          <a:lstStyle/>
          <a:p>
            <a:r>
              <a:rPr lang="zh-TW" altLang="en-US" sz="1200" b="1">
                <a:solidFill>
                  <a:schemeClr val="accent5"/>
                </a:solidFill>
                <a:latin typeface="Microsoft JhengHei" pitchFamily="34" charset="0"/>
                <a:ea typeface="Microsoft JhengHei" pitchFamily="34" charset="-122"/>
                <a:cs typeface="Microsoft JhengHei" pitchFamily="34" charset="-120"/>
              </a:rPr>
              <a:t>文本檢索</a:t>
            </a:r>
          </a:p>
        </p:txBody>
      </p:sp>
      <p:sp>
        <p:nvSpPr>
          <p:cNvPr id="533" name="Shape 10">
            <a:extLst>
              <a:ext uri="{FF2B5EF4-FFF2-40B4-BE49-F238E27FC236}">
                <a16:creationId xmlns:a16="http://schemas.microsoft.com/office/drawing/2014/main" id="{27B297CA-0F6B-0ACF-BE7E-D19EEF2C6992}"/>
              </a:ext>
            </a:extLst>
          </p:cNvPr>
          <p:cNvSpPr/>
          <p:nvPr/>
        </p:nvSpPr>
        <p:spPr>
          <a:xfrm>
            <a:off x="9298566" y="1864871"/>
            <a:ext cx="2094235" cy="1772120"/>
          </a:xfrm>
          <a:prstGeom prst="roundRect">
            <a:avLst>
              <a:gd name="adj" fmla="val 3591"/>
            </a:avLst>
          </a:prstGeom>
          <a:solidFill>
            <a:srgbClr val="ECFDF5"/>
          </a:solidFill>
          <a:ln w="12700">
            <a:solidFill>
              <a:srgbClr val="EFF6FF"/>
            </a:solidFill>
            <a:prstDash val="solid"/>
          </a:ln>
        </p:spPr>
        <p:txBody>
          <a:bodyPr/>
          <a:lstStyle/>
          <a:p>
            <a:endParaRPr lang="zh-TW" altLang="en-US"/>
          </a:p>
        </p:txBody>
      </p:sp>
      <p:sp>
        <p:nvSpPr>
          <p:cNvPr id="61" name="Shape 46">
            <a:extLst>
              <a:ext uri="{FF2B5EF4-FFF2-40B4-BE49-F238E27FC236}">
                <a16:creationId xmlns:a16="http://schemas.microsoft.com/office/drawing/2014/main" id="{FEF226A0-6D2D-7FC2-B479-0C0D1FED760D}"/>
              </a:ext>
            </a:extLst>
          </p:cNvPr>
          <p:cNvSpPr/>
          <p:nvPr/>
        </p:nvSpPr>
        <p:spPr>
          <a:xfrm>
            <a:off x="9360518" y="1914212"/>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原始查詢解析與向量化</a:t>
            </a:r>
          </a:p>
        </p:txBody>
      </p:sp>
      <p:sp>
        <p:nvSpPr>
          <p:cNvPr id="63" name="Shape 46">
            <a:extLst>
              <a:ext uri="{FF2B5EF4-FFF2-40B4-BE49-F238E27FC236}">
                <a16:creationId xmlns:a16="http://schemas.microsoft.com/office/drawing/2014/main" id="{F8A6DB2A-CBC5-1FFF-3A27-462FAD69161C}"/>
              </a:ext>
            </a:extLst>
          </p:cNvPr>
          <p:cNvSpPr/>
          <p:nvPr/>
        </p:nvSpPr>
        <p:spPr>
          <a:xfrm>
            <a:off x="9360518" y="2272702"/>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t>Schema Linking</a:t>
            </a:r>
            <a:endParaRPr lang="zh-TW" altLang="en-US" sz="1200" b="1"/>
          </a:p>
        </p:txBody>
      </p:sp>
      <p:sp>
        <p:nvSpPr>
          <p:cNvPr id="449" name="Shape 46">
            <a:extLst>
              <a:ext uri="{FF2B5EF4-FFF2-40B4-BE49-F238E27FC236}">
                <a16:creationId xmlns:a16="http://schemas.microsoft.com/office/drawing/2014/main" id="{5D4DB572-7E51-8307-30C8-E55CF7E64621}"/>
              </a:ext>
            </a:extLst>
          </p:cNvPr>
          <p:cNvSpPr/>
          <p:nvPr/>
        </p:nvSpPr>
        <p:spPr>
          <a:xfrm>
            <a:off x="9373498" y="2619018"/>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Text-to-SQL</a:t>
            </a:r>
            <a:endParaRPr lang="en-US" altLang="zh-TW" sz="1200" b="1"/>
          </a:p>
        </p:txBody>
      </p:sp>
      <p:sp>
        <p:nvSpPr>
          <p:cNvPr id="451" name="Shape 46">
            <a:extLst>
              <a:ext uri="{FF2B5EF4-FFF2-40B4-BE49-F238E27FC236}">
                <a16:creationId xmlns:a16="http://schemas.microsoft.com/office/drawing/2014/main" id="{2DC9B3B1-B964-5869-3D63-0BCB4B881B90}"/>
              </a:ext>
            </a:extLst>
          </p:cNvPr>
          <p:cNvSpPr/>
          <p:nvPr/>
        </p:nvSpPr>
        <p:spPr>
          <a:xfrm>
            <a:off x="9373498" y="2963129"/>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rPr>
              <a:t>SQL</a:t>
            </a:r>
            <a:r>
              <a:rPr lang="zh-TW" altLang="en-US" sz="1200" b="1">
                <a:solidFill>
                  <a:srgbClr val="1F2937"/>
                </a:solidFill>
                <a:latin typeface="Microsoft JhengHei" pitchFamily="34" charset="0"/>
                <a:ea typeface="Microsoft JhengHei" pitchFamily="34" charset="-122"/>
              </a:rPr>
              <a:t>驗證與執行</a:t>
            </a:r>
            <a:endParaRPr lang="en-US" altLang="zh-TW" sz="1200" b="1"/>
          </a:p>
        </p:txBody>
      </p:sp>
      <p:sp>
        <p:nvSpPr>
          <p:cNvPr id="453" name="Shape 46">
            <a:extLst>
              <a:ext uri="{FF2B5EF4-FFF2-40B4-BE49-F238E27FC236}">
                <a16:creationId xmlns:a16="http://schemas.microsoft.com/office/drawing/2014/main" id="{133E93EF-E517-6CB6-2988-4246584CB663}"/>
              </a:ext>
            </a:extLst>
          </p:cNvPr>
          <p:cNvSpPr/>
          <p:nvPr/>
        </p:nvSpPr>
        <p:spPr>
          <a:xfrm>
            <a:off x="9377327" y="3302374"/>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solidFill>
                  <a:srgbClr val="1F2937"/>
                </a:solidFill>
                <a:latin typeface="Microsoft JhengHei" pitchFamily="34" charset="0"/>
                <a:ea typeface="Microsoft JhengHei" pitchFamily="34" charset="-122"/>
              </a:rPr>
              <a:t>資料結果</a:t>
            </a:r>
            <a:r>
              <a:rPr lang="en-US" altLang="zh-TW" sz="1200" b="1">
                <a:solidFill>
                  <a:srgbClr val="1F2937"/>
                </a:solidFill>
                <a:latin typeface="Microsoft JhengHei" pitchFamily="34" charset="0"/>
                <a:ea typeface="Microsoft JhengHei" pitchFamily="34" charset="-122"/>
              </a:rPr>
              <a:t>(</a:t>
            </a:r>
            <a:r>
              <a:rPr lang="zh-TW" altLang="en-US" sz="1200" b="1">
                <a:solidFill>
                  <a:srgbClr val="1F2937"/>
                </a:solidFill>
                <a:latin typeface="Microsoft JhengHei" pitchFamily="34" charset="0"/>
                <a:ea typeface="Microsoft JhengHei" pitchFamily="34" charset="-122"/>
              </a:rPr>
              <a:t>數據 </a:t>
            </a:r>
            <a:r>
              <a:rPr lang="en-US" altLang="zh-TW" sz="1200" b="1">
                <a:solidFill>
                  <a:srgbClr val="1F2937"/>
                </a:solidFill>
                <a:latin typeface="Microsoft JhengHei" pitchFamily="34" charset="0"/>
                <a:ea typeface="Microsoft JhengHei" pitchFamily="34" charset="-122"/>
              </a:rPr>
              <a:t>/ </a:t>
            </a:r>
            <a:r>
              <a:rPr lang="zh-TW" altLang="en-US" sz="1200" b="1">
                <a:solidFill>
                  <a:srgbClr val="1F2937"/>
                </a:solidFill>
                <a:latin typeface="Microsoft JhengHei" pitchFamily="34" charset="0"/>
                <a:ea typeface="Microsoft JhengHei" pitchFamily="34" charset="-122"/>
              </a:rPr>
              <a:t>圖表</a:t>
            </a:r>
            <a:r>
              <a:rPr lang="en-US" altLang="zh-TW" sz="1200" b="1">
                <a:solidFill>
                  <a:srgbClr val="1F2937"/>
                </a:solidFill>
                <a:latin typeface="Microsoft JhengHei" pitchFamily="34" charset="0"/>
                <a:ea typeface="Microsoft JhengHei" pitchFamily="34" charset="-122"/>
              </a:rPr>
              <a:t>)</a:t>
            </a:r>
            <a:endParaRPr lang="en-US" altLang="zh-TW" sz="1200" b="1"/>
          </a:p>
        </p:txBody>
      </p:sp>
      <p:sp>
        <p:nvSpPr>
          <p:cNvPr id="541" name="Text 23">
            <a:extLst>
              <a:ext uri="{FF2B5EF4-FFF2-40B4-BE49-F238E27FC236}">
                <a16:creationId xmlns:a16="http://schemas.microsoft.com/office/drawing/2014/main" id="{B697D959-65B8-1029-C0DB-5F7C7C617421}"/>
              </a:ext>
            </a:extLst>
          </p:cNvPr>
          <p:cNvSpPr/>
          <p:nvPr/>
        </p:nvSpPr>
        <p:spPr>
          <a:xfrm>
            <a:off x="11244494" y="1999547"/>
            <a:ext cx="181573" cy="707418"/>
          </a:xfrm>
          <a:prstGeom prst="rect">
            <a:avLst/>
          </a:prstGeom>
          <a:noFill/>
          <a:ln/>
        </p:spPr>
        <p:txBody>
          <a:bodyPr wrap="square" lIns="254" tIns="254" rIns="254" bIns="254" rtlCol="0" anchor="t">
            <a:noAutofit/>
          </a:bodyPr>
          <a:lstStyle/>
          <a:p>
            <a:r>
              <a:rPr lang="zh-TW" altLang="en-US" sz="1200" b="1">
                <a:solidFill>
                  <a:schemeClr val="accent2">
                    <a:lumMod val="50000"/>
                  </a:schemeClr>
                </a:solidFill>
                <a:latin typeface="Microsoft JhengHei" pitchFamily="34" charset="0"/>
                <a:ea typeface="Microsoft JhengHei" pitchFamily="34" charset="-122"/>
                <a:cs typeface="Microsoft JhengHei" pitchFamily="34" charset="-120"/>
              </a:rPr>
              <a:t>數據查找</a:t>
            </a:r>
          </a:p>
        </p:txBody>
      </p:sp>
      <p:cxnSp>
        <p:nvCxnSpPr>
          <p:cNvPr id="545" name="直線單箭頭接點 544">
            <a:extLst>
              <a:ext uri="{FF2B5EF4-FFF2-40B4-BE49-F238E27FC236}">
                <a16:creationId xmlns:a16="http://schemas.microsoft.com/office/drawing/2014/main" id="{9C24A820-A2EF-63D7-84F0-9084FB48FE84}"/>
              </a:ext>
            </a:extLst>
          </p:cNvPr>
          <p:cNvCxnSpPr>
            <a:cxnSpLocks/>
            <a:stCxn id="455" idx="2"/>
            <a:endCxn id="459" idx="0"/>
          </p:cNvCxnSpPr>
          <p:nvPr/>
        </p:nvCxnSpPr>
        <p:spPr>
          <a:xfrm flipH="1">
            <a:off x="9308081" y="1251989"/>
            <a:ext cx="6917" cy="1237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9" name="接點: 肘形 548">
            <a:extLst>
              <a:ext uri="{FF2B5EF4-FFF2-40B4-BE49-F238E27FC236}">
                <a16:creationId xmlns:a16="http://schemas.microsoft.com/office/drawing/2014/main" id="{C7C085B4-A9AE-F317-5BD6-D69B81A98BE1}"/>
              </a:ext>
            </a:extLst>
          </p:cNvPr>
          <p:cNvCxnSpPr>
            <a:cxnSpLocks/>
            <a:stCxn id="459" idx="2"/>
            <a:endCxn id="529" idx="0"/>
          </p:cNvCxnSpPr>
          <p:nvPr/>
        </p:nvCxnSpPr>
        <p:spPr>
          <a:xfrm rot="5400000">
            <a:off x="8604438" y="1161227"/>
            <a:ext cx="233486" cy="117380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55" name="接點: 肘形 554">
            <a:extLst>
              <a:ext uri="{FF2B5EF4-FFF2-40B4-BE49-F238E27FC236}">
                <a16:creationId xmlns:a16="http://schemas.microsoft.com/office/drawing/2014/main" id="{30A8C0A7-5155-BD3A-2974-1256574B8F2A}"/>
              </a:ext>
            </a:extLst>
          </p:cNvPr>
          <p:cNvCxnSpPr>
            <a:cxnSpLocks/>
            <a:stCxn id="459" idx="2"/>
            <a:endCxn id="533" idx="0"/>
          </p:cNvCxnSpPr>
          <p:nvPr/>
        </p:nvCxnSpPr>
        <p:spPr>
          <a:xfrm rot="16200000" flipH="1">
            <a:off x="9710139" y="1229325"/>
            <a:ext cx="233487" cy="103760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63" name="接點: 肘形 562">
            <a:extLst>
              <a:ext uri="{FF2B5EF4-FFF2-40B4-BE49-F238E27FC236}">
                <a16:creationId xmlns:a16="http://schemas.microsoft.com/office/drawing/2014/main" id="{C2D51B36-D234-4E41-B200-DF77DD99DFC1}"/>
              </a:ext>
            </a:extLst>
          </p:cNvPr>
          <p:cNvCxnSpPr>
            <a:cxnSpLocks/>
            <a:stCxn id="529" idx="2"/>
            <a:endCxn id="463" idx="0"/>
          </p:cNvCxnSpPr>
          <p:nvPr/>
        </p:nvCxnSpPr>
        <p:spPr>
          <a:xfrm rot="16200000" flipH="1">
            <a:off x="8552810" y="3218462"/>
            <a:ext cx="178227" cy="101528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75" name="接點: 肘形 574">
            <a:extLst>
              <a:ext uri="{FF2B5EF4-FFF2-40B4-BE49-F238E27FC236}">
                <a16:creationId xmlns:a16="http://schemas.microsoft.com/office/drawing/2014/main" id="{1C196C08-435C-009D-70CD-1CB4A552A08A}"/>
              </a:ext>
            </a:extLst>
          </p:cNvPr>
          <p:cNvCxnSpPr>
            <a:cxnSpLocks/>
            <a:stCxn id="533" idx="2"/>
            <a:endCxn id="463" idx="0"/>
          </p:cNvCxnSpPr>
          <p:nvPr/>
        </p:nvCxnSpPr>
        <p:spPr>
          <a:xfrm rot="5400000">
            <a:off x="9658512" y="3128045"/>
            <a:ext cx="178227" cy="119611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983" name="直線單箭頭接點 982">
            <a:extLst>
              <a:ext uri="{FF2B5EF4-FFF2-40B4-BE49-F238E27FC236}">
                <a16:creationId xmlns:a16="http://schemas.microsoft.com/office/drawing/2014/main" id="{CA9620C2-918B-0304-18A1-1053F45A9FA1}"/>
              </a:ext>
            </a:extLst>
          </p:cNvPr>
          <p:cNvCxnSpPr>
            <a:cxnSpLocks/>
            <a:stCxn id="463" idx="2"/>
            <a:endCxn id="467" idx="0"/>
          </p:cNvCxnSpPr>
          <p:nvPr/>
        </p:nvCxnSpPr>
        <p:spPr>
          <a:xfrm flipH="1">
            <a:off x="9149563" y="4070818"/>
            <a:ext cx="2" cy="983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7" name="直線單箭頭接點 996">
            <a:extLst>
              <a:ext uri="{FF2B5EF4-FFF2-40B4-BE49-F238E27FC236}">
                <a16:creationId xmlns:a16="http://schemas.microsoft.com/office/drawing/2014/main" id="{1BA6F31E-5530-1472-4A59-DCC9FCB32016}"/>
              </a:ext>
            </a:extLst>
          </p:cNvPr>
          <p:cNvCxnSpPr>
            <a:cxnSpLocks/>
            <a:stCxn id="467" idx="2"/>
            <a:endCxn id="471" idx="0"/>
          </p:cNvCxnSpPr>
          <p:nvPr/>
        </p:nvCxnSpPr>
        <p:spPr>
          <a:xfrm>
            <a:off x="9149563" y="4424728"/>
            <a:ext cx="1187" cy="94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表格 1">
            <a:extLst>
              <a:ext uri="{FF2B5EF4-FFF2-40B4-BE49-F238E27FC236}">
                <a16:creationId xmlns:a16="http://schemas.microsoft.com/office/drawing/2014/main" id="{5F340351-77A8-F2F0-5B06-52B6FDCC51B8}"/>
              </a:ext>
            </a:extLst>
          </p:cNvPr>
          <p:cNvGraphicFramePr>
            <a:graphicFrameLocks noGrp="1"/>
          </p:cNvGraphicFramePr>
          <p:nvPr/>
        </p:nvGraphicFramePr>
        <p:xfrm>
          <a:off x="8791315" y="6973473"/>
          <a:ext cx="8128000" cy="1356919"/>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074213432"/>
                    </a:ext>
                  </a:extLst>
                </a:gridCol>
                <a:gridCol w="2032000">
                  <a:extLst>
                    <a:ext uri="{9D8B030D-6E8A-4147-A177-3AD203B41FA5}">
                      <a16:colId xmlns:a16="http://schemas.microsoft.com/office/drawing/2014/main" val="29449462"/>
                    </a:ext>
                  </a:extLst>
                </a:gridCol>
                <a:gridCol w="2032000">
                  <a:extLst>
                    <a:ext uri="{9D8B030D-6E8A-4147-A177-3AD203B41FA5}">
                      <a16:colId xmlns:a16="http://schemas.microsoft.com/office/drawing/2014/main" val="2254775350"/>
                    </a:ext>
                  </a:extLst>
                </a:gridCol>
                <a:gridCol w="2032000">
                  <a:extLst>
                    <a:ext uri="{9D8B030D-6E8A-4147-A177-3AD203B41FA5}">
                      <a16:colId xmlns:a16="http://schemas.microsoft.com/office/drawing/2014/main" val="249556923"/>
                    </a:ext>
                  </a:extLst>
                </a:gridCol>
              </a:tblGrid>
              <a:tr h="167098">
                <a:tc>
                  <a:txBody>
                    <a:bodyPr/>
                    <a:lstStyle/>
                    <a:p>
                      <a:r>
                        <a:rPr lang="zh-TW" altLang="en-US" sz="800" dirty="0"/>
                        <a:t>關鍵差異比較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800" b="1">
                          <a:solidFill>
                            <a:srgbClr val="FFFFFF"/>
                          </a:solidFill>
                          <a:latin typeface="Microsoft JhengHei" pitchFamily="34" charset="0"/>
                          <a:ea typeface="Microsoft JhengHei" pitchFamily="34" charset="-122"/>
                        </a:rPr>
                        <a:t>非結構化知識檢索</a:t>
                      </a:r>
                      <a:endParaRPr lang="en-US" altLang="zh-TW" sz="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800" b="1">
                          <a:solidFill>
                            <a:srgbClr val="FFFFFF"/>
                          </a:solidFill>
                          <a:latin typeface="Microsoft JhengHei" pitchFamily="34" charset="0"/>
                          <a:ea typeface="Microsoft JhengHei" pitchFamily="34" charset="-122"/>
                        </a:rPr>
                        <a:t>結構化知識檢索</a:t>
                      </a:r>
                      <a:endParaRPr lang="en-US" altLang="zh-TW" sz="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1">
                          <a:solidFill>
                            <a:srgbClr val="FFFFFF"/>
                          </a:solidFill>
                          <a:latin typeface="Microsoft JhengHei" pitchFamily="34" charset="0"/>
                          <a:ea typeface="Microsoft JhengHei" pitchFamily="34" charset="-122"/>
                        </a:rPr>
                        <a:t>Hybrid </a:t>
                      </a:r>
                      <a:r>
                        <a:rPr lang="zh-TW" altLang="en-US" sz="800" b="1">
                          <a:solidFill>
                            <a:srgbClr val="FFFFFF"/>
                          </a:solidFill>
                          <a:latin typeface="Microsoft JhengHei" pitchFamily="34" charset="0"/>
                          <a:ea typeface="Microsoft JhengHei" pitchFamily="34" charset="-122"/>
                        </a:rPr>
                        <a:t>知識檢索</a:t>
                      </a:r>
                      <a:endParaRPr lang="en-US" altLang="zh-TW" sz="800"/>
                    </a:p>
                  </a:txBody>
                  <a:tcPr/>
                </a:tc>
                <a:extLst>
                  <a:ext uri="{0D108BD9-81ED-4DB2-BD59-A6C34878D82A}">
                    <a16:rowId xmlns:a16="http://schemas.microsoft.com/office/drawing/2014/main" val="2370527082"/>
                  </a:ext>
                </a:extLst>
              </a:tr>
              <a:tr h="166918">
                <a:tc>
                  <a:txBody>
                    <a:bodyPr/>
                    <a:lstStyle/>
                    <a:p>
                      <a:r>
                        <a:rPr lang="zh-TW" altLang="en-US" sz="800"/>
                        <a:t>比較項目</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2122588073"/>
                  </a:ext>
                </a:extLst>
              </a:tr>
              <a:tr h="166918">
                <a:tc>
                  <a:txBody>
                    <a:bodyPr/>
                    <a:lstStyle/>
                    <a:p>
                      <a:r>
                        <a:rPr lang="zh-TW" altLang="en-US" sz="800"/>
                        <a:t>主要資料來源</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905888775"/>
                  </a:ext>
                </a:extLst>
              </a:tr>
              <a:tr h="166918">
                <a:tc>
                  <a:txBody>
                    <a:bodyPr/>
                    <a:lstStyle/>
                    <a:p>
                      <a:r>
                        <a:rPr lang="zh-TW" altLang="en-US" sz="800"/>
                        <a:t>核心演算法</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68578028"/>
                  </a:ext>
                </a:extLst>
              </a:tr>
              <a:tr h="166918">
                <a:tc>
                  <a:txBody>
                    <a:bodyPr/>
                    <a:lstStyle/>
                    <a:p>
                      <a:r>
                        <a:rPr lang="zh-TW" altLang="en-US" sz="800"/>
                        <a:t>輸出內容</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4098257733"/>
                  </a:ext>
                </a:extLst>
              </a:tr>
              <a:tr h="290119">
                <a:tc>
                  <a:txBody>
                    <a:bodyPr/>
                    <a:lstStyle/>
                    <a:p>
                      <a:r>
                        <a:rPr lang="zh-TW" altLang="en-US" sz="800"/>
                        <a:t>適用題行</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dirty="0"/>
                    </a:p>
                  </a:txBody>
                  <a:tcPr/>
                </a:tc>
                <a:extLst>
                  <a:ext uri="{0D108BD9-81ED-4DB2-BD59-A6C34878D82A}">
                    <a16:rowId xmlns:a16="http://schemas.microsoft.com/office/drawing/2014/main" val="1832045631"/>
                  </a:ext>
                </a:extLst>
              </a:tr>
            </a:tbl>
          </a:graphicData>
        </a:graphic>
      </p:graphicFrame>
      <p:cxnSp>
        <p:nvCxnSpPr>
          <p:cNvPr id="8" name="直線接點 7">
            <a:extLst>
              <a:ext uri="{FF2B5EF4-FFF2-40B4-BE49-F238E27FC236}">
                <a16:creationId xmlns:a16="http://schemas.microsoft.com/office/drawing/2014/main" id="{07A5B4DB-5467-2274-63B9-E5B670520FDC}"/>
              </a:ext>
            </a:extLst>
          </p:cNvPr>
          <p:cNvCxnSpPr>
            <a:cxnSpLocks/>
          </p:cNvCxnSpPr>
          <p:nvPr/>
        </p:nvCxnSpPr>
        <p:spPr>
          <a:xfrm>
            <a:off x="127506" y="4925264"/>
            <a:ext cx="11398554" cy="0"/>
          </a:xfrm>
          <a:prstGeom prst="line">
            <a:avLst/>
          </a:prstGeom>
          <a:ln w="19050">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F2E84AFD-D716-7283-ACDE-4D65529EE386}"/>
              </a:ext>
            </a:extLst>
          </p:cNvPr>
          <p:cNvSpPr/>
          <p:nvPr/>
        </p:nvSpPr>
        <p:spPr>
          <a:xfrm>
            <a:off x="120377" y="2172681"/>
            <a:ext cx="800219" cy="830997"/>
          </a:xfrm>
          <a:prstGeom prst="rect">
            <a:avLst/>
          </a:prstGeom>
          <a:noFill/>
        </p:spPr>
        <p:txBody>
          <a:bodyPr vert="horz" wrap="none" lIns="91440" tIns="45720" rIns="91440" bIns="45720">
            <a:spAutoFit/>
          </a:bodyPr>
          <a:lstStyle/>
          <a:p>
            <a:pPr algn="ctr"/>
            <a:r>
              <a:rPr lang="zh-TW" altLang="en-US" sz="2400" b="1" cap="none" spc="0">
                <a:ln w="0"/>
                <a:solidFill>
                  <a:schemeClr val="tx1"/>
                </a:solidFill>
              </a:rPr>
              <a:t>檢索</a:t>
            </a:r>
            <a:endParaRPr lang="en-US" altLang="zh-TW" sz="2400" b="1" cap="none" spc="0">
              <a:ln w="0"/>
              <a:solidFill>
                <a:schemeClr val="tx1"/>
              </a:solidFill>
            </a:endParaRPr>
          </a:p>
          <a:p>
            <a:pPr algn="ctr"/>
            <a:r>
              <a:rPr lang="zh-TW" altLang="en-US" sz="2400" b="1" cap="none" spc="0">
                <a:ln w="0"/>
                <a:solidFill>
                  <a:schemeClr val="tx1"/>
                </a:solidFill>
              </a:rPr>
              <a:t>流程</a:t>
            </a:r>
          </a:p>
        </p:txBody>
      </p:sp>
      <p:sp>
        <p:nvSpPr>
          <p:cNvPr id="17" name="矩形 16">
            <a:extLst>
              <a:ext uri="{FF2B5EF4-FFF2-40B4-BE49-F238E27FC236}">
                <a16:creationId xmlns:a16="http://schemas.microsoft.com/office/drawing/2014/main" id="{B093BB8D-6E9F-527D-67ED-6E461C068CD1}"/>
              </a:ext>
            </a:extLst>
          </p:cNvPr>
          <p:cNvSpPr/>
          <p:nvPr/>
        </p:nvSpPr>
        <p:spPr>
          <a:xfrm>
            <a:off x="61498" y="5020275"/>
            <a:ext cx="1005403" cy="338554"/>
          </a:xfrm>
          <a:prstGeom prst="rect">
            <a:avLst/>
          </a:prstGeom>
          <a:noFill/>
        </p:spPr>
        <p:txBody>
          <a:bodyPr vert="horz" wrap="none" lIns="91440" tIns="45720" rIns="91440" bIns="45720">
            <a:spAutoFit/>
          </a:bodyPr>
          <a:lstStyle/>
          <a:p>
            <a:pPr algn="ctr"/>
            <a:r>
              <a:rPr lang="zh-TW" altLang="en-US" sz="1600" b="1" cap="none" spc="0" dirty="0">
                <a:ln w="0"/>
                <a:solidFill>
                  <a:schemeClr val="tx1"/>
                </a:solidFill>
              </a:rPr>
              <a:t>比較項目</a:t>
            </a:r>
          </a:p>
        </p:txBody>
      </p:sp>
      <p:sp>
        <p:nvSpPr>
          <p:cNvPr id="21" name="文字方塊 20">
            <a:extLst>
              <a:ext uri="{FF2B5EF4-FFF2-40B4-BE49-F238E27FC236}">
                <a16:creationId xmlns:a16="http://schemas.microsoft.com/office/drawing/2014/main" id="{FC97019F-F66C-226E-1D87-D735B2D4EED1}"/>
              </a:ext>
            </a:extLst>
          </p:cNvPr>
          <p:cNvSpPr txBox="1"/>
          <p:nvPr/>
        </p:nvSpPr>
        <p:spPr>
          <a:xfrm>
            <a:off x="2866293" y="7150865"/>
            <a:ext cx="12404690" cy="338554"/>
          </a:xfrm>
          <a:prstGeom prst="rect">
            <a:avLst/>
          </a:prstGeom>
          <a:noFill/>
        </p:spPr>
        <p:txBody>
          <a:bodyPr wrap="square">
            <a:spAutoFit/>
          </a:bodyPr>
          <a:lstStyle/>
          <a:p>
            <a:pPr algn="ctr"/>
            <a:r>
              <a:rPr lang="zh-TW" altLang="en-US" sz="1600" b="1">
                <a:ln w="0"/>
              </a:rPr>
              <a:t>資料來源</a:t>
            </a:r>
            <a:endParaRPr lang="zh-TW" altLang="en-US" sz="1600" b="1" cap="none" spc="0">
              <a:ln w="0"/>
              <a:solidFill>
                <a:schemeClr val="tx1"/>
              </a:solidFill>
            </a:endParaRPr>
          </a:p>
        </p:txBody>
      </p:sp>
      <p:cxnSp>
        <p:nvCxnSpPr>
          <p:cNvPr id="23" name="直線接點 22">
            <a:extLst>
              <a:ext uri="{FF2B5EF4-FFF2-40B4-BE49-F238E27FC236}">
                <a16:creationId xmlns:a16="http://schemas.microsoft.com/office/drawing/2014/main" id="{BCC6180F-0FC7-9F1D-DF5C-CBB8A3EF3667}"/>
              </a:ext>
            </a:extLst>
          </p:cNvPr>
          <p:cNvCxnSpPr>
            <a:cxnSpLocks/>
          </p:cNvCxnSpPr>
          <p:nvPr/>
        </p:nvCxnSpPr>
        <p:spPr>
          <a:xfrm>
            <a:off x="127506" y="5509743"/>
            <a:ext cx="11398554" cy="0"/>
          </a:xfrm>
          <a:prstGeom prst="line">
            <a:avLst/>
          </a:prstGeom>
          <a:ln w="19050">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3A87BDCC-5781-325F-30D0-0E625BB5E8EA}"/>
              </a:ext>
            </a:extLst>
          </p:cNvPr>
          <p:cNvSpPr/>
          <p:nvPr/>
        </p:nvSpPr>
        <p:spPr>
          <a:xfrm>
            <a:off x="61497" y="6167556"/>
            <a:ext cx="1005403" cy="338554"/>
          </a:xfrm>
          <a:prstGeom prst="rect">
            <a:avLst/>
          </a:prstGeom>
          <a:noFill/>
        </p:spPr>
        <p:txBody>
          <a:bodyPr vert="horz" wrap="none" lIns="91440" tIns="45720" rIns="91440" bIns="45720">
            <a:spAutoFit/>
          </a:bodyPr>
          <a:lstStyle/>
          <a:p>
            <a:pPr algn="ctr"/>
            <a:r>
              <a:rPr lang="zh-TW" altLang="en-US" sz="1600" b="1" cap="none" spc="0" dirty="0">
                <a:ln w="0"/>
                <a:solidFill>
                  <a:schemeClr val="tx1"/>
                </a:solidFill>
              </a:rPr>
              <a:t>適用場景</a:t>
            </a:r>
          </a:p>
        </p:txBody>
      </p:sp>
      <p:cxnSp>
        <p:nvCxnSpPr>
          <p:cNvPr id="28" name="直線接點 27">
            <a:extLst>
              <a:ext uri="{FF2B5EF4-FFF2-40B4-BE49-F238E27FC236}">
                <a16:creationId xmlns:a16="http://schemas.microsoft.com/office/drawing/2014/main" id="{458CDA15-4396-3D29-E32F-4E305BD3E702}"/>
              </a:ext>
            </a:extLst>
          </p:cNvPr>
          <p:cNvCxnSpPr>
            <a:cxnSpLocks/>
          </p:cNvCxnSpPr>
          <p:nvPr/>
        </p:nvCxnSpPr>
        <p:spPr>
          <a:xfrm>
            <a:off x="127506" y="6055322"/>
            <a:ext cx="11398554" cy="0"/>
          </a:xfrm>
          <a:prstGeom prst="line">
            <a:avLst/>
          </a:prstGeom>
          <a:ln w="19050">
            <a:solidFill>
              <a:schemeClr val="tx1">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8C6E732F-40F9-48A8-6CD7-37E1C4E5E1F4}"/>
              </a:ext>
            </a:extLst>
          </p:cNvPr>
          <p:cNvSpPr/>
          <p:nvPr/>
        </p:nvSpPr>
        <p:spPr>
          <a:xfrm>
            <a:off x="61498" y="5610434"/>
            <a:ext cx="1005403" cy="338554"/>
          </a:xfrm>
          <a:prstGeom prst="rect">
            <a:avLst/>
          </a:prstGeom>
          <a:noFill/>
        </p:spPr>
        <p:txBody>
          <a:bodyPr vert="horz" wrap="none" lIns="91440" tIns="45720" rIns="91440" bIns="45720">
            <a:spAutoFit/>
          </a:bodyPr>
          <a:lstStyle/>
          <a:p>
            <a:pPr algn="ctr"/>
            <a:r>
              <a:rPr lang="zh-TW" altLang="en-US" sz="1600" b="1" dirty="0">
                <a:ln w="0"/>
              </a:rPr>
              <a:t>資料來源</a:t>
            </a:r>
            <a:endParaRPr lang="zh-TW" altLang="en-US" sz="1600" b="1" cap="none" spc="0" dirty="0">
              <a:ln w="0"/>
              <a:solidFill>
                <a:schemeClr val="tx1"/>
              </a:solidFill>
            </a:endParaRPr>
          </a:p>
        </p:txBody>
      </p:sp>
      <p:sp>
        <p:nvSpPr>
          <p:cNvPr id="46" name="文字方塊 45">
            <a:extLst>
              <a:ext uri="{FF2B5EF4-FFF2-40B4-BE49-F238E27FC236}">
                <a16:creationId xmlns:a16="http://schemas.microsoft.com/office/drawing/2014/main" id="{958E4A66-5467-1778-8862-2F65855A25CA}"/>
              </a:ext>
            </a:extLst>
          </p:cNvPr>
          <p:cNvSpPr txBox="1"/>
          <p:nvPr/>
        </p:nvSpPr>
        <p:spPr>
          <a:xfrm>
            <a:off x="1075438" y="5018863"/>
            <a:ext cx="2436411" cy="400110"/>
          </a:xfrm>
          <a:prstGeom prst="rect">
            <a:avLst/>
          </a:prstGeom>
          <a:noFill/>
        </p:spPr>
        <p:txBody>
          <a:bodyPr wrap="square" rtlCol="0">
            <a:spAutoFit/>
          </a:bodyPr>
          <a:lstStyle/>
          <a:p>
            <a:r>
              <a:rPr lang="zh-TW" altLang="en-US" sz="1000" dirty="0"/>
              <a:t>從文件中找出相關證據，並根據證據回答</a:t>
            </a:r>
          </a:p>
        </p:txBody>
      </p:sp>
      <p:sp>
        <p:nvSpPr>
          <p:cNvPr id="49" name="文字方塊 48">
            <a:extLst>
              <a:ext uri="{FF2B5EF4-FFF2-40B4-BE49-F238E27FC236}">
                <a16:creationId xmlns:a16="http://schemas.microsoft.com/office/drawing/2014/main" id="{1A881618-B190-2971-939F-2C405AE2B065}"/>
              </a:ext>
            </a:extLst>
          </p:cNvPr>
          <p:cNvSpPr txBox="1"/>
          <p:nvPr/>
        </p:nvSpPr>
        <p:spPr>
          <a:xfrm>
            <a:off x="4119663" y="5584166"/>
            <a:ext cx="2657557" cy="400110"/>
          </a:xfrm>
          <a:prstGeom prst="rect">
            <a:avLst/>
          </a:prstGeom>
          <a:noFill/>
        </p:spPr>
        <p:txBody>
          <a:bodyPr wrap="square" rtlCol="0">
            <a:spAutoFit/>
          </a:bodyPr>
          <a:lstStyle/>
          <a:p>
            <a:r>
              <a:rPr lang="zh-TW" altLang="en-US" sz="1000" dirty="0"/>
              <a:t>資料庫</a:t>
            </a:r>
            <a:r>
              <a:rPr lang="en-US" altLang="zh-TW" sz="1000" dirty="0"/>
              <a:t>(Oracle</a:t>
            </a:r>
            <a:r>
              <a:rPr lang="zh-TW" altLang="en-US" sz="1000" dirty="0"/>
              <a:t> </a:t>
            </a:r>
            <a:r>
              <a:rPr lang="en-US" altLang="zh-TW" sz="1000" dirty="0"/>
              <a:t>SQL,</a:t>
            </a:r>
            <a:r>
              <a:rPr lang="zh-TW" altLang="zh-TW" sz="1000" dirty="0"/>
              <a:t> PostgreSQL</a:t>
            </a:r>
            <a:r>
              <a:rPr lang="en-US" altLang="zh-TW" sz="1000" dirty="0"/>
              <a:t>,</a:t>
            </a:r>
            <a:r>
              <a:rPr lang="zh-TW" altLang="zh-TW" sz="1000" dirty="0"/>
              <a:t> Microsoft SQL</a:t>
            </a:r>
            <a:r>
              <a:rPr lang="en-US" altLang="zh-TW" sz="1000" dirty="0"/>
              <a:t>)</a:t>
            </a:r>
            <a:endParaRPr lang="zh-TW" altLang="en-US" sz="1000" dirty="0"/>
          </a:p>
        </p:txBody>
      </p:sp>
      <p:sp>
        <p:nvSpPr>
          <p:cNvPr id="51" name="文字方塊 50">
            <a:extLst>
              <a:ext uri="{FF2B5EF4-FFF2-40B4-BE49-F238E27FC236}">
                <a16:creationId xmlns:a16="http://schemas.microsoft.com/office/drawing/2014/main" id="{FBEF0303-03D0-F551-0D94-E90CE07F344A}"/>
              </a:ext>
            </a:extLst>
          </p:cNvPr>
          <p:cNvSpPr txBox="1"/>
          <p:nvPr/>
        </p:nvSpPr>
        <p:spPr>
          <a:xfrm>
            <a:off x="8214539" y="5623857"/>
            <a:ext cx="2657557" cy="246221"/>
          </a:xfrm>
          <a:prstGeom prst="rect">
            <a:avLst/>
          </a:prstGeom>
          <a:noFill/>
        </p:spPr>
        <p:txBody>
          <a:bodyPr wrap="square" rtlCol="0">
            <a:spAutoFit/>
          </a:bodyPr>
          <a:lstStyle/>
          <a:p>
            <a:r>
              <a:rPr lang="zh-TW" altLang="en-US" sz="1000" dirty="0"/>
              <a:t>前面兩者結合資料來源</a:t>
            </a:r>
          </a:p>
        </p:txBody>
      </p:sp>
      <p:sp>
        <p:nvSpPr>
          <p:cNvPr id="54" name="文字方塊 53">
            <a:extLst>
              <a:ext uri="{FF2B5EF4-FFF2-40B4-BE49-F238E27FC236}">
                <a16:creationId xmlns:a16="http://schemas.microsoft.com/office/drawing/2014/main" id="{C15BC652-1F6C-3002-EB24-884676DF3B1D}"/>
              </a:ext>
            </a:extLst>
          </p:cNvPr>
          <p:cNvSpPr txBox="1"/>
          <p:nvPr/>
        </p:nvSpPr>
        <p:spPr>
          <a:xfrm>
            <a:off x="1114764" y="5684833"/>
            <a:ext cx="2436411" cy="246221"/>
          </a:xfrm>
          <a:prstGeom prst="rect">
            <a:avLst/>
          </a:prstGeom>
          <a:noFill/>
        </p:spPr>
        <p:txBody>
          <a:bodyPr wrap="square" rtlCol="0">
            <a:spAutoFit/>
          </a:bodyPr>
          <a:lstStyle/>
          <a:p>
            <a:r>
              <a:rPr lang="en-US" altLang="zh-TW" sz="1000" dirty="0"/>
              <a:t>pdf</a:t>
            </a:r>
            <a:r>
              <a:rPr lang="zh-TW" altLang="en-US" sz="1000" dirty="0"/>
              <a:t>、</a:t>
            </a:r>
            <a:r>
              <a:rPr lang="en-US" altLang="zh-TW" sz="1000" dirty="0"/>
              <a:t>word</a:t>
            </a:r>
            <a:r>
              <a:rPr lang="zh-TW" altLang="en-US" sz="1000" dirty="0"/>
              <a:t>、網頁、</a:t>
            </a:r>
            <a:r>
              <a:rPr lang="en-US" altLang="zh-TW" sz="1000" dirty="0"/>
              <a:t>FAQ</a:t>
            </a:r>
            <a:r>
              <a:rPr lang="zh-TW" altLang="en-US" sz="1000" dirty="0"/>
              <a:t>、規章、報告</a:t>
            </a:r>
          </a:p>
        </p:txBody>
      </p:sp>
      <p:sp>
        <p:nvSpPr>
          <p:cNvPr id="58" name="文字方塊 57">
            <a:extLst>
              <a:ext uri="{FF2B5EF4-FFF2-40B4-BE49-F238E27FC236}">
                <a16:creationId xmlns:a16="http://schemas.microsoft.com/office/drawing/2014/main" id="{430FFF34-4FD8-3036-AC98-EE50A95E221E}"/>
              </a:ext>
            </a:extLst>
          </p:cNvPr>
          <p:cNvSpPr txBox="1"/>
          <p:nvPr/>
        </p:nvSpPr>
        <p:spPr>
          <a:xfrm>
            <a:off x="4166254" y="5055392"/>
            <a:ext cx="2436411" cy="246221"/>
          </a:xfrm>
          <a:prstGeom prst="rect">
            <a:avLst/>
          </a:prstGeom>
          <a:noFill/>
        </p:spPr>
        <p:txBody>
          <a:bodyPr wrap="square" rtlCol="0">
            <a:spAutoFit/>
          </a:bodyPr>
          <a:lstStyle/>
          <a:p>
            <a:r>
              <a:rPr lang="zh-TW" altLang="en-US" sz="1000" dirty="0"/>
              <a:t>理解業務語意，轉換為</a:t>
            </a:r>
            <a:r>
              <a:rPr lang="en-US" altLang="zh-TW" sz="1000" dirty="0"/>
              <a:t>SQL</a:t>
            </a:r>
            <a:r>
              <a:rPr lang="zh-TW" altLang="en-US" sz="1000" dirty="0"/>
              <a:t>並計算資料</a:t>
            </a:r>
          </a:p>
        </p:txBody>
      </p:sp>
      <p:sp>
        <p:nvSpPr>
          <p:cNvPr id="62" name="文字方塊 61">
            <a:extLst>
              <a:ext uri="{FF2B5EF4-FFF2-40B4-BE49-F238E27FC236}">
                <a16:creationId xmlns:a16="http://schemas.microsoft.com/office/drawing/2014/main" id="{DCCB289D-02A9-66CE-75B0-10C9966A7061}"/>
              </a:ext>
            </a:extLst>
          </p:cNvPr>
          <p:cNvSpPr txBox="1"/>
          <p:nvPr/>
        </p:nvSpPr>
        <p:spPr>
          <a:xfrm>
            <a:off x="7722890" y="5057056"/>
            <a:ext cx="3448287" cy="246221"/>
          </a:xfrm>
          <a:prstGeom prst="rect">
            <a:avLst/>
          </a:prstGeom>
          <a:noFill/>
        </p:spPr>
        <p:txBody>
          <a:bodyPr wrap="square" rtlCol="0">
            <a:spAutoFit/>
          </a:bodyPr>
          <a:lstStyle/>
          <a:p>
            <a:r>
              <a:rPr lang="zh-TW" altLang="en-US" sz="1000" dirty="0"/>
              <a:t>整合文件證據與資料計算結果，提供可驗證的答案</a:t>
            </a:r>
          </a:p>
        </p:txBody>
      </p:sp>
      <p:sp>
        <p:nvSpPr>
          <p:cNvPr id="897" name="文字方塊 896">
            <a:extLst>
              <a:ext uri="{FF2B5EF4-FFF2-40B4-BE49-F238E27FC236}">
                <a16:creationId xmlns:a16="http://schemas.microsoft.com/office/drawing/2014/main" id="{259814CB-A96B-2638-4C8C-C81528B5E5D6}"/>
              </a:ext>
            </a:extLst>
          </p:cNvPr>
          <p:cNvSpPr txBox="1"/>
          <p:nvPr/>
        </p:nvSpPr>
        <p:spPr>
          <a:xfrm>
            <a:off x="1073883" y="6223041"/>
            <a:ext cx="2436411" cy="400110"/>
          </a:xfrm>
          <a:prstGeom prst="rect">
            <a:avLst/>
          </a:prstGeom>
          <a:noFill/>
        </p:spPr>
        <p:txBody>
          <a:bodyPr wrap="square" rtlCol="0">
            <a:spAutoFit/>
          </a:bodyPr>
          <a:lstStyle/>
          <a:p>
            <a:r>
              <a:rPr lang="zh-TW" altLang="en-US" sz="1000" dirty="0"/>
              <a:t>什麼、為什麼、如何、政策、定義例如亞資中心高雄專區進度？、</a:t>
            </a:r>
          </a:p>
        </p:txBody>
      </p:sp>
      <p:sp>
        <p:nvSpPr>
          <p:cNvPr id="900" name="文字方塊 899">
            <a:extLst>
              <a:ext uri="{FF2B5EF4-FFF2-40B4-BE49-F238E27FC236}">
                <a16:creationId xmlns:a16="http://schemas.microsoft.com/office/drawing/2014/main" id="{D2711DF9-4882-38F7-C29E-BA9936411280}"/>
              </a:ext>
            </a:extLst>
          </p:cNvPr>
          <p:cNvSpPr txBox="1"/>
          <p:nvPr/>
        </p:nvSpPr>
        <p:spPr>
          <a:xfrm>
            <a:off x="4214002" y="6118734"/>
            <a:ext cx="2726640" cy="553998"/>
          </a:xfrm>
          <a:prstGeom prst="rect">
            <a:avLst/>
          </a:prstGeom>
          <a:noFill/>
        </p:spPr>
        <p:txBody>
          <a:bodyPr wrap="square" rtlCol="0">
            <a:spAutoFit/>
          </a:bodyPr>
          <a:lstStyle/>
          <a:p>
            <a:r>
              <a:rPr lang="zh-TW" altLang="en-US" sz="1000" dirty="0"/>
              <a:t>多少、趨勢、比較、排行、佔比、</a:t>
            </a:r>
            <a:r>
              <a:rPr lang="en-US" altLang="zh-TW" sz="1000" dirty="0"/>
              <a:t>KPI</a:t>
            </a:r>
            <a:r>
              <a:rPr lang="zh-TW" altLang="en-US" sz="1000" dirty="0"/>
              <a:t>例如金同處</a:t>
            </a:r>
            <a:r>
              <a:rPr lang="en-US" altLang="zh-TW" sz="1000" dirty="0"/>
              <a:t>9</a:t>
            </a:r>
            <a:r>
              <a:rPr lang="zh-TW" altLang="en-US" sz="1000" dirty="0"/>
              <a:t>月授信利差是多少</a:t>
            </a:r>
            <a:r>
              <a:rPr lang="en-US" altLang="zh-TW" sz="1000" dirty="0"/>
              <a:t>?</a:t>
            </a:r>
            <a:r>
              <a:rPr lang="zh-TW" altLang="en-US" sz="1000" dirty="0"/>
              <a:t>、</a:t>
            </a:r>
            <a:r>
              <a:rPr lang="en-US" altLang="zh-TW" sz="1000" dirty="0"/>
              <a:t>2024Q1</a:t>
            </a:r>
            <a:r>
              <a:rPr lang="zh-TW" altLang="en-US" sz="1000" dirty="0"/>
              <a:t>國泰銀新加坡分行</a:t>
            </a:r>
            <a:r>
              <a:rPr lang="en-US" altLang="zh-TW" sz="1000" dirty="0"/>
              <a:t>2023</a:t>
            </a:r>
            <a:r>
              <a:rPr lang="zh-TW" altLang="en-US" sz="1000" dirty="0"/>
              <a:t>年放款餘額是多少</a:t>
            </a:r>
            <a:r>
              <a:rPr lang="en-US" altLang="zh-TW" sz="1000" dirty="0"/>
              <a:t>?</a:t>
            </a:r>
            <a:endParaRPr lang="zh-TW" altLang="en-US" sz="1000" dirty="0"/>
          </a:p>
        </p:txBody>
      </p:sp>
      <p:sp>
        <p:nvSpPr>
          <p:cNvPr id="902" name="文字方塊 901">
            <a:extLst>
              <a:ext uri="{FF2B5EF4-FFF2-40B4-BE49-F238E27FC236}">
                <a16:creationId xmlns:a16="http://schemas.microsoft.com/office/drawing/2014/main" id="{EF8D8F14-E387-71D6-3B43-102F87F8494B}"/>
              </a:ext>
            </a:extLst>
          </p:cNvPr>
          <p:cNvSpPr txBox="1"/>
          <p:nvPr/>
        </p:nvSpPr>
        <p:spPr>
          <a:xfrm>
            <a:off x="7813314" y="6130026"/>
            <a:ext cx="3094407" cy="553998"/>
          </a:xfrm>
          <a:prstGeom prst="rect">
            <a:avLst/>
          </a:prstGeom>
          <a:noFill/>
        </p:spPr>
        <p:txBody>
          <a:bodyPr wrap="square" rtlCol="0">
            <a:spAutoFit/>
          </a:bodyPr>
          <a:lstStyle/>
          <a:p>
            <a:r>
              <a:rPr lang="zh-TW" altLang="en-US" sz="1000" dirty="0"/>
              <a:t>複合型問題：數據</a:t>
            </a:r>
            <a:r>
              <a:rPr lang="en-US" altLang="zh-TW" sz="1000" dirty="0"/>
              <a:t>+</a:t>
            </a:r>
            <a:r>
              <a:rPr lang="zh-TW" altLang="en-US" sz="1000" dirty="0"/>
              <a:t>原因  活動影響、策略分析例如</a:t>
            </a:r>
            <a:r>
              <a:rPr lang="en-US" altLang="zh-TW" sz="1000" dirty="0"/>
              <a:t>2024</a:t>
            </a:r>
            <a:r>
              <a:rPr lang="zh-TW" altLang="en-US" sz="1000" dirty="0"/>
              <a:t>年國泰銀保險收益超越本行的原因？、北富銀有哪些轉投資公司及其持股比為何</a:t>
            </a:r>
          </a:p>
        </p:txBody>
      </p:sp>
    </p:spTree>
    <p:extLst>
      <p:ext uri="{BB962C8B-B14F-4D97-AF65-F5344CB8AC3E}">
        <p14:creationId xmlns:p14="http://schemas.microsoft.com/office/powerpoint/2010/main" val="973433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759E6-D9AC-5CB1-0354-35CA5D25FDCF}"/>
            </a:ext>
          </a:extLst>
        </p:cNvPr>
        <p:cNvGrpSpPr/>
        <p:nvPr/>
      </p:nvGrpSpPr>
      <p:grpSpPr>
        <a:xfrm>
          <a:off x="0" y="0"/>
          <a:ext cx="0" cy="0"/>
          <a:chOff x="0" y="0"/>
          <a:chExt cx="0" cy="0"/>
        </a:xfrm>
      </p:grpSpPr>
      <p:sp>
        <p:nvSpPr>
          <p:cNvPr id="44" name="Shape 28">
            <a:extLst>
              <a:ext uri="{FF2B5EF4-FFF2-40B4-BE49-F238E27FC236}">
                <a16:creationId xmlns:a16="http://schemas.microsoft.com/office/drawing/2014/main" id="{58C64023-7C42-B28E-076C-5100BA3BCD93}"/>
              </a:ext>
            </a:extLst>
          </p:cNvPr>
          <p:cNvSpPr/>
          <p:nvPr/>
        </p:nvSpPr>
        <p:spPr>
          <a:xfrm>
            <a:off x="-2179383" y="6713135"/>
            <a:ext cx="11467745" cy="58347"/>
          </a:xfrm>
          <a:prstGeom prst="rect">
            <a:avLst/>
          </a:prstGeom>
          <a:solidFill>
            <a:srgbClr val="F7F1F9"/>
          </a:solidFill>
          <a:ln w="12700">
            <a:noFill/>
            <a:prstDash val="solid"/>
          </a:ln>
        </p:spPr>
        <p:txBody>
          <a:bodyPr/>
          <a:lstStyle/>
          <a:p>
            <a:endParaRPr lang="zh-TW" altLang="en-US"/>
          </a:p>
        </p:txBody>
      </p:sp>
      <p:sp>
        <p:nvSpPr>
          <p:cNvPr id="5" name="文字版面配置區 1">
            <a:extLst>
              <a:ext uri="{FF2B5EF4-FFF2-40B4-BE49-F238E27FC236}">
                <a16:creationId xmlns:a16="http://schemas.microsoft.com/office/drawing/2014/main" id="{CF3BBEBC-75B7-D84D-0547-B2EBE63155BB}"/>
              </a:ext>
            </a:extLst>
          </p:cNvPr>
          <p:cNvSpPr>
            <a:spLocks noGrp="1"/>
          </p:cNvSpPr>
          <p:nvPr>
            <p:ph type="body" sz="quarter" idx="21"/>
          </p:nvPr>
        </p:nvSpPr>
        <p:spPr>
          <a:xfrm>
            <a:off x="665940" y="-213225"/>
            <a:ext cx="8221501" cy="659975"/>
          </a:xfrm>
        </p:spPr>
        <p:txBody>
          <a:bodyPr/>
          <a:lstStyle/>
          <a:p>
            <a:r>
              <a:rPr lang="en-US" altLang="zh-TW" sz="2400" dirty="0"/>
              <a:t>【</a:t>
            </a:r>
            <a:r>
              <a:rPr lang="zh-TW" altLang="en-US" sz="2400" dirty="0"/>
              <a:t>不同知識應用情境之技術</a:t>
            </a:r>
          </a:p>
        </p:txBody>
      </p:sp>
      <p:pic>
        <p:nvPicPr>
          <p:cNvPr id="3" name="圖片 2">
            <a:extLst>
              <a:ext uri="{FF2B5EF4-FFF2-40B4-BE49-F238E27FC236}">
                <a16:creationId xmlns:a16="http://schemas.microsoft.com/office/drawing/2014/main" id="{74811E0F-D19D-3580-C69B-9D91E531D4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8760" y="7096137"/>
            <a:ext cx="10287000" cy="6858000"/>
          </a:xfrm>
          <a:prstGeom prst="rect">
            <a:avLst/>
          </a:prstGeom>
        </p:spPr>
      </p:pic>
      <p:pic>
        <p:nvPicPr>
          <p:cNvPr id="525" name="圖片 524">
            <a:extLst>
              <a:ext uri="{FF2B5EF4-FFF2-40B4-BE49-F238E27FC236}">
                <a16:creationId xmlns:a16="http://schemas.microsoft.com/office/drawing/2014/main" id="{8CDA5CC7-8F79-1168-E72E-CD3AB535A564}"/>
              </a:ext>
            </a:extLst>
          </p:cNvPr>
          <p:cNvPicPr>
            <a:picLocks noChangeAspect="1"/>
          </p:cNvPicPr>
          <p:nvPr/>
        </p:nvPicPr>
        <p:blipFill>
          <a:blip r:embed="rId3">
            <a:extLst>
              <a:ext uri="{28A0092B-C50C-407E-A947-70E740481C1C}">
                <a14:useLocalDpi xmlns:a14="http://schemas.microsoft.com/office/drawing/2010/main" val="0"/>
              </a:ext>
            </a:extLst>
          </a:blip>
          <a:srcRect l="1892" t="71207" r="3465" b="6681"/>
          <a:stretch>
            <a:fillRect/>
          </a:stretch>
        </p:blipFill>
        <p:spPr>
          <a:xfrm>
            <a:off x="-288853" y="7180750"/>
            <a:ext cx="9735886" cy="1516465"/>
          </a:xfrm>
          <a:prstGeom prst="rect">
            <a:avLst/>
          </a:prstGeom>
        </p:spPr>
      </p:pic>
      <p:graphicFrame>
        <p:nvGraphicFramePr>
          <p:cNvPr id="2" name="表格 1">
            <a:extLst>
              <a:ext uri="{FF2B5EF4-FFF2-40B4-BE49-F238E27FC236}">
                <a16:creationId xmlns:a16="http://schemas.microsoft.com/office/drawing/2014/main" id="{99B02307-0ADC-FBDC-DAEA-976E90FF44B9}"/>
              </a:ext>
            </a:extLst>
          </p:cNvPr>
          <p:cNvGraphicFramePr>
            <a:graphicFrameLocks noGrp="1"/>
          </p:cNvGraphicFramePr>
          <p:nvPr/>
        </p:nvGraphicFramePr>
        <p:xfrm>
          <a:off x="8791315" y="6973473"/>
          <a:ext cx="8128000" cy="1356919"/>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074213432"/>
                    </a:ext>
                  </a:extLst>
                </a:gridCol>
                <a:gridCol w="2032000">
                  <a:extLst>
                    <a:ext uri="{9D8B030D-6E8A-4147-A177-3AD203B41FA5}">
                      <a16:colId xmlns:a16="http://schemas.microsoft.com/office/drawing/2014/main" val="29449462"/>
                    </a:ext>
                  </a:extLst>
                </a:gridCol>
                <a:gridCol w="2032000">
                  <a:extLst>
                    <a:ext uri="{9D8B030D-6E8A-4147-A177-3AD203B41FA5}">
                      <a16:colId xmlns:a16="http://schemas.microsoft.com/office/drawing/2014/main" val="2254775350"/>
                    </a:ext>
                  </a:extLst>
                </a:gridCol>
                <a:gridCol w="2032000">
                  <a:extLst>
                    <a:ext uri="{9D8B030D-6E8A-4147-A177-3AD203B41FA5}">
                      <a16:colId xmlns:a16="http://schemas.microsoft.com/office/drawing/2014/main" val="249556923"/>
                    </a:ext>
                  </a:extLst>
                </a:gridCol>
              </a:tblGrid>
              <a:tr h="167098">
                <a:tc>
                  <a:txBody>
                    <a:bodyPr/>
                    <a:lstStyle/>
                    <a:p>
                      <a:r>
                        <a:rPr lang="zh-TW" altLang="en-US" sz="800" dirty="0"/>
                        <a:t>關鍵差異比較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800" b="1">
                          <a:solidFill>
                            <a:srgbClr val="FFFFFF"/>
                          </a:solidFill>
                          <a:latin typeface="Microsoft JhengHei" pitchFamily="34" charset="0"/>
                          <a:ea typeface="Microsoft JhengHei" pitchFamily="34" charset="-122"/>
                        </a:rPr>
                        <a:t>非結構化知識檢索</a:t>
                      </a:r>
                      <a:endParaRPr lang="en-US" altLang="zh-TW" sz="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800" b="1">
                          <a:solidFill>
                            <a:srgbClr val="FFFFFF"/>
                          </a:solidFill>
                          <a:latin typeface="Microsoft JhengHei" pitchFamily="34" charset="0"/>
                          <a:ea typeface="Microsoft JhengHei" pitchFamily="34" charset="-122"/>
                        </a:rPr>
                        <a:t>結構化知識檢索</a:t>
                      </a:r>
                      <a:endParaRPr lang="en-US" altLang="zh-TW" sz="8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1">
                          <a:solidFill>
                            <a:srgbClr val="FFFFFF"/>
                          </a:solidFill>
                          <a:latin typeface="Microsoft JhengHei" pitchFamily="34" charset="0"/>
                          <a:ea typeface="Microsoft JhengHei" pitchFamily="34" charset="-122"/>
                        </a:rPr>
                        <a:t>Hybrid </a:t>
                      </a:r>
                      <a:r>
                        <a:rPr lang="zh-TW" altLang="en-US" sz="800" b="1">
                          <a:solidFill>
                            <a:srgbClr val="FFFFFF"/>
                          </a:solidFill>
                          <a:latin typeface="Microsoft JhengHei" pitchFamily="34" charset="0"/>
                          <a:ea typeface="Microsoft JhengHei" pitchFamily="34" charset="-122"/>
                        </a:rPr>
                        <a:t>知識檢索</a:t>
                      </a:r>
                      <a:endParaRPr lang="en-US" altLang="zh-TW" sz="800"/>
                    </a:p>
                  </a:txBody>
                  <a:tcPr/>
                </a:tc>
                <a:extLst>
                  <a:ext uri="{0D108BD9-81ED-4DB2-BD59-A6C34878D82A}">
                    <a16:rowId xmlns:a16="http://schemas.microsoft.com/office/drawing/2014/main" val="2370527082"/>
                  </a:ext>
                </a:extLst>
              </a:tr>
              <a:tr h="166918">
                <a:tc>
                  <a:txBody>
                    <a:bodyPr/>
                    <a:lstStyle/>
                    <a:p>
                      <a:r>
                        <a:rPr lang="zh-TW" altLang="en-US" sz="800"/>
                        <a:t>比較項目</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2122588073"/>
                  </a:ext>
                </a:extLst>
              </a:tr>
              <a:tr h="166918">
                <a:tc>
                  <a:txBody>
                    <a:bodyPr/>
                    <a:lstStyle/>
                    <a:p>
                      <a:r>
                        <a:rPr lang="zh-TW" altLang="en-US" sz="800"/>
                        <a:t>主要資料來源</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905888775"/>
                  </a:ext>
                </a:extLst>
              </a:tr>
              <a:tr h="166918">
                <a:tc>
                  <a:txBody>
                    <a:bodyPr/>
                    <a:lstStyle/>
                    <a:p>
                      <a:r>
                        <a:rPr lang="zh-TW" altLang="en-US" sz="800"/>
                        <a:t>核心演算法</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68578028"/>
                  </a:ext>
                </a:extLst>
              </a:tr>
              <a:tr h="166918">
                <a:tc>
                  <a:txBody>
                    <a:bodyPr/>
                    <a:lstStyle/>
                    <a:p>
                      <a:r>
                        <a:rPr lang="zh-TW" altLang="en-US" sz="800"/>
                        <a:t>輸出內容</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a:p>
                  </a:txBody>
                  <a:tcPr/>
                </a:tc>
                <a:extLst>
                  <a:ext uri="{0D108BD9-81ED-4DB2-BD59-A6C34878D82A}">
                    <a16:rowId xmlns:a16="http://schemas.microsoft.com/office/drawing/2014/main" val="4098257733"/>
                  </a:ext>
                </a:extLst>
              </a:tr>
              <a:tr h="290119">
                <a:tc>
                  <a:txBody>
                    <a:bodyPr/>
                    <a:lstStyle/>
                    <a:p>
                      <a:r>
                        <a:rPr lang="zh-TW" altLang="en-US" sz="800"/>
                        <a:t>適用題行</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dirty="0"/>
                    </a:p>
                  </a:txBody>
                  <a:tcPr/>
                </a:tc>
                <a:extLst>
                  <a:ext uri="{0D108BD9-81ED-4DB2-BD59-A6C34878D82A}">
                    <a16:rowId xmlns:a16="http://schemas.microsoft.com/office/drawing/2014/main" val="1832045631"/>
                  </a:ext>
                </a:extLst>
              </a:tr>
            </a:tbl>
          </a:graphicData>
        </a:graphic>
      </p:graphicFrame>
      <p:sp>
        <p:nvSpPr>
          <p:cNvPr id="17" name="矩形 16">
            <a:extLst>
              <a:ext uri="{FF2B5EF4-FFF2-40B4-BE49-F238E27FC236}">
                <a16:creationId xmlns:a16="http://schemas.microsoft.com/office/drawing/2014/main" id="{22F37B64-D307-5614-6D0F-3E32D9E4DD4C}"/>
              </a:ext>
            </a:extLst>
          </p:cNvPr>
          <p:cNvSpPr/>
          <p:nvPr/>
        </p:nvSpPr>
        <p:spPr>
          <a:xfrm>
            <a:off x="654336" y="446750"/>
            <a:ext cx="2900153" cy="338554"/>
          </a:xfrm>
          <a:prstGeom prst="rect">
            <a:avLst/>
          </a:prstGeom>
          <a:noFill/>
        </p:spPr>
        <p:txBody>
          <a:bodyPr vert="horz" wrap="none" lIns="91440" tIns="45720" rIns="91440" bIns="45720">
            <a:spAutoFit/>
          </a:bodyPr>
          <a:lstStyle/>
          <a:p>
            <a:pPr algn="ctr"/>
            <a:r>
              <a:rPr lang="en" altLang="zh-TW" sz="1600" dirty="0"/>
              <a:t>OpenAI </a:t>
            </a:r>
            <a:r>
              <a:rPr lang="zh-TW" altLang="en-US" sz="1600" dirty="0"/>
              <a:t>官方資料與 </a:t>
            </a:r>
            <a:r>
              <a:rPr lang="en" altLang="zh-TW" sz="1600" dirty="0"/>
              <a:t>IR </a:t>
            </a:r>
            <a:r>
              <a:rPr lang="zh-TW" altLang="en-US" sz="1600" dirty="0"/>
              <a:t>論文後</a:t>
            </a:r>
            <a:endParaRPr lang="zh-TW" altLang="en-US" sz="1600" b="1" cap="none" spc="0" dirty="0">
              <a:ln w="0"/>
              <a:solidFill>
                <a:schemeClr val="tx1"/>
              </a:solidFill>
            </a:endParaRPr>
          </a:p>
        </p:txBody>
      </p:sp>
      <p:sp>
        <p:nvSpPr>
          <p:cNvPr id="21" name="文字方塊 20">
            <a:extLst>
              <a:ext uri="{FF2B5EF4-FFF2-40B4-BE49-F238E27FC236}">
                <a16:creationId xmlns:a16="http://schemas.microsoft.com/office/drawing/2014/main" id="{BEE70B12-2EAA-DA8A-7AAA-7961D1186E32}"/>
              </a:ext>
            </a:extLst>
          </p:cNvPr>
          <p:cNvSpPr txBox="1"/>
          <p:nvPr/>
        </p:nvSpPr>
        <p:spPr>
          <a:xfrm>
            <a:off x="2866293" y="7150865"/>
            <a:ext cx="12404690" cy="338554"/>
          </a:xfrm>
          <a:prstGeom prst="rect">
            <a:avLst/>
          </a:prstGeom>
          <a:noFill/>
        </p:spPr>
        <p:txBody>
          <a:bodyPr wrap="square">
            <a:spAutoFit/>
          </a:bodyPr>
          <a:lstStyle/>
          <a:p>
            <a:pPr algn="ctr"/>
            <a:r>
              <a:rPr lang="zh-TW" altLang="en-US" sz="1600" b="1">
                <a:ln w="0"/>
              </a:rPr>
              <a:t>資料來源</a:t>
            </a:r>
            <a:endParaRPr lang="zh-TW" altLang="en-US" sz="1600" b="1" cap="none" spc="0">
              <a:ln w="0"/>
              <a:solidFill>
                <a:schemeClr val="tx1"/>
              </a:solidFill>
            </a:endParaRPr>
          </a:p>
        </p:txBody>
      </p:sp>
      <p:pic>
        <p:nvPicPr>
          <p:cNvPr id="19" name="圖片 18">
            <a:extLst>
              <a:ext uri="{FF2B5EF4-FFF2-40B4-BE49-F238E27FC236}">
                <a16:creationId xmlns:a16="http://schemas.microsoft.com/office/drawing/2014/main" id="{A85BB0EE-E61A-B562-F125-22C19C727817}"/>
              </a:ext>
            </a:extLst>
          </p:cNvPr>
          <p:cNvPicPr>
            <a:picLocks noChangeAspect="1"/>
          </p:cNvPicPr>
          <p:nvPr/>
        </p:nvPicPr>
        <p:blipFill>
          <a:blip r:embed="rId4"/>
          <a:stretch>
            <a:fillRect/>
          </a:stretch>
        </p:blipFill>
        <p:spPr>
          <a:xfrm>
            <a:off x="215400" y="840032"/>
            <a:ext cx="4903200" cy="5766375"/>
          </a:xfrm>
          <a:prstGeom prst="rect">
            <a:avLst/>
          </a:prstGeom>
        </p:spPr>
      </p:pic>
      <p:sp>
        <p:nvSpPr>
          <p:cNvPr id="25" name="文字方塊 24">
            <a:extLst>
              <a:ext uri="{FF2B5EF4-FFF2-40B4-BE49-F238E27FC236}">
                <a16:creationId xmlns:a16="http://schemas.microsoft.com/office/drawing/2014/main" id="{803EFB5E-46C6-9628-77F4-89EB9BEA3015}"/>
              </a:ext>
            </a:extLst>
          </p:cNvPr>
          <p:cNvSpPr txBox="1"/>
          <p:nvPr/>
        </p:nvSpPr>
        <p:spPr>
          <a:xfrm>
            <a:off x="5691467" y="384748"/>
            <a:ext cx="11409828" cy="369332"/>
          </a:xfrm>
          <a:prstGeom prst="rect">
            <a:avLst/>
          </a:prstGeom>
          <a:noFill/>
        </p:spPr>
        <p:txBody>
          <a:bodyPr wrap="square">
            <a:spAutoFit/>
          </a:bodyPr>
          <a:lstStyle/>
          <a:p>
            <a:r>
              <a:rPr lang="en" altLang="zh-TW" dirty="0"/>
              <a:t>LLM-enhanced Multi-stage Retrieval Architecture</a:t>
            </a:r>
            <a:endParaRPr lang="zh-TW" altLang="en-US" dirty="0"/>
          </a:p>
        </p:txBody>
      </p:sp>
      <p:pic>
        <p:nvPicPr>
          <p:cNvPr id="26" name="圖片 25">
            <a:extLst>
              <a:ext uri="{FF2B5EF4-FFF2-40B4-BE49-F238E27FC236}">
                <a16:creationId xmlns:a16="http://schemas.microsoft.com/office/drawing/2014/main" id="{7636EA34-04A0-0187-C418-C8BDB5777C2F}"/>
              </a:ext>
            </a:extLst>
          </p:cNvPr>
          <p:cNvPicPr>
            <a:picLocks noChangeAspect="1"/>
          </p:cNvPicPr>
          <p:nvPr/>
        </p:nvPicPr>
        <p:blipFill>
          <a:blip r:embed="rId5"/>
          <a:stretch>
            <a:fillRect/>
          </a:stretch>
        </p:blipFill>
        <p:spPr>
          <a:xfrm>
            <a:off x="5655608" y="1103442"/>
            <a:ext cx="5473700" cy="4953000"/>
          </a:xfrm>
          <a:prstGeom prst="rect">
            <a:avLst/>
          </a:prstGeom>
        </p:spPr>
      </p:pic>
    </p:spTree>
    <p:extLst>
      <p:ext uri="{BB962C8B-B14F-4D97-AF65-F5344CB8AC3E}">
        <p14:creationId xmlns:p14="http://schemas.microsoft.com/office/powerpoint/2010/main" val="2012088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3D4A0CFD-2BD7-E575-D484-32B5782D8493}"/>
              </a:ext>
            </a:extLst>
          </p:cNvPr>
          <p:cNvSpPr>
            <a:spLocks noGrp="1"/>
          </p:cNvSpPr>
          <p:nvPr>
            <p:ph type="body" sz="quarter" idx="21"/>
          </p:nvPr>
        </p:nvSpPr>
        <p:spPr/>
        <p:txBody>
          <a:bodyPr/>
          <a:lstStyle/>
          <a:p>
            <a:r>
              <a:rPr lang="zh-TW" altLang="en-US" dirty="0"/>
              <a:t>不同知識應用情境之技術與使用體驗差異</a:t>
            </a:r>
          </a:p>
        </p:txBody>
      </p:sp>
      <p:sp>
        <p:nvSpPr>
          <p:cNvPr id="3" name="投影片編號版面配置區 2">
            <a:extLst>
              <a:ext uri="{FF2B5EF4-FFF2-40B4-BE49-F238E27FC236}">
                <a16:creationId xmlns:a16="http://schemas.microsoft.com/office/drawing/2014/main" id="{4A07F587-735C-AA5E-AB0B-49F061D66551}"/>
              </a:ext>
            </a:extLst>
          </p:cNvPr>
          <p:cNvSpPr>
            <a:spLocks noGrp="1"/>
          </p:cNvSpPr>
          <p:nvPr>
            <p:ph type="sldNum" sz="quarter" idx="23"/>
          </p:nvPr>
        </p:nvSpPr>
        <p:spPr/>
        <p:txBody>
          <a:bodyPr/>
          <a:lstStyle/>
          <a:p>
            <a:fld id="{DD1C6579-C6C1-4544-B3E5-F3C792737BFB}" type="slidenum">
              <a:rPr lang="zh-TW" altLang="en-US" smtClean="0"/>
              <a:pPr/>
              <a:t>8</a:t>
            </a:fld>
            <a:endParaRPr lang="zh-TW" altLang="en-US"/>
          </a:p>
        </p:txBody>
      </p:sp>
      <p:sp>
        <p:nvSpPr>
          <p:cNvPr id="4" name="文字版面配置區 3">
            <a:extLst>
              <a:ext uri="{FF2B5EF4-FFF2-40B4-BE49-F238E27FC236}">
                <a16:creationId xmlns:a16="http://schemas.microsoft.com/office/drawing/2014/main" id="{BFCD2E45-EA44-9A1D-A0D6-169A510A8E09}"/>
              </a:ext>
            </a:extLst>
          </p:cNvPr>
          <p:cNvSpPr>
            <a:spLocks noGrp="1"/>
          </p:cNvSpPr>
          <p:nvPr>
            <p:ph type="body" sz="quarter" idx="29"/>
          </p:nvPr>
        </p:nvSpPr>
        <p:spPr/>
        <p:txBody>
          <a:bodyPr/>
          <a:lstStyle/>
          <a:p>
            <a:endParaRPr kumimoji="1" lang="zh-TW" altLang="en-US"/>
          </a:p>
        </p:txBody>
      </p:sp>
    </p:spTree>
    <p:extLst>
      <p:ext uri="{BB962C8B-B14F-4D97-AF65-F5344CB8AC3E}">
        <p14:creationId xmlns:p14="http://schemas.microsoft.com/office/powerpoint/2010/main" val="2116433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06CA3-4925-A221-4EA2-A4AC8D412998}"/>
            </a:ext>
          </a:extLst>
        </p:cNvPr>
        <p:cNvGrpSpPr/>
        <p:nvPr/>
      </p:nvGrpSpPr>
      <p:grpSpPr>
        <a:xfrm>
          <a:off x="0" y="0"/>
          <a:ext cx="0" cy="0"/>
          <a:chOff x="0" y="0"/>
          <a:chExt cx="0" cy="0"/>
        </a:xfrm>
      </p:grpSpPr>
      <p:sp>
        <p:nvSpPr>
          <p:cNvPr id="388" name="矩形 387">
            <a:extLst>
              <a:ext uri="{FF2B5EF4-FFF2-40B4-BE49-F238E27FC236}">
                <a16:creationId xmlns:a16="http://schemas.microsoft.com/office/drawing/2014/main" id="{46BE2A99-14E0-23CA-79C1-A52A34DDA566}"/>
              </a:ext>
            </a:extLst>
          </p:cNvPr>
          <p:cNvSpPr/>
          <p:nvPr/>
        </p:nvSpPr>
        <p:spPr>
          <a:xfrm>
            <a:off x="10904747" y="25693"/>
            <a:ext cx="1151465" cy="8483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5" name="Text 25">
            <a:extLst>
              <a:ext uri="{FF2B5EF4-FFF2-40B4-BE49-F238E27FC236}">
                <a16:creationId xmlns:a16="http://schemas.microsoft.com/office/drawing/2014/main" id="{8F33DA6E-BE22-D062-6807-3CC9B8C7F5B8}"/>
              </a:ext>
            </a:extLst>
          </p:cNvPr>
          <p:cNvSpPr/>
          <p:nvPr/>
        </p:nvSpPr>
        <p:spPr>
          <a:xfrm>
            <a:off x="-2646656" y="1452015"/>
            <a:ext cx="2211568" cy="1133856"/>
          </a:xfrm>
          <a:prstGeom prst="rect">
            <a:avLst/>
          </a:prstGeom>
          <a:solidFill>
            <a:srgbClr val="FFF7E8"/>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對應工作
</a:t>
            </a:r>
            <a:r>
              <a:rPr lang="en-US" sz="670" dirty="0">
                <a:solidFill>
                  <a:srgbClr val="17384D"/>
                </a:solidFill>
                <a:latin typeface="Microsoft JhengHei" pitchFamily="34" charset="0"/>
                <a:ea typeface="Microsoft JhengHei" pitchFamily="34" charset="-122"/>
                <a:cs typeface="Microsoft JhengHei" pitchFamily="34" charset="-120"/>
              </a:rPr>
              <a:t>Vibe Coding</a:t>
            </a:r>
            <a:endParaRPr lang="en-US" sz="670" dirty="0"/>
          </a:p>
        </p:txBody>
      </p:sp>
      <p:sp>
        <p:nvSpPr>
          <p:cNvPr id="437" name="Text 26">
            <a:extLst>
              <a:ext uri="{FF2B5EF4-FFF2-40B4-BE49-F238E27FC236}">
                <a16:creationId xmlns:a16="http://schemas.microsoft.com/office/drawing/2014/main" id="{23980424-669A-B222-2A8D-78C4D3C982CF}"/>
              </a:ext>
            </a:extLst>
          </p:cNvPr>
          <p:cNvSpPr/>
          <p:nvPr/>
        </p:nvSpPr>
        <p:spPr>
          <a:xfrm>
            <a:off x="-2646656" y="3290902"/>
            <a:ext cx="2211568" cy="1133856"/>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90" b="1" dirty="0">
                <a:solidFill>
                  <a:srgbClr val="07324D"/>
                </a:solidFill>
                <a:latin typeface="Microsoft JhengHei" pitchFamily="34" charset="0"/>
                <a:ea typeface="Microsoft JhengHei" pitchFamily="34" charset="-122"/>
                <a:cs typeface="Microsoft JhengHei" pitchFamily="34" charset="-120"/>
              </a:rPr>
              <a:t>Scope
</a:t>
            </a:r>
            <a:r>
              <a:rPr lang="en-US" sz="690" dirty="0">
                <a:solidFill>
                  <a:srgbClr val="17384D"/>
                </a:solidFill>
                <a:latin typeface="Microsoft JhengHei" pitchFamily="34" charset="0"/>
                <a:ea typeface="Microsoft JhengHei" pitchFamily="34" charset="-122"/>
                <a:cs typeface="Microsoft JhengHei" pitchFamily="34" charset="-120"/>
              </a:rPr>
              <a:t>建立業務、前緣與規劃單位由 Prototype / POC 到工程審查與正式上線的導入流程。</a:t>
            </a:r>
            <a:endParaRPr lang="en-US" sz="690" dirty="0"/>
          </a:p>
        </p:txBody>
      </p:sp>
      <p:sp>
        <p:nvSpPr>
          <p:cNvPr id="439" name="Text 27">
            <a:extLst>
              <a:ext uri="{FF2B5EF4-FFF2-40B4-BE49-F238E27FC236}">
                <a16:creationId xmlns:a16="http://schemas.microsoft.com/office/drawing/2014/main" id="{AC17191D-D60C-52D4-9F9D-3EDBF23BEAED}"/>
              </a:ext>
            </a:extLst>
          </p:cNvPr>
          <p:cNvSpPr/>
          <p:nvPr/>
        </p:nvSpPr>
        <p:spPr>
          <a:xfrm>
            <a:off x="-2646656" y="4488766"/>
            <a:ext cx="2211568" cy="1713568"/>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預計產出
</a:t>
            </a:r>
            <a:r>
              <a:rPr lang="en-US" sz="670" dirty="0">
                <a:solidFill>
                  <a:srgbClr val="17384D"/>
                </a:solidFill>
                <a:latin typeface="Microsoft JhengHei" pitchFamily="34" charset="0"/>
                <a:ea typeface="Microsoft JhengHei" pitchFamily="34" charset="-122"/>
                <a:cs typeface="Microsoft JhengHei" pitchFamily="34" charset="-120"/>
              </a:rPr>
              <a:t>• Vibe Coding 整體流程</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Prototype / POC 作業指引</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工程 Review 檢核表</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上線作業規範</a:t>
            </a:r>
            <a:endParaRPr lang="en-US" sz="670" dirty="0"/>
          </a:p>
        </p:txBody>
      </p:sp>
      <p:sp>
        <p:nvSpPr>
          <p:cNvPr id="5" name="文字版面配置區 1">
            <a:extLst>
              <a:ext uri="{FF2B5EF4-FFF2-40B4-BE49-F238E27FC236}">
                <a16:creationId xmlns:a16="http://schemas.microsoft.com/office/drawing/2014/main" id="{3ACE160A-71A7-4763-3D97-D547DD123980}"/>
              </a:ext>
            </a:extLst>
          </p:cNvPr>
          <p:cNvSpPr>
            <a:spLocks noGrp="1"/>
          </p:cNvSpPr>
          <p:nvPr>
            <p:ph type="body" sz="quarter" idx="21"/>
          </p:nvPr>
        </p:nvSpPr>
        <p:spPr>
          <a:xfrm>
            <a:off x="944914" y="93032"/>
            <a:ext cx="8221501" cy="659975"/>
          </a:xfrm>
        </p:spPr>
        <p:txBody>
          <a:bodyPr/>
          <a:lstStyle/>
          <a:p>
            <a:r>
              <a:rPr lang="zh-TW" altLang="en-US" sz="2400" dirty="0"/>
              <a:t>富邦</a:t>
            </a:r>
            <a:r>
              <a:rPr lang="en-US" altLang="zh-TW" sz="2400" dirty="0"/>
              <a:t>KM</a:t>
            </a:r>
            <a:r>
              <a:rPr lang="zh-TW" altLang="en-US" sz="2400" dirty="0"/>
              <a:t>與思邁智能比較</a:t>
            </a:r>
          </a:p>
        </p:txBody>
      </p:sp>
      <p:sp>
        <p:nvSpPr>
          <p:cNvPr id="7" name="矩形 6">
            <a:extLst>
              <a:ext uri="{FF2B5EF4-FFF2-40B4-BE49-F238E27FC236}">
                <a16:creationId xmlns:a16="http://schemas.microsoft.com/office/drawing/2014/main" id="{5025D45D-4DBC-6AC9-0D66-090E3FAE4AFA}"/>
              </a:ext>
            </a:extLst>
          </p:cNvPr>
          <p:cNvSpPr/>
          <p:nvPr/>
        </p:nvSpPr>
        <p:spPr>
          <a:xfrm rot="10800000" flipV="1">
            <a:off x="944914" y="820346"/>
            <a:ext cx="10865004" cy="53730"/>
          </a:xfrm>
          <a:prstGeom prst="rect">
            <a:avLst/>
          </a:prstGeom>
          <a:gradFill>
            <a:gsLst>
              <a:gs pos="11000">
                <a:srgbClr val="00F9D3">
                  <a:alpha val="0"/>
                </a:srgbClr>
              </a:gs>
              <a:gs pos="39000">
                <a:srgbClr val="00F9D3"/>
              </a:gs>
              <a:gs pos="70000">
                <a:srgbClr val="00C3CD"/>
              </a:gs>
              <a:gs pos="100000">
                <a:srgbClr val="008FC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 name="表格 3">
            <a:extLst>
              <a:ext uri="{FF2B5EF4-FFF2-40B4-BE49-F238E27FC236}">
                <a16:creationId xmlns:a16="http://schemas.microsoft.com/office/drawing/2014/main" id="{BF91808D-F818-6DFF-B764-4D430A4CB34D}"/>
              </a:ext>
            </a:extLst>
          </p:cNvPr>
          <p:cNvGraphicFramePr>
            <a:graphicFrameLocks noGrp="1"/>
          </p:cNvGraphicFramePr>
          <p:nvPr>
            <p:extLst>
              <p:ext uri="{D42A27DB-BD31-4B8C-83A1-F6EECF244321}">
                <p14:modId xmlns:p14="http://schemas.microsoft.com/office/powerpoint/2010/main" val="1027763380"/>
              </p:ext>
            </p:extLst>
          </p:nvPr>
        </p:nvGraphicFramePr>
        <p:xfrm>
          <a:off x="206860" y="899286"/>
          <a:ext cx="7552476" cy="5934007"/>
        </p:xfrm>
        <a:graphic>
          <a:graphicData uri="http://schemas.openxmlformats.org/drawingml/2006/table">
            <a:tbl>
              <a:tblPr/>
              <a:tblGrid>
                <a:gridCol w="304508">
                  <a:extLst>
                    <a:ext uri="{9D8B030D-6E8A-4147-A177-3AD203B41FA5}">
                      <a16:colId xmlns:a16="http://schemas.microsoft.com/office/drawing/2014/main" val="3342468780"/>
                    </a:ext>
                  </a:extLst>
                </a:gridCol>
                <a:gridCol w="650710">
                  <a:extLst>
                    <a:ext uri="{9D8B030D-6E8A-4147-A177-3AD203B41FA5}">
                      <a16:colId xmlns:a16="http://schemas.microsoft.com/office/drawing/2014/main" val="1194628151"/>
                    </a:ext>
                  </a:extLst>
                </a:gridCol>
                <a:gridCol w="2417178">
                  <a:extLst>
                    <a:ext uri="{9D8B030D-6E8A-4147-A177-3AD203B41FA5}">
                      <a16:colId xmlns:a16="http://schemas.microsoft.com/office/drawing/2014/main" val="574720663"/>
                    </a:ext>
                  </a:extLst>
                </a:gridCol>
                <a:gridCol w="2055190">
                  <a:extLst>
                    <a:ext uri="{9D8B030D-6E8A-4147-A177-3AD203B41FA5}">
                      <a16:colId xmlns:a16="http://schemas.microsoft.com/office/drawing/2014/main" val="2449997816"/>
                    </a:ext>
                  </a:extLst>
                </a:gridCol>
                <a:gridCol w="2124890">
                  <a:extLst>
                    <a:ext uri="{9D8B030D-6E8A-4147-A177-3AD203B41FA5}">
                      <a16:colId xmlns:a16="http://schemas.microsoft.com/office/drawing/2014/main" val="1327485770"/>
                    </a:ext>
                  </a:extLst>
                </a:gridCol>
              </a:tblGrid>
              <a:tr h="410706">
                <a:tc gridSpan="3">
                  <a:txBody>
                    <a:bodyPr/>
                    <a:lstStyle/>
                    <a:p>
                      <a:pPr algn="ctr"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現有工具/技術</a:t>
                      </a:r>
                      <a:br>
                        <a:rPr lang="zh-TW" sz="1200" b="1" i="0" u="none" strike="noStrike">
                          <a:solidFill>
                            <a:srgbClr val="000000"/>
                          </a:solidFill>
                          <a:effectLst/>
                          <a:latin typeface="微軟正黑體" panose="020B0604030504040204" pitchFamily="34" charset="-120"/>
                          <a:ea typeface="微軟正黑體" panose="020B0604030504040204" pitchFamily="34" charset="-120"/>
                        </a:rPr>
                      </a:br>
                      <a:r>
                        <a:rPr lang="zh-TW" sz="1000" b="1" i="0" u="none" strike="noStrike">
                          <a:solidFill>
                            <a:srgbClr val="000000"/>
                          </a:solidFill>
                          <a:effectLst/>
                          <a:latin typeface="微軟正黑體" panose="020B0604030504040204" pitchFamily="34" charset="-120"/>
                          <a:ea typeface="微軟正黑體" panose="020B0604030504040204" pitchFamily="34" charset="-120"/>
                        </a:rPr>
                        <a:t>(代表專案)</a:t>
                      </a:r>
                      <a:endParaRPr lang="zh-TW" sz="105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tc>
                <a:tc>
                  <a:txBody>
                    <a:bodyPr/>
                    <a:lstStyle/>
                    <a:p>
                      <a:pPr algn="ctr" fontAlgn="ctr">
                        <a:buNone/>
                      </a:pPr>
                      <a:r>
                        <a:rPr lang="en-US" sz="1200" b="1" i="0" u="none" strike="noStrike">
                          <a:solidFill>
                            <a:srgbClr val="000000"/>
                          </a:solidFill>
                          <a:effectLst/>
                          <a:latin typeface="微軟正黑體" panose="020B0604030504040204" pitchFamily="34" charset="-120"/>
                          <a:ea typeface="微軟正黑體" panose="020B0604030504040204" pitchFamily="34" charset="-120"/>
                        </a:rPr>
                        <a:t>KM2.0</a:t>
                      </a:r>
                      <a:br>
                        <a:rPr lang="zh-TW" sz="1200" b="1" i="0" u="none" strike="noStrike">
                          <a:solidFill>
                            <a:srgbClr val="000000"/>
                          </a:solidFill>
                          <a:effectLst/>
                          <a:latin typeface="微軟正黑體" panose="020B0604030504040204" pitchFamily="34" charset="-120"/>
                          <a:ea typeface="微軟正黑體" panose="020B0604030504040204" pitchFamily="34" charset="-120"/>
                        </a:rPr>
                      </a:br>
                      <a:r>
                        <a:rPr lang="en-US" sz="1050" b="1" i="0" u="none" strike="noStrike">
                          <a:solidFill>
                            <a:srgbClr val="000000"/>
                          </a:solidFill>
                          <a:effectLst/>
                          <a:latin typeface="微軟正黑體" panose="020B0604030504040204" pitchFamily="34" charset="-120"/>
                          <a:ea typeface="微軟正黑體" panose="020B0604030504040204" pitchFamily="34" charset="-120"/>
                        </a:rPr>
                        <a:t>(</a:t>
                      </a:r>
                      <a:r>
                        <a:rPr lang="zh-TW" sz="1050" b="1" i="0" u="none" strike="noStrike">
                          <a:solidFill>
                            <a:srgbClr val="000000"/>
                          </a:solidFill>
                          <a:effectLst/>
                          <a:latin typeface="微軟正黑體" panose="020B0604030504040204" pitchFamily="34" charset="-120"/>
                          <a:ea typeface="微軟正黑體" panose="020B0604030504040204" pitchFamily="34" charset="-120"/>
                        </a:rPr>
                        <a:t>真人文字客服</a:t>
                      </a:r>
                      <a:r>
                        <a:rPr lang="en-US" sz="1050" b="1" i="0" u="none" strike="noStrike">
                          <a:solidFill>
                            <a:srgbClr val="000000"/>
                          </a:solidFill>
                          <a:effectLst/>
                          <a:latin typeface="微軟正黑體" panose="020B0604030504040204" pitchFamily="34" charset="-120"/>
                          <a:ea typeface="微軟正黑體" panose="020B0604030504040204" pitchFamily="34" charset="-120"/>
                        </a:rPr>
                        <a:t>)</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思邁智能</a:t>
                      </a:r>
                      <a:endParaRPr lang="en-US" sz="105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7330817"/>
                  </a:ext>
                </a:extLst>
              </a:tr>
              <a:tr h="360000">
                <a:tc rowSpan="11">
                  <a:txBody>
                    <a:bodyPr/>
                    <a:lstStyle/>
                    <a:p>
                      <a:pPr algn="ctr"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非結構化知識檢索流程</a:t>
                      </a: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5">
                  <a:txBody>
                    <a:bodyPr/>
                    <a:lstStyle/>
                    <a:p>
                      <a:pPr algn="ctr"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資料</a:t>
                      </a:r>
                      <a:endParaRPr lang="en-US" altLang="zh-TW" sz="1200" b="1" i="0" u="none" strike="noStrike">
                        <a:solidFill>
                          <a:srgbClr val="000000"/>
                        </a:solidFill>
                        <a:effectLst/>
                        <a:latin typeface="微軟正黑體" panose="020B0604030504040204" pitchFamily="34" charset="-120"/>
                        <a:ea typeface="微軟正黑體" panose="020B0604030504040204" pitchFamily="34" charset="-120"/>
                      </a:endParaRPr>
                    </a:p>
                    <a:p>
                      <a:pPr algn="ctr"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處理層 </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Parsing：</a:t>
                      </a:r>
                      <a:r>
                        <a:rPr lang="zh-TW" sz="1100" b="0" i="0" u="none" strike="noStrike">
                          <a:solidFill>
                            <a:srgbClr val="000000"/>
                          </a:solidFill>
                          <a:effectLst/>
                          <a:latin typeface="微軟正黑體" panose="020B0604030504040204" pitchFamily="34" charset="-120"/>
                          <a:ea typeface="微軟正黑體" panose="020B0604030504040204" pitchFamily="34" charset="-120"/>
                        </a:rPr>
                        <a:t>提取文件內容與結構資訊</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just" fontAlgn="ctr">
                        <a:buNone/>
                      </a:pP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具備 </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VLM </a:t>
                      </a: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能力，可解析圖片語意並轉換為可檢索文字</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fontAlgn="ctr">
                        <a:buNone/>
                      </a:pP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支援圖片語意解析</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9126045"/>
                  </a:ext>
                </a:extLst>
              </a:tr>
              <a:tr h="360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Chunking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a:t>
                      </a:r>
                      <a:r>
                        <a:rPr lang="zh-TW" sz="1100" b="0" i="0" u="none" strike="noStrike">
                          <a:solidFill>
                            <a:srgbClr val="000000"/>
                          </a:solidFill>
                          <a:effectLst/>
                          <a:latin typeface="微軟正黑體" panose="020B0604030504040204" pitchFamily="34" charset="-120"/>
                          <a:ea typeface="微軟正黑體" panose="020B0604030504040204" pitchFamily="34" charset="-120"/>
                        </a:rPr>
                        <a:t> 將文句切段</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just" fontAlgn="ctr">
                        <a:buNone/>
                      </a:pPr>
                      <a:r>
                        <a:rPr lang="zh-TW" altLang="en-US" sz="1100" b="0" i="0" u="none" strike="noStrike" dirty="0">
                          <a:solidFill>
                            <a:srgbClr val="000000"/>
                          </a:solidFill>
                          <a:effectLst/>
                          <a:latin typeface="微軟正黑體" panose="020B0604030504040204" pitchFamily="34" charset="-120"/>
                          <a:ea typeface="+mn-ea"/>
                        </a:rPr>
                        <a:t>支援依文件類型套用不同 </a:t>
                      </a:r>
                      <a:r>
                        <a:rPr lang="en-US" altLang="zh-TW" sz="1100" b="0" i="0" u="none" strike="noStrike" dirty="0">
                          <a:solidFill>
                            <a:srgbClr val="000000"/>
                          </a:solidFill>
                          <a:effectLst/>
                          <a:latin typeface="微軟正黑體" panose="020B0604030504040204" pitchFamily="34" charset="-120"/>
                          <a:ea typeface="+mn-ea"/>
                        </a:rPr>
                        <a:t>Chunk Type</a:t>
                      </a:r>
                      <a:r>
                        <a:rPr lang="zh-TW" altLang="en-US" sz="1100" b="0" i="0" u="none" strike="noStrike" dirty="0">
                          <a:solidFill>
                            <a:srgbClr val="000000"/>
                          </a:solidFill>
                          <a:effectLst/>
                          <a:latin typeface="微軟正黑體" panose="020B0604030504040204" pitchFamily="34" charset="-120"/>
                          <a:ea typeface="+mn-ea"/>
                        </a:rPr>
                        <a:t>，以預設策略為主。</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fontAlgn="ctr">
                        <a:buNone/>
                      </a:pP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支援多種自訂義切塊策略，例如針對章節、圖片和表格完整切塊</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45707957"/>
                  </a:ext>
                </a:extLst>
              </a:tr>
              <a:tr h="360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Metadata：</a:t>
                      </a:r>
                      <a:r>
                        <a:rPr lang="zh-TW" sz="1100" b="0" i="0" u="none" strike="noStrike" dirty="0">
                          <a:solidFill>
                            <a:srgbClr val="000000"/>
                          </a:solidFill>
                          <a:effectLst/>
                          <a:latin typeface="微軟正黑體" panose="020B0604030504040204" pitchFamily="34" charset="-120"/>
                          <a:ea typeface="微軟正黑體" panose="020B0604030504040204" pitchFamily="34" charset="-120"/>
                        </a:rPr>
                        <a:t>依資料屬性為chunks貼標</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just" fontAlgn="ctr">
                        <a:buNone/>
                      </a:pP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僅有預設的</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Metadata</a:t>
                      </a:r>
                      <a:endPar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fontAlgn="ctr">
                        <a:buNone/>
                      </a:pP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支援自定義新增 </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Metadata</a:t>
                      </a:r>
                      <a:endPar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972246905"/>
                  </a:ext>
                </a:extLst>
              </a:tr>
              <a:tr h="360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Embedding :</a:t>
                      </a:r>
                      <a:r>
                        <a:rPr lang="zh-TW" sz="1100" b="0" i="0" u="none" strike="noStrike">
                          <a:solidFill>
                            <a:srgbClr val="000000"/>
                          </a:solidFill>
                          <a:effectLst/>
                          <a:latin typeface="微軟正黑體" panose="020B0604030504040204" pitchFamily="34" charset="-120"/>
                          <a:ea typeface="微軟正黑體" panose="020B0604030504040204" pitchFamily="34" charset="-120"/>
                        </a:rPr>
                        <a:t> 建立向量索引</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ctr">
                        <a:buNone/>
                      </a:pPr>
                      <a:endParaRPr lang="zh-TW"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endParaRPr lang="zh-TW"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66566140"/>
                  </a:ext>
                </a:extLst>
              </a:tr>
              <a:tr h="360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Indexing</a:t>
                      </a: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 </a:t>
                      </a:r>
                      <a:r>
                        <a:rPr lang="zh-TW" sz="1200" b="1"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100" b="0" i="0" u="none" strike="noStrike">
                          <a:solidFill>
                            <a:srgbClr val="000000"/>
                          </a:solidFill>
                          <a:effectLst/>
                          <a:latin typeface="微軟正黑體" panose="020B0604030504040204" pitchFamily="34" charset="-120"/>
                          <a:ea typeface="微軟正黑體" panose="020B0604030504040204" pitchFamily="34" charset="-120"/>
                        </a:rPr>
                        <a:t> </a:t>
                      </a:r>
                      <a:r>
                        <a:rPr lang="zh-TW" sz="1100" b="0" i="0" u="none" strike="noStrike">
                          <a:solidFill>
                            <a:srgbClr val="000000"/>
                          </a:solidFill>
                          <a:effectLst/>
                          <a:latin typeface="微軟正黑體" panose="020B0604030504040204" pitchFamily="34" charset="-120"/>
                          <a:ea typeface="微軟正黑體" panose="020B0604030504040204" pitchFamily="34" charset="-120"/>
                        </a:rPr>
                        <a:t>將索引、Metadata存入向量資料庫</a:t>
                      </a: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ctr">
                        <a:buNone/>
                      </a:pPr>
                      <a:endParaRPr lang="zh-TW"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endParaRPr lang="zh-TW"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69698297"/>
                  </a:ext>
                </a:extLst>
              </a:tr>
              <a:tr h="396000">
                <a:tc vMerge="1">
                  <a:txBody>
                    <a:bodyPr/>
                    <a:lstStyle/>
                    <a:p>
                      <a:endParaRPr lang="zh-TW" altLang="en-US"/>
                    </a:p>
                  </a:txBody>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理解</a:t>
                      </a:r>
                      <a:r>
                        <a:rPr lang="zh-TW" altLang="zh-TW" sz="1200" b="1" i="0" u="none" strike="noStrike">
                          <a:solidFill>
                            <a:srgbClr val="000000"/>
                          </a:solidFill>
                          <a:effectLst/>
                          <a:latin typeface="微軟正黑體" panose="020B0604030504040204" pitchFamily="34" charset="-120"/>
                          <a:ea typeface="微軟正黑體" panose="020B0604030504040204" pitchFamily="34" charset="-120"/>
                        </a:rPr>
                        <a:t>層</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4EF"/>
                    </a:solidFill>
                  </a:tcPr>
                </a:tc>
                <a:tc>
                  <a:txBody>
                    <a:bodyPr/>
                    <a:lstStyle/>
                    <a:p>
                      <a:pPr algn="l" fontAlgn="ctr">
                        <a:buNone/>
                      </a:pP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意圖理解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100" b="0" i="0" u="none" strike="noStrike">
                          <a:solidFill>
                            <a:srgbClr val="000000"/>
                          </a:solidFill>
                          <a:effectLst/>
                          <a:latin typeface="微軟正黑體" panose="020B0604030504040204" pitchFamily="34" charset="-120"/>
                          <a:ea typeface="微軟正黑體" panose="020B0604030504040204" pitchFamily="34" charset="-120"/>
                        </a:rPr>
                        <a:t> 理解使用者問題的意圖、類型</a:t>
                      </a: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4EF"/>
                    </a:solidFill>
                  </a:tcPr>
                </a:tc>
                <a:tc rowSpan="2" gridSpan="2">
                  <a:txBody>
                    <a:bodyPr/>
                    <a:lstStyle/>
                    <a:p>
                      <a:r>
                        <a:rPr lang="zh-TW" altLang="en-US" sz="1100" kern="1200" dirty="0">
                          <a:solidFill>
                            <a:schemeClr val="tx1"/>
                          </a:solidFill>
                          <a:latin typeface="微軟正黑體" panose="020B0604030504040204" pitchFamily="34" charset="-120"/>
                          <a:ea typeface="微軟正黑體" panose="020B0604030504040204" pitchFamily="34" charset="-120"/>
                          <a:cs typeface="+mn-cs"/>
                        </a:rPr>
                        <a:t>理解使用者意圖後，進行問題改寫</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endParaRPr dirty="0"/>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4142255"/>
                  </a:ext>
                </a:extLst>
              </a:tr>
              <a:tr h="396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zh-TW" sz="1200" b="1" i="0" u="none" strike="noStrike">
                        <a:solidFill>
                          <a:srgbClr val="000000"/>
                        </a:solidFill>
                        <a:effectLst/>
                        <a:latin typeface="微軟正黑體" panose="020B0604030504040204" pitchFamily="34" charset="-120"/>
                        <a:ea typeface="+mn-ea"/>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4E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問題改寫</a:t>
                      </a:r>
                      <a:r>
                        <a:rPr lang="zh-TW" altLang="zh-TW" sz="1200" b="1"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100" b="0" i="0" u="none" strike="noStrike">
                          <a:solidFill>
                            <a:srgbClr val="000000"/>
                          </a:solidFill>
                          <a:effectLst/>
                          <a:latin typeface="微軟正黑體" panose="020B0604030504040204" pitchFamily="34" charset="-120"/>
                          <a:ea typeface="微軟正黑體" panose="020B0604030504040204" pitchFamily="34" charset="-120"/>
                        </a:rPr>
                        <a:t> 根據意圖與上下文優化提問</a:t>
                      </a:r>
                      <a:endParaRPr lang="zh-TW" alt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4EF"/>
                    </a:solidFill>
                  </a:tcPr>
                </a:tc>
                <a:tc gridSpan="2" vMerge="1">
                  <a:txBody>
                    <a:bodyPr/>
                    <a:lstStyle/>
                    <a:p>
                      <a:endParaRPr lang="zh-TW" altLang="en-US"/>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vMerge="1">
                  <a:txBody>
                    <a:bodyPr/>
                    <a:lstStyle/>
                    <a:p>
                      <a:endParaRPr lang="zh-TW" altLang="en-US"/>
                    </a:p>
                  </a:txBody>
                  <a:tcPr/>
                </a:tc>
                <a:extLst>
                  <a:ext uri="{0D108BD9-81ED-4DB2-BD59-A6C34878D82A}">
                    <a16:rowId xmlns:a16="http://schemas.microsoft.com/office/drawing/2014/main" val="3123004281"/>
                  </a:ext>
                </a:extLst>
              </a:tr>
              <a:tr h="558000">
                <a:tc vMerge="1">
                  <a:txBody>
                    <a:bodyPr/>
                    <a:lstStyle/>
                    <a:p>
                      <a:endParaRPr lang="zh-TW" altLang="en-US"/>
                    </a:p>
                  </a:txBody>
                  <a:tcPr>
                    <a:lnT w="12700" cap="flat" cmpd="sng" algn="ctr">
                      <a:solidFill>
                        <a:schemeClr val="tx1"/>
                      </a:solidFill>
                      <a:prstDash val="solid"/>
                      <a:round/>
                      <a:headEnd type="none" w="med" len="med"/>
                      <a:tailEnd type="none" w="med" len="med"/>
                    </a:lnT>
                  </a:tcPr>
                </a:tc>
                <a:tc row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zh-TW" sz="1200" b="1" i="0" u="none" strike="noStrike">
                          <a:solidFill>
                            <a:srgbClr val="000000"/>
                          </a:solidFill>
                          <a:effectLst/>
                          <a:latin typeface="微軟正黑體" panose="020B0604030504040204" pitchFamily="34" charset="-120"/>
                          <a:ea typeface="微軟正黑體" panose="020B0604030504040204" pitchFamily="34" charset="-120"/>
                        </a:rPr>
                        <a:t>檢索層</a:t>
                      </a: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Retrieval</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 </a:t>
                      </a:r>
                      <a:r>
                        <a:rPr lang="zh-TW" sz="1200" b="1" i="0" u="none" strike="noStrike" dirty="0">
                          <a:solidFill>
                            <a:srgbClr val="000000"/>
                          </a:solidFill>
                          <a:effectLst/>
                          <a:latin typeface="微軟正黑體" panose="020B0604030504040204" pitchFamily="34" charset="-120"/>
                          <a:ea typeface="微軟正黑體" panose="020B0604030504040204" pitchFamily="34" charset="-120"/>
                        </a:rPr>
                        <a:t>:</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 H</a:t>
                      </a:r>
                      <a:r>
                        <a:rPr lang="zh-TW" sz="1100" b="0" i="0" u="none" strike="noStrike" dirty="0">
                          <a:solidFill>
                            <a:srgbClr val="000000"/>
                          </a:solidFill>
                          <a:effectLst/>
                          <a:latin typeface="微軟正黑體" panose="020B0604030504040204" pitchFamily="34" charset="-120"/>
                          <a:ea typeface="微軟正黑體" panose="020B0604030504040204" pitchFamily="34" charset="-120"/>
                        </a:rPr>
                        <a:t>ybrid</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 search</a:t>
                      </a:r>
                      <a:r>
                        <a:rPr lang="zh-TW" sz="1100" b="0" i="0" u="none" strike="noStrike" dirty="0">
                          <a:solidFill>
                            <a:srgbClr val="000000"/>
                          </a:solidFill>
                          <a:effectLst/>
                          <a:latin typeface="微軟正黑體" panose="020B0604030504040204" pitchFamily="34" charset="-120"/>
                          <a:ea typeface="微軟正黑體" panose="020B0604030504040204" pitchFamily="34" charset="-120"/>
                        </a:rPr>
                        <a:t>搜尋相關片段</a:t>
                      </a:r>
                      <a:endParaRPr lang="zh-TW" altLang="en-US" dirty="0">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sz="1100" b="0" dirty="0">
                          <a:latin typeface="+mn-ea"/>
                          <a:ea typeface="+mn-ea"/>
                        </a:rPr>
                        <a:t>1.</a:t>
                      </a:r>
                      <a:r>
                        <a:rPr lang="zh-TW" altLang="en-US" sz="1100" b="0" dirty="0">
                          <a:latin typeface="+mn-ea"/>
                          <a:ea typeface="+mn-ea"/>
                        </a:rPr>
                        <a:t> 具資料夾結構瀏覽工具，以定位特定知識範圍。</a:t>
                      </a:r>
                      <a:endParaRPr lang="en-US" altLang="zh-TW" sz="1100" b="0" dirty="0">
                        <a:latin typeface="+mn-ea"/>
                        <a:ea typeface="+mn-ea"/>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zh-TW" sz="1100" b="0" dirty="0">
                          <a:latin typeface="+mn-ea"/>
                          <a:ea typeface="+mn-ea"/>
                        </a:rPr>
                        <a:t>2.</a:t>
                      </a:r>
                      <a:r>
                        <a:rPr lang="zh-TW" altLang="en-US" sz="1100" b="0" dirty="0">
                          <a:latin typeface="+mn-ea"/>
                          <a:ea typeface="+mn-ea"/>
                        </a:rPr>
                        <a:t> 僅以預設的</a:t>
                      </a:r>
                      <a:r>
                        <a:rPr lang="en-US" altLang="zh-TW" sz="1100" b="0" dirty="0">
                          <a:latin typeface="+mn-ea"/>
                          <a:ea typeface="+mn-ea"/>
                        </a:rPr>
                        <a:t>Metadata</a:t>
                      </a:r>
                      <a:r>
                        <a:rPr lang="zh-TW" altLang="en-US" sz="1100" b="0" dirty="0">
                          <a:latin typeface="+mn-ea"/>
                          <a:ea typeface="+mn-ea"/>
                        </a:rPr>
                        <a:t>，</a:t>
                      </a:r>
                      <a:r>
                        <a:rPr lang="zh-TW" altLang="en-US" sz="1100" b="0" i="0" u="none" strike="noStrike" dirty="0">
                          <a:solidFill>
                            <a:srgbClr val="000000"/>
                          </a:solidFill>
                          <a:effectLst/>
                          <a:latin typeface="微軟正黑體" panose="020B0604030504040204" pitchFamily="34" charset="-120"/>
                          <a:ea typeface="+mn-ea"/>
                        </a:rPr>
                        <a:t>納入檢索機制。</a:t>
                      </a:r>
                      <a:endParaRPr lang="en-US" altLang="zh-TW" sz="1100" b="0" dirty="0">
                        <a:latin typeface="+mn-ea"/>
                        <a:ea typeface="+mn-ea"/>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sz="1100" b="0" i="0" u="none" strike="noStrike" dirty="0">
                          <a:solidFill>
                            <a:srgbClr val="000000"/>
                          </a:solidFill>
                          <a:effectLst/>
                          <a:latin typeface="微軟正黑體" panose="020B0604030504040204" pitchFamily="34" charset="-120"/>
                          <a:ea typeface="+mn-ea"/>
                        </a:rPr>
                        <a:t>自定義的 </a:t>
                      </a:r>
                      <a:r>
                        <a:rPr lang="en-US" altLang="zh-TW" sz="1100" b="0" i="0" u="none" strike="noStrike" dirty="0">
                          <a:solidFill>
                            <a:srgbClr val="000000"/>
                          </a:solidFill>
                          <a:effectLst/>
                          <a:latin typeface="微軟正黑體" panose="020B0604030504040204" pitchFamily="34" charset="-120"/>
                          <a:ea typeface="+mn-ea"/>
                        </a:rPr>
                        <a:t>Metadata</a:t>
                      </a:r>
                      <a:r>
                        <a:rPr lang="zh-TW" altLang="en-US" sz="1100" b="0" i="0" u="none" strike="noStrike" dirty="0">
                          <a:solidFill>
                            <a:srgbClr val="000000"/>
                          </a:solidFill>
                          <a:effectLst/>
                          <a:latin typeface="微軟正黑體" panose="020B0604030504040204" pitchFamily="34" charset="-120"/>
                          <a:ea typeface="+mn-ea"/>
                        </a:rPr>
                        <a:t>，納入檢索機制</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587686"/>
                  </a:ext>
                </a:extLst>
              </a:tr>
              <a:tr h="558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zh-TW" sz="1200" b="1" i="0" u="none" strike="noStrike">
                        <a:solidFill>
                          <a:srgbClr val="000000"/>
                        </a:solidFill>
                        <a:effectLst/>
                        <a:latin typeface="微軟正黑體" panose="020B0604030504040204" pitchFamily="34" charset="-120"/>
                        <a:ea typeface="+mn-ea"/>
                      </a:endParaRP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Reranking</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 </a:t>
                      </a:r>
                      <a:r>
                        <a:rPr lang="zh-TW" sz="1200" b="1" i="0" u="none" strike="noStrike">
                          <a:solidFill>
                            <a:srgbClr val="000000"/>
                          </a:solidFill>
                          <a:effectLst/>
                          <a:latin typeface="微軟正黑體" panose="020B0604030504040204" pitchFamily="34" charset="-120"/>
                          <a:ea typeface="微軟正黑體" panose="020B0604030504040204" pitchFamily="34" charset="-120"/>
                        </a:rPr>
                        <a:t>:</a:t>
                      </a:r>
                      <a:r>
                        <a:rPr lang="en-US" altLang="zh-TW" sz="1100" b="0" i="0" u="none" strike="noStrike">
                          <a:solidFill>
                            <a:srgbClr val="000000"/>
                          </a:solidFill>
                          <a:effectLst/>
                          <a:latin typeface="微軟正黑體" panose="020B0604030504040204" pitchFamily="34" charset="-120"/>
                          <a:ea typeface="微軟正黑體" panose="020B0604030504040204" pitchFamily="34" charset="-120"/>
                        </a:rPr>
                        <a:t> </a:t>
                      </a:r>
                      <a:r>
                        <a:rPr lang="zh-TW" sz="1100" b="0" i="0" u="none" strike="noStrike">
                          <a:solidFill>
                            <a:srgbClr val="000000"/>
                          </a:solidFill>
                          <a:effectLst/>
                          <a:latin typeface="微軟正黑體" panose="020B0604030504040204" pitchFamily="34" charset="-120"/>
                          <a:ea typeface="微軟正黑體" panose="020B0604030504040204" pitchFamily="34" charset="-120"/>
                        </a:rPr>
                        <a:t>依問題與片段的關聯選擇Top-K</a:t>
                      </a: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rowSpan="2" gridSpan="2">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zh-TW" altLang="en-US" sz="1100" b="0" dirty="0">
                          <a:latin typeface="+mn-ea"/>
                          <a:ea typeface="+mn-ea"/>
                        </a:rPr>
                        <a:t>支援 </a:t>
                      </a:r>
                      <a:r>
                        <a:rPr lang="en-US" altLang="zh-TW" sz="1100" b="0" dirty="0">
                          <a:latin typeface="+mn-ea"/>
                          <a:ea typeface="+mn-ea"/>
                        </a:rPr>
                        <a:t>Metadata </a:t>
                      </a:r>
                      <a:r>
                        <a:rPr lang="zh-TW" altLang="en-US" sz="1100" b="0" dirty="0">
                          <a:latin typeface="+mn-ea"/>
                          <a:ea typeface="+mn-ea"/>
                        </a:rPr>
                        <a:t>過濾，檢索前排除不相關文件</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zh-TW" sz="1100" b="0" dirty="0">
                          <a:latin typeface="+mn-ea"/>
                          <a:ea typeface="+mn-ea"/>
                        </a:rPr>
                        <a:t>LLM</a:t>
                      </a:r>
                      <a:r>
                        <a:rPr lang="zh-TW" altLang="en-US" sz="1100" b="0" dirty="0">
                          <a:latin typeface="+mn-ea"/>
                          <a:ea typeface="+mn-ea"/>
                        </a:rPr>
                        <a:t>判斷檢索結果是否符合意圖，不符則改寫問題並重新檢索</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endParaRPr lang="zh-TW" altLang="en-US"/>
                    </a:p>
                  </a:txBody>
                  <a:tcPr/>
                </a:tc>
                <a:extLst>
                  <a:ext uri="{0D108BD9-81ED-4DB2-BD59-A6C34878D82A}">
                    <a16:rowId xmlns:a16="http://schemas.microsoft.com/office/drawing/2014/main" val="1568483989"/>
                  </a:ext>
                </a:extLst>
              </a:tr>
              <a:tr h="558000">
                <a:tc vMerge="1">
                  <a:txBody>
                    <a:bodyPr/>
                    <a:lstStyle/>
                    <a:p>
                      <a:endParaRPr lang="zh-TW" altLang="en-US"/>
                    </a:p>
                  </a:txBody>
                  <a:tcPr>
                    <a:lnT w="12700" cap="flat" cmpd="sng" algn="ctr">
                      <a:solidFill>
                        <a:schemeClr val="tx1"/>
                      </a:solidFill>
                      <a:prstDash val="solid"/>
                      <a:round/>
                      <a:headEnd type="none" w="med" len="med"/>
                      <a:tailEnd type="none" w="med" len="med"/>
                    </a:lnT>
                  </a:tcPr>
                </a:tc>
                <a:tc vMerge="1">
                  <a:txBody>
                    <a:bodyPr/>
                    <a:lstStyle/>
                    <a:p>
                      <a:endParaRP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ReAct &amp; Retry : </a:t>
                      </a:r>
                      <a:r>
                        <a:rPr lang="zh-TW" altLang="en-US" sz="1100" b="0" i="0" u="none" strike="noStrike">
                          <a:solidFill>
                            <a:srgbClr val="000000"/>
                          </a:solidFill>
                          <a:effectLst/>
                          <a:latin typeface="微軟正黑體" panose="020B0604030504040204" pitchFamily="34" charset="-120"/>
                          <a:ea typeface="微軟正黑體" panose="020B0604030504040204" pitchFamily="34" charset="-120"/>
                        </a:rPr>
                        <a:t>檢視回覆是否合適，若不足則重新檢索並再次生成</a:t>
                      </a:r>
                      <a:endParaRPr lang="zh-TW" altLang="en-US" sz="1200" b="0"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F0FF"/>
                    </a:solidFill>
                  </a:tcPr>
                </a:tc>
                <a:tc gridSpan="2"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zh-TW" altLang="en-US" sz="1100" b="0" dirty="0">
                        <a:latin typeface="+mn-ea"/>
                        <a:ea typeface="+mn-ea"/>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vMerge="1">
                  <a:txBody>
                    <a:bodyPr/>
                    <a:lstStyle/>
                    <a:p>
                      <a:endParaRPr lang="zh-TW" altLang="en-US"/>
                    </a:p>
                  </a:txBody>
                  <a:tcPr/>
                </a:tc>
                <a:extLst>
                  <a:ext uri="{0D108BD9-81ED-4DB2-BD59-A6C34878D82A}">
                    <a16:rowId xmlns:a16="http://schemas.microsoft.com/office/drawing/2014/main" val="3956558064"/>
                  </a:ext>
                </a:extLst>
              </a:tr>
              <a:tr h="396000">
                <a:tc vMerge="1">
                  <a:txBody>
                    <a:bodyPr/>
                    <a:lstStyle/>
                    <a:p>
                      <a:pPr algn="ctr" fontAlgn="ctr">
                        <a:buNone/>
                      </a:pPr>
                      <a:endParaRPr lang="zh-TW" sz="1200" b="1" i="0" u="none" strike="noStrike">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vert="eaVert"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zh-TW" sz="1200" b="1" i="0" u="none" strike="noStrike">
                          <a:solidFill>
                            <a:srgbClr val="000000"/>
                          </a:solidFill>
                          <a:effectLst/>
                          <a:latin typeface="微軟正黑體" panose="020B0604030504040204" pitchFamily="34" charset="-120"/>
                          <a:ea typeface="微軟正黑體" panose="020B0604030504040204" pitchFamily="34" charset="-120"/>
                        </a:rPr>
                        <a:t>生成層</a:t>
                      </a:r>
                    </a:p>
                  </a:txBody>
                  <a:tcPr marL="36000" marR="36000" marT="61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回覆生成 </a:t>
                      </a:r>
                      <a:r>
                        <a:rPr lang="en-US" altLang="zh-TW" sz="1200" b="1" i="0" u="none" strike="noStrike">
                          <a:solidFill>
                            <a:srgbClr val="000000"/>
                          </a:solidFill>
                          <a:effectLst/>
                          <a:latin typeface="微軟正黑體" panose="020B0604030504040204" pitchFamily="34" charset="-120"/>
                          <a:ea typeface="微軟正黑體" panose="020B0604030504040204" pitchFamily="34" charset="-120"/>
                        </a:rPr>
                        <a:t>: </a:t>
                      </a:r>
                      <a:r>
                        <a:rPr lang="zh-TW" altLang="en-US" sz="1100" b="0" i="0" u="none" strike="noStrike">
                          <a:solidFill>
                            <a:srgbClr val="000000"/>
                          </a:solidFill>
                          <a:effectLst/>
                          <a:latin typeface="微軟正黑體" panose="020B0604030504040204" pitchFamily="34" charset="-120"/>
                          <a:ea typeface="微軟正黑體" panose="020B0604030504040204" pitchFamily="34" charset="-120"/>
                        </a:rPr>
                        <a:t>根據拿回來的片段生成回應</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endParaRPr lang="zh-TW" altLang="en-US" sz="1100" kern="1200">
                        <a:solidFill>
                          <a:schemeClr val="tx1"/>
                        </a:solidFill>
                        <a:latin typeface="微軟正黑體" panose="020B0604030504040204" pitchFamily="34" charset="-120"/>
                        <a:ea typeface="微軟正黑體" panose="020B0604030504040204" pitchFamily="34" charset="-120"/>
                        <a:cs typeface="+mn-cs"/>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sz="1100" kern="1200">
                        <a:solidFill>
                          <a:schemeClr val="tx1"/>
                        </a:solidFill>
                        <a:latin typeface="微軟正黑體" panose="020B0604030504040204" pitchFamily="34" charset="-120"/>
                        <a:ea typeface="微軟正黑體" panose="020B0604030504040204" pitchFamily="34" charset="-120"/>
                        <a:cs typeface="+mn-cs"/>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4503545"/>
                  </a:ext>
                </a:extLst>
              </a:tr>
              <a:tr h="720000">
                <a:tc gridSpan="3">
                  <a:txBody>
                    <a:bodyPr/>
                    <a:lstStyle/>
                    <a:p>
                      <a:pPr algn="ctr" fontAlgn="ctr">
                        <a:buNone/>
                      </a:pPr>
                      <a:r>
                        <a:rPr lang="zh-TW" sz="1200" b="1" i="0" u="none" strike="noStrike">
                          <a:solidFill>
                            <a:srgbClr val="000000"/>
                          </a:solidFill>
                          <a:effectLst/>
                          <a:latin typeface="微軟正黑體" panose="020B0604030504040204" pitchFamily="34" charset="-120"/>
                          <a:ea typeface="微軟正黑體" panose="020B0604030504040204" pitchFamily="34" charset="-120"/>
                        </a:rPr>
                        <a:t>功能定位</a:t>
                      </a: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a:p>
                  </a:txBody>
                  <a:tcPr/>
                </a:tc>
                <a:tc hMerge="1">
                  <a:txBody>
                    <a:bodyPr/>
                    <a:lstStyle/>
                    <a:p>
                      <a:endParaRPr lang="zh-TW" altLang="en-US"/>
                    </a:p>
                  </a:txBody>
                  <a:tcPr>
                    <a:lnT w="12700" cap="flat" cmpd="sng" algn="ctr">
                      <a:solidFill>
                        <a:schemeClr val="tx1"/>
                      </a:solidFill>
                      <a:prstDash val="solid"/>
                      <a:round/>
                      <a:headEnd type="none" w="med" len="med"/>
                      <a:tailEnd type="none" w="med" len="med"/>
                    </a:lnT>
                  </a:tcPr>
                </a:tc>
                <a:tc>
                  <a:txBody>
                    <a:bodyPr/>
                    <a:lstStyle/>
                    <a:p>
                      <a:pPr algn="just" fontAlgn="ctr">
                        <a:buNone/>
                      </a:pP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可處理包含</a:t>
                      </a:r>
                      <a:r>
                        <a:rPr lang="zh-TW" altLang="en-US" sz="1100" b="1" i="0" u="sng" strike="noStrike" dirty="0">
                          <a:solidFill>
                            <a:srgbClr val="000000"/>
                          </a:solidFill>
                          <a:effectLst/>
                          <a:latin typeface="微軟正黑體" panose="020B0604030504040204" pitchFamily="34" charset="-120"/>
                          <a:ea typeface="微軟正黑體" panose="020B0604030504040204" pitchFamily="34" charset="-120"/>
                        </a:rPr>
                        <a:t>圖片、表格等多模態知識</a:t>
                      </a: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來源，並整合多個檢索片段資訊形成答案，惟答案品質受片段資訊完整度影響</a:t>
                      </a:r>
                      <a:endParaRPr lang="zh-TW" sz="1100" b="1" i="0" u="sng" strike="noStrike" dirty="0">
                        <a:solidFill>
                          <a:srgbClr val="000000"/>
                        </a:solidFill>
                        <a:effectLst/>
                        <a:latin typeface="微軟正黑體" panose="020B0604030504040204" pitchFamily="34" charset="-120"/>
                        <a:ea typeface="微軟正黑體" panose="020B0604030504040204" pitchFamily="34" charset="-12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fontAlgn="ctr">
                        <a:buNone/>
                      </a:pPr>
                      <a:r>
                        <a:rPr lang="zh-TW" altLang="en-US" sz="1100" b="1" i="0" u="sng" strike="noStrike" dirty="0">
                          <a:solidFill>
                            <a:srgbClr val="000000"/>
                          </a:solidFill>
                          <a:effectLst/>
                          <a:latin typeface="微軟正黑體" panose="020B0604030504040204" pitchFamily="34" charset="-120"/>
                          <a:ea typeface="微軟正黑體" panose="020B0604030504040204" pitchFamily="34" charset="-120"/>
                        </a:rPr>
                        <a:t>針對資料解析、切分與 </a:t>
                      </a:r>
                      <a:r>
                        <a:rPr lang="en-US" altLang="zh-TW" sz="1100" b="1" i="0" u="sng" strike="noStrike" dirty="0">
                          <a:solidFill>
                            <a:srgbClr val="000000"/>
                          </a:solidFill>
                          <a:effectLst/>
                          <a:latin typeface="微軟正黑體" panose="020B0604030504040204" pitchFamily="34" charset="-120"/>
                          <a:ea typeface="微軟正黑體" panose="020B0604030504040204" pitchFamily="34" charset="-120"/>
                        </a:rPr>
                        <a:t>Metadata </a:t>
                      </a:r>
                      <a:r>
                        <a:rPr lang="zh-TW" altLang="en-US" sz="1100" b="1" i="0" u="sng" strike="noStrike" dirty="0">
                          <a:solidFill>
                            <a:srgbClr val="000000"/>
                          </a:solidFill>
                          <a:effectLst/>
                          <a:latin typeface="微軟正黑體" panose="020B0604030504040204" pitchFamily="34" charset="-120"/>
                          <a:ea typeface="微軟正黑體" panose="020B0604030504040204" pitchFamily="34" charset="-120"/>
                        </a:rPr>
                        <a:t>等知識前處理提供較完整設計</a:t>
                      </a:r>
                      <a:r>
                        <a:rPr lang="zh-TW" altLang="en-US" sz="1100" b="0" i="0" u="none" strike="noStrike" dirty="0">
                          <a:solidFill>
                            <a:srgbClr val="000000"/>
                          </a:solidFill>
                          <a:effectLst/>
                          <a:latin typeface="微軟正黑體" panose="020B0604030504040204" pitchFamily="34" charset="-120"/>
                          <a:ea typeface="微軟正黑體" panose="020B0604030504040204" pitchFamily="34" charset="-120"/>
                        </a:rPr>
                        <a:t>，有助提升檢索資訊的完整性</a:t>
                      </a:r>
                      <a:endParaRPr lang="zh-TW" sz="1100" b="1" i="0" u="sng" strike="noStrike" dirty="0">
                        <a:solidFill>
                          <a:srgbClr val="000000"/>
                        </a:solidFill>
                        <a:effectLst/>
                        <a:latin typeface="微軟正黑體" panose="020B0604030504040204" pitchFamily="34" charset="-120"/>
                        <a:ea typeface="微軟正黑體" panose="020B0604030504040204" pitchFamily="34" charset="-120"/>
                      </a:endParaRPr>
                    </a:p>
                  </a:txBody>
                  <a:tcPr marL="36000" marR="36000" marT="61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0725961"/>
                  </a:ext>
                </a:extLst>
              </a:tr>
            </a:tbl>
          </a:graphicData>
        </a:graphic>
      </p:graphicFrame>
      <p:sp>
        <p:nvSpPr>
          <p:cNvPr id="32" name="矩形: 圓角 31">
            <a:extLst>
              <a:ext uri="{FF2B5EF4-FFF2-40B4-BE49-F238E27FC236}">
                <a16:creationId xmlns:a16="http://schemas.microsoft.com/office/drawing/2014/main" id="{9B459068-A1A5-4CFA-7D83-A9402F0E65DC}"/>
              </a:ext>
            </a:extLst>
          </p:cNvPr>
          <p:cNvSpPr/>
          <p:nvPr/>
        </p:nvSpPr>
        <p:spPr>
          <a:xfrm>
            <a:off x="3983098" y="5773495"/>
            <a:ext cx="3404895" cy="243840"/>
          </a:xfrm>
          <a:prstGeom prst="round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200" b="1" dirty="0">
                <a:solidFill>
                  <a:schemeClr val="tx1"/>
                </a:solidFill>
              </a:rPr>
              <a:t>生成</a:t>
            </a:r>
            <a:r>
              <a:rPr lang="zh-TW" altLang="en-US" sz="1200" b="1">
                <a:solidFill>
                  <a:schemeClr val="tx1"/>
                </a:solidFill>
              </a:rPr>
              <a:t>作法無顯著差異</a:t>
            </a:r>
          </a:p>
        </p:txBody>
      </p:sp>
      <p:sp>
        <p:nvSpPr>
          <p:cNvPr id="9" name="文字方塊 8">
            <a:extLst>
              <a:ext uri="{FF2B5EF4-FFF2-40B4-BE49-F238E27FC236}">
                <a16:creationId xmlns:a16="http://schemas.microsoft.com/office/drawing/2014/main" id="{868E3C4A-7155-749F-95AA-1ED8B53D1C90}"/>
              </a:ext>
            </a:extLst>
          </p:cNvPr>
          <p:cNvSpPr txBox="1"/>
          <p:nvPr/>
        </p:nvSpPr>
        <p:spPr>
          <a:xfrm>
            <a:off x="8079409" y="941414"/>
            <a:ext cx="3905731" cy="5016758"/>
          </a:xfrm>
          <a:prstGeom prst="rect">
            <a:avLst/>
          </a:prstGeom>
          <a:noFill/>
        </p:spPr>
        <p:txBody>
          <a:bodyPr wrap="square">
            <a:spAutoFit/>
          </a:bodyPr>
          <a:lstStyle/>
          <a:p>
            <a:pPr algn="just"/>
            <a:r>
              <a:rPr lang="zh-TW" altLang="en-US" sz="1600" b="1" dirty="0">
                <a:effectLst/>
                <a:latin typeface="微軟正黑體" panose="020B0604030504040204" pitchFamily="34" charset="-120"/>
                <a:ea typeface="微軟正黑體" panose="020B0604030504040204" pitchFamily="34" charset="-120"/>
              </a:rPr>
              <a:t>現有知識檢索系統功能缺口</a:t>
            </a:r>
            <a:endParaRPr lang="en-US" altLang="zh-TW" sz="1600" b="1" dirty="0">
              <a:effectLst/>
              <a:latin typeface="微軟正黑體" panose="020B0604030504040204" pitchFamily="34" charset="-120"/>
              <a:ea typeface="微軟正黑體" panose="020B0604030504040204" pitchFamily="34" charset="-120"/>
            </a:endParaRPr>
          </a:p>
          <a:p>
            <a:pPr algn="just"/>
            <a:r>
              <a:rPr lang="zh-TW" altLang="en-US" sz="1600" b="1" dirty="0">
                <a:effectLst/>
                <a:latin typeface="微軟正黑體" panose="020B0604030504040204" pitchFamily="34" charset="-120"/>
                <a:ea typeface="微軟正黑體" panose="020B0604030504040204" pitchFamily="34" charset="-120"/>
              </a:rPr>
              <a:t>資料處理層：</a:t>
            </a:r>
            <a:endParaRPr lang="en-US" altLang="zh-TW" sz="1600" b="1" dirty="0">
              <a:latin typeface="微軟正黑體" panose="020B0604030504040204" pitchFamily="34" charset="-120"/>
              <a:ea typeface="微軟正黑體" panose="020B0604030504040204" pitchFamily="34" charset="-120"/>
            </a:endParaRPr>
          </a:p>
          <a:p>
            <a:pPr marL="342900" indent="-342900" algn="just">
              <a:buFont typeface="+mj-lt"/>
              <a:buAutoNum type="arabicPeriod"/>
            </a:pPr>
            <a:r>
              <a:rPr lang="zh-TW" altLang="en-US" sz="1600" dirty="0">
                <a:solidFill>
                  <a:srgbClr val="000000"/>
                </a:solidFill>
                <a:latin typeface="微軟正黑體" panose="020B0604030504040204" pitchFamily="34" charset="-120"/>
              </a:rPr>
              <a:t>支援多種自訂義切塊策略，例如針對章節、圖片和表格完整切塊</a:t>
            </a:r>
            <a:endParaRPr lang="en-US" altLang="zh-TW" sz="1600" dirty="0">
              <a:solidFill>
                <a:srgbClr val="000000"/>
              </a:solidFill>
              <a:latin typeface="微軟正黑體" panose="020B0604030504040204" pitchFamily="34" charset="-120"/>
            </a:endParaRPr>
          </a:p>
          <a:p>
            <a:pPr marL="342900" indent="-342900" algn="just">
              <a:buFont typeface="+mj-lt"/>
              <a:buAutoNum type="arabicPeriod"/>
            </a:pPr>
            <a:r>
              <a:rPr lang="zh-TW" altLang="en-US" sz="1600" dirty="0">
                <a:solidFill>
                  <a:srgbClr val="000000"/>
                </a:solidFill>
                <a:latin typeface="微軟正黑體" panose="020B0604030504040204" pitchFamily="34" charset="-120"/>
              </a:rPr>
              <a:t>支援自定義新增 </a:t>
            </a:r>
            <a:r>
              <a:rPr lang="en-US" altLang="zh-TW" sz="1600" dirty="0">
                <a:solidFill>
                  <a:srgbClr val="000000"/>
                </a:solidFill>
                <a:latin typeface="微軟正黑體" panose="020B0604030504040204" pitchFamily="34" charset="-120"/>
              </a:rPr>
              <a:t>Metadata</a:t>
            </a:r>
          </a:p>
          <a:p>
            <a:pPr algn="just"/>
            <a:r>
              <a:rPr lang="zh-TW" altLang="en-US" sz="1600" b="1" dirty="0">
                <a:solidFill>
                  <a:srgbClr val="000000"/>
                </a:solidFill>
                <a:latin typeface="微軟正黑體" panose="020B0604030504040204" pitchFamily="34" charset="-120"/>
              </a:rPr>
              <a:t>檢索層：</a:t>
            </a:r>
            <a:endParaRPr lang="en-US" altLang="zh-TW" sz="1600" b="1" dirty="0">
              <a:solidFill>
                <a:srgbClr val="000000"/>
              </a:solidFill>
              <a:latin typeface="微軟正黑體" panose="020B0604030504040204" pitchFamily="34" charset="-120"/>
            </a:endParaRPr>
          </a:p>
          <a:p>
            <a:pPr marL="342900" indent="-342900" algn="just">
              <a:buFont typeface="+mj-lt"/>
              <a:buAutoNum type="arabicPeriod"/>
            </a:pPr>
            <a:r>
              <a:rPr lang="zh-TW" altLang="en-US" sz="1600" dirty="0">
                <a:solidFill>
                  <a:srgbClr val="000000"/>
                </a:solidFill>
                <a:latin typeface="微軟正黑體" panose="020B0604030504040204" pitchFamily="34" charset="-120"/>
              </a:rPr>
              <a:t>自定義的 </a:t>
            </a:r>
            <a:r>
              <a:rPr lang="en-US" altLang="zh-TW" sz="1600" dirty="0">
                <a:solidFill>
                  <a:srgbClr val="000000"/>
                </a:solidFill>
                <a:latin typeface="微軟正黑體" panose="020B0604030504040204" pitchFamily="34" charset="-120"/>
              </a:rPr>
              <a:t>Metadata</a:t>
            </a:r>
            <a:r>
              <a:rPr lang="zh-TW" altLang="en-US" sz="1600" dirty="0">
                <a:solidFill>
                  <a:srgbClr val="000000"/>
                </a:solidFill>
                <a:latin typeface="微軟正黑體" panose="020B0604030504040204" pitchFamily="34" charset="-120"/>
              </a:rPr>
              <a:t>，納入檢索機制</a:t>
            </a:r>
          </a:p>
          <a:p>
            <a:pPr algn="just"/>
            <a:endParaRPr lang="en-US" altLang="zh-TW" sz="1600" dirty="0">
              <a:solidFill>
                <a:srgbClr val="000000"/>
              </a:solidFill>
              <a:latin typeface="微軟正黑體" panose="020B0604030504040204" pitchFamily="34" charset="-120"/>
            </a:endParaRPr>
          </a:p>
          <a:p>
            <a:pPr algn="just"/>
            <a:endParaRPr lang="en-US" altLang="zh-TW" sz="1600" dirty="0">
              <a:solidFill>
                <a:srgbClr val="000000"/>
              </a:solidFill>
              <a:latin typeface="微軟正黑體" panose="020B0604030504040204" pitchFamily="34" charset="-120"/>
            </a:endParaRPr>
          </a:p>
          <a:p>
            <a:pPr algn="just"/>
            <a:endParaRPr lang="en-US" altLang="zh-TW" sz="1600" dirty="0">
              <a:solidFill>
                <a:srgbClr val="000000"/>
              </a:solidFill>
              <a:latin typeface="微軟正黑體" panose="020B0604030504040204" pitchFamily="34" charset="-120"/>
            </a:endParaRPr>
          </a:p>
          <a:p>
            <a:pPr algn="just"/>
            <a:endParaRPr lang="en-US" altLang="zh-TW" sz="1600" dirty="0">
              <a:solidFill>
                <a:srgbClr val="000000"/>
              </a:solidFill>
              <a:latin typeface="微軟正黑體" panose="020B0604030504040204" pitchFamily="34" charset="-120"/>
            </a:endParaRPr>
          </a:p>
          <a:p>
            <a:pPr algn="just"/>
            <a:endParaRPr lang="en-US" altLang="zh-TW" sz="1600" dirty="0">
              <a:solidFill>
                <a:srgbClr val="000000"/>
              </a:solidFill>
              <a:latin typeface="微軟正黑體" panose="020B0604030504040204" pitchFamily="34" charset="-120"/>
            </a:endParaRPr>
          </a:p>
          <a:p>
            <a:pPr algn="just"/>
            <a:endParaRPr lang="en-US" altLang="zh-TW" sz="1600" dirty="0">
              <a:solidFill>
                <a:srgbClr val="000000"/>
              </a:solidFill>
              <a:latin typeface="微軟正黑體" panose="020B0604030504040204" pitchFamily="34" charset="-120"/>
            </a:endParaRPr>
          </a:p>
          <a:p>
            <a:pPr algn="just"/>
            <a:endParaRPr lang="en-US" altLang="zh-TW" sz="1600" dirty="0">
              <a:solidFill>
                <a:srgbClr val="000000"/>
              </a:solidFill>
              <a:latin typeface="微軟正黑體" panose="020B0604030504040204" pitchFamily="34" charset="-120"/>
            </a:endParaRPr>
          </a:p>
          <a:p>
            <a:pPr algn="just"/>
            <a:endParaRPr lang="en-US" altLang="zh-TW" sz="1600" dirty="0">
              <a:solidFill>
                <a:srgbClr val="000000"/>
              </a:solidFill>
              <a:latin typeface="微軟正黑體" panose="020B0604030504040204" pitchFamily="34" charset="-120"/>
            </a:endParaRPr>
          </a:p>
          <a:p>
            <a:pPr algn="just"/>
            <a:r>
              <a:rPr lang="zh-TW" altLang="en-US" sz="1600" b="1" dirty="0">
                <a:solidFill>
                  <a:srgbClr val="000000"/>
                </a:solidFill>
                <a:latin typeface="微軟正黑體" panose="020B0604030504040204" pitchFamily="34" charset="-120"/>
              </a:rPr>
              <a:t>思邁智能解決方案：</a:t>
            </a:r>
            <a:endParaRPr lang="en-US" altLang="zh-TW" sz="1600" b="1" dirty="0">
              <a:solidFill>
                <a:srgbClr val="000000"/>
              </a:solidFill>
              <a:latin typeface="微軟正黑體" panose="020B0604030504040204" pitchFamily="34" charset="-120"/>
            </a:endParaRPr>
          </a:p>
          <a:p>
            <a:pPr algn="just"/>
            <a:r>
              <a:rPr lang="en-US" altLang="zh-TW" sz="1600" dirty="0">
                <a:solidFill>
                  <a:srgbClr val="000000"/>
                </a:solidFill>
                <a:latin typeface="微軟正黑體" panose="020B0604030504040204" pitchFamily="34" charset="-120"/>
              </a:rPr>
              <a:t>1.</a:t>
            </a:r>
            <a:r>
              <a:rPr lang="zh-TW" altLang="en-US" sz="1600" dirty="0">
                <a:solidFill>
                  <a:srgbClr val="000000"/>
                </a:solidFill>
                <a:latin typeface="微軟正黑體" panose="020B0604030504040204" pitchFamily="34" charset="-120"/>
              </a:rPr>
              <a:t> 可解決現行針對法規類文件處理，針對章節法條來切成不同段落。</a:t>
            </a:r>
            <a:endParaRPr lang="en-US" altLang="zh-TW" sz="1600" dirty="0">
              <a:solidFill>
                <a:srgbClr val="000000"/>
              </a:solidFill>
              <a:latin typeface="微軟正黑體" panose="020B0604030504040204" pitchFamily="34" charset="-120"/>
            </a:endParaRPr>
          </a:p>
          <a:p>
            <a:pPr algn="just"/>
            <a:r>
              <a:rPr lang="en-US" altLang="zh-TW" sz="1600" dirty="0">
                <a:solidFill>
                  <a:srgbClr val="000000"/>
                </a:solidFill>
                <a:latin typeface="微軟正黑體" panose="020B0604030504040204" pitchFamily="34" charset="-120"/>
              </a:rPr>
              <a:t>2.</a:t>
            </a:r>
            <a:r>
              <a:rPr lang="zh-TW" altLang="en-US" sz="1600" dirty="0">
                <a:solidFill>
                  <a:srgbClr val="000000"/>
                </a:solidFill>
                <a:latin typeface="微軟正黑體" panose="020B0604030504040204" pitchFamily="34" charset="-120"/>
              </a:rPr>
              <a:t> 可靈活增加</a:t>
            </a:r>
            <a:r>
              <a:rPr lang="en-US" altLang="zh-TW" sz="1600" dirty="0">
                <a:solidFill>
                  <a:srgbClr val="000000"/>
                </a:solidFill>
                <a:latin typeface="微軟正黑體" panose="020B0604030504040204" pitchFamily="34" charset="-120"/>
              </a:rPr>
              <a:t>metadata</a:t>
            </a:r>
            <a:r>
              <a:rPr lang="zh-TW" altLang="en-US" sz="1600" dirty="0">
                <a:solidFill>
                  <a:srgbClr val="000000"/>
                </a:solidFill>
                <a:latin typeface="微軟正黑體" panose="020B0604030504040204" pitchFamily="34" charset="-120"/>
              </a:rPr>
              <a:t>資訊，增進檢索準確率</a:t>
            </a:r>
            <a:endParaRPr lang="en-US" altLang="zh-TW" sz="1600" dirty="0">
              <a:solidFill>
                <a:srgbClr val="000000"/>
              </a:solidFill>
              <a:latin typeface="微軟正黑體" panose="020B0604030504040204" pitchFamily="34" charset="-120"/>
            </a:endParaRPr>
          </a:p>
        </p:txBody>
      </p:sp>
      <p:sp>
        <p:nvSpPr>
          <p:cNvPr id="11" name="等腰三角形 10">
            <a:extLst>
              <a:ext uri="{FF2B5EF4-FFF2-40B4-BE49-F238E27FC236}">
                <a16:creationId xmlns:a16="http://schemas.microsoft.com/office/drawing/2014/main" id="{B401ADBF-7242-E23D-D9AF-A6A9D5672966}"/>
              </a:ext>
            </a:extLst>
          </p:cNvPr>
          <p:cNvSpPr/>
          <p:nvPr/>
        </p:nvSpPr>
        <p:spPr>
          <a:xfrm rot="5400000">
            <a:off x="5099167" y="3709199"/>
            <a:ext cx="5912520" cy="335669"/>
          </a:xfrm>
          <a:prstGeom prst="triangle">
            <a:avLst/>
          </a:prstGeom>
          <a:solidFill>
            <a:schemeClr val="tx2">
              <a:lumMod val="20000"/>
              <a:lumOff val="8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089049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74CA6-3D9D-47D2-AB7F-8004D20BAEE1}"/>
            </a:ext>
          </a:extLst>
        </p:cNvPr>
        <p:cNvGrpSpPr/>
        <p:nvPr/>
      </p:nvGrpSpPr>
      <p:grpSpPr>
        <a:xfrm>
          <a:off x="0" y="0"/>
          <a:ext cx="0" cy="0"/>
          <a:chOff x="0" y="0"/>
          <a:chExt cx="0" cy="0"/>
        </a:xfrm>
      </p:grpSpPr>
      <p:sp>
        <p:nvSpPr>
          <p:cNvPr id="9" name="文字版面配置區 8">
            <a:extLst>
              <a:ext uri="{FF2B5EF4-FFF2-40B4-BE49-F238E27FC236}">
                <a16:creationId xmlns:a16="http://schemas.microsoft.com/office/drawing/2014/main" id="{35634C0A-D753-9D52-4891-ED4DF75BBAA1}"/>
              </a:ext>
            </a:extLst>
          </p:cNvPr>
          <p:cNvSpPr>
            <a:spLocks noGrp="1"/>
          </p:cNvSpPr>
          <p:nvPr>
            <p:ph type="body" sz="quarter" idx="28"/>
          </p:nvPr>
        </p:nvSpPr>
        <p:spPr>
          <a:xfrm>
            <a:off x="6326288" y="3683198"/>
            <a:ext cx="1252861" cy="329074"/>
          </a:xfrm>
        </p:spPr>
        <p:txBody>
          <a:bodyPr anchor="b"/>
          <a:lstStyle/>
          <a:p>
            <a:r>
              <a:rPr lang="en-US" altLang="zh-TW"/>
              <a:t>2026.08.12</a:t>
            </a:r>
            <a:endParaRPr lang="zh-TW" altLang="en-US"/>
          </a:p>
        </p:txBody>
      </p:sp>
      <p:sp>
        <p:nvSpPr>
          <p:cNvPr id="8" name="標題 7">
            <a:extLst>
              <a:ext uri="{FF2B5EF4-FFF2-40B4-BE49-F238E27FC236}">
                <a16:creationId xmlns:a16="http://schemas.microsoft.com/office/drawing/2014/main" id="{C5E2F9E0-6909-2CCD-858C-E87C9479110B}"/>
              </a:ext>
            </a:extLst>
          </p:cNvPr>
          <p:cNvSpPr>
            <a:spLocks noGrp="1"/>
          </p:cNvSpPr>
          <p:nvPr>
            <p:ph type="title"/>
          </p:nvPr>
        </p:nvSpPr>
        <p:spPr>
          <a:xfrm>
            <a:off x="1380863" y="2343528"/>
            <a:ext cx="6381774" cy="1325563"/>
          </a:xfrm>
        </p:spPr>
        <p:txBody>
          <a:bodyPr>
            <a:noAutofit/>
          </a:bodyPr>
          <a:lstStyle/>
          <a:p>
            <a:r>
              <a:rPr lang="zh-TW" altLang="en-US"/>
              <a:t>知識檢索需求分類</a:t>
            </a:r>
          </a:p>
        </p:txBody>
      </p:sp>
      <p:sp>
        <p:nvSpPr>
          <p:cNvPr id="10" name="文字版面配置區 9">
            <a:extLst>
              <a:ext uri="{FF2B5EF4-FFF2-40B4-BE49-F238E27FC236}">
                <a16:creationId xmlns:a16="http://schemas.microsoft.com/office/drawing/2014/main" id="{5EAEE76E-6FED-907C-6BB5-3958232F1351}"/>
              </a:ext>
            </a:extLst>
          </p:cNvPr>
          <p:cNvSpPr>
            <a:spLocks noGrp="1"/>
          </p:cNvSpPr>
          <p:nvPr>
            <p:ph type="body" sz="quarter" idx="29"/>
          </p:nvPr>
        </p:nvSpPr>
        <p:spPr>
          <a:xfrm>
            <a:off x="1806575" y="3683198"/>
            <a:ext cx="3932374" cy="390669"/>
          </a:xfrm>
        </p:spPr>
        <p:txBody>
          <a:bodyPr anchor="b"/>
          <a:lstStyle/>
          <a:p>
            <a:r>
              <a:rPr lang="zh-TW" altLang="en-US" sz="2000"/>
              <a:t>智能金融處</a:t>
            </a:r>
            <a:r>
              <a:rPr lang="en-US" altLang="zh-TW" sz="2000"/>
              <a:t>/</a:t>
            </a:r>
            <a:r>
              <a:rPr lang="zh-TW" altLang="en-US" sz="2000"/>
              <a:t>智能科技科</a:t>
            </a:r>
            <a:r>
              <a:rPr lang="en-US" altLang="zh-TW" sz="2000"/>
              <a:t>&amp;</a:t>
            </a:r>
            <a:r>
              <a:rPr lang="zh-TW" altLang="en-US" sz="2000"/>
              <a:t>企劃科</a:t>
            </a:r>
          </a:p>
        </p:txBody>
      </p:sp>
      <p:pic>
        <p:nvPicPr>
          <p:cNvPr id="19" name="圖片 18">
            <a:extLst>
              <a:ext uri="{FF2B5EF4-FFF2-40B4-BE49-F238E27FC236}">
                <a16:creationId xmlns:a16="http://schemas.microsoft.com/office/drawing/2014/main" id="{C0BC4016-9F20-24F4-BAD8-2E041C0ACBA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5512" y="0"/>
            <a:ext cx="2417084" cy="1208542"/>
          </a:xfrm>
          <a:prstGeom prst="rect">
            <a:avLst/>
          </a:prstGeom>
        </p:spPr>
      </p:pic>
      <p:grpSp>
        <p:nvGrpSpPr>
          <p:cNvPr id="33" name="群組 32">
            <a:extLst>
              <a:ext uri="{FF2B5EF4-FFF2-40B4-BE49-F238E27FC236}">
                <a16:creationId xmlns:a16="http://schemas.microsoft.com/office/drawing/2014/main" id="{08E0B6DA-A515-E09B-3F4D-8780C36A9E86}"/>
              </a:ext>
            </a:extLst>
          </p:cNvPr>
          <p:cNvGrpSpPr/>
          <p:nvPr/>
        </p:nvGrpSpPr>
        <p:grpSpPr>
          <a:xfrm>
            <a:off x="1380863" y="3276985"/>
            <a:ext cx="6142683" cy="316405"/>
            <a:chOff x="928336" y="4422127"/>
            <a:chExt cx="6142683" cy="316405"/>
          </a:xfrm>
        </p:grpSpPr>
        <p:cxnSp>
          <p:nvCxnSpPr>
            <p:cNvPr id="21" name="直線接點 20">
              <a:extLst>
                <a:ext uri="{FF2B5EF4-FFF2-40B4-BE49-F238E27FC236}">
                  <a16:creationId xmlns:a16="http://schemas.microsoft.com/office/drawing/2014/main" id="{F6124987-2EE6-8327-43C0-E96B141A490C}"/>
                </a:ext>
              </a:extLst>
            </p:cNvPr>
            <p:cNvCxnSpPr/>
            <p:nvPr/>
          </p:nvCxnSpPr>
          <p:spPr>
            <a:xfrm>
              <a:off x="1050256" y="4483143"/>
              <a:ext cx="4127734" cy="0"/>
            </a:xfrm>
            <a:prstGeom prst="line">
              <a:avLst/>
            </a:prstGeom>
            <a:ln w="38100">
              <a:gradFill>
                <a:gsLst>
                  <a:gs pos="33000">
                    <a:srgbClr val="0490C7"/>
                  </a:gs>
                  <a:gs pos="69000">
                    <a:srgbClr val="58E1B3"/>
                  </a:gs>
                </a:gsLst>
                <a:lin ang="2700000" scaled="0"/>
              </a:gradFill>
            </a:ln>
          </p:spPr>
          <p:style>
            <a:lnRef idx="1">
              <a:schemeClr val="accent1"/>
            </a:lnRef>
            <a:fillRef idx="0">
              <a:schemeClr val="accent1"/>
            </a:fillRef>
            <a:effectRef idx="0">
              <a:schemeClr val="accent1"/>
            </a:effectRef>
            <a:fontRef idx="minor">
              <a:schemeClr val="tx1"/>
            </a:fontRef>
          </p:style>
        </p:cxnSp>
        <p:sp>
          <p:nvSpPr>
            <p:cNvPr id="22" name="橢圓 21">
              <a:extLst>
                <a:ext uri="{FF2B5EF4-FFF2-40B4-BE49-F238E27FC236}">
                  <a16:creationId xmlns:a16="http://schemas.microsoft.com/office/drawing/2014/main" id="{7F5687A3-A5C0-CE3F-BDBA-953965C55334}"/>
                </a:ext>
              </a:extLst>
            </p:cNvPr>
            <p:cNvSpPr/>
            <p:nvPr/>
          </p:nvSpPr>
          <p:spPr>
            <a:xfrm>
              <a:off x="6949099" y="4616612"/>
              <a:ext cx="121920" cy="121920"/>
            </a:xfrm>
            <a:prstGeom prst="ellipse">
              <a:avLst/>
            </a:prstGeom>
            <a:solidFill>
              <a:schemeClr val="bg1"/>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橢圓 22">
              <a:extLst>
                <a:ext uri="{FF2B5EF4-FFF2-40B4-BE49-F238E27FC236}">
                  <a16:creationId xmlns:a16="http://schemas.microsoft.com/office/drawing/2014/main" id="{A445D13E-F7A1-BF8A-7FFB-E2C656D05E80}"/>
                </a:ext>
              </a:extLst>
            </p:cNvPr>
            <p:cNvSpPr/>
            <p:nvPr/>
          </p:nvSpPr>
          <p:spPr>
            <a:xfrm>
              <a:off x="928336" y="4422127"/>
              <a:ext cx="121920" cy="121920"/>
            </a:xfrm>
            <a:prstGeom prst="ellipse">
              <a:avLst/>
            </a:prstGeom>
            <a:solidFill>
              <a:schemeClr val="bg1"/>
            </a:solidFill>
            <a:ln w="28575">
              <a:solidFill>
                <a:srgbClr val="0490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a:extLst>
                <a:ext uri="{FF2B5EF4-FFF2-40B4-BE49-F238E27FC236}">
                  <a16:creationId xmlns:a16="http://schemas.microsoft.com/office/drawing/2014/main" id="{1FBEC145-6A4F-384F-FCB9-F0840E87D6A2}"/>
                </a:ext>
              </a:extLst>
            </p:cNvPr>
            <p:cNvCxnSpPr/>
            <p:nvPr/>
          </p:nvCxnSpPr>
          <p:spPr>
            <a:xfrm>
              <a:off x="5568027" y="4679249"/>
              <a:ext cx="1372019" cy="0"/>
            </a:xfrm>
            <a:prstGeom prst="line">
              <a:avLst/>
            </a:prstGeom>
            <a:ln w="38100">
              <a:gradFill>
                <a:gsLst>
                  <a:gs pos="33000">
                    <a:srgbClr val="0490C7"/>
                  </a:gs>
                  <a:gs pos="69000">
                    <a:srgbClr val="58E1B3"/>
                  </a:gs>
                </a:gsLst>
                <a:lin ang="2700000" scaled="0"/>
              </a:gradFill>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3D677EF8-9F11-1D1B-BB6F-70CE993BB44F}"/>
                </a:ext>
              </a:extLst>
            </p:cNvPr>
            <p:cNvCxnSpPr/>
            <p:nvPr/>
          </p:nvCxnSpPr>
          <p:spPr>
            <a:xfrm flipH="1" flipV="1">
              <a:off x="5177990" y="4485446"/>
              <a:ext cx="403919" cy="192544"/>
            </a:xfrm>
            <a:prstGeom prst="line">
              <a:avLst/>
            </a:prstGeom>
            <a:ln w="38100">
              <a:gradFill>
                <a:gsLst>
                  <a:gs pos="33000">
                    <a:srgbClr val="0490C7"/>
                  </a:gs>
                  <a:gs pos="69000">
                    <a:srgbClr val="58E1B3"/>
                  </a:gs>
                </a:gsLst>
                <a:lin ang="2700000" scaled="0"/>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28048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5868B-40CF-CC5A-06AF-9734731B7D86}"/>
            </a:ext>
          </a:extLst>
        </p:cNvPr>
        <p:cNvGrpSpPr/>
        <p:nvPr/>
      </p:nvGrpSpPr>
      <p:grpSpPr>
        <a:xfrm>
          <a:off x="0" y="0"/>
          <a:ext cx="0" cy="0"/>
          <a:chOff x="0" y="0"/>
          <a:chExt cx="0" cy="0"/>
        </a:xfrm>
      </p:grpSpPr>
      <p:sp>
        <p:nvSpPr>
          <p:cNvPr id="32" name="矩形 31">
            <a:extLst>
              <a:ext uri="{FF2B5EF4-FFF2-40B4-BE49-F238E27FC236}">
                <a16:creationId xmlns:a16="http://schemas.microsoft.com/office/drawing/2014/main" id="{48C2A083-C145-C7B4-AAFD-331EDF9B41AC}"/>
              </a:ext>
            </a:extLst>
          </p:cNvPr>
          <p:cNvSpPr/>
          <p:nvPr/>
        </p:nvSpPr>
        <p:spPr>
          <a:xfrm>
            <a:off x="8853827" y="528966"/>
            <a:ext cx="2782116" cy="59395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28" name="矩形 27">
            <a:extLst>
              <a:ext uri="{FF2B5EF4-FFF2-40B4-BE49-F238E27FC236}">
                <a16:creationId xmlns:a16="http://schemas.microsoft.com/office/drawing/2014/main" id="{5DE11775-D19E-1103-B68F-538B0BF9013E}"/>
              </a:ext>
            </a:extLst>
          </p:cNvPr>
          <p:cNvSpPr/>
          <p:nvPr/>
        </p:nvSpPr>
        <p:spPr>
          <a:xfrm>
            <a:off x="6004377" y="528965"/>
            <a:ext cx="2782116" cy="5939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24" name="矩形 23">
            <a:extLst>
              <a:ext uri="{FF2B5EF4-FFF2-40B4-BE49-F238E27FC236}">
                <a16:creationId xmlns:a16="http://schemas.microsoft.com/office/drawing/2014/main" id="{533EF82D-B41B-AFBC-9BCC-84DE92ADCEE8}"/>
              </a:ext>
            </a:extLst>
          </p:cNvPr>
          <p:cNvSpPr/>
          <p:nvPr/>
        </p:nvSpPr>
        <p:spPr>
          <a:xfrm>
            <a:off x="3170149" y="528965"/>
            <a:ext cx="2782116" cy="593951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19" name="矩形 18">
            <a:extLst>
              <a:ext uri="{FF2B5EF4-FFF2-40B4-BE49-F238E27FC236}">
                <a16:creationId xmlns:a16="http://schemas.microsoft.com/office/drawing/2014/main" id="{D18616D8-B1A8-50B1-1BD8-E4D6E87A52B3}"/>
              </a:ext>
            </a:extLst>
          </p:cNvPr>
          <p:cNvSpPr/>
          <p:nvPr/>
        </p:nvSpPr>
        <p:spPr>
          <a:xfrm>
            <a:off x="956333" y="552788"/>
            <a:ext cx="2156802" cy="59156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3" name="標題 1">
            <a:extLst>
              <a:ext uri="{FF2B5EF4-FFF2-40B4-BE49-F238E27FC236}">
                <a16:creationId xmlns:a16="http://schemas.microsoft.com/office/drawing/2014/main" id="{570E3D2A-CFCE-89D4-F9D3-95E7DE39B830}"/>
              </a:ext>
            </a:extLst>
          </p:cNvPr>
          <p:cNvSpPr txBox="1">
            <a:spLocks/>
          </p:cNvSpPr>
          <p:nvPr/>
        </p:nvSpPr>
        <p:spPr>
          <a:xfrm>
            <a:off x="444643" y="88053"/>
            <a:ext cx="11191300" cy="6012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baseline="0">
                <a:solidFill>
                  <a:srgbClr val="008FC7"/>
                </a:solidFill>
                <a:latin typeface="Arial" panose="020B0604020202020204" pitchFamily="34" charset="0"/>
                <a:ea typeface="微軟正黑體" panose="020B0604030504040204" pitchFamily="34" charset="-120"/>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TW" altLang="en-US" sz="2800">
                <a:latin typeface="微軟正黑體" panose="020B0604030504040204" pitchFamily="34" charset="-120"/>
              </a:rPr>
              <a:t>全行知識檢索需求分類</a:t>
            </a:r>
            <a:endParaRPr kumimoji="0" lang="zh-TW" altLang="en-US" sz="2800" b="1" i="0" u="none" strike="noStrike" kern="1200" cap="none" spc="0" normalizeH="0" baseline="0" noProof="0">
              <a:ln>
                <a:noFill/>
              </a:ln>
              <a:solidFill>
                <a:srgbClr val="008FC7"/>
              </a:solidFill>
              <a:effectLst/>
              <a:uLnTx/>
              <a:uFillTx/>
              <a:latin typeface="微軟正黑體" panose="020B0604030504040204" pitchFamily="34" charset="-120"/>
              <a:ea typeface="微軟正黑體" panose="020B0604030504040204" pitchFamily="34" charset="-120"/>
              <a:cs typeface="+mj-cs"/>
            </a:endParaRPr>
          </a:p>
        </p:txBody>
      </p:sp>
      <p:sp>
        <p:nvSpPr>
          <p:cNvPr id="71" name="文字方塊 70">
            <a:extLst>
              <a:ext uri="{FF2B5EF4-FFF2-40B4-BE49-F238E27FC236}">
                <a16:creationId xmlns:a16="http://schemas.microsoft.com/office/drawing/2014/main" id="{E10C9817-7325-9082-F347-B490331C46D5}"/>
              </a:ext>
            </a:extLst>
          </p:cNvPr>
          <p:cNvSpPr txBox="1"/>
          <p:nvPr/>
        </p:nvSpPr>
        <p:spPr>
          <a:xfrm>
            <a:off x="315800" y="1983201"/>
            <a:ext cx="543739"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資料</a:t>
            </a:r>
            <a:endParaRPr lang="en-US" altLang="zh-TW" sz="1400">
              <a:solidFill>
                <a:prstClr val="black"/>
              </a:solidFill>
              <a:latin typeface="Arial" panose="020B0604020202020204"/>
              <a:ea typeface="微軟正黑體" panose="020B060403050404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條件</a:t>
            </a:r>
            <a:endParaRPr lang="en-US" altLang="zh-TW" sz="1400">
              <a:solidFill>
                <a:prstClr val="black"/>
              </a:solidFill>
              <a:latin typeface="Arial" panose="020B0604020202020204"/>
              <a:ea typeface="微軟正黑體" panose="020B0604030504040204" pitchFamily="34" charset="-120"/>
            </a:endParaRPr>
          </a:p>
        </p:txBody>
      </p:sp>
      <p:sp>
        <p:nvSpPr>
          <p:cNvPr id="77" name="文字方塊 76">
            <a:extLst>
              <a:ext uri="{FF2B5EF4-FFF2-40B4-BE49-F238E27FC236}">
                <a16:creationId xmlns:a16="http://schemas.microsoft.com/office/drawing/2014/main" id="{27D99FA0-A35C-EB78-3BD3-951D9234149F}"/>
              </a:ext>
            </a:extLst>
          </p:cNvPr>
          <p:cNvSpPr txBox="1"/>
          <p:nvPr/>
        </p:nvSpPr>
        <p:spPr>
          <a:xfrm>
            <a:off x="321048" y="1364695"/>
            <a:ext cx="543739"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使用</a:t>
            </a:r>
            <a:endParaRPr lang="en-US" altLang="zh-TW" sz="1400">
              <a:solidFill>
                <a:prstClr val="black"/>
              </a:solidFill>
              <a:latin typeface="Arial" panose="020B0604020202020204"/>
              <a:ea typeface="微軟正黑體" panose="020B060403050404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400" b="0" i="0" u="none" strike="noStrike" kern="1200" cap="none" spc="0" normalizeH="0" baseline="0" noProof="0">
                <a:ln>
                  <a:noFill/>
                </a:ln>
                <a:solidFill>
                  <a:prstClr val="black"/>
                </a:solidFill>
                <a:effectLst/>
                <a:uLnTx/>
                <a:uFillTx/>
                <a:latin typeface="Arial" panose="020B0604020202020204"/>
                <a:ea typeface="微軟正黑體" panose="020B0604030504040204" pitchFamily="34" charset="-120"/>
                <a:cs typeface="+mn-cs"/>
              </a:rPr>
              <a:t>對象</a:t>
            </a:r>
          </a:p>
        </p:txBody>
      </p:sp>
      <p:cxnSp>
        <p:nvCxnSpPr>
          <p:cNvPr id="82" name="直線接點 81">
            <a:extLst>
              <a:ext uri="{FF2B5EF4-FFF2-40B4-BE49-F238E27FC236}">
                <a16:creationId xmlns:a16="http://schemas.microsoft.com/office/drawing/2014/main" id="{F944508A-A8DB-B3F6-2842-E34580B13AA9}"/>
              </a:ext>
            </a:extLst>
          </p:cNvPr>
          <p:cNvCxnSpPr>
            <a:cxnSpLocks/>
          </p:cNvCxnSpPr>
          <p:nvPr/>
        </p:nvCxnSpPr>
        <p:spPr>
          <a:xfrm>
            <a:off x="335246" y="1949394"/>
            <a:ext cx="11280369"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81598F93-AEBD-3EA6-16F9-58EBCBEA4E27}"/>
              </a:ext>
            </a:extLst>
          </p:cNvPr>
          <p:cNvSpPr/>
          <p:nvPr/>
        </p:nvSpPr>
        <p:spPr>
          <a:xfrm>
            <a:off x="8893580" y="1447911"/>
            <a:ext cx="2702609" cy="308964"/>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180975"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i="0" u="none" strike="noStrike" kern="1200" cap="none" spc="0" normalizeH="0" baseline="0" noProof="0">
                <a:ln>
                  <a:noFill/>
                </a:ln>
                <a:solidFill>
                  <a:schemeClr val="tx1"/>
                </a:solidFill>
                <a:effectLst/>
                <a:uLnTx/>
                <a:uFillTx/>
                <a:latin typeface="微軟正黑體" panose="020B0604030504040204" pitchFamily="34" charset="-120"/>
                <a:ea typeface="微軟正黑體" panose="020B0604030504040204" pitchFamily="34" charset="-120"/>
                <a:cs typeface="+mn-cs"/>
              </a:rPr>
              <a:t>限定單位同仁使用</a:t>
            </a:r>
          </a:p>
        </p:txBody>
      </p:sp>
      <p:sp>
        <p:nvSpPr>
          <p:cNvPr id="8" name="矩形: 圓角 7">
            <a:extLst>
              <a:ext uri="{FF2B5EF4-FFF2-40B4-BE49-F238E27FC236}">
                <a16:creationId xmlns:a16="http://schemas.microsoft.com/office/drawing/2014/main" id="{9527BBB3-2FD8-5F68-8F56-CD866AA33C0C}"/>
              </a:ext>
            </a:extLst>
          </p:cNvPr>
          <p:cNvSpPr/>
          <p:nvPr/>
        </p:nvSpPr>
        <p:spPr>
          <a:xfrm>
            <a:off x="3190333" y="930435"/>
            <a:ext cx="2702609" cy="289753"/>
          </a:xfrm>
          <a:prstGeom prst="roundRect">
            <a:avLst/>
          </a:prstGeom>
          <a:solidFill>
            <a:srgbClr val="5959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TW" sz="1400" b="1">
                <a:solidFill>
                  <a:prstClr val="white"/>
                </a:solidFill>
              </a:rPr>
              <a:t>QA</a:t>
            </a:r>
            <a:r>
              <a:rPr kumimoji="0" lang="zh-TW" altLang="en-US" sz="1400" b="1"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rPr>
              <a:t>類</a:t>
            </a:r>
          </a:p>
        </p:txBody>
      </p:sp>
      <p:sp>
        <p:nvSpPr>
          <p:cNvPr id="10" name="矩形: 圓角 9">
            <a:extLst>
              <a:ext uri="{FF2B5EF4-FFF2-40B4-BE49-F238E27FC236}">
                <a16:creationId xmlns:a16="http://schemas.microsoft.com/office/drawing/2014/main" id="{ADDC16DF-08FB-FA3A-4BB1-A511B7A773EC}"/>
              </a:ext>
            </a:extLst>
          </p:cNvPr>
          <p:cNvSpPr/>
          <p:nvPr/>
        </p:nvSpPr>
        <p:spPr>
          <a:xfrm>
            <a:off x="6039519" y="949975"/>
            <a:ext cx="2702609" cy="273797"/>
          </a:xfrm>
          <a:prstGeom prst="roundRect">
            <a:avLst/>
          </a:prstGeom>
          <a:solidFill>
            <a:srgbClr val="5959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TW" altLang="en-US" sz="1400" b="1">
                <a:solidFill>
                  <a:prstClr val="white"/>
                </a:solidFill>
              </a:rPr>
              <a:t>通用</a:t>
            </a:r>
            <a:r>
              <a:rPr kumimoji="0" lang="zh-TW" altLang="en-US" sz="1400" b="1"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rPr>
              <a:t>類</a:t>
            </a:r>
          </a:p>
        </p:txBody>
      </p:sp>
      <p:sp>
        <p:nvSpPr>
          <p:cNvPr id="12" name="矩形: 圓角 11">
            <a:extLst>
              <a:ext uri="{FF2B5EF4-FFF2-40B4-BE49-F238E27FC236}">
                <a16:creationId xmlns:a16="http://schemas.microsoft.com/office/drawing/2014/main" id="{1CEA4D2B-4271-2919-EE0F-74C18B33BBF6}"/>
              </a:ext>
            </a:extLst>
          </p:cNvPr>
          <p:cNvSpPr/>
          <p:nvPr/>
        </p:nvSpPr>
        <p:spPr>
          <a:xfrm>
            <a:off x="8873216" y="969674"/>
            <a:ext cx="2702609" cy="269077"/>
          </a:xfrm>
          <a:prstGeom prst="roundRect">
            <a:avLst/>
          </a:prstGeom>
          <a:solidFill>
            <a:srgbClr val="59595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TW" altLang="en-US" sz="1400" b="1">
                <a:solidFill>
                  <a:prstClr val="white"/>
                </a:solidFill>
              </a:rPr>
              <a:t>專用</a:t>
            </a:r>
            <a:r>
              <a:rPr kumimoji="0" lang="zh-TW" altLang="en-US" sz="1400" b="1"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rPr>
              <a:t>類</a:t>
            </a:r>
          </a:p>
        </p:txBody>
      </p:sp>
      <p:sp>
        <p:nvSpPr>
          <p:cNvPr id="27" name="矩形 26">
            <a:extLst>
              <a:ext uri="{FF2B5EF4-FFF2-40B4-BE49-F238E27FC236}">
                <a16:creationId xmlns:a16="http://schemas.microsoft.com/office/drawing/2014/main" id="{19440971-9460-6880-F8DB-68DB99A170BC}"/>
              </a:ext>
            </a:extLst>
          </p:cNvPr>
          <p:cNvSpPr/>
          <p:nvPr/>
        </p:nvSpPr>
        <p:spPr>
          <a:xfrm>
            <a:off x="3212315" y="1457885"/>
            <a:ext cx="5547234" cy="309443"/>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180975"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200">
                <a:solidFill>
                  <a:prstClr val="black"/>
                </a:solidFill>
                <a:latin typeface="微軟正黑體" panose="020B0604030504040204" pitchFamily="34" charset="-120"/>
              </a:rPr>
              <a:t>全行同仁可使用</a:t>
            </a:r>
            <a:endParaRPr lang="en-US" altLang="zh-TW" sz="1200">
              <a:solidFill>
                <a:prstClr val="black"/>
              </a:solidFill>
              <a:latin typeface="微軟正黑體" panose="020B0604030504040204" pitchFamily="34" charset="-120"/>
            </a:endParaRPr>
          </a:p>
        </p:txBody>
      </p:sp>
      <p:sp>
        <p:nvSpPr>
          <p:cNvPr id="39" name="文字方塊 38">
            <a:extLst>
              <a:ext uri="{FF2B5EF4-FFF2-40B4-BE49-F238E27FC236}">
                <a16:creationId xmlns:a16="http://schemas.microsoft.com/office/drawing/2014/main" id="{BC38216B-61B2-A876-6B63-4A98B8C99BEF}"/>
              </a:ext>
            </a:extLst>
          </p:cNvPr>
          <p:cNvSpPr txBox="1"/>
          <p:nvPr/>
        </p:nvSpPr>
        <p:spPr>
          <a:xfrm>
            <a:off x="3261866" y="4974715"/>
            <a:ext cx="2546896" cy="307777"/>
          </a:xfrm>
          <a:prstGeom prst="rect">
            <a:avLst/>
          </a:prstGeom>
          <a:noFill/>
        </p:spPr>
        <p:txBody>
          <a:bodyPr wrap="square" rtlCol="0">
            <a:spAutoFit/>
          </a:bodyPr>
          <a:lstStyle/>
          <a:p>
            <a:pPr marL="171450" indent="-171450">
              <a:buFont typeface="Arial" panose="020B0604020202020204" pitchFamily="34" charset="0"/>
              <a:buChar char="•"/>
            </a:pPr>
            <a:r>
              <a:rPr lang="zh-TW" altLang="en-US" sz="1400"/>
              <a:t>全行員工內部知識檢索​</a:t>
            </a:r>
            <a:r>
              <a:rPr lang="en-US" altLang="zh-TW" sz="1400"/>
              <a:t>(FAQ)</a:t>
            </a:r>
          </a:p>
        </p:txBody>
      </p:sp>
      <p:sp>
        <p:nvSpPr>
          <p:cNvPr id="44" name="文字方塊 43">
            <a:extLst>
              <a:ext uri="{FF2B5EF4-FFF2-40B4-BE49-F238E27FC236}">
                <a16:creationId xmlns:a16="http://schemas.microsoft.com/office/drawing/2014/main" id="{4E2AE3B3-F5FA-9BC9-A401-42FC14FEA4A6}"/>
              </a:ext>
            </a:extLst>
          </p:cNvPr>
          <p:cNvSpPr txBox="1"/>
          <p:nvPr/>
        </p:nvSpPr>
        <p:spPr>
          <a:xfrm>
            <a:off x="8893580" y="4576210"/>
            <a:ext cx="1858098" cy="1169551"/>
          </a:xfrm>
          <a:prstGeom prst="rect">
            <a:avLst/>
          </a:prstGeom>
          <a:noFill/>
        </p:spPr>
        <p:txBody>
          <a:bodyPr wrap="square" rtlCol="0">
            <a:spAutoFit/>
          </a:bodyPr>
          <a:lstStyle/>
          <a:p>
            <a:pPr marL="171450" indent="-171450">
              <a:buFont typeface="Arial" panose="020B0604020202020204" pitchFamily="34" charset="0"/>
              <a:buChar char="•"/>
            </a:pPr>
            <a:r>
              <a:rPr lang="zh-TW" altLang="en-US" sz="1400"/>
              <a:t>法金徵審</a:t>
            </a:r>
            <a:r>
              <a:rPr lang="en-US" altLang="zh-TW" sz="1400"/>
              <a:t>QA</a:t>
            </a:r>
          </a:p>
          <a:p>
            <a:pPr marL="171450" indent="-171450">
              <a:buFont typeface="Arial" panose="020B0604020202020204" pitchFamily="34" charset="0"/>
              <a:buChar char="•"/>
            </a:pPr>
            <a:r>
              <a:rPr lang="zh-TW" altLang="zh-TW" sz="1400"/>
              <a:t>客服文字回覆生成</a:t>
            </a:r>
            <a:endParaRPr lang="en-US" altLang="zh-TW" sz="1400"/>
          </a:p>
          <a:p>
            <a:pPr marL="171450" indent="-171450">
              <a:buFont typeface="Arial" panose="020B0604020202020204" pitchFamily="34" charset="0"/>
              <a:buChar char="•"/>
            </a:pPr>
            <a:r>
              <a:rPr lang="zh-TW" altLang="zh-TW" sz="1400"/>
              <a:t>分行內部知識查找</a:t>
            </a:r>
            <a:endParaRPr lang="en-US" altLang="zh-TW" sz="1400"/>
          </a:p>
          <a:p>
            <a:pPr marL="171450" indent="-171450">
              <a:buFont typeface="Arial" panose="020B0604020202020204" pitchFamily="34" charset="0"/>
              <a:buChar char="•"/>
            </a:pPr>
            <a:r>
              <a:rPr lang="zh-TW" altLang="zh-TW" sz="1400"/>
              <a:t>理專保險知識查找</a:t>
            </a:r>
            <a:endParaRPr lang="en-US" altLang="zh-TW" sz="1400"/>
          </a:p>
          <a:p>
            <a:pPr marL="171450" indent="-171450">
              <a:buFont typeface="Arial" panose="020B0604020202020204" pitchFamily="34" charset="0"/>
              <a:buChar char="•"/>
            </a:pPr>
            <a:r>
              <a:rPr lang="zh-TW" altLang="zh-TW" sz="1400"/>
              <a:t>績管文件知識檢索</a:t>
            </a:r>
            <a:endParaRPr lang="en-US" altLang="zh-TW" sz="1400"/>
          </a:p>
        </p:txBody>
      </p:sp>
      <p:sp>
        <p:nvSpPr>
          <p:cNvPr id="139" name="文字方塊 138">
            <a:extLst>
              <a:ext uri="{FF2B5EF4-FFF2-40B4-BE49-F238E27FC236}">
                <a16:creationId xmlns:a16="http://schemas.microsoft.com/office/drawing/2014/main" id="{FCC5D957-6116-C428-030F-BFE47BE6A87A}"/>
              </a:ext>
            </a:extLst>
          </p:cNvPr>
          <p:cNvSpPr txBox="1"/>
          <p:nvPr/>
        </p:nvSpPr>
        <p:spPr>
          <a:xfrm>
            <a:off x="6083148" y="4685105"/>
            <a:ext cx="2117495" cy="523220"/>
          </a:xfrm>
          <a:prstGeom prst="rect">
            <a:avLst/>
          </a:prstGeom>
          <a:noFill/>
        </p:spPr>
        <p:txBody>
          <a:bodyPr wrap="square" rtlCol="0">
            <a:spAutoFit/>
          </a:bodyPr>
          <a:lstStyle/>
          <a:p>
            <a:pPr marL="171450" indent="-171450">
              <a:buFont typeface="Arial" panose="020B0604020202020204" pitchFamily="34" charset="0"/>
              <a:buChar char="•"/>
            </a:pPr>
            <a:r>
              <a:rPr lang="zh-TW" altLang="zh-TW" sz="1400"/>
              <a:t>全行員工內部知識檢索</a:t>
            </a:r>
            <a:r>
              <a:rPr lang="en-US" altLang="zh-TW" sz="1400"/>
              <a:t>(</a:t>
            </a:r>
            <a:r>
              <a:rPr lang="zh-TW" altLang="en-US" sz="1400"/>
              <a:t>銀行文件庫</a:t>
            </a:r>
            <a:r>
              <a:rPr lang="en-US" altLang="zh-TW" sz="1400"/>
              <a:t>)</a:t>
            </a:r>
          </a:p>
        </p:txBody>
      </p:sp>
      <p:sp>
        <p:nvSpPr>
          <p:cNvPr id="153" name="文字方塊 152">
            <a:extLst>
              <a:ext uri="{FF2B5EF4-FFF2-40B4-BE49-F238E27FC236}">
                <a16:creationId xmlns:a16="http://schemas.microsoft.com/office/drawing/2014/main" id="{E4595B41-4985-7166-0229-F05650E6F032}"/>
              </a:ext>
            </a:extLst>
          </p:cNvPr>
          <p:cNvSpPr txBox="1"/>
          <p:nvPr/>
        </p:nvSpPr>
        <p:spPr>
          <a:xfrm>
            <a:off x="1105759" y="4649914"/>
            <a:ext cx="1608445" cy="523220"/>
          </a:xfrm>
          <a:prstGeom prst="rect">
            <a:avLst/>
          </a:prstGeom>
          <a:noFill/>
        </p:spPr>
        <p:txBody>
          <a:bodyPr wrap="square" rtlCol="0">
            <a:spAutoFit/>
          </a:bodyPr>
          <a:lstStyle/>
          <a:p>
            <a:pPr marL="171450" indent="-171450">
              <a:buFont typeface="Arial" panose="020B0604020202020204" pitchFamily="34" charset="0"/>
              <a:buChar char="•"/>
            </a:pPr>
            <a:r>
              <a:rPr lang="zh-TW" altLang="en-US" sz="1400"/>
              <a:t>金市作業內部知識查找</a:t>
            </a:r>
            <a:endParaRPr lang="en-US" altLang="zh-TW" sz="1400"/>
          </a:p>
        </p:txBody>
      </p:sp>
      <p:sp>
        <p:nvSpPr>
          <p:cNvPr id="4" name="矩形: 圓角 3">
            <a:extLst>
              <a:ext uri="{FF2B5EF4-FFF2-40B4-BE49-F238E27FC236}">
                <a16:creationId xmlns:a16="http://schemas.microsoft.com/office/drawing/2014/main" id="{51D5DA06-762A-0AA5-CB0B-FA5E023F72A8}"/>
              </a:ext>
            </a:extLst>
          </p:cNvPr>
          <p:cNvSpPr/>
          <p:nvPr/>
        </p:nvSpPr>
        <p:spPr>
          <a:xfrm>
            <a:off x="1010186" y="600803"/>
            <a:ext cx="2039035" cy="625848"/>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TW" altLang="en-US" sz="1400" b="1">
                <a:solidFill>
                  <a:prstClr val="white"/>
                </a:solidFill>
              </a:rPr>
              <a:t>純檢索</a:t>
            </a:r>
            <a:endParaRPr kumimoji="0" lang="zh-TW" altLang="en-US" sz="1400" b="1"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7" name="矩形 6">
            <a:extLst>
              <a:ext uri="{FF2B5EF4-FFF2-40B4-BE49-F238E27FC236}">
                <a16:creationId xmlns:a16="http://schemas.microsoft.com/office/drawing/2014/main" id="{BAA5C0F1-FAC5-2E77-FC09-DDAA1C615C7A}"/>
              </a:ext>
            </a:extLst>
          </p:cNvPr>
          <p:cNvSpPr/>
          <p:nvPr/>
        </p:nvSpPr>
        <p:spPr>
          <a:xfrm>
            <a:off x="1092891" y="1455232"/>
            <a:ext cx="1873624" cy="308964"/>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80975" marR="0" lvl="0" indent="-180975"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1200" i="0" u="none" strike="noStrike" kern="1200" cap="none" spc="0" normalizeH="0" baseline="0" noProof="0">
                <a:ln>
                  <a:noFill/>
                </a:ln>
                <a:solidFill>
                  <a:schemeClr val="tx1"/>
                </a:solidFill>
                <a:effectLst/>
                <a:uLnTx/>
                <a:uFillTx/>
                <a:latin typeface="微軟正黑體" panose="020B0604030504040204" pitchFamily="34" charset="-120"/>
                <a:ea typeface="微軟正黑體" panose="020B0604030504040204" pitchFamily="34" charset="-120"/>
                <a:cs typeface="+mn-cs"/>
              </a:rPr>
              <a:t>限定單位同仁使用</a:t>
            </a:r>
          </a:p>
        </p:txBody>
      </p:sp>
      <p:sp>
        <p:nvSpPr>
          <p:cNvPr id="14" name="文字方塊 13">
            <a:extLst>
              <a:ext uri="{FF2B5EF4-FFF2-40B4-BE49-F238E27FC236}">
                <a16:creationId xmlns:a16="http://schemas.microsoft.com/office/drawing/2014/main" id="{43E3C5C7-8089-3974-968D-DC461B45704B}"/>
              </a:ext>
            </a:extLst>
          </p:cNvPr>
          <p:cNvSpPr txBox="1"/>
          <p:nvPr/>
        </p:nvSpPr>
        <p:spPr>
          <a:xfrm>
            <a:off x="315802" y="4685105"/>
            <a:ext cx="543739"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對應</a:t>
            </a:r>
            <a:endParaRPr lang="en-US" altLang="zh-TW" sz="1400">
              <a:solidFill>
                <a:prstClr val="black"/>
              </a:solidFill>
              <a:latin typeface="Arial" panose="020B0604020202020204"/>
              <a:ea typeface="微軟正黑體" panose="020B060403050404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專案</a:t>
            </a:r>
            <a:endParaRPr lang="en-US" altLang="zh-TW" sz="1400">
              <a:solidFill>
                <a:prstClr val="black"/>
              </a:solidFill>
              <a:latin typeface="Arial" panose="020B0604020202020204"/>
              <a:ea typeface="微軟正黑體" panose="020B0604030504040204" pitchFamily="34" charset="-120"/>
            </a:endParaRPr>
          </a:p>
        </p:txBody>
      </p:sp>
      <p:sp>
        <p:nvSpPr>
          <p:cNvPr id="16" name="文字方塊 15">
            <a:extLst>
              <a:ext uri="{FF2B5EF4-FFF2-40B4-BE49-F238E27FC236}">
                <a16:creationId xmlns:a16="http://schemas.microsoft.com/office/drawing/2014/main" id="{BA73B659-A2D7-CDD5-D0D8-5D9366661743}"/>
              </a:ext>
            </a:extLst>
          </p:cNvPr>
          <p:cNvSpPr txBox="1"/>
          <p:nvPr/>
        </p:nvSpPr>
        <p:spPr>
          <a:xfrm>
            <a:off x="1101463" y="2767422"/>
            <a:ext cx="1858107" cy="307777"/>
          </a:xfrm>
          <a:prstGeom prst="rect">
            <a:avLst/>
          </a:prstGeom>
          <a:noFill/>
        </p:spPr>
        <p:txBody>
          <a:bodyPr wrap="square" rtlCol="0">
            <a:spAutoFit/>
          </a:bodyPr>
          <a:lstStyle/>
          <a:p>
            <a:pPr marL="171450" indent="-171450">
              <a:buFont typeface="Arial" panose="020B0604020202020204" pitchFamily="34" charset="0"/>
              <a:buChar char="•"/>
            </a:pPr>
            <a:r>
              <a:rPr lang="zh-TW" altLang="en-US" sz="1400"/>
              <a:t>非結構化文件檢索</a:t>
            </a:r>
          </a:p>
        </p:txBody>
      </p:sp>
      <p:sp>
        <p:nvSpPr>
          <p:cNvPr id="20" name="文字方塊 19">
            <a:extLst>
              <a:ext uri="{FF2B5EF4-FFF2-40B4-BE49-F238E27FC236}">
                <a16:creationId xmlns:a16="http://schemas.microsoft.com/office/drawing/2014/main" id="{E238A0FB-CA56-CF62-27B2-285BF4BED58F}"/>
              </a:ext>
            </a:extLst>
          </p:cNvPr>
          <p:cNvSpPr txBox="1"/>
          <p:nvPr/>
        </p:nvSpPr>
        <p:spPr>
          <a:xfrm>
            <a:off x="3248113" y="2048726"/>
            <a:ext cx="1608325" cy="307777"/>
          </a:xfrm>
          <a:prstGeom prst="rect">
            <a:avLst/>
          </a:prstGeom>
          <a:noFill/>
        </p:spPr>
        <p:txBody>
          <a:bodyPr wrap="none" lIns="91440" tIns="45720" rIns="91440" bIns="45720" rtlCol="0" anchor="t">
            <a:spAutoFit/>
          </a:bodyPr>
          <a:lstStyle/>
          <a:p>
            <a:pPr marL="171450" indent="-171450" algn="ctr">
              <a:buFont typeface="Arial" panose="020B0604020202020204" pitchFamily="34" charset="0"/>
              <a:buChar char="•"/>
            </a:pPr>
            <a:r>
              <a:rPr lang="zh-TW" altLang="en-US" sz="1400">
                <a:latin typeface="+mj-ea"/>
                <a:ea typeface="+mj-ea"/>
              </a:rPr>
              <a:t>僅能為</a:t>
            </a:r>
            <a:r>
              <a:rPr lang="en-US" altLang="zh-TW" sz="1400">
                <a:latin typeface="+mj-ea"/>
                <a:ea typeface="+mj-ea"/>
              </a:rPr>
              <a:t>FAQ</a:t>
            </a:r>
            <a:r>
              <a:rPr lang="zh-TW" altLang="en-US" sz="1400">
                <a:latin typeface="+mj-ea"/>
                <a:ea typeface="+mj-ea"/>
              </a:rPr>
              <a:t>格式</a:t>
            </a:r>
            <a:endParaRPr lang="en-US" altLang="zh-TW" sz="1400">
              <a:latin typeface="+mj-ea"/>
              <a:ea typeface="+mj-ea"/>
            </a:endParaRPr>
          </a:p>
        </p:txBody>
      </p:sp>
      <p:sp>
        <p:nvSpPr>
          <p:cNvPr id="22" name="文字方塊 21">
            <a:extLst>
              <a:ext uri="{FF2B5EF4-FFF2-40B4-BE49-F238E27FC236}">
                <a16:creationId xmlns:a16="http://schemas.microsoft.com/office/drawing/2014/main" id="{75F41B56-B691-58E8-DC5F-0BD1EF098DF0}"/>
              </a:ext>
            </a:extLst>
          </p:cNvPr>
          <p:cNvSpPr txBox="1"/>
          <p:nvPr/>
        </p:nvSpPr>
        <p:spPr>
          <a:xfrm>
            <a:off x="6077282" y="2046077"/>
            <a:ext cx="2713032" cy="307777"/>
          </a:xfrm>
          <a:prstGeom prst="rect">
            <a:avLst/>
          </a:prstGeom>
          <a:noFill/>
        </p:spPr>
        <p:txBody>
          <a:bodyPr wrap="square" rtlCol="0">
            <a:spAutoFit/>
          </a:bodyPr>
          <a:lstStyle/>
          <a:p>
            <a:pPr marL="171450" indent="-171450">
              <a:buFont typeface="Arial" panose="020B0604020202020204" pitchFamily="34" charset="0"/>
              <a:buChar char="•"/>
            </a:pPr>
            <a:r>
              <a:rPr lang="zh-TW" altLang="en-US" sz="1400"/>
              <a:t>全行公開非結構化文件</a:t>
            </a:r>
            <a:endParaRPr lang="en-US" altLang="zh-TW" sz="1400"/>
          </a:p>
        </p:txBody>
      </p:sp>
      <p:sp>
        <p:nvSpPr>
          <p:cNvPr id="25" name="矩形 24">
            <a:extLst>
              <a:ext uri="{FF2B5EF4-FFF2-40B4-BE49-F238E27FC236}">
                <a16:creationId xmlns:a16="http://schemas.microsoft.com/office/drawing/2014/main" id="{7A30D757-43EA-AC30-B481-53EB61C2FEBB}"/>
              </a:ext>
            </a:extLst>
          </p:cNvPr>
          <p:cNvSpPr/>
          <p:nvPr/>
        </p:nvSpPr>
        <p:spPr>
          <a:xfrm>
            <a:off x="8874501" y="2027074"/>
            <a:ext cx="2759559" cy="3612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zh-TW" altLang="en-US" sz="1400">
                <a:solidFill>
                  <a:schemeClr val="tx1"/>
                </a:solidFill>
              </a:rPr>
              <a:t>非公開資料</a:t>
            </a:r>
            <a:r>
              <a:rPr lang="en-US" altLang="zh-TW" sz="1400">
                <a:solidFill>
                  <a:schemeClr val="tx1"/>
                </a:solidFill>
              </a:rPr>
              <a:t>(</a:t>
            </a:r>
            <a:r>
              <a:rPr lang="zh-TW" altLang="en-US" sz="1400">
                <a:solidFill>
                  <a:schemeClr val="tx1"/>
                </a:solidFill>
              </a:rPr>
              <a:t>結構化</a:t>
            </a:r>
            <a:r>
              <a:rPr lang="en-US" altLang="zh-TW" sz="1400">
                <a:solidFill>
                  <a:schemeClr val="tx1"/>
                </a:solidFill>
              </a:rPr>
              <a:t>/</a:t>
            </a:r>
            <a:r>
              <a:rPr lang="zh-TW" altLang="en-US" sz="1400">
                <a:solidFill>
                  <a:schemeClr val="tx1"/>
                </a:solidFill>
              </a:rPr>
              <a:t>非結構化</a:t>
            </a:r>
            <a:r>
              <a:rPr lang="en-US" altLang="zh-TW" sz="1400">
                <a:solidFill>
                  <a:schemeClr val="tx1"/>
                </a:solidFill>
              </a:rPr>
              <a:t>)</a:t>
            </a:r>
          </a:p>
        </p:txBody>
      </p:sp>
      <p:sp>
        <p:nvSpPr>
          <p:cNvPr id="30" name="文字方塊 29">
            <a:extLst>
              <a:ext uri="{FF2B5EF4-FFF2-40B4-BE49-F238E27FC236}">
                <a16:creationId xmlns:a16="http://schemas.microsoft.com/office/drawing/2014/main" id="{AC4EAA9D-1E38-3B30-D67A-528B7E8BC42B}"/>
              </a:ext>
            </a:extLst>
          </p:cNvPr>
          <p:cNvSpPr txBox="1"/>
          <p:nvPr/>
        </p:nvSpPr>
        <p:spPr>
          <a:xfrm>
            <a:off x="6011988" y="2748689"/>
            <a:ext cx="2782115" cy="307777"/>
          </a:xfrm>
          <a:prstGeom prst="rect">
            <a:avLst/>
          </a:prstGeom>
          <a:noFill/>
        </p:spPr>
        <p:txBody>
          <a:bodyPr wrap="square" rtlCol="0">
            <a:spAutoFit/>
          </a:bodyPr>
          <a:lstStyle/>
          <a:p>
            <a:pPr marL="171450" indent="-171450" algn="ctr">
              <a:buFont typeface="Arial" panose="020B0604020202020204" pitchFamily="34" charset="0"/>
              <a:buChar char="•"/>
            </a:pPr>
            <a:r>
              <a:rPr lang="zh-TW" altLang="en-US" sz="1400"/>
              <a:t>非結構化文件檢索及答案生成</a:t>
            </a:r>
          </a:p>
        </p:txBody>
      </p:sp>
      <p:sp>
        <p:nvSpPr>
          <p:cNvPr id="35" name="文字方塊 34">
            <a:extLst>
              <a:ext uri="{FF2B5EF4-FFF2-40B4-BE49-F238E27FC236}">
                <a16:creationId xmlns:a16="http://schemas.microsoft.com/office/drawing/2014/main" id="{DF3A5B98-7949-8EF0-3A23-146EF0727DBC}"/>
              </a:ext>
            </a:extLst>
          </p:cNvPr>
          <p:cNvSpPr txBox="1"/>
          <p:nvPr/>
        </p:nvSpPr>
        <p:spPr>
          <a:xfrm>
            <a:off x="8852986" y="2785349"/>
            <a:ext cx="2966145" cy="307777"/>
          </a:xfrm>
          <a:prstGeom prst="rect">
            <a:avLst/>
          </a:prstGeom>
          <a:noFill/>
        </p:spPr>
        <p:txBody>
          <a:bodyPr wrap="square" rtlCol="0">
            <a:spAutoFit/>
          </a:bodyPr>
          <a:lstStyle/>
          <a:p>
            <a:pPr marL="171450" indent="-171450">
              <a:buFont typeface="Arial" panose="020B0604020202020204" pitchFamily="34" charset="0"/>
              <a:buChar char="•"/>
            </a:pPr>
            <a:r>
              <a:rPr lang="zh-TW" altLang="en-US" sz="1400"/>
              <a:t>結構及非結構化文件檢索及生成</a:t>
            </a:r>
          </a:p>
        </p:txBody>
      </p:sp>
      <p:sp>
        <p:nvSpPr>
          <p:cNvPr id="37" name="文字方塊 36">
            <a:extLst>
              <a:ext uri="{FF2B5EF4-FFF2-40B4-BE49-F238E27FC236}">
                <a16:creationId xmlns:a16="http://schemas.microsoft.com/office/drawing/2014/main" id="{1661F600-D539-6D0A-6F50-AF72112DF90F}"/>
              </a:ext>
            </a:extLst>
          </p:cNvPr>
          <p:cNvSpPr txBox="1"/>
          <p:nvPr/>
        </p:nvSpPr>
        <p:spPr>
          <a:xfrm>
            <a:off x="315801" y="3997167"/>
            <a:ext cx="543739"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使用</a:t>
            </a:r>
            <a:endParaRPr lang="en-US" altLang="zh-TW" sz="1400">
              <a:solidFill>
                <a:prstClr val="black"/>
              </a:solidFill>
              <a:latin typeface="Arial" panose="020B0604020202020204"/>
              <a:ea typeface="微軟正黑體" panose="020B060403050404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介面</a:t>
            </a:r>
            <a:endParaRPr lang="en-US" altLang="zh-TW" sz="1400">
              <a:solidFill>
                <a:prstClr val="black"/>
              </a:solidFill>
              <a:latin typeface="Arial" panose="020B0604020202020204"/>
              <a:ea typeface="微軟正黑體" panose="020B0604030504040204" pitchFamily="34" charset="-120"/>
            </a:endParaRPr>
          </a:p>
        </p:txBody>
      </p:sp>
      <p:sp>
        <p:nvSpPr>
          <p:cNvPr id="46" name="文字方塊 45">
            <a:extLst>
              <a:ext uri="{FF2B5EF4-FFF2-40B4-BE49-F238E27FC236}">
                <a16:creationId xmlns:a16="http://schemas.microsoft.com/office/drawing/2014/main" id="{07EDB645-BCEE-354D-A33F-387764485091}"/>
              </a:ext>
            </a:extLst>
          </p:cNvPr>
          <p:cNvSpPr txBox="1"/>
          <p:nvPr/>
        </p:nvSpPr>
        <p:spPr>
          <a:xfrm>
            <a:off x="3247651" y="4105214"/>
            <a:ext cx="1716371" cy="307777"/>
          </a:xfrm>
          <a:prstGeom prst="rect">
            <a:avLst/>
          </a:prstGeom>
          <a:noFill/>
        </p:spPr>
        <p:txBody>
          <a:bodyPr wrap="square" rtlCol="0">
            <a:spAutoFit/>
          </a:bodyPr>
          <a:lstStyle/>
          <a:p>
            <a:pPr marL="171450" indent="-171450">
              <a:buFont typeface="Arial" panose="020B0604020202020204" pitchFamily="34" charset="0"/>
              <a:buChar char="•"/>
            </a:pPr>
            <a:r>
              <a:rPr lang="zh-TW" altLang="en-US" sz="1400"/>
              <a:t>統一放於富幫手</a:t>
            </a:r>
            <a:endParaRPr lang="en-US" altLang="zh-TW" sz="1400"/>
          </a:p>
        </p:txBody>
      </p:sp>
      <p:sp>
        <p:nvSpPr>
          <p:cNvPr id="50" name="文字方塊 49">
            <a:extLst>
              <a:ext uri="{FF2B5EF4-FFF2-40B4-BE49-F238E27FC236}">
                <a16:creationId xmlns:a16="http://schemas.microsoft.com/office/drawing/2014/main" id="{D580E6D8-6F21-1273-A15E-C57935DB4859}"/>
              </a:ext>
            </a:extLst>
          </p:cNvPr>
          <p:cNvSpPr txBox="1"/>
          <p:nvPr/>
        </p:nvSpPr>
        <p:spPr>
          <a:xfrm>
            <a:off x="6077282" y="4098573"/>
            <a:ext cx="1716371" cy="307777"/>
          </a:xfrm>
          <a:prstGeom prst="rect">
            <a:avLst/>
          </a:prstGeom>
          <a:noFill/>
        </p:spPr>
        <p:txBody>
          <a:bodyPr wrap="square" rtlCol="0">
            <a:spAutoFit/>
          </a:bodyPr>
          <a:lstStyle/>
          <a:p>
            <a:pPr marL="171450" indent="-171450">
              <a:buFont typeface="Arial" panose="020B0604020202020204" pitchFamily="34" charset="0"/>
              <a:buChar char="•"/>
            </a:pPr>
            <a:r>
              <a:rPr lang="zh-TW" altLang="en-US" sz="1400"/>
              <a:t>統一放於富幫手</a:t>
            </a:r>
            <a:endParaRPr lang="en-US" altLang="zh-TW" sz="1400"/>
          </a:p>
        </p:txBody>
      </p:sp>
      <p:sp>
        <p:nvSpPr>
          <p:cNvPr id="5" name="文字方塊 4">
            <a:extLst>
              <a:ext uri="{FF2B5EF4-FFF2-40B4-BE49-F238E27FC236}">
                <a16:creationId xmlns:a16="http://schemas.microsoft.com/office/drawing/2014/main" id="{59533F9D-571B-D4C8-968F-75A2FB3A79F5}"/>
              </a:ext>
            </a:extLst>
          </p:cNvPr>
          <p:cNvSpPr txBox="1"/>
          <p:nvPr/>
        </p:nvSpPr>
        <p:spPr>
          <a:xfrm>
            <a:off x="321047" y="5834269"/>
            <a:ext cx="543739"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費用</a:t>
            </a:r>
            <a:endParaRPr lang="en-US" altLang="zh-TW" sz="1400">
              <a:solidFill>
                <a:prstClr val="black"/>
              </a:solidFill>
              <a:latin typeface="Arial" panose="020B0604020202020204"/>
              <a:ea typeface="微軟正黑體" panose="020B0604030504040204" pitchFamily="34" charset="-120"/>
            </a:endParaRPr>
          </a:p>
        </p:txBody>
      </p:sp>
      <p:sp>
        <p:nvSpPr>
          <p:cNvPr id="17" name="文字方塊 16">
            <a:extLst>
              <a:ext uri="{FF2B5EF4-FFF2-40B4-BE49-F238E27FC236}">
                <a16:creationId xmlns:a16="http://schemas.microsoft.com/office/drawing/2014/main" id="{819FE518-6A8E-2D0F-9D75-22651F4E13FD}"/>
              </a:ext>
            </a:extLst>
          </p:cNvPr>
          <p:cNvSpPr txBox="1"/>
          <p:nvPr/>
        </p:nvSpPr>
        <p:spPr>
          <a:xfrm>
            <a:off x="3247205" y="2753732"/>
            <a:ext cx="2666877" cy="307777"/>
          </a:xfrm>
          <a:prstGeom prst="rect">
            <a:avLst/>
          </a:prstGeom>
          <a:noFill/>
        </p:spPr>
        <p:txBody>
          <a:bodyPr wrap="square" rtlCol="0">
            <a:spAutoFit/>
          </a:bodyPr>
          <a:lstStyle/>
          <a:p>
            <a:pPr marL="171450" indent="-171450">
              <a:buFont typeface="Arial" panose="020B0604020202020204" pitchFamily="34" charset="0"/>
              <a:buChar char="•"/>
            </a:pPr>
            <a:r>
              <a:rPr lang="en-US" altLang="zh-TW" sz="1400"/>
              <a:t>FAQ</a:t>
            </a:r>
            <a:r>
              <a:rPr lang="zh-TW" altLang="en-US" sz="1400"/>
              <a:t>檢索及答案生成</a:t>
            </a:r>
          </a:p>
        </p:txBody>
      </p:sp>
      <p:sp>
        <p:nvSpPr>
          <p:cNvPr id="34" name="文字方塊 33">
            <a:extLst>
              <a:ext uri="{FF2B5EF4-FFF2-40B4-BE49-F238E27FC236}">
                <a16:creationId xmlns:a16="http://schemas.microsoft.com/office/drawing/2014/main" id="{08CFDA60-843E-26C4-DA50-812B5EC9CFE8}"/>
              </a:ext>
            </a:extLst>
          </p:cNvPr>
          <p:cNvSpPr txBox="1"/>
          <p:nvPr/>
        </p:nvSpPr>
        <p:spPr>
          <a:xfrm>
            <a:off x="1102328" y="5842693"/>
            <a:ext cx="1716371" cy="307777"/>
          </a:xfrm>
          <a:prstGeom prst="rect">
            <a:avLst/>
          </a:prstGeom>
          <a:noFill/>
        </p:spPr>
        <p:txBody>
          <a:bodyPr wrap="square" rtlCol="0">
            <a:spAutoFit/>
          </a:bodyPr>
          <a:lstStyle/>
          <a:p>
            <a:pPr marL="171450" indent="-171450">
              <a:buFont typeface="Arial" panose="020B0604020202020204" pitchFamily="34" charset="0"/>
              <a:buChar char="•"/>
            </a:pPr>
            <a:r>
              <a:rPr lang="en-US" altLang="zh-TW" sz="1400">
                <a:solidFill>
                  <a:srgbClr val="FF0000"/>
                </a:solidFill>
              </a:rPr>
              <a:t>Index(</a:t>
            </a:r>
            <a:r>
              <a:rPr lang="en-US" altLang="zh-TW" sz="1400" err="1">
                <a:solidFill>
                  <a:srgbClr val="FF0000"/>
                </a:solidFill>
              </a:rPr>
              <a:t>vlm</a:t>
            </a:r>
            <a:r>
              <a:rPr lang="en-US" altLang="zh-TW" sz="1400">
                <a:solidFill>
                  <a:srgbClr val="FF0000"/>
                </a:solidFill>
              </a:rPr>
              <a:t>)</a:t>
            </a:r>
            <a:r>
              <a:rPr lang="zh-TW" altLang="en-US" sz="1400">
                <a:solidFill>
                  <a:srgbClr val="FF0000"/>
                </a:solidFill>
              </a:rPr>
              <a:t> </a:t>
            </a:r>
            <a:r>
              <a:rPr lang="en-US" altLang="zh-TW" sz="1400">
                <a:solidFill>
                  <a:srgbClr val="FF0000"/>
                </a:solidFill>
              </a:rPr>
              <a:t>:</a:t>
            </a:r>
            <a:r>
              <a:rPr lang="zh-TW" altLang="en-US" sz="1400">
                <a:solidFill>
                  <a:srgbClr val="FF0000"/>
                </a:solidFill>
              </a:rPr>
              <a:t> </a:t>
            </a:r>
            <a:endParaRPr lang="en-US" altLang="zh-TW" sz="1200">
              <a:solidFill>
                <a:srgbClr val="FF0000"/>
              </a:solidFill>
            </a:endParaRPr>
          </a:p>
        </p:txBody>
      </p:sp>
      <p:sp>
        <p:nvSpPr>
          <p:cNvPr id="47" name="文字方塊 46">
            <a:extLst>
              <a:ext uri="{FF2B5EF4-FFF2-40B4-BE49-F238E27FC236}">
                <a16:creationId xmlns:a16="http://schemas.microsoft.com/office/drawing/2014/main" id="{9399725D-064B-014A-8F8A-64C3E08D952E}"/>
              </a:ext>
            </a:extLst>
          </p:cNvPr>
          <p:cNvSpPr txBox="1"/>
          <p:nvPr/>
        </p:nvSpPr>
        <p:spPr>
          <a:xfrm>
            <a:off x="6077282" y="5760673"/>
            <a:ext cx="2018246" cy="523220"/>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altLang="zh-TW" sz="1400">
                <a:solidFill>
                  <a:srgbClr val="FF0000"/>
                </a:solidFill>
                <a:latin typeface="微軟正黑體"/>
                <a:ea typeface="微軟正黑體"/>
              </a:rPr>
              <a:t>Index(</a:t>
            </a:r>
            <a:r>
              <a:rPr lang="en-US" altLang="zh-TW" sz="1400" err="1">
                <a:solidFill>
                  <a:srgbClr val="FF0000"/>
                </a:solidFill>
                <a:latin typeface="微軟正黑體"/>
                <a:ea typeface="微軟正黑體"/>
              </a:rPr>
              <a:t>vlm</a:t>
            </a:r>
            <a:r>
              <a:rPr lang="en-US" altLang="zh-TW" sz="1400">
                <a:solidFill>
                  <a:srgbClr val="FF0000"/>
                </a:solidFill>
                <a:latin typeface="微軟正黑體"/>
                <a:ea typeface="微軟正黑體"/>
              </a:rPr>
              <a:t>):</a:t>
            </a:r>
          </a:p>
          <a:p>
            <a:pPr marL="171450" indent="-171450">
              <a:buFont typeface="Arial" panose="020B0604020202020204" pitchFamily="34" charset="0"/>
              <a:buChar char="•"/>
            </a:pPr>
            <a:r>
              <a:rPr lang="zh-TW" altLang="en-US" sz="1400">
                <a:latin typeface="微軟正黑體"/>
                <a:ea typeface="微軟正黑體"/>
              </a:rPr>
              <a:t>檢索</a:t>
            </a:r>
            <a:r>
              <a:rPr lang="en-US" altLang="zh-TW" sz="1400">
                <a:latin typeface="微軟正黑體"/>
                <a:ea typeface="微軟正黑體"/>
              </a:rPr>
              <a:t>&amp;</a:t>
            </a:r>
            <a:r>
              <a:rPr lang="zh-TW" altLang="en-US" sz="1400">
                <a:latin typeface="微軟正黑體"/>
                <a:ea typeface="微軟正黑體"/>
              </a:rPr>
              <a:t>生成 </a:t>
            </a:r>
            <a:r>
              <a:rPr lang="en-US" altLang="zh-TW" sz="1400">
                <a:latin typeface="微軟正黑體"/>
                <a:ea typeface="微軟正黑體"/>
              </a:rPr>
              <a:t>:</a:t>
            </a:r>
            <a:r>
              <a:rPr lang="zh-TW" altLang="en-US" sz="1400">
                <a:latin typeface="微軟正黑體"/>
                <a:ea typeface="微軟正黑體"/>
              </a:rPr>
              <a:t>  </a:t>
            </a:r>
            <a:r>
              <a:rPr lang="en-US" altLang="zh-TW" sz="1400">
                <a:latin typeface="微軟正黑體"/>
                <a:ea typeface="微軟正黑體"/>
              </a:rPr>
              <a:t>$3-5</a:t>
            </a:r>
            <a:endParaRPr lang="en-US" altLang="zh-TW" sz="1200">
              <a:latin typeface="微軟正黑體"/>
              <a:ea typeface="微軟正黑體"/>
            </a:endParaRPr>
          </a:p>
        </p:txBody>
      </p:sp>
      <p:sp>
        <p:nvSpPr>
          <p:cNvPr id="49" name="文字方塊 48">
            <a:extLst>
              <a:ext uri="{FF2B5EF4-FFF2-40B4-BE49-F238E27FC236}">
                <a16:creationId xmlns:a16="http://schemas.microsoft.com/office/drawing/2014/main" id="{62447A88-BE48-39C3-B953-03967B51ED6D}"/>
              </a:ext>
            </a:extLst>
          </p:cNvPr>
          <p:cNvSpPr txBox="1"/>
          <p:nvPr/>
        </p:nvSpPr>
        <p:spPr>
          <a:xfrm>
            <a:off x="8893580" y="5788997"/>
            <a:ext cx="1716371" cy="307777"/>
          </a:xfrm>
          <a:prstGeom prst="rect">
            <a:avLst/>
          </a:prstGeom>
          <a:noFill/>
        </p:spPr>
        <p:txBody>
          <a:bodyPr wrap="square" rtlCol="0">
            <a:spAutoFit/>
          </a:bodyPr>
          <a:lstStyle/>
          <a:p>
            <a:pPr marL="171450" indent="-171450">
              <a:buFont typeface="Arial" panose="020B0604020202020204" pitchFamily="34" charset="0"/>
              <a:buChar char="•"/>
            </a:pPr>
            <a:r>
              <a:rPr lang="zh-TW" altLang="en-US" sz="1400"/>
              <a:t>視個案需求而定</a:t>
            </a:r>
            <a:endParaRPr lang="en-US" altLang="zh-TW" sz="1400"/>
          </a:p>
        </p:txBody>
      </p:sp>
      <p:sp>
        <p:nvSpPr>
          <p:cNvPr id="52" name="文字方塊 51">
            <a:extLst>
              <a:ext uri="{FF2B5EF4-FFF2-40B4-BE49-F238E27FC236}">
                <a16:creationId xmlns:a16="http://schemas.microsoft.com/office/drawing/2014/main" id="{F1A1872E-5A12-0CE1-525E-052A8A9F9018}"/>
              </a:ext>
            </a:extLst>
          </p:cNvPr>
          <p:cNvSpPr txBox="1"/>
          <p:nvPr/>
        </p:nvSpPr>
        <p:spPr>
          <a:xfrm>
            <a:off x="3247651" y="5757546"/>
            <a:ext cx="1716371" cy="738664"/>
          </a:xfrm>
          <a:prstGeom prst="rect">
            <a:avLst/>
          </a:prstGeom>
          <a:noFill/>
        </p:spPr>
        <p:txBody>
          <a:bodyPr wrap="square" rtlCol="0">
            <a:spAutoFit/>
          </a:bodyPr>
          <a:lstStyle/>
          <a:p>
            <a:pPr marL="171450" indent="-171450">
              <a:buFont typeface="Arial" panose="020B0604020202020204" pitchFamily="34" charset="0"/>
              <a:buChar char="•"/>
            </a:pPr>
            <a:r>
              <a:rPr lang="zh-TW" altLang="en-US" sz="1400"/>
              <a:t>檢索 </a:t>
            </a:r>
            <a:r>
              <a:rPr lang="en-US" altLang="zh-TW" sz="1400"/>
              <a:t>: 3600/</a:t>
            </a:r>
            <a:r>
              <a:rPr lang="zh-TW" altLang="en-US" sz="1400"/>
              <a:t>月</a:t>
            </a:r>
            <a:endParaRPr lang="en-US" altLang="zh-TW" sz="1400"/>
          </a:p>
          <a:p>
            <a:pPr marL="171450" indent="-171450">
              <a:buFont typeface="Arial" panose="020B0604020202020204" pitchFamily="34" charset="0"/>
              <a:buChar char="•"/>
            </a:pPr>
            <a:r>
              <a:rPr lang="zh-TW" altLang="en-US" sz="1400"/>
              <a:t>生成 </a:t>
            </a:r>
            <a:r>
              <a:rPr lang="en-US" altLang="zh-TW" sz="1400"/>
              <a:t>:</a:t>
            </a:r>
            <a:r>
              <a:rPr lang="zh-TW" altLang="en-US" sz="1400"/>
              <a:t> </a:t>
            </a:r>
            <a:r>
              <a:rPr lang="en-US" altLang="zh-TW" sz="1400"/>
              <a:t>NT</a:t>
            </a:r>
            <a:r>
              <a:rPr lang="zh-TW" altLang="en-US" sz="1400"/>
              <a:t> </a:t>
            </a:r>
            <a:r>
              <a:rPr lang="en-US" altLang="zh-TW" sz="1400"/>
              <a:t>$</a:t>
            </a:r>
            <a:r>
              <a:rPr lang="zh-TW" altLang="en-US" sz="1400"/>
              <a:t> </a:t>
            </a:r>
            <a:r>
              <a:rPr lang="en-US" altLang="zh-TW" sz="1400"/>
              <a:t>1</a:t>
            </a:r>
            <a:r>
              <a:rPr lang="zh-TW" altLang="en-US" sz="1400"/>
              <a:t>元</a:t>
            </a:r>
            <a:endParaRPr lang="en-US" altLang="zh-TW" sz="1400"/>
          </a:p>
          <a:p>
            <a:pPr marL="171450" indent="-171450">
              <a:buFont typeface="Arial" panose="020B0604020202020204" pitchFamily="34" charset="0"/>
              <a:buChar char="•"/>
            </a:pPr>
            <a:r>
              <a:rPr lang="en-US" altLang="zh-TW" sz="1400">
                <a:solidFill>
                  <a:srgbClr val="FF0000"/>
                </a:solidFill>
              </a:rPr>
              <a:t>Copilot Studio :</a:t>
            </a:r>
            <a:r>
              <a:rPr lang="zh-TW" altLang="en-US" sz="1400">
                <a:solidFill>
                  <a:srgbClr val="FF0000"/>
                </a:solidFill>
              </a:rPr>
              <a:t> </a:t>
            </a:r>
            <a:endParaRPr lang="en-US" altLang="zh-TW" sz="1400">
              <a:solidFill>
                <a:srgbClr val="FF0000"/>
              </a:solidFill>
            </a:endParaRPr>
          </a:p>
        </p:txBody>
      </p:sp>
      <p:sp>
        <p:nvSpPr>
          <p:cNvPr id="15" name="文字方塊 14">
            <a:extLst>
              <a:ext uri="{FF2B5EF4-FFF2-40B4-BE49-F238E27FC236}">
                <a16:creationId xmlns:a16="http://schemas.microsoft.com/office/drawing/2014/main" id="{415178D0-B3A0-978F-47E2-CB92B9907E81}"/>
              </a:ext>
            </a:extLst>
          </p:cNvPr>
          <p:cNvSpPr txBox="1"/>
          <p:nvPr/>
        </p:nvSpPr>
        <p:spPr>
          <a:xfrm>
            <a:off x="1101463" y="2082976"/>
            <a:ext cx="1619510" cy="307777"/>
          </a:xfrm>
          <a:prstGeom prst="rect">
            <a:avLst/>
          </a:prstGeom>
          <a:noFill/>
        </p:spPr>
        <p:txBody>
          <a:bodyPr wrap="square">
            <a:spAutoFit/>
          </a:bodyPr>
          <a:lstStyle/>
          <a:p>
            <a:pPr marL="171450" indent="-171450">
              <a:buFont typeface="Arial" panose="020B0604020202020204" pitchFamily="34" charset="0"/>
              <a:buChar char="•"/>
            </a:pPr>
            <a:r>
              <a:rPr lang="zh-TW" altLang="en-US" sz="1400"/>
              <a:t>非結構化文件</a:t>
            </a:r>
          </a:p>
        </p:txBody>
      </p:sp>
      <p:sp>
        <p:nvSpPr>
          <p:cNvPr id="89" name="矩形: 圓角 88">
            <a:extLst>
              <a:ext uri="{FF2B5EF4-FFF2-40B4-BE49-F238E27FC236}">
                <a16:creationId xmlns:a16="http://schemas.microsoft.com/office/drawing/2014/main" id="{CDDBD922-14B3-6B3A-DE96-2A743A479EFB}"/>
              </a:ext>
            </a:extLst>
          </p:cNvPr>
          <p:cNvSpPr/>
          <p:nvPr/>
        </p:nvSpPr>
        <p:spPr>
          <a:xfrm>
            <a:off x="3180469" y="547937"/>
            <a:ext cx="8383624" cy="290588"/>
          </a:xfrm>
          <a:prstGeom prst="round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kumimoji="0" lang="zh-TW" altLang="en-US" sz="1400" b="1"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rPr>
              <a:t>檢索及生成</a:t>
            </a:r>
          </a:p>
        </p:txBody>
      </p:sp>
      <p:sp>
        <p:nvSpPr>
          <p:cNvPr id="91" name="矩形: 圓角 90">
            <a:extLst>
              <a:ext uri="{FF2B5EF4-FFF2-40B4-BE49-F238E27FC236}">
                <a16:creationId xmlns:a16="http://schemas.microsoft.com/office/drawing/2014/main" id="{B93D7EF3-472C-6DC6-BD63-3DAAF238FCB3}"/>
              </a:ext>
            </a:extLst>
          </p:cNvPr>
          <p:cNvSpPr/>
          <p:nvPr/>
        </p:nvSpPr>
        <p:spPr>
          <a:xfrm>
            <a:off x="6004377" y="883881"/>
            <a:ext cx="5599246" cy="409973"/>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endParaRPr kumimoji="0" lang="zh-TW" altLang="en-US" sz="1400" b="1" i="0" u="none" strike="noStrike" kern="1200" cap="none" spc="0" normalizeH="0" baseline="0" noProof="0">
              <a:ln>
                <a:noFill/>
              </a:ln>
              <a:solidFill>
                <a:prstClr val="white"/>
              </a:solidFill>
              <a:effectLst/>
              <a:uLnTx/>
              <a:uFillTx/>
              <a:latin typeface="Arial" panose="020B0604020202020204"/>
              <a:ea typeface="微軟正黑體" panose="020B0604030504040204" pitchFamily="34" charset="-120"/>
              <a:cs typeface="+mn-cs"/>
            </a:endParaRPr>
          </a:p>
        </p:txBody>
      </p:sp>
      <p:sp>
        <p:nvSpPr>
          <p:cNvPr id="93" name="文字方塊 92">
            <a:extLst>
              <a:ext uri="{FF2B5EF4-FFF2-40B4-BE49-F238E27FC236}">
                <a16:creationId xmlns:a16="http://schemas.microsoft.com/office/drawing/2014/main" id="{BF7A3E0E-644C-09D2-21C3-B07285D95C6B}"/>
              </a:ext>
            </a:extLst>
          </p:cNvPr>
          <p:cNvSpPr txBox="1"/>
          <p:nvPr/>
        </p:nvSpPr>
        <p:spPr>
          <a:xfrm>
            <a:off x="11360053" y="975001"/>
            <a:ext cx="99556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srgbClr val="FF0000"/>
                </a:solidFill>
                <a:latin typeface="Arial" panose="020B0604020202020204"/>
                <a:ea typeface="微軟正黑體" panose="020B0604030504040204" pitchFamily="34" charset="-120"/>
              </a:rPr>
              <a:t>非</a:t>
            </a:r>
            <a:r>
              <a:rPr lang="en-US" altLang="zh-TW" sz="1400">
                <a:solidFill>
                  <a:srgbClr val="FF0000"/>
                </a:solidFill>
                <a:latin typeface="Arial" panose="020B0604020202020204"/>
                <a:ea typeface="微軟正黑體" panose="020B0604030504040204" pitchFamily="34" charset="-120"/>
              </a:rPr>
              <a:t>QA</a:t>
            </a:r>
          </a:p>
        </p:txBody>
      </p:sp>
      <p:cxnSp>
        <p:nvCxnSpPr>
          <p:cNvPr id="95" name="直線接點 94">
            <a:extLst>
              <a:ext uri="{FF2B5EF4-FFF2-40B4-BE49-F238E27FC236}">
                <a16:creationId xmlns:a16="http://schemas.microsoft.com/office/drawing/2014/main" id="{E7E46608-87DF-B415-8217-AD89B55140A0}"/>
              </a:ext>
            </a:extLst>
          </p:cNvPr>
          <p:cNvCxnSpPr>
            <a:cxnSpLocks/>
          </p:cNvCxnSpPr>
          <p:nvPr/>
        </p:nvCxnSpPr>
        <p:spPr>
          <a:xfrm flipH="1" flipV="1">
            <a:off x="335246" y="1325039"/>
            <a:ext cx="11228847" cy="39656"/>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03" name="文字方塊 102">
            <a:extLst>
              <a:ext uri="{FF2B5EF4-FFF2-40B4-BE49-F238E27FC236}">
                <a16:creationId xmlns:a16="http://schemas.microsoft.com/office/drawing/2014/main" id="{78A9F0D5-B983-1481-442C-B4A594C338A6}"/>
              </a:ext>
            </a:extLst>
          </p:cNvPr>
          <p:cNvSpPr txBox="1"/>
          <p:nvPr/>
        </p:nvSpPr>
        <p:spPr>
          <a:xfrm>
            <a:off x="315800" y="2659701"/>
            <a:ext cx="543739"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功能</a:t>
            </a:r>
            <a:endParaRPr lang="en-US" altLang="zh-TW" sz="1400">
              <a:solidFill>
                <a:prstClr val="black"/>
              </a:solidFill>
              <a:latin typeface="Arial" panose="020B0604020202020204"/>
              <a:ea typeface="微軟正黑體" panose="020B060403050404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限制</a:t>
            </a:r>
            <a:endParaRPr lang="en-US" altLang="zh-TW" sz="1400">
              <a:solidFill>
                <a:prstClr val="black"/>
              </a:solidFill>
              <a:latin typeface="Arial" panose="020B0604020202020204"/>
              <a:ea typeface="微軟正黑體" panose="020B0604030504040204" pitchFamily="34" charset="-120"/>
            </a:endParaRPr>
          </a:p>
        </p:txBody>
      </p:sp>
      <p:sp>
        <p:nvSpPr>
          <p:cNvPr id="105" name="文字方塊 104">
            <a:extLst>
              <a:ext uri="{FF2B5EF4-FFF2-40B4-BE49-F238E27FC236}">
                <a16:creationId xmlns:a16="http://schemas.microsoft.com/office/drawing/2014/main" id="{EF684A78-1A6C-7E82-B449-E3084064A183}"/>
              </a:ext>
            </a:extLst>
          </p:cNvPr>
          <p:cNvSpPr txBox="1"/>
          <p:nvPr/>
        </p:nvSpPr>
        <p:spPr>
          <a:xfrm>
            <a:off x="315800" y="3383038"/>
            <a:ext cx="543739"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技術</a:t>
            </a:r>
            <a:endParaRPr lang="en-US" altLang="zh-TW" sz="1400">
              <a:solidFill>
                <a:prstClr val="black"/>
              </a:solidFill>
              <a:latin typeface="Arial" panose="020B0604020202020204"/>
              <a:ea typeface="微軟正黑體" panose="020B0604030504040204"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400">
                <a:solidFill>
                  <a:prstClr val="black"/>
                </a:solidFill>
                <a:latin typeface="Arial" panose="020B0604020202020204"/>
                <a:ea typeface="微軟正黑體" panose="020B0604030504040204" pitchFamily="34" charset="-120"/>
              </a:rPr>
              <a:t>架構</a:t>
            </a:r>
            <a:endParaRPr lang="en-US" altLang="zh-TW" sz="1400">
              <a:solidFill>
                <a:prstClr val="black"/>
              </a:solidFill>
              <a:latin typeface="Arial" panose="020B0604020202020204"/>
              <a:ea typeface="微軟正黑體" panose="020B0604030504040204" pitchFamily="34" charset="-120"/>
            </a:endParaRPr>
          </a:p>
        </p:txBody>
      </p:sp>
      <p:sp>
        <p:nvSpPr>
          <p:cNvPr id="107" name="文字方塊 106">
            <a:extLst>
              <a:ext uri="{FF2B5EF4-FFF2-40B4-BE49-F238E27FC236}">
                <a16:creationId xmlns:a16="http://schemas.microsoft.com/office/drawing/2014/main" id="{784B5FE2-BACE-C2B0-DBD5-E67B54D02202}"/>
              </a:ext>
            </a:extLst>
          </p:cNvPr>
          <p:cNvSpPr txBox="1"/>
          <p:nvPr/>
        </p:nvSpPr>
        <p:spPr>
          <a:xfrm>
            <a:off x="1092891" y="3352076"/>
            <a:ext cx="1619510" cy="523220"/>
          </a:xfrm>
          <a:prstGeom prst="rect">
            <a:avLst/>
          </a:prstGeom>
          <a:noFill/>
        </p:spPr>
        <p:txBody>
          <a:bodyPr wrap="square">
            <a:spAutoFit/>
          </a:bodyPr>
          <a:lstStyle/>
          <a:p>
            <a:pPr marL="171450" indent="-171450">
              <a:buFont typeface="Arial" panose="020B0604020202020204" pitchFamily="34" charset="0"/>
              <a:buChar char="•"/>
            </a:pPr>
            <a:r>
              <a:rPr lang="en-US" altLang="zh-TW" sz="1400"/>
              <a:t>Index : </a:t>
            </a:r>
            <a:r>
              <a:rPr lang="en-US" altLang="zh-TW" sz="1400" err="1"/>
              <a:t>vlm</a:t>
            </a:r>
            <a:endParaRPr lang="en-US" altLang="zh-TW" sz="1400"/>
          </a:p>
          <a:p>
            <a:pPr marL="171450" indent="-171450">
              <a:buFont typeface="Arial" panose="020B0604020202020204" pitchFamily="34" charset="0"/>
              <a:buChar char="•"/>
            </a:pPr>
            <a:r>
              <a:rPr lang="zh-TW" altLang="en-US" sz="1400"/>
              <a:t>檢索</a:t>
            </a:r>
            <a:r>
              <a:rPr lang="en-US" altLang="zh-TW" sz="1400"/>
              <a:t>:</a:t>
            </a:r>
            <a:r>
              <a:rPr lang="zh-TW" altLang="en-US" sz="1400"/>
              <a:t> </a:t>
            </a:r>
            <a:r>
              <a:rPr lang="en-US" altLang="zh-TW" sz="1400"/>
              <a:t>KM1.0</a:t>
            </a:r>
            <a:endParaRPr lang="zh-TW" altLang="en-US" sz="1400"/>
          </a:p>
        </p:txBody>
      </p:sp>
      <p:sp>
        <p:nvSpPr>
          <p:cNvPr id="109" name="文字方塊 108">
            <a:extLst>
              <a:ext uri="{FF2B5EF4-FFF2-40B4-BE49-F238E27FC236}">
                <a16:creationId xmlns:a16="http://schemas.microsoft.com/office/drawing/2014/main" id="{5A90750E-715C-ABF3-3ABA-EF6A38AE765B}"/>
              </a:ext>
            </a:extLst>
          </p:cNvPr>
          <p:cNvSpPr txBox="1"/>
          <p:nvPr/>
        </p:nvSpPr>
        <p:spPr>
          <a:xfrm>
            <a:off x="3247205" y="3398190"/>
            <a:ext cx="2226699" cy="523220"/>
          </a:xfrm>
          <a:prstGeom prst="rect">
            <a:avLst/>
          </a:prstGeom>
          <a:noFill/>
        </p:spPr>
        <p:txBody>
          <a:bodyPr wrap="square">
            <a:spAutoFit/>
          </a:bodyPr>
          <a:lstStyle/>
          <a:p>
            <a:pPr marL="171450" indent="-171450">
              <a:buFont typeface="Arial" panose="020B0604020202020204" pitchFamily="34" charset="0"/>
              <a:buChar char="•"/>
            </a:pPr>
            <a:r>
              <a:rPr lang="en-US" altLang="zh-TW" sz="1400"/>
              <a:t>Index</a:t>
            </a:r>
            <a:r>
              <a:rPr lang="zh-TW" altLang="en-US" sz="1400"/>
              <a:t>、檢索</a:t>
            </a:r>
            <a:r>
              <a:rPr lang="en-US" altLang="zh-TW" sz="1400"/>
              <a:t>:</a:t>
            </a:r>
            <a:r>
              <a:rPr lang="zh-TW" altLang="en-US" sz="1400"/>
              <a:t> </a:t>
            </a:r>
            <a:r>
              <a:rPr lang="en-US" altLang="zh-TW" sz="1400"/>
              <a:t>AI Search</a:t>
            </a:r>
          </a:p>
          <a:p>
            <a:pPr marL="171450" indent="-171450">
              <a:buFont typeface="Arial" panose="020B0604020202020204" pitchFamily="34" charset="0"/>
              <a:buChar char="•"/>
            </a:pPr>
            <a:r>
              <a:rPr lang="zh-TW" altLang="en-US" sz="1400"/>
              <a:t>生成 </a:t>
            </a:r>
            <a:r>
              <a:rPr lang="en-US" altLang="zh-TW" sz="1400"/>
              <a:t>:</a:t>
            </a:r>
            <a:r>
              <a:rPr lang="zh-TW" altLang="en-US" sz="1400"/>
              <a:t> </a:t>
            </a:r>
            <a:r>
              <a:rPr lang="en-US" altLang="zh-TW" sz="1400"/>
              <a:t>AOAI</a:t>
            </a:r>
            <a:endParaRPr lang="zh-TW" altLang="en-US" sz="1400"/>
          </a:p>
        </p:txBody>
      </p:sp>
      <p:sp>
        <p:nvSpPr>
          <p:cNvPr id="111" name="文字方塊 110">
            <a:extLst>
              <a:ext uri="{FF2B5EF4-FFF2-40B4-BE49-F238E27FC236}">
                <a16:creationId xmlns:a16="http://schemas.microsoft.com/office/drawing/2014/main" id="{C1021E82-24FD-8FE1-EC97-D964F0AC9994}"/>
              </a:ext>
            </a:extLst>
          </p:cNvPr>
          <p:cNvSpPr txBox="1"/>
          <p:nvPr/>
        </p:nvSpPr>
        <p:spPr>
          <a:xfrm>
            <a:off x="6078635" y="3372542"/>
            <a:ext cx="2042552" cy="523220"/>
          </a:xfrm>
          <a:prstGeom prst="rect">
            <a:avLst/>
          </a:prstGeom>
          <a:noFill/>
        </p:spPr>
        <p:txBody>
          <a:bodyPr wrap="square">
            <a:spAutoFit/>
          </a:bodyPr>
          <a:lstStyle/>
          <a:p>
            <a:pPr marL="171450" indent="-171450">
              <a:buFont typeface="Arial" panose="020B0604020202020204" pitchFamily="34" charset="0"/>
              <a:buChar char="•"/>
            </a:pPr>
            <a:r>
              <a:rPr lang="en-US" altLang="zh-TW" sz="1400"/>
              <a:t>Index : </a:t>
            </a:r>
            <a:r>
              <a:rPr lang="en-US" altLang="zh-TW" sz="1400" err="1"/>
              <a:t>vlm</a:t>
            </a:r>
            <a:endParaRPr lang="en-US" altLang="zh-TW" sz="1400">
              <a:latin typeface="+mj-ea"/>
              <a:ea typeface="+mj-ea"/>
            </a:endParaRPr>
          </a:p>
          <a:p>
            <a:pPr marL="171450" indent="-171450">
              <a:buFont typeface="Arial" panose="020B0604020202020204" pitchFamily="34" charset="0"/>
              <a:buChar char="•"/>
            </a:pPr>
            <a:r>
              <a:rPr lang="zh-TW" altLang="en-US" sz="1400">
                <a:latin typeface="+mj-ea"/>
                <a:ea typeface="+mj-ea"/>
              </a:rPr>
              <a:t>生成、檢索</a:t>
            </a:r>
            <a:r>
              <a:rPr lang="en-US" altLang="zh-TW" sz="1400">
                <a:latin typeface="+mj-ea"/>
                <a:ea typeface="+mj-ea"/>
              </a:rPr>
              <a:t>:</a:t>
            </a:r>
            <a:r>
              <a:rPr lang="zh-TW" altLang="en-US" sz="1400">
                <a:latin typeface="+mj-ea"/>
                <a:ea typeface="+mj-ea"/>
              </a:rPr>
              <a:t> </a:t>
            </a:r>
            <a:r>
              <a:rPr lang="en-US" altLang="zh-TW" sz="1400">
                <a:latin typeface="+mj-ea"/>
                <a:ea typeface="+mj-ea"/>
              </a:rPr>
              <a:t>KM2.0</a:t>
            </a:r>
          </a:p>
        </p:txBody>
      </p:sp>
      <p:sp>
        <p:nvSpPr>
          <p:cNvPr id="113" name="文字方塊 112">
            <a:extLst>
              <a:ext uri="{FF2B5EF4-FFF2-40B4-BE49-F238E27FC236}">
                <a16:creationId xmlns:a16="http://schemas.microsoft.com/office/drawing/2014/main" id="{AC79E517-4099-D71D-5BC4-1834A510D3E9}"/>
              </a:ext>
            </a:extLst>
          </p:cNvPr>
          <p:cNvSpPr txBox="1"/>
          <p:nvPr/>
        </p:nvSpPr>
        <p:spPr>
          <a:xfrm>
            <a:off x="8893580" y="3516229"/>
            <a:ext cx="1619510" cy="307777"/>
          </a:xfrm>
          <a:prstGeom prst="rect">
            <a:avLst/>
          </a:prstGeom>
          <a:noFill/>
        </p:spPr>
        <p:txBody>
          <a:bodyPr wrap="square">
            <a:spAutoFit/>
          </a:bodyPr>
          <a:lstStyle/>
          <a:p>
            <a:pPr marL="171450" indent="-171450">
              <a:buFont typeface="Arial" panose="020B0604020202020204" pitchFamily="34" charset="0"/>
              <a:buChar char="•"/>
            </a:pPr>
            <a:r>
              <a:rPr lang="zh-TW" altLang="en-US" sz="1400"/>
              <a:t>逐案討論</a:t>
            </a:r>
            <a:endParaRPr lang="en-US" altLang="zh-TW" sz="1400"/>
          </a:p>
        </p:txBody>
      </p:sp>
      <p:cxnSp>
        <p:nvCxnSpPr>
          <p:cNvPr id="115" name="直線接點 114">
            <a:extLst>
              <a:ext uri="{FF2B5EF4-FFF2-40B4-BE49-F238E27FC236}">
                <a16:creationId xmlns:a16="http://schemas.microsoft.com/office/drawing/2014/main" id="{64469261-B99A-9E38-7337-F417F5EE5136}"/>
              </a:ext>
            </a:extLst>
          </p:cNvPr>
          <p:cNvCxnSpPr>
            <a:cxnSpLocks/>
          </p:cNvCxnSpPr>
          <p:nvPr/>
        </p:nvCxnSpPr>
        <p:spPr>
          <a:xfrm>
            <a:off x="332742" y="2548647"/>
            <a:ext cx="11280369"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7" name="直線接點 116">
            <a:extLst>
              <a:ext uri="{FF2B5EF4-FFF2-40B4-BE49-F238E27FC236}">
                <a16:creationId xmlns:a16="http://schemas.microsoft.com/office/drawing/2014/main" id="{EC15DBB3-01DF-B369-9A38-1E7A86D0BFD5}"/>
              </a:ext>
            </a:extLst>
          </p:cNvPr>
          <p:cNvCxnSpPr>
            <a:cxnSpLocks/>
          </p:cNvCxnSpPr>
          <p:nvPr/>
        </p:nvCxnSpPr>
        <p:spPr>
          <a:xfrm>
            <a:off x="353691" y="3283228"/>
            <a:ext cx="11280369"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8" name="直線接點 117">
            <a:extLst>
              <a:ext uri="{FF2B5EF4-FFF2-40B4-BE49-F238E27FC236}">
                <a16:creationId xmlns:a16="http://schemas.microsoft.com/office/drawing/2014/main" id="{E83D1BBF-F044-6271-8543-5BD46697E442}"/>
              </a:ext>
            </a:extLst>
          </p:cNvPr>
          <p:cNvCxnSpPr>
            <a:cxnSpLocks/>
          </p:cNvCxnSpPr>
          <p:nvPr/>
        </p:nvCxnSpPr>
        <p:spPr>
          <a:xfrm>
            <a:off x="352735" y="3997167"/>
            <a:ext cx="11280369"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9" name="直線接點 118">
            <a:extLst>
              <a:ext uri="{FF2B5EF4-FFF2-40B4-BE49-F238E27FC236}">
                <a16:creationId xmlns:a16="http://schemas.microsoft.com/office/drawing/2014/main" id="{B12E729E-1647-9BCB-F875-94B0E798BF6C}"/>
              </a:ext>
            </a:extLst>
          </p:cNvPr>
          <p:cNvCxnSpPr>
            <a:cxnSpLocks/>
          </p:cNvCxnSpPr>
          <p:nvPr/>
        </p:nvCxnSpPr>
        <p:spPr>
          <a:xfrm>
            <a:off x="363726" y="4520387"/>
            <a:ext cx="11280369"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2" name="直線接點 121">
            <a:extLst>
              <a:ext uri="{FF2B5EF4-FFF2-40B4-BE49-F238E27FC236}">
                <a16:creationId xmlns:a16="http://schemas.microsoft.com/office/drawing/2014/main" id="{2245205B-C97B-49ED-9AEA-C5BDF96906C5}"/>
              </a:ext>
            </a:extLst>
          </p:cNvPr>
          <p:cNvCxnSpPr>
            <a:cxnSpLocks/>
          </p:cNvCxnSpPr>
          <p:nvPr/>
        </p:nvCxnSpPr>
        <p:spPr>
          <a:xfrm>
            <a:off x="345747" y="5736820"/>
            <a:ext cx="11280369"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6900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D4265-236E-C429-6924-1A30063BDFBD}"/>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7D675372-3FD2-7B40-BD23-E155D454216E}"/>
              </a:ext>
            </a:extLst>
          </p:cNvPr>
          <p:cNvSpPr txBox="1">
            <a:spLocks/>
          </p:cNvSpPr>
          <p:nvPr/>
        </p:nvSpPr>
        <p:spPr>
          <a:xfrm>
            <a:off x="444643" y="88053"/>
            <a:ext cx="11191300" cy="6012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baseline="0">
                <a:solidFill>
                  <a:srgbClr val="008FC7"/>
                </a:solidFill>
                <a:latin typeface="Arial" panose="020B0604020202020204" pitchFamily="34" charset="0"/>
                <a:ea typeface="微軟正黑體" panose="020B0604030504040204" pitchFamily="34" charset="-120"/>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TW" altLang="en-US" sz="2800">
                <a:latin typeface="微軟正黑體" panose="020B0604030504040204" pitchFamily="34" charset="-120"/>
              </a:rPr>
              <a:t>全行知識檢索導入方式</a:t>
            </a:r>
            <a:endParaRPr kumimoji="0" lang="zh-TW" altLang="en-US" sz="2800" b="1" i="0" u="none" strike="noStrike" kern="1200" cap="none" spc="0" normalizeH="0" baseline="0" noProof="0">
              <a:ln>
                <a:noFill/>
              </a:ln>
              <a:solidFill>
                <a:srgbClr val="008FC7"/>
              </a:solidFill>
              <a:effectLst/>
              <a:uLnTx/>
              <a:uFillTx/>
              <a:latin typeface="微軟正黑體" panose="020B0604030504040204" pitchFamily="34" charset="-120"/>
              <a:ea typeface="微軟正黑體" panose="020B0604030504040204" pitchFamily="34" charset="-120"/>
              <a:cs typeface="+mj-cs"/>
            </a:endParaRPr>
          </a:p>
        </p:txBody>
      </p:sp>
      <p:sp>
        <p:nvSpPr>
          <p:cNvPr id="4" name="矩形 3">
            <a:extLst>
              <a:ext uri="{FF2B5EF4-FFF2-40B4-BE49-F238E27FC236}">
                <a16:creationId xmlns:a16="http://schemas.microsoft.com/office/drawing/2014/main" id="{9DB954CD-C589-BE80-56BE-47E9303F0F94}"/>
              </a:ext>
            </a:extLst>
          </p:cNvPr>
          <p:cNvSpPr/>
          <p:nvPr/>
        </p:nvSpPr>
        <p:spPr>
          <a:xfrm>
            <a:off x="837066" y="1686850"/>
            <a:ext cx="651012" cy="501127"/>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TW" altLang="en-US" sz="1200">
                <a:solidFill>
                  <a:schemeClr val="tx1"/>
                </a:solidFill>
                <a:latin typeface="+mj-ea"/>
                <a:ea typeface="+mj-ea"/>
              </a:rPr>
              <a:t>提需求</a:t>
            </a:r>
            <a:endParaRPr kumimoji="0" lang="zh-TW" altLang="en-US" sz="1200" i="0" u="none" strike="noStrike" kern="1200" cap="none" spc="0" normalizeH="0" baseline="0" noProof="0">
              <a:ln>
                <a:noFill/>
              </a:ln>
              <a:solidFill>
                <a:schemeClr val="tx1"/>
              </a:solidFill>
              <a:effectLst/>
              <a:uLnTx/>
              <a:uFillTx/>
              <a:latin typeface="+mj-ea"/>
              <a:ea typeface="+mj-ea"/>
              <a:cs typeface="+mn-cs"/>
            </a:endParaRPr>
          </a:p>
        </p:txBody>
      </p:sp>
      <p:sp>
        <p:nvSpPr>
          <p:cNvPr id="6" name="矩形 5">
            <a:extLst>
              <a:ext uri="{FF2B5EF4-FFF2-40B4-BE49-F238E27FC236}">
                <a16:creationId xmlns:a16="http://schemas.microsoft.com/office/drawing/2014/main" id="{5748E4F8-9042-33BF-4177-B39274A4092B}"/>
              </a:ext>
            </a:extLst>
          </p:cNvPr>
          <p:cNvSpPr/>
          <p:nvPr/>
        </p:nvSpPr>
        <p:spPr>
          <a:xfrm>
            <a:off x="1559550" y="1686850"/>
            <a:ext cx="591167" cy="501127"/>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tabLst/>
              <a:defRPr/>
            </a:pPr>
            <a:r>
              <a:rPr kumimoji="0" lang="zh-TW" altLang="en-US" sz="1200" i="0" u="none" strike="noStrike" kern="1200" cap="none" spc="0" normalizeH="0" baseline="0" noProof="0">
                <a:ln>
                  <a:noFill/>
                </a:ln>
                <a:solidFill>
                  <a:schemeClr val="tx1"/>
                </a:solidFill>
                <a:effectLst/>
                <a:uLnTx/>
                <a:uFillTx/>
                <a:latin typeface="+mj-ea"/>
                <a:ea typeface="+mj-ea"/>
                <a:cs typeface="+mn-cs"/>
              </a:rPr>
              <a:t>評估</a:t>
            </a:r>
            <a:endParaRPr kumimoji="0" lang="zh-TW" altLang="en-US" sz="1000" i="0" u="none" strike="noStrike" kern="1200" cap="none" spc="0" normalizeH="0" baseline="0" noProof="0">
              <a:ln>
                <a:noFill/>
              </a:ln>
              <a:solidFill>
                <a:schemeClr val="tx1"/>
              </a:solidFill>
              <a:effectLst/>
              <a:uLnTx/>
              <a:uFillTx/>
              <a:latin typeface="+mj-ea"/>
              <a:ea typeface="+mj-ea"/>
              <a:cs typeface="+mn-cs"/>
            </a:endParaRPr>
          </a:p>
        </p:txBody>
      </p:sp>
      <p:sp>
        <p:nvSpPr>
          <p:cNvPr id="10" name="矩形 9">
            <a:extLst>
              <a:ext uri="{FF2B5EF4-FFF2-40B4-BE49-F238E27FC236}">
                <a16:creationId xmlns:a16="http://schemas.microsoft.com/office/drawing/2014/main" id="{0D8D2382-9252-F25F-FEE6-D1BFD93A99C7}"/>
              </a:ext>
            </a:extLst>
          </p:cNvPr>
          <p:cNvSpPr/>
          <p:nvPr/>
        </p:nvSpPr>
        <p:spPr>
          <a:xfrm>
            <a:off x="2229544" y="1686850"/>
            <a:ext cx="790244" cy="501127"/>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TW" sz="1200">
                <a:solidFill>
                  <a:schemeClr val="tx1"/>
                </a:solidFill>
                <a:latin typeface="+mj-ea"/>
              </a:rPr>
              <a:t>PoC</a:t>
            </a:r>
            <a:r>
              <a:rPr lang="zh-TW" altLang="en-US" sz="1200">
                <a:solidFill>
                  <a:schemeClr val="tx1"/>
                </a:solidFill>
                <a:latin typeface="+mj-ea"/>
              </a:rPr>
              <a:t>規劃</a:t>
            </a:r>
            <a:endParaRPr kumimoji="0" lang="zh-TW" altLang="en-US" sz="1200" i="0" u="none" strike="noStrike" kern="1200" cap="none" spc="0" normalizeH="0" baseline="0" noProof="0">
              <a:ln>
                <a:noFill/>
              </a:ln>
              <a:solidFill>
                <a:schemeClr val="tx1"/>
              </a:solidFill>
              <a:effectLst/>
              <a:uLnTx/>
              <a:uFillTx/>
              <a:latin typeface="+mj-ea"/>
              <a:ea typeface="+mj-ea"/>
              <a:cs typeface="+mn-cs"/>
            </a:endParaRPr>
          </a:p>
        </p:txBody>
      </p:sp>
      <p:sp>
        <p:nvSpPr>
          <p:cNvPr id="12" name="矩形 11">
            <a:extLst>
              <a:ext uri="{FF2B5EF4-FFF2-40B4-BE49-F238E27FC236}">
                <a16:creationId xmlns:a16="http://schemas.microsoft.com/office/drawing/2014/main" id="{EBCDCDD5-D188-1180-8DE5-9B095ADA4181}"/>
              </a:ext>
            </a:extLst>
          </p:cNvPr>
          <p:cNvSpPr/>
          <p:nvPr/>
        </p:nvSpPr>
        <p:spPr>
          <a:xfrm>
            <a:off x="3076379" y="1687147"/>
            <a:ext cx="832257" cy="501127"/>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tabLst/>
              <a:defRPr/>
            </a:pPr>
            <a:r>
              <a:rPr lang="en-US" altLang="zh-TW" sz="1200">
                <a:solidFill>
                  <a:schemeClr val="tx1"/>
                </a:solidFill>
                <a:latin typeface="+mj-ea"/>
                <a:ea typeface="+mj-ea"/>
              </a:rPr>
              <a:t>PoC</a:t>
            </a:r>
            <a:r>
              <a:rPr lang="zh-TW" altLang="en-US" sz="1200">
                <a:solidFill>
                  <a:schemeClr val="tx1"/>
                </a:solidFill>
                <a:latin typeface="+mj-ea"/>
                <a:ea typeface="+mj-ea"/>
              </a:rPr>
              <a:t>驗測</a:t>
            </a:r>
            <a:endParaRPr kumimoji="0" lang="zh-TW" altLang="en-US" sz="1200" i="0" u="none" strike="noStrike" kern="1200" cap="none" spc="0" normalizeH="0" baseline="0" noProof="0">
              <a:ln>
                <a:noFill/>
              </a:ln>
              <a:solidFill>
                <a:schemeClr val="tx1"/>
              </a:solidFill>
              <a:effectLst/>
              <a:uLnTx/>
              <a:uFillTx/>
              <a:latin typeface="+mj-ea"/>
              <a:ea typeface="+mj-ea"/>
              <a:cs typeface="+mn-cs"/>
            </a:endParaRPr>
          </a:p>
        </p:txBody>
      </p:sp>
      <p:sp>
        <p:nvSpPr>
          <p:cNvPr id="16" name="矩形 15">
            <a:extLst>
              <a:ext uri="{FF2B5EF4-FFF2-40B4-BE49-F238E27FC236}">
                <a16:creationId xmlns:a16="http://schemas.microsoft.com/office/drawing/2014/main" id="{56F459E4-C0FA-E462-B5CB-CBDFDFA7B01F}"/>
              </a:ext>
            </a:extLst>
          </p:cNvPr>
          <p:cNvSpPr/>
          <p:nvPr/>
        </p:nvSpPr>
        <p:spPr>
          <a:xfrm>
            <a:off x="4748682" y="1686850"/>
            <a:ext cx="651013" cy="501127"/>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TW" altLang="en-US" sz="1200">
                <a:solidFill>
                  <a:schemeClr val="tx1"/>
                </a:solidFill>
                <a:latin typeface="+mj-ea"/>
              </a:rPr>
              <a:t>建立帳號環境</a:t>
            </a:r>
            <a:endParaRPr kumimoji="0" lang="zh-TW" altLang="en-US" sz="1200" i="0" u="none" strike="noStrike" kern="1200" cap="none" spc="0" normalizeH="0" baseline="0" noProof="0">
              <a:ln>
                <a:noFill/>
              </a:ln>
              <a:solidFill>
                <a:schemeClr val="tx1"/>
              </a:solidFill>
              <a:effectLst/>
              <a:uLnTx/>
              <a:uFillTx/>
              <a:latin typeface="+mj-ea"/>
              <a:ea typeface="+mj-ea"/>
              <a:cs typeface="+mn-cs"/>
            </a:endParaRPr>
          </a:p>
        </p:txBody>
      </p:sp>
      <p:sp>
        <p:nvSpPr>
          <p:cNvPr id="18" name="矩形 17">
            <a:extLst>
              <a:ext uri="{FF2B5EF4-FFF2-40B4-BE49-F238E27FC236}">
                <a16:creationId xmlns:a16="http://schemas.microsoft.com/office/drawing/2014/main" id="{FD08CA64-8BAA-3C2C-30FD-B5EC9E7CE336}"/>
              </a:ext>
            </a:extLst>
          </p:cNvPr>
          <p:cNvSpPr/>
          <p:nvPr/>
        </p:nvSpPr>
        <p:spPr>
          <a:xfrm>
            <a:off x="6415243" y="1693430"/>
            <a:ext cx="958517" cy="505023"/>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TW" altLang="en-US" sz="1200">
                <a:solidFill>
                  <a:schemeClr val="tx1"/>
                </a:solidFill>
                <a:latin typeface="+mj-ea"/>
              </a:rPr>
              <a:t>資料準備</a:t>
            </a:r>
            <a:endParaRPr kumimoji="0" lang="zh-TW" altLang="en-US" sz="1200" i="0" u="none" strike="noStrike" kern="1200" cap="none" spc="0" normalizeH="0" baseline="0" noProof="0">
              <a:ln>
                <a:noFill/>
              </a:ln>
              <a:solidFill>
                <a:schemeClr val="tx1"/>
              </a:solidFill>
              <a:effectLst/>
              <a:uLnTx/>
              <a:uFillTx/>
              <a:latin typeface="+mj-ea"/>
              <a:ea typeface="+mj-ea"/>
              <a:cs typeface="+mn-cs"/>
            </a:endParaRPr>
          </a:p>
        </p:txBody>
      </p:sp>
      <p:sp>
        <p:nvSpPr>
          <p:cNvPr id="22" name="矩形 21">
            <a:extLst>
              <a:ext uri="{FF2B5EF4-FFF2-40B4-BE49-F238E27FC236}">
                <a16:creationId xmlns:a16="http://schemas.microsoft.com/office/drawing/2014/main" id="{8FFE4D4F-36E2-A9BB-299E-4C714F3C8A7C}"/>
              </a:ext>
            </a:extLst>
          </p:cNvPr>
          <p:cNvSpPr/>
          <p:nvPr/>
        </p:nvSpPr>
        <p:spPr>
          <a:xfrm>
            <a:off x="5473763" y="1693430"/>
            <a:ext cx="828298" cy="494547"/>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TW" altLang="en-US" sz="1200">
                <a:solidFill>
                  <a:schemeClr val="tx1"/>
                </a:solidFill>
                <a:latin typeface="+mj-ea"/>
              </a:rPr>
              <a:t>開通權限</a:t>
            </a:r>
            <a:endParaRPr kumimoji="0" lang="zh-TW" altLang="en-US" sz="1200" i="0" u="none" strike="noStrike" kern="1200" cap="none" spc="0" normalizeH="0" baseline="0" noProof="0">
              <a:ln>
                <a:noFill/>
              </a:ln>
              <a:solidFill>
                <a:schemeClr val="tx1"/>
              </a:solidFill>
              <a:effectLst/>
              <a:uLnTx/>
              <a:uFillTx/>
              <a:latin typeface="+mj-ea"/>
              <a:ea typeface="+mj-ea"/>
              <a:cs typeface="+mn-cs"/>
            </a:endParaRPr>
          </a:p>
        </p:txBody>
      </p:sp>
      <p:sp>
        <p:nvSpPr>
          <p:cNvPr id="24" name="矩形 23">
            <a:extLst>
              <a:ext uri="{FF2B5EF4-FFF2-40B4-BE49-F238E27FC236}">
                <a16:creationId xmlns:a16="http://schemas.microsoft.com/office/drawing/2014/main" id="{E24A0C46-574D-A5E5-25B6-D5EEA5734B5A}"/>
              </a:ext>
            </a:extLst>
          </p:cNvPr>
          <p:cNvSpPr/>
          <p:nvPr/>
        </p:nvSpPr>
        <p:spPr>
          <a:xfrm>
            <a:off x="10909492" y="1683309"/>
            <a:ext cx="1076806" cy="501127"/>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TW" altLang="en-US" sz="1200">
                <a:solidFill>
                  <a:schemeClr val="tx1"/>
                </a:solidFill>
                <a:latin typeface="+mj-ea"/>
              </a:rPr>
              <a:t>成效追蹤</a:t>
            </a:r>
          </a:p>
        </p:txBody>
      </p:sp>
      <p:sp>
        <p:nvSpPr>
          <p:cNvPr id="26" name="矩形 25">
            <a:extLst>
              <a:ext uri="{FF2B5EF4-FFF2-40B4-BE49-F238E27FC236}">
                <a16:creationId xmlns:a16="http://schemas.microsoft.com/office/drawing/2014/main" id="{4C4D2303-589E-4AA7-EC66-D5681A19AE6E}"/>
              </a:ext>
            </a:extLst>
          </p:cNvPr>
          <p:cNvSpPr/>
          <p:nvPr/>
        </p:nvSpPr>
        <p:spPr>
          <a:xfrm>
            <a:off x="9323914" y="1690321"/>
            <a:ext cx="638542" cy="501127"/>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TW" altLang="en-US" sz="1200">
                <a:solidFill>
                  <a:schemeClr val="tx1"/>
                </a:solidFill>
                <a:latin typeface="+mj-ea"/>
              </a:rPr>
              <a:t>資料更新</a:t>
            </a:r>
          </a:p>
        </p:txBody>
      </p:sp>
      <p:sp>
        <p:nvSpPr>
          <p:cNvPr id="28" name="矩形 27">
            <a:extLst>
              <a:ext uri="{FF2B5EF4-FFF2-40B4-BE49-F238E27FC236}">
                <a16:creationId xmlns:a16="http://schemas.microsoft.com/office/drawing/2014/main" id="{D2CE3D95-ED0E-4E38-827E-ECABBB5E95A6}"/>
              </a:ext>
            </a:extLst>
          </p:cNvPr>
          <p:cNvSpPr/>
          <p:nvPr/>
        </p:nvSpPr>
        <p:spPr>
          <a:xfrm>
            <a:off x="10103860" y="1684111"/>
            <a:ext cx="664228" cy="507337"/>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TW" altLang="en-US" sz="1200">
                <a:solidFill>
                  <a:schemeClr val="tx1"/>
                </a:solidFill>
                <a:latin typeface="+mj-ea"/>
              </a:rPr>
              <a:t>平台維運</a:t>
            </a:r>
          </a:p>
        </p:txBody>
      </p:sp>
      <p:sp>
        <p:nvSpPr>
          <p:cNvPr id="32" name="矩形 31">
            <a:extLst>
              <a:ext uri="{FF2B5EF4-FFF2-40B4-BE49-F238E27FC236}">
                <a16:creationId xmlns:a16="http://schemas.microsoft.com/office/drawing/2014/main" id="{0C46AFD1-AFE0-7087-EE85-F8FE9C8209A7}"/>
              </a:ext>
            </a:extLst>
          </p:cNvPr>
          <p:cNvSpPr/>
          <p:nvPr/>
        </p:nvSpPr>
        <p:spPr>
          <a:xfrm>
            <a:off x="8513677" y="1696859"/>
            <a:ext cx="703483" cy="501127"/>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TW" sz="1200">
                <a:solidFill>
                  <a:schemeClr val="tx1"/>
                </a:solidFill>
                <a:latin typeface="+mj-ea"/>
              </a:rPr>
              <a:t>AI</a:t>
            </a:r>
            <a:r>
              <a:rPr lang="zh-TW" altLang="en-US" sz="1200">
                <a:solidFill>
                  <a:schemeClr val="tx1"/>
                </a:solidFill>
                <a:latin typeface="+mj-ea"/>
              </a:rPr>
              <a:t>治理</a:t>
            </a:r>
            <a:endParaRPr kumimoji="0" lang="zh-TW" altLang="en-US" sz="1200" i="0" u="none" strike="noStrike" kern="1200" cap="none" spc="0" normalizeH="0" baseline="0" noProof="0">
              <a:ln>
                <a:noFill/>
              </a:ln>
              <a:solidFill>
                <a:schemeClr val="tx1"/>
              </a:solidFill>
              <a:effectLst/>
              <a:uLnTx/>
              <a:uFillTx/>
              <a:latin typeface="+mj-ea"/>
              <a:ea typeface="+mj-ea"/>
              <a:cs typeface="+mn-cs"/>
            </a:endParaRPr>
          </a:p>
        </p:txBody>
      </p:sp>
      <p:grpSp>
        <p:nvGrpSpPr>
          <p:cNvPr id="239" name="群組 238">
            <a:extLst>
              <a:ext uri="{FF2B5EF4-FFF2-40B4-BE49-F238E27FC236}">
                <a16:creationId xmlns:a16="http://schemas.microsoft.com/office/drawing/2014/main" id="{5F446F3E-45AE-5B0E-14B5-571AFA53D3CF}"/>
              </a:ext>
            </a:extLst>
          </p:cNvPr>
          <p:cNvGrpSpPr/>
          <p:nvPr/>
        </p:nvGrpSpPr>
        <p:grpSpPr>
          <a:xfrm>
            <a:off x="837066" y="883814"/>
            <a:ext cx="11586265" cy="685477"/>
            <a:chOff x="837066" y="883814"/>
            <a:chExt cx="11586265" cy="685477"/>
          </a:xfrm>
        </p:grpSpPr>
        <p:sp>
          <p:nvSpPr>
            <p:cNvPr id="97" name="箭號: 五邊形 96">
              <a:extLst>
                <a:ext uri="{FF2B5EF4-FFF2-40B4-BE49-F238E27FC236}">
                  <a16:creationId xmlns:a16="http://schemas.microsoft.com/office/drawing/2014/main" id="{0008C63D-40AE-AE94-6018-A6866996D7FA}"/>
                </a:ext>
              </a:extLst>
            </p:cNvPr>
            <p:cNvSpPr/>
            <p:nvPr/>
          </p:nvSpPr>
          <p:spPr>
            <a:xfrm>
              <a:off x="837066" y="890647"/>
              <a:ext cx="1639434" cy="67864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sz="1400" b="1">
                  <a:latin typeface="+mn-ea"/>
                </a:rPr>
                <a:t>專案起動​</a:t>
              </a:r>
              <a:endParaRPr lang="zh-TW" altLang="zh-TW" sz="1400" b="1">
                <a:latin typeface="+mn-ea"/>
              </a:endParaRPr>
            </a:p>
          </p:txBody>
        </p:sp>
        <p:sp>
          <p:nvSpPr>
            <p:cNvPr id="98" name="箭號: ＞形 97">
              <a:extLst>
                <a:ext uri="{FF2B5EF4-FFF2-40B4-BE49-F238E27FC236}">
                  <a16:creationId xmlns:a16="http://schemas.microsoft.com/office/drawing/2014/main" id="{B75BB3B6-20CD-FE21-EE80-CCAE8058581A}"/>
                </a:ext>
              </a:extLst>
            </p:cNvPr>
            <p:cNvSpPr/>
            <p:nvPr/>
          </p:nvSpPr>
          <p:spPr>
            <a:xfrm>
              <a:off x="2187862" y="897573"/>
              <a:ext cx="1978271" cy="661721"/>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sz="1400" b="1">
                  <a:latin typeface="+mn-ea"/>
                </a:rPr>
                <a:t>專案及</a:t>
              </a:r>
              <a:r>
                <a:rPr lang="en-US" altLang="zh-TW" sz="1400" b="1">
                  <a:latin typeface="+mn-ea"/>
                </a:rPr>
                <a:t>PoC</a:t>
              </a:r>
              <a:r>
                <a:rPr lang="zh-TW" altLang="en-US" sz="1400" b="1">
                  <a:latin typeface="+mn-ea"/>
                </a:rPr>
                <a:t>​</a:t>
              </a:r>
            </a:p>
          </p:txBody>
        </p:sp>
        <p:sp>
          <p:nvSpPr>
            <p:cNvPr id="104" name="箭號: ＞形 103">
              <a:extLst>
                <a:ext uri="{FF2B5EF4-FFF2-40B4-BE49-F238E27FC236}">
                  <a16:creationId xmlns:a16="http://schemas.microsoft.com/office/drawing/2014/main" id="{76D69877-1B10-834D-784D-536CF196931B}"/>
                </a:ext>
              </a:extLst>
            </p:cNvPr>
            <p:cNvSpPr/>
            <p:nvPr/>
          </p:nvSpPr>
          <p:spPr>
            <a:xfrm>
              <a:off x="9323914" y="890647"/>
              <a:ext cx="1869866" cy="668659"/>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sz="1400" b="1">
                  <a:latin typeface="+mn-ea"/>
                </a:rPr>
                <a:t>上線</a:t>
              </a:r>
            </a:p>
          </p:txBody>
        </p:sp>
        <p:sp>
          <p:nvSpPr>
            <p:cNvPr id="185" name="箭號: ＞形 184">
              <a:extLst>
                <a:ext uri="{FF2B5EF4-FFF2-40B4-BE49-F238E27FC236}">
                  <a16:creationId xmlns:a16="http://schemas.microsoft.com/office/drawing/2014/main" id="{450CA562-B639-C2D8-238A-DD3C8BC3256A}"/>
                </a:ext>
              </a:extLst>
            </p:cNvPr>
            <p:cNvSpPr/>
            <p:nvPr/>
          </p:nvSpPr>
          <p:spPr>
            <a:xfrm>
              <a:off x="8426665" y="896724"/>
              <a:ext cx="1174531" cy="66258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sz="1400" b="1">
                  <a:latin typeface="+mn-ea"/>
                </a:rPr>
                <a:t>治理</a:t>
              </a:r>
            </a:p>
          </p:txBody>
        </p:sp>
        <p:sp>
          <p:nvSpPr>
            <p:cNvPr id="5" name="箭號: ＞形 4">
              <a:extLst>
                <a:ext uri="{FF2B5EF4-FFF2-40B4-BE49-F238E27FC236}">
                  <a16:creationId xmlns:a16="http://schemas.microsoft.com/office/drawing/2014/main" id="{0276F31B-EBB1-4FA3-B399-B7F0C591ADDA}"/>
                </a:ext>
              </a:extLst>
            </p:cNvPr>
            <p:cNvSpPr/>
            <p:nvPr/>
          </p:nvSpPr>
          <p:spPr>
            <a:xfrm>
              <a:off x="4788015" y="897578"/>
              <a:ext cx="3914023" cy="661725"/>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sz="1400" b="1">
                  <a:latin typeface="+mn-ea"/>
                </a:rPr>
                <a:t>導入階段</a:t>
              </a:r>
            </a:p>
          </p:txBody>
        </p:sp>
        <p:sp>
          <p:nvSpPr>
            <p:cNvPr id="11" name="箭號: ＞形 10">
              <a:extLst>
                <a:ext uri="{FF2B5EF4-FFF2-40B4-BE49-F238E27FC236}">
                  <a16:creationId xmlns:a16="http://schemas.microsoft.com/office/drawing/2014/main" id="{2C305B2A-BD48-368A-6CB8-16058E5EEFAF}"/>
                </a:ext>
              </a:extLst>
            </p:cNvPr>
            <p:cNvSpPr/>
            <p:nvPr/>
          </p:nvSpPr>
          <p:spPr>
            <a:xfrm>
              <a:off x="10909492" y="883814"/>
              <a:ext cx="1513839" cy="678408"/>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sz="1400" b="1">
                  <a:latin typeface="+mn-ea"/>
                </a:rPr>
                <a:t>專案監控</a:t>
              </a:r>
            </a:p>
          </p:txBody>
        </p:sp>
        <p:sp>
          <p:nvSpPr>
            <p:cNvPr id="154" name="箭號: ＞形 153">
              <a:extLst>
                <a:ext uri="{FF2B5EF4-FFF2-40B4-BE49-F238E27FC236}">
                  <a16:creationId xmlns:a16="http://schemas.microsoft.com/office/drawing/2014/main" id="{FF458D6E-AEE3-AAB1-172F-BDF14E65ADA3}"/>
                </a:ext>
              </a:extLst>
            </p:cNvPr>
            <p:cNvSpPr/>
            <p:nvPr/>
          </p:nvSpPr>
          <p:spPr>
            <a:xfrm>
              <a:off x="3902520" y="897575"/>
              <a:ext cx="1165537" cy="661724"/>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TW" altLang="en-US" sz="1400" b="1">
                  <a:latin typeface="+mn-ea"/>
                </a:rPr>
                <a:t>治理</a:t>
              </a:r>
            </a:p>
          </p:txBody>
        </p:sp>
      </p:grpSp>
      <p:sp>
        <p:nvSpPr>
          <p:cNvPr id="156" name="矩形 155">
            <a:extLst>
              <a:ext uri="{FF2B5EF4-FFF2-40B4-BE49-F238E27FC236}">
                <a16:creationId xmlns:a16="http://schemas.microsoft.com/office/drawing/2014/main" id="{8B71C8BA-1F61-7BEC-13D3-0FE8BCE8A5F4}"/>
              </a:ext>
            </a:extLst>
          </p:cNvPr>
          <p:cNvSpPr/>
          <p:nvPr/>
        </p:nvSpPr>
        <p:spPr>
          <a:xfrm>
            <a:off x="3973576" y="1686850"/>
            <a:ext cx="703483" cy="501127"/>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altLang="zh-TW" sz="1200">
                <a:solidFill>
                  <a:schemeClr val="tx1"/>
                </a:solidFill>
                <a:latin typeface="+mj-ea"/>
              </a:rPr>
              <a:t>AI</a:t>
            </a:r>
            <a:r>
              <a:rPr lang="zh-TW" altLang="en-US" sz="1200">
                <a:solidFill>
                  <a:schemeClr val="tx1"/>
                </a:solidFill>
                <a:latin typeface="+mj-ea"/>
              </a:rPr>
              <a:t>治理</a:t>
            </a:r>
            <a:endParaRPr kumimoji="0" lang="zh-TW" altLang="en-US" sz="1200" i="0" u="none" strike="noStrike" kern="1200" cap="none" spc="0" normalizeH="0" baseline="0" noProof="0">
              <a:ln>
                <a:noFill/>
              </a:ln>
              <a:solidFill>
                <a:schemeClr val="tx1"/>
              </a:solidFill>
              <a:effectLst/>
              <a:uLnTx/>
              <a:uFillTx/>
              <a:latin typeface="+mj-ea"/>
              <a:ea typeface="+mj-ea"/>
              <a:cs typeface="+mn-cs"/>
            </a:endParaRPr>
          </a:p>
        </p:txBody>
      </p:sp>
      <p:grpSp>
        <p:nvGrpSpPr>
          <p:cNvPr id="237" name="群組 236">
            <a:extLst>
              <a:ext uri="{FF2B5EF4-FFF2-40B4-BE49-F238E27FC236}">
                <a16:creationId xmlns:a16="http://schemas.microsoft.com/office/drawing/2014/main" id="{D713D266-D6C2-3053-F823-C83747DA35C4}"/>
              </a:ext>
            </a:extLst>
          </p:cNvPr>
          <p:cNvGrpSpPr/>
          <p:nvPr/>
        </p:nvGrpSpPr>
        <p:grpSpPr>
          <a:xfrm>
            <a:off x="0" y="2295525"/>
            <a:ext cx="12098559" cy="4343400"/>
            <a:chOff x="0" y="1854073"/>
            <a:chExt cx="12098559" cy="4746752"/>
          </a:xfrm>
        </p:grpSpPr>
        <p:cxnSp>
          <p:nvCxnSpPr>
            <p:cNvPr id="39" name="直線接點 38">
              <a:extLst>
                <a:ext uri="{FF2B5EF4-FFF2-40B4-BE49-F238E27FC236}">
                  <a16:creationId xmlns:a16="http://schemas.microsoft.com/office/drawing/2014/main" id="{51B77610-1A19-9D4B-E4CE-D260B60F5837}"/>
                </a:ext>
              </a:extLst>
            </p:cNvPr>
            <p:cNvCxnSpPr>
              <a:cxnSpLocks/>
            </p:cNvCxnSpPr>
            <p:nvPr/>
          </p:nvCxnSpPr>
          <p:spPr>
            <a:xfrm flipV="1">
              <a:off x="2191903" y="1854073"/>
              <a:ext cx="0" cy="4746752"/>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836DA774-7F0A-558B-F853-937CDA42DD8C}"/>
                </a:ext>
              </a:extLst>
            </p:cNvPr>
            <p:cNvCxnSpPr>
              <a:cxnSpLocks/>
            </p:cNvCxnSpPr>
            <p:nvPr/>
          </p:nvCxnSpPr>
          <p:spPr>
            <a:xfrm flipV="1">
              <a:off x="3052532" y="1864999"/>
              <a:ext cx="0" cy="4735826"/>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48160AC5-4CD1-806C-93EB-48B61828AAFD}"/>
                </a:ext>
              </a:extLst>
            </p:cNvPr>
            <p:cNvCxnSpPr>
              <a:cxnSpLocks/>
            </p:cNvCxnSpPr>
            <p:nvPr/>
          </p:nvCxnSpPr>
          <p:spPr>
            <a:xfrm flipV="1">
              <a:off x="3940428" y="1864999"/>
              <a:ext cx="0" cy="4735826"/>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9" name="直線接點 48">
              <a:extLst>
                <a:ext uri="{FF2B5EF4-FFF2-40B4-BE49-F238E27FC236}">
                  <a16:creationId xmlns:a16="http://schemas.microsoft.com/office/drawing/2014/main" id="{30FFF8E4-B811-B0A8-C515-E3287BAECCFD}"/>
                </a:ext>
              </a:extLst>
            </p:cNvPr>
            <p:cNvCxnSpPr>
              <a:cxnSpLocks/>
            </p:cNvCxnSpPr>
            <p:nvPr/>
          </p:nvCxnSpPr>
          <p:spPr>
            <a:xfrm flipV="1">
              <a:off x="4695424" y="1864999"/>
              <a:ext cx="0" cy="4735826"/>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1" name="直線接點 50">
              <a:extLst>
                <a:ext uri="{FF2B5EF4-FFF2-40B4-BE49-F238E27FC236}">
                  <a16:creationId xmlns:a16="http://schemas.microsoft.com/office/drawing/2014/main" id="{1FE9A079-4C15-0E63-824E-FE7390F4E0C7}"/>
                </a:ext>
              </a:extLst>
            </p:cNvPr>
            <p:cNvCxnSpPr>
              <a:cxnSpLocks/>
            </p:cNvCxnSpPr>
            <p:nvPr/>
          </p:nvCxnSpPr>
          <p:spPr>
            <a:xfrm flipH="1" flipV="1">
              <a:off x="5457157" y="1864999"/>
              <a:ext cx="13260" cy="4735826"/>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3" name="直線接點 52">
              <a:extLst>
                <a:ext uri="{FF2B5EF4-FFF2-40B4-BE49-F238E27FC236}">
                  <a16:creationId xmlns:a16="http://schemas.microsoft.com/office/drawing/2014/main" id="{9003ED4F-B629-574F-86F1-D53FA98F984A}"/>
                </a:ext>
              </a:extLst>
            </p:cNvPr>
            <p:cNvCxnSpPr>
              <a:cxnSpLocks/>
            </p:cNvCxnSpPr>
            <p:nvPr/>
          </p:nvCxnSpPr>
          <p:spPr>
            <a:xfrm flipV="1">
              <a:off x="6333758" y="1864999"/>
              <a:ext cx="7297" cy="4735826"/>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4" name="直線接點 53">
              <a:extLst>
                <a:ext uri="{FF2B5EF4-FFF2-40B4-BE49-F238E27FC236}">
                  <a16:creationId xmlns:a16="http://schemas.microsoft.com/office/drawing/2014/main" id="{198F6069-C792-0D1D-A1CA-21D4FE836126}"/>
                </a:ext>
              </a:extLst>
            </p:cNvPr>
            <p:cNvCxnSpPr>
              <a:cxnSpLocks/>
            </p:cNvCxnSpPr>
            <p:nvPr/>
          </p:nvCxnSpPr>
          <p:spPr>
            <a:xfrm flipV="1">
              <a:off x="7422084" y="1864999"/>
              <a:ext cx="0" cy="4735826"/>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id="{4BB6A4D4-47FC-63A7-81AB-4BFF499C624C}"/>
                </a:ext>
              </a:extLst>
            </p:cNvPr>
            <p:cNvCxnSpPr>
              <a:cxnSpLocks/>
            </p:cNvCxnSpPr>
            <p:nvPr/>
          </p:nvCxnSpPr>
          <p:spPr>
            <a:xfrm flipH="1" flipV="1">
              <a:off x="8474703" y="1864999"/>
              <a:ext cx="19080" cy="4735826"/>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0753296F-850F-CCDC-F7F1-5B8A7CC6F5ED}"/>
                </a:ext>
              </a:extLst>
            </p:cNvPr>
            <p:cNvCxnSpPr>
              <a:cxnSpLocks/>
            </p:cNvCxnSpPr>
            <p:nvPr/>
          </p:nvCxnSpPr>
          <p:spPr>
            <a:xfrm flipV="1">
              <a:off x="9296400" y="1864999"/>
              <a:ext cx="0" cy="4735826"/>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4A760C5B-EA42-00BF-A038-CD71F6B831EE}"/>
                </a:ext>
              </a:extLst>
            </p:cNvPr>
            <p:cNvCxnSpPr>
              <a:cxnSpLocks/>
            </p:cNvCxnSpPr>
            <p:nvPr/>
          </p:nvCxnSpPr>
          <p:spPr>
            <a:xfrm flipV="1">
              <a:off x="10013930" y="1864999"/>
              <a:ext cx="0" cy="4735826"/>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id="{E098C4FD-80C7-AD17-7DDF-D69BE17AB59E}"/>
                </a:ext>
              </a:extLst>
            </p:cNvPr>
            <p:cNvCxnSpPr>
              <a:cxnSpLocks/>
            </p:cNvCxnSpPr>
            <p:nvPr/>
          </p:nvCxnSpPr>
          <p:spPr>
            <a:xfrm flipH="1" flipV="1">
              <a:off x="10826389" y="1854073"/>
              <a:ext cx="107" cy="4746752"/>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5" name="直線接點 74">
              <a:extLst>
                <a:ext uri="{FF2B5EF4-FFF2-40B4-BE49-F238E27FC236}">
                  <a16:creationId xmlns:a16="http://schemas.microsoft.com/office/drawing/2014/main" id="{49DEFB30-463E-52A3-E10C-BB9EE726018E}"/>
                </a:ext>
              </a:extLst>
            </p:cNvPr>
            <p:cNvCxnSpPr>
              <a:cxnSpLocks/>
            </p:cNvCxnSpPr>
            <p:nvPr/>
          </p:nvCxnSpPr>
          <p:spPr>
            <a:xfrm>
              <a:off x="51405" y="2931453"/>
              <a:ext cx="12047154"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79" name="矩形 78">
              <a:extLst>
                <a:ext uri="{FF2B5EF4-FFF2-40B4-BE49-F238E27FC236}">
                  <a16:creationId xmlns:a16="http://schemas.microsoft.com/office/drawing/2014/main" id="{3324D25D-746C-B8C5-D1E2-954D71BE92EB}"/>
                </a:ext>
              </a:extLst>
            </p:cNvPr>
            <p:cNvSpPr/>
            <p:nvPr/>
          </p:nvSpPr>
          <p:spPr>
            <a:xfrm>
              <a:off x="67894" y="1906923"/>
              <a:ext cx="209128" cy="970705"/>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100" b="1" i="0" u="none" strike="noStrike" kern="1200" cap="none" spc="0" normalizeH="0" baseline="0" noProof="0">
                  <a:ln>
                    <a:noFill/>
                  </a:ln>
                  <a:solidFill>
                    <a:schemeClr val="tx1"/>
                  </a:solidFill>
                  <a:effectLst/>
                  <a:uLnTx/>
                  <a:uFillTx/>
                  <a:latin typeface="Arial" panose="020B0604020202020204"/>
                  <a:ea typeface="微軟正黑體" panose="020B0604030504040204" pitchFamily="34" charset="-120"/>
                  <a:cs typeface="+mn-cs"/>
                </a:rPr>
                <a:t>純檢索</a:t>
              </a:r>
              <a:endParaRPr kumimoji="0" lang="en-US" altLang="zh-TW" sz="1000" b="1" i="0" u="none" strike="noStrike" kern="1200" cap="none" spc="0" normalizeH="0" baseline="0" noProof="0">
                <a:ln>
                  <a:noFill/>
                </a:ln>
                <a:solidFill>
                  <a:schemeClr val="tx1"/>
                </a:solidFill>
                <a:effectLst/>
                <a:uLnTx/>
                <a:uFillTx/>
                <a:latin typeface="Arial" panose="020B0604020202020204"/>
                <a:ea typeface="微軟正黑體" panose="020B0604030504040204" pitchFamily="34" charset="-120"/>
                <a:cs typeface="+mn-cs"/>
              </a:endParaRPr>
            </a:p>
          </p:txBody>
        </p:sp>
        <p:sp>
          <p:nvSpPr>
            <p:cNvPr id="81" name="矩形 80">
              <a:extLst>
                <a:ext uri="{FF2B5EF4-FFF2-40B4-BE49-F238E27FC236}">
                  <a16:creationId xmlns:a16="http://schemas.microsoft.com/office/drawing/2014/main" id="{29362852-AE4E-0355-0D1A-370829290887}"/>
                </a:ext>
              </a:extLst>
            </p:cNvPr>
            <p:cNvSpPr/>
            <p:nvPr/>
          </p:nvSpPr>
          <p:spPr>
            <a:xfrm>
              <a:off x="57386" y="3023239"/>
              <a:ext cx="236347" cy="997741"/>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100" b="1" i="0" u="none" strike="noStrike" kern="1200" cap="none" spc="0" normalizeH="0" baseline="0" noProof="0">
                  <a:ln>
                    <a:noFill/>
                  </a:ln>
                  <a:solidFill>
                    <a:schemeClr val="tx1"/>
                  </a:solidFill>
                  <a:effectLst/>
                  <a:uLnTx/>
                  <a:uFillTx/>
                  <a:latin typeface="Arial" panose="020B0604020202020204"/>
                  <a:ea typeface="微軟正黑體" panose="020B0604030504040204" pitchFamily="34" charset="-120"/>
                  <a:cs typeface="+mn-cs"/>
                </a:rPr>
                <a:t>QA</a:t>
              </a:r>
              <a:r>
                <a:rPr kumimoji="0" lang="zh-TW" altLang="en-US" sz="1100" b="1" i="0" u="none" strike="noStrike" kern="1200" cap="none" spc="0" normalizeH="0" baseline="0" noProof="0">
                  <a:ln>
                    <a:noFill/>
                  </a:ln>
                  <a:solidFill>
                    <a:schemeClr val="tx1"/>
                  </a:solidFill>
                  <a:effectLst/>
                  <a:uLnTx/>
                  <a:uFillTx/>
                  <a:latin typeface="Arial" panose="020B0604020202020204"/>
                  <a:ea typeface="微軟正黑體" panose="020B0604030504040204" pitchFamily="34" charset="-120"/>
                  <a:cs typeface="+mn-cs"/>
                </a:rPr>
                <a:t>類</a:t>
              </a:r>
              <a:endParaRPr kumimoji="0" lang="en-US" altLang="zh-TW" sz="1100" b="1" i="0" u="none" strike="noStrike" kern="1200" cap="none" spc="0" normalizeH="0" baseline="0" noProof="0">
                <a:ln>
                  <a:noFill/>
                </a:ln>
                <a:solidFill>
                  <a:schemeClr val="tx1"/>
                </a:solidFill>
                <a:effectLst/>
                <a:uLnTx/>
                <a:uFillTx/>
                <a:latin typeface="Arial" panose="020B0604020202020204"/>
                <a:ea typeface="微軟正黑體" panose="020B0604030504040204" pitchFamily="34" charset="-120"/>
                <a:cs typeface="+mn-cs"/>
              </a:endParaRPr>
            </a:p>
          </p:txBody>
        </p:sp>
        <p:sp>
          <p:nvSpPr>
            <p:cNvPr id="96" name="矩形 95">
              <a:extLst>
                <a:ext uri="{FF2B5EF4-FFF2-40B4-BE49-F238E27FC236}">
                  <a16:creationId xmlns:a16="http://schemas.microsoft.com/office/drawing/2014/main" id="{477CDEE3-45FC-36A9-68D0-C13B711E1106}"/>
                </a:ext>
              </a:extLst>
            </p:cNvPr>
            <p:cNvSpPr/>
            <p:nvPr/>
          </p:nvSpPr>
          <p:spPr>
            <a:xfrm>
              <a:off x="67894" y="4183301"/>
              <a:ext cx="223056" cy="980372"/>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100" b="1">
                  <a:solidFill>
                    <a:schemeClr val="tx1"/>
                  </a:solidFill>
                  <a:latin typeface="Arial" panose="020B0604020202020204"/>
                  <a:ea typeface="微軟正黑體" panose="020B0604030504040204" pitchFamily="34" charset="-120"/>
                </a:rPr>
                <a:t>通用</a:t>
              </a:r>
              <a:r>
                <a:rPr kumimoji="0" lang="zh-TW" altLang="en-US" sz="1100" b="1" i="0" u="none" strike="noStrike" kern="1200" cap="none" spc="0" normalizeH="0" baseline="0" noProof="0">
                  <a:ln>
                    <a:noFill/>
                  </a:ln>
                  <a:solidFill>
                    <a:schemeClr val="tx1"/>
                  </a:solidFill>
                  <a:effectLst/>
                  <a:uLnTx/>
                  <a:uFillTx/>
                  <a:latin typeface="Arial" panose="020B0604020202020204"/>
                  <a:ea typeface="微軟正黑體" panose="020B0604030504040204" pitchFamily="34" charset="-120"/>
                  <a:cs typeface="+mn-cs"/>
                </a:rPr>
                <a:t>類</a:t>
              </a:r>
              <a:endParaRPr kumimoji="0" lang="en-US" altLang="zh-TW" sz="1100" b="1" i="0" u="none" strike="noStrike" kern="1200" cap="none" spc="0" normalizeH="0" baseline="0" noProof="0">
                <a:ln>
                  <a:noFill/>
                </a:ln>
                <a:solidFill>
                  <a:schemeClr val="tx1"/>
                </a:solidFill>
                <a:effectLst/>
                <a:uLnTx/>
                <a:uFillTx/>
                <a:latin typeface="Arial" panose="020B0604020202020204"/>
                <a:ea typeface="微軟正黑體" panose="020B0604030504040204" pitchFamily="34" charset="-120"/>
                <a:cs typeface="+mn-cs"/>
              </a:endParaRPr>
            </a:p>
          </p:txBody>
        </p:sp>
        <p:sp>
          <p:nvSpPr>
            <p:cNvPr id="101" name="矩形 100">
              <a:extLst>
                <a:ext uri="{FF2B5EF4-FFF2-40B4-BE49-F238E27FC236}">
                  <a16:creationId xmlns:a16="http://schemas.microsoft.com/office/drawing/2014/main" id="{190F6472-1ABC-BA54-B580-B3FA9916B63F}"/>
                </a:ext>
              </a:extLst>
            </p:cNvPr>
            <p:cNvSpPr/>
            <p:nvPr/>
          </p:nvSpPr>
          <p:spPr>
            <a:xfrm>
              <a:off x="67894" y="5373164"/>
              <a:ext cx="209128" cy="1022565"/>
            </a:xfrm>
            <a:prstGeom prst="rect">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100" b="1">
                  <a:solidFill>
                    <a:schemeClr val="tx1"/>
                  </a:solidFill>
                  <a:latin typeface="Arial" panose="020B0604020202020204"/>
                  <a:ea typeface="微軟正黑體" panose="020B0604030504040204" pitchFamily="34" charset="-120"/>
                </a:rPr>
                <a:t>專用</a:t>
              </a:r>
              <a:r>
                <a:rPr kumimoji="0" lang="zh-TW" altLang="en-US" sz="1100" b="1" i="0" u="none" strike="noStrike" kern="1200" cap="none" spc="0" normalizeH="0" baseline="0" noProof="0">
                  <a:ln>
                    <a:noFill/>
                  </a:ln>
                  <a:solidFill>
                    <a:schemeClr val="tx1"/>
                  </a:solidFill>
                  <a:effectLst/>
                  <a:uLnTx/>
                  <a:uFillTx/>
                  <a:latin typeface="Arial" panose="020B0604020202020204"/>
                  <a:ea typeface="微軟正黑體" panose="020B0604030504040204" pitchFamily="34" charset="-120"/>
                  <a:cs typeface="+mn-cs"/>
                </a:rPr>
                <a:t>類</a:t>
              </a:r>
              <a:endParaRPr kumimoji="0" lang="en-US" altLang="zh-TW" sz="1100" b="1" i="0" u="none" strike="noStrike" kern="1200" cap="none" spc="0" normalizeH="0" baseline="0" noProof="0">
                <a:ln>
                  <a:noFill/>
                </a:ln>
                <a:solidFill>
                  <a:schemeClr val="tx1"/>
                </a:solidFill>
                <a:effectLst/>
                <a:uLnTx/>
                <a:uFillTx/>
                <a:latin typeface="Arial" panose="020B0604020202020204"/>
                <a:ea typeface="微軟正黑體" panose="020B0604030504040204" pitchFamily="34" charset="-120"/>
                <a:cs typeface="+mn-cs"/>
              </a:endParaRPr>
            </a:p>
          </p:txBody>
        </p:sp>
        <p:cxnSp>
          <p:nvCxnSpPr>
            <p:cNvPr id="105" name="直線接點 104">
              <a:extLst>
                <a:ext uri="{FF2B5EF4-FFF2-40B4-BE49-F238E27FC236}">
                  <a16:creationId xmlns:a16="http://schemas.microsoft.com/office/drawing/2014/main" id="{1311D5D9-FE37-BE4D-5C1D-F9A651DE6613}"/>
                </a:ext>
              </a:extLst>
            </p:cNvPr>
            <p:cNvCxnSpPr>
              <a:cxnSpLocks/>
            </p:cNvCxnSpPr>
            <p:nvPr/>
          </p:nvCxnSpPr>
          <p:spPr>
            <a:xfrm>
              <a:off x="51405" y="4075491"/>
              <a:ext cx="12047154"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7" name="直線接點 106">
              <a:extLst>
                <a:ext uri="{FF2B5EF4-FFF2-40B4-BE49-F238E27FC236}">
                  <a16:creationId xmlns:a16="http://schemas.microsoft.com/office/drawing/2014/main" id="{ADA50393-878B-B871-E532-674A7F9A4018}"/>
                </a:ext>
              </a:extLst>
            </p:cNvPr>
            <p:cNvCxnSpPr>
              <a:cxnSpLocks/>
            </p:cNvCxnSpPr>
            <p:nvPr/>
          </p:nvCxnSpPr>
          <p:spPr>
            <a:xfrm>
              <a:off x="0" y="5307551"/>
              <a:ext cx="12047154"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9" name="直線接點 108">
              <a:extLst>
                <a:ext uri="{FF2B5EF4-FFF2-40B4-BE49-F238E27FC236}">
                  <a16:creationId xmlns:a16="http://schemas.microsoft.com/office/drawing/2014/main" id="{522A80B6-8704-0DBE-D9DB-FA7C05EA4905}"/>
                </a:ext>
              </a:extLst>
            </p:cNvPr>
            <p:cNvCxnSpPr>
              <a:cxnSpLocks/>
            </p:cNvCxnSpPr>
            <p:nvPr/>
          </p:nvCxnSpPr>
          <p:spPr>
            <a:xfrm>
              <a:off x="0" y="1864999"/>
              <a:ext cx="12047154"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44" name="矩形 143">
              <a:extLst>
                <a:ext uri="{FF2B5EF4-FFF2-40B4-BE49-F238E27FC236}">
                  <a16:creationId xmlns:a16="http://schemas.microsoft.com/office/drawing/2014/main" id="{C699A88F-FFD4-935E-F200-72CE4BB14846}"/>
                </a:ext>
              </a:extLst>
            </p:cNvPr>
            <p:cNvSpPr/>
            <p:nvPr/>
          </p:nvSpPr>
          <p:spPr>
            <a:xfrm>
              <a:off x="348999" y="1917703"/>
              <a:ext cx="456614" cy="2347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000">
                  <a:latin typeface="+mj-ea"/>
                  <a:ea typeface="+mj-ea"/>
                </a:rPr>
                <a:t>金控</a:t>
              </a:r>
            </a:p>
          </p:txBody>
        </p:sp>
        <p:sp>
          <p:nvSpPr>
            <p:cNvPr id="148" name="矩形 147">
              <a:extLst>
                <a:ext uri="{FF2B5EF4-FFF2-40B4-BE49-F238E27FC236}">
                  <a16:creationId xmlns:a16="http://schemas.microsoft.com/office/drawing/2014/main" id="{BA9D91B6-5705-882E-7319-B5F8F375286C}"/>
                </a:ext>
              </a:extLst>
            </p:cNvPr>
            <p:cNvSpPr/>
            <p:nvPr/>
          </p:nvSpPr>
          <p:spPr>
            <a:xfrm>
              <a:off x="356482" y="2251711"/>
              <a:ext cx="456614" cy="2347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000">
                  <a:latin typeface="+mj-ea"/>
                  <a:ea typeface="+mj-ea"/>
                </a:rPr>
                <a:t>智金</a:t>
              </a:r>
            </a:p>
          </p:txBody>
        </p:sp>
        <p:sp>
          <p:nvSpPr>
            <p:cNvPr id="152" name="矩形 151">
              <a:extLst>
                <a:ext uri="{FF2B5EF4-FFF2-40B4-BE49-F238E27FC236}">
                  <a16:creationId xmlns:a16="http://schemas.microsoft.com/office/drawing/2014/main" id="{8760C04A-9970-8FAE-47EA-31568E2B2873}"/>
                </a:ext>
              </a:extLst>
            </p:cNvPr>
            <p:cNvSpPr/>
            <p:nvPr/>
          </p:nvSpPr>
          <p:spPr>
            <a:xfrm>
              <a:off x="361254" y="2570966"/>
              <a:ext cx="456614" cy="3556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000">
                  <a:latin typeface="+mj-ea"/>
                  <a:ea typeface="+mj-ea"/>
                </a:rPr>
                <a:t>需求單位</a:t>
              </a:r>
            </a:p>
          </p:txBody>
        </p:sp>
        <p:cxnSp>
          <p:nvCxnSpPr>
            <p:cNvPr id="159" name="直線接點 158">
              <a:extLst>
                <a:ext uri="{FF2B5EF4-FFF2-40B4-BE49-F238E27FC236}">
                  <a16:creationId xmlns:a16="http://schemas.microsoft.com/office/drawing/2014/main" id="{489AC92C-2394-68A2-7E2D-9B06FF059B94}"/>
                </a:ext>
              </a:extLst>
            </p:cNvPr>
            <p:cNvCxnSpPr>
              <a:cxnSpLocks/>
            </p:cNvCxnSpPr>
            <p:nvPr/>
          </p:nvCxnSpPr>
          <p:spPr>
            <a:xfrm flipV="1">
              <a:off x="1507003" y="1870584"/>
              <a:ext cx="7503" cy="4730241"/>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3" name="矩形 162">
              <a:extLst>
                <a:ext uri="{FF2B5EF4-FFF2-40B4-BE49-F238E27FC236}">
                  <a16:creationId xmlns:a16="http://schemas.microsoft.com/office/drawing/2014/main" id="{658763C1-1909-2C6E-192D-6E030FBC5BFA}"/>
                </a:ext>
              </a:extLst>
            </p:cNvPr>
            <p:cNvSpPr/>
            <p:nvPr/>
          </p:nvSpPr>
          <p:spPr>
            <a:xfrm>
              <a:off x="360037" y="2978572"/>
              <a:ext cx="456614" cy="2347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a:latin typeface="+mj-ea"/>
                  <a:ea typeface="+mj-ea"/>
                </a:rPr>
                <a:t>IT</a:t>
              </a:r>
              <a:endParaRPr lang="zh-TW" altLang="en-US" sz="1000">
                <a:latin typeface="+mj-ea"/>
                <a:ea typeface="+mj-ea"/>
              </a:endParaRPr>
            </a:p>
          </p:txBody>
        </p:sp>
        <p:sp>
          <p:nvSpPr>
            <p:cNvPr id="167" name="矩形 166">
              <a:extLst>
                <a:ext uri="{FF2B5EF4-FFF2-40B4-BE49-F238E27FC236}">
                  <a16:creationId xmlns:a16="http://schemas.microsoft.com/office/drawing/2014/main" id="{D207D56E-BB57-F112-235C-97A7C3A82F15}"/>
                </a:ext>
              </a:extLst>
            </p:cNvPr>
            <p:cNvSpPr/>
            <p:nvPr/>
          </p:nvSpPr>
          <p:spPr>
            <a:xfrm>
              <a:off x="367520" y="3312580"/>
              <a:ext cx="456614" cy="2347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000">
                  <a:latin typeface="+mj-ea"/>
                  <a:ea typeface="+mj-ea"/>
                </a:rPr>
                <a:t>智金</a:t>
              </a:r>
            </a:p>
          </p:txBody>
        </p:sp>
        <p:sp>
          <p:nvSpPr>
            <p:cNvPr id="171" name="矩形 170">
              <a:extLst>
                <a:ext uri="{FF2B5EF4-FFF2-40B4-BE49-F238E27FC236}">
                  <a16:creationId xmlns:a16="http://schemas.microsoft.com/office/drawing/2014/main" id="{FD4DC235-BF75-3183-99B0-24AA05198B0D}"/>
                </a:ext>
              </a:extLst>
            </p:cNvPr>
            <p:cNvSpPr/>
            <p:nvPr/>
          </p:nvSpPr>
          <p:spPr>
            <a:xfrm>
              <a:off x="372292" y="3631835"/>
              <a:ext cx="456614" cy="3556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000">
                  <a:latin typeface="+mj-ea"/>
                  <a:ea typeface="+mj-ea"/>
                </a:rPr>
                <a:t>需求單位</a:t>
              </a:r>
            </a:p>
          </p:txBody>
        </p:sp>
        <p:sp>
          <p:nvSpPr>
            <p:cNvPr id="175" name="矩形 174">
              <a:extLst>
                <a:ext uri="{FF2B5EF4-FFF2-40B4-BE49-F238E27FC236}">
                  <a16:creationId xmlns:a16="http://schemas.microsoft.com/office/drawing/2014/main" id="{E721D517-08BD-83E7-2DB1-385162C80922}"/>
                </a:ext>
              </a:extLst>
            </p:cNvPr>
            <p:cNvSpPr/>
            <p:nvPr/>
          </p:nvSpPr>
          <p:spPr>
            <a:xfrm>
              <a:off x="372969" y="4154724"/>
              <a:ext cx="456614" cy="2347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a:latin typeface="+mj-ea"/>
                  <a:ea typeface="+mj-ea"/>
                </a:rPr>
                <a:t>IT</a:t>
              </a:r>
              <a:endParaRPr lang="zh-TW" altLang="en-US" sz="1000">
                <a:latin typeface="+mj-ea"/>
                <a:ea typeface="+mj-ea"/>
              </a:endParaRPr>
            </a:p>
          </p:txBody>
        </p:sp>
        <p:sp>
          <p:nvSpPr>
            <p:cNvPr id="179" name="矩形 178">
              <a:extLst>
                <a:ext uri="{FF2B5EF4-FFF2-40B4-BE49-F238E27FC236}">
                  <a16:creationId xmlns:a16="http://schemas.microsoft.com/office/drawing/2014/main" id="{2D63A188-820A-F937-FFDE-D3E8C5492399}"/>
                </a:ext>
              </a:extLst>
            </p:cNvPr>
            <p:cNvSpPr/>
            <p:nvPr/>
          </p:nvSpPr>
          <p:spPr>
            <a:xfrm>
              <a:off x="380452" y="4488732"/>
              <a:ext cx="456614" cy="2347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000">
                  <a:latin typeface="+mj-ea"/>
                  <a:ea typeface="+mj-ea"/>
                </a:rPr>
                <a:t>智金</a:t>
              </a:r>
            </a:p>
          </p:txBody>
        </p:sp>
        <p:sp>
          <p:nvSpPr>
            <p:cNvPr id="182" name="矩形 181">
              <a:extLst>
                <a:ext uri="{FF2B5EF4-FFF2-40B4-BE49-F238E27FC236}">
                  <a16:creationId xmlns:a16="http://schemas.microsoft.com/office/drawing/2014/main" id="{98C07242-CA3B-3C2A-2F3C-A2C52E834BA6}"/>
                </a:ext>
              </a:extLst>
            </p:cNvPr>
            <p:cNvSpPr/>
            <p:nvPr/>
          </p:nvSpPr>
          <p:spPr>
            <a:xfrm>
              <a:off x="385224" y="4807987"/>
              <a:ext cx="456614" cy="3556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000">
                  <a:latin typeface="+mj-ea"/>
                  <a:ea typeface="+mj-ea"/>
                </a:rPr>
                <a:t>需求單位</a:t>
              </a:r>
            </a:p>
          </p:txBody>
        </p:sp>
        <p:sp>
          <p:nvSpPr>
            <p:cNvPr id="187" name="矩形 186">
              <a:extLst>
                <a:ext uri="{FF2B5EF4-FFF2-40B4-BE49-F238E27FC236}">
                  <a16:creationId xmlns:a16="http://schemas.microsoft.com/office/drawing/2014/main" id="{7FFFDA90-2774-C748-160C-506F4E9A124C}"/>
                </a:ext>
              </a:extLst>
            </p:cNvPr>
            <p:cNvSpPr/>
            <p:nvPr/>
          </p:nvSpPr>
          <p:spPr>
            <a:xfrm>
              <a:off x="382912" y="5373165"/>
              <a:ext cx="456614" cy="2347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a:latin typeface="+mj-ea"/>
                  <a:ea typeface="+mj-ea"/>
                </a:rPr>
                <a:t>IT</a:t>
              </a:r>
              <a:endParaRPr lang="zh-TW" altLang="en-US" sz="1000">
                <a:latin typeface="+mj-ea"/>
                <a:ea typeface="+mj-ea"/>
              </a:endParaRPr>
            </a:p>
          </p:txBody>
        </p:sp>
        <p:sp>
          <p:nvSpPr>
            <p:cNvPr id="189" name="矩形 188">
              <a:extLst>
                <a:ext uri="{FF2B5EF4-FFF2-40B4-BE49-F238E27FC236}">
                  <a16:creationId xmlns:a16="http://schemas.microsoft.com/office/drawing/2014/main" id="{7A4CF681-68C2-D8B2-7322-43C791B1DAB5}"/>
                </a:ext>
              </a:extLst>
            </p:cNvPr>
            <p:cNvSpPr/>
            <p:nvPr/>
          </p:nvSpPr>
          <p:spPr>
            <a:xfrm>
              <a:off x="390395" y="5707173"/>
              <a:ext cx="456614" cy="2347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000">
                  <a:latin typeface="+mj-ea"/>
                  <a:ea typeface="+mj-ea"/>
                </a:rPr>
                <a:t>智金</a:t>
              </a:r>
            </a:p>
          </p:txBody>
        </p:sp>
        <p:sp>
          <p:nvSpPr>
            <p:cNvPr id="191" name="矩形 190">
              <a:extLst>
                <a:ext uri="{FF2B5EF4-FFF2-40B4-BE49-F238E27FC236}">
                  <a16:creationId xmlns:a16="http://schemas.microsoft.com/office/drawing/2014/main" id="{497E5938-771E-16EB-DF30-DE7944B368F5}"/>
                </a:ext>
              </a:extLst>
            </p:cNvPr>
            <p:cNvSpPr/>
            <p:nvPr/>
          </p:nvSpPr>
          <p:spPr>
            <a:xfrm>
              <a:off x="395167" y="6026428"/>
              <a:ext cx="456614" cy="3556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000">
                  <a:latin typeface="+mj-ea"/>
                  <a:ea typeface="+mj-ea"/>
                </a:rPr>
                <a:t>需求單位</a:t>
              </a:r>
            </a:p>
          </p:txBody>
        </p:sp>
        <p:cxnSp>
          <p:nvCxnSpPr>
            <p:cNvPr id="192" name="直線接點 191">
              <a:extLst>
                <a:ext uri="{FF2B5EF4-FFF2-40B4-BE49-F238E27FC236}">
                  <a16:creationId xmlns:a16="http://schemas.microsoft.com/office/drawing/2014/main" id="{11913BE0-49AA-B72D-D7F1-F39BA9E99EA2}"/>
                </a:ext>
              </a:extLst>
            </p:cNvPr>
            <p:cNvCxnSpPr>
              <a:cxnSpLocks/>
            </p:cNvCxnSpPr>
            <p:nvPr/>
          </p:nvCxnSpPr>
          <p:spPr>
            <a:xfrm flipV="1">
              <a:off x="847009" y="2152443"/>
              <a:ext cx="11056293" cy="15358"/>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95" name="直線接點 194">
              <a:extLst>
                <a:ext uri="{FF2B5EF4-FFF2-40B4-BE49-F238E27FC236}">
                  <a16:creationId xmlns:a16="http://schemas.microsoft.com/office/drawing/2014/main" id="{5C428981-FDB1-08D7-58F2-91645D4409FB}"/>
                </a:ext>
              </a:extLst>
            </p:cNvPr>
            <p:cNvCxnSpPr>
              <a:cxnSpLocks/>
            </p:cNvCxnSpPr>
            <p:nvPr/>
          </p:nvCxnSpPr>
          <p:spPr>
            <a:xfrm flipV="1">
              <a:off x="805613" y="2552064"/>
              <a:ext cx="11056293" cy="15358"/>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96" name="直線接點 195">
              <a:extLst>
                <a:ext uri="{FF2B5EF4-FFF2-40B4-BE49-F238E27FC236}">
                  <a16:creationId xmlns:a16="http://schemas.microsoft.com/office/drawing/2014/main" id="{F6A5C67F-2FD4-9C78-E668-D7FDB15A4A60}"/>
                </a:ext>
              </a:extLst>
            </p:cNvPr>
            <p:cNvCxnSpPr>
              <a:cxnSpLocks/>
            </p:cNvCxnSpPr>
            <p:nvPr/>
          </p:nvCxnSpPr>
          <p:spPr>
            <a:xfrm flipV="1">
              <a:off x="813096" y="3219911"/>
              <a:ext cx="11056293" cy="15358"/>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97" name="直線接點 196">
              <a:extLst>
                <a:ext uri="{FF2B5EF4-FFF2-40B4-BE49-F238E27FC236}">
                  <a16:creationId xmlns:a16="http://schemas.microsoft.com/office/drawing/2014/main" id="{BF3FE88B-5B0B-658D-B864-A4A6DC7015EB}"/>
                </a:ext>
              </a:extLst>
            </p:cNvPr>
            <p:cNvCxnSpPr>
              <a:cxnSpLocks/>
            </p:cNvCxnSpPr>
            <p:nvPr/>
          </p:nvCxnSpPr>
          <p:spPr>
            <a:xfrm flipV="1">
              <a:off x="805612" y="3629030"/>
              <a:ext cx="11056293" cy="15358"/>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98" name="直線接點 197">
              <a:extLst>
                <a:ext uri="{FF2B5EF4-FFF2-40B4-BE49-F238E27FC236}">
                  <a16:creationId xmlns:a16="http://schemas.microsoft.com/office/drawing/2014/main" id="{7A39D5FF-FDA0-434E-D22A-ECE58DAF3609}"/>
                </a:ext>
              </a:extLst>
            </p:cNvPr>
            <p:cNvCxnSpPr>
              <a:cxnSpLocks/>
            </p:cNvCxnSpPr>
            <p:nvPr/>
          </p:nvCxnSpPr>
          <p:spPr>
            <a:xfrm flipV="1">
              <a:off x="855991" y="5711726"/>
              <a:ext cx="11056293" cy="15358"/>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99" name="直線接點 198">
              <a:extLst>
                <a:ext uri="{FF2B5EF4-FFF2-40B4-BE49-F238E27FC236}">
                  <a16:creationId xmlns:a16="http://schemas.microsoft.com/office/drawing/2014/main" id="{F5D3C155-E3F5-21F1-0D6D-76AAF01B4A44}"/>
                </a:ext>
              </a:extLst>
            </p:cNvPr>
            <p:cNvCxnSpPr>
              <a:cxnSpLocks/>
            </p:cNvCxnSpPr>
            <p:nvPr/>
          </p:nvCxnSpPr>
          <p:spPr>
            <a:xfrm flipV="1">
              <a:off x="805612" y="4487604"/>
              <a:ext cx="11056293" cy="15358"/>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200" name="直線接點 199">
              <a:extLst>
                <a:ext uri="{FF2B5EF4-FFF2-40B4-BE49-F238E27FC236}">
                  <a16:creationId xmlns:a16="http://schemas.microsoft.com/office/drawing/2014/main" id="{A747F386-0810-CB8E-4C09-72F96A94A5DC}"/>
                </a:ext>
              </a:extLst>
            </p:cNvPr>
            <p:cNvCxnSpPr>
              <a:cxnSpLocks/>
            </p:cNvCxnSpPr>
            <p:nvPr/>
          </p:nvCxnSpPr>
          <p:spPr>
            <a:xfrm flipV="1">
              <a:off x="755946" y="4785960"/>
              <a:ext cx="11056293" cy="15358"/>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grpSp>
      <p:sp>
        <p:nvSpPr>
          <p:cNvPr id="238" name="矩形 237">
            <a:extLst>
              <a:ext uri="{FF2B5EF4-FFF2-40B4-BE49-F238E27FC236}">
                <a16:creationId xmlns:a16="http://schemas.microsoft.com/office/drawing/2014/main" id="{B56F3E18-6A89-137F-89F9-4DCE2114ACF5}"/>
              </a:ext>
            </a:extLst>
          </p:cNvPr>
          <p:cNvSpPr/>
          <p:nvPr/>
        </p:nvSpPr>
        <p:spPr>
          <a:xfrm>
            <a:off x="7468149" y="1687166"/>
            <a:ext cx="958517" cy="518880"/>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zh-TW" altLang="en-US" sz="1200">
                <a:solidFill>
                  <a:schemeClr val="tx1"/>
                </a:solidFill>
                <a:latin typeface="+mj-ea"/>
              </a:rPr>
              <a:t>資料匯入</a:t>
            </a:r>
            <a:endParaRPr kumimoji="0" lang="zh-TW" altLang="en-US" sz="1200" i="0" u="none" strike="noStrike" kern="1200" cap="none" spc="0" normalizeH="0" baseline="0" noProof="0">
              <a:ln>
                <a:noFill/>
              </a:ln>
              <a:solidFill>
                <a:schemeClr val="tx1"/>
              </a:solidFill>
              <a:effectLst/>
              <a:uLnTx/>
              <a:uFillTx/>
              <a:latin typeface="+mj-ea"/>
              <a:ea typeface="+mj-ea"/>
              <a:cs typeface="+mn-cs"/>
            </a:endParaRPr>
          </a:p>
        </p:txBody>
      </p:sp>
      <p:sp>
        <p:nvSpPr>
          <p:cNvPr id="242" name="矩形 241">
            <a:extLst>
              <a:ext uri="{FF2B5EF4-FFF2-40B4-BE49-F238E27FC236}">
                <a16:creationId xmlns:a16="http://schemas.microsoft.com/office/drawing/2014/main" id="{5F84997D-C002-07CF-E0B8-EDDCC2D13052}"/>
              </a:ext>
            </a:extLst>
          </p:cNvPr>
          <p:cNvSpPr/>
          <p:nvPr/>
        </p:nvSpPr>
        <p:spPr>
          <a:xfrm>
            <a:off x="782922" y="5483176"/>
            <a:ext cx="11145680" cy="10505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000" b="1">
                <a:solidFill>
                  <a:schemeClr val="tx1"/>
                </a:solidFill>
              </a:rPr>
              <a:t>依既有模式逐案討論</a:t>
            </a:r>
          </a:p>
        </p:txBody>
      </p:sp>
      <p:cxnSp>
        <p:nvCxnSpPr>
          <p:cNvPr id="243" name="直線接點 242">
            <a:extLst>
              <a:ext uri="{FF2B5EF4-FFF2-40B4-BE49-F238E27FC236}">
                <a16:creationId xmlns:a16="http://schemas.microsoft.com/office/drawing/2014/main" id="{38391304-E7DD-2CFD-679B-1D5DA0A91137}"/>
              </a:ext>
            </a:extLst>
          </p:cNvPr>
          <p:cNvCxnSpPr>
            <a:cxnSpLocks/>
          </p:cNvCxnSpPr>
          <p:nvPr/>
        </p:nvCxnSpPr>
        <p:spPr>
          <a:xfrm flipV="1">
            <a:off x="846083" y="6127606"/>
            <a:ext cx="11056293" cy="14053"/>
          </a:xfrm>
          <a:prstGeom prst="line">
            <a:avLst/>
          </a:prstGeom>
          <a:ln w="19050">
            <a:solidFill>
              <a:schemeClr val="tx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sp>
        <p:nvSpPr>
          <p:cNvPr id="247" name="文字方塊 246">
            <a:extLst>
              <a:ext uri="{FF2B5EF4-FFF2-40B4-BE49-F238E27FC236}">
                <a16:creationId xmlns:a16="http://schemas.microsoft.com/office/drawing/2014/main" id="{86BA72D3-FEB4-E4A4-7646-93F716F2D1D0}"/>
              </a:ext>
            </a:extLst>
          </p:cNvPr>
          <p:cNvSpPr txBox="1"/>
          <p:nvPr/>
        </p:nvSpPr>
        <p:spPr>
          <a:xfrm>
            <a:off x="996022" y="2976727"/>
            <a:ext cx="287258" cy="276999"/>
          </a:xfrm>
          <a:prstGeom prst="rect">
            <a:avLst/>
          </a:prstGeom>
          <a:noFill/>
        </p:spPr>
        <p:txBody>
          <a:bodyPr wrap="none" rtlCol="0">
            <a:spAutoFit/>
          </a:bodyPr>
          <a:lstStyle/>
          <a:p>
            <a:r>
              <a:rPr lang="en-US" altLang="zh-TW" sz="1200"/>
              <a:t>V</a:t>
            </a:r>
            <a:endParaRPr lang="zh-TW" altLang="en-US" sz="1200"/>
          </a:p>
        </p:txBody>
      </p:sp>
      <p:sp>
        <p:nvSpPr>
          <p:cNvPr id="249" name="文字方塊 248">
            <a:extLst>
              <a:ext uri="{FF2B5EF4-FFF2-40B4-BE49-F238E27FC236}">
                <a16:creationId xmlns:a16="http://schemas.microsoft.com/office/drawing/2014/main" id="{09144555-64B0-C91F-E67C-9852F8C1ACA2}"/>
              </a:ext>
            </a:extLst>
          </p:cNvPr>
          <p:cNvSpPr txBox="1"/>
          <p:nvPr/>
        </p:nvSpPr>
        <p:spPr>
          <a:xfrm>
            <a:off x="1709575" y="2644055"/>
            <a:ext cx="287258" cy="276999"/>
          </a:xfrm>
          <a:prstGeom prst="rect">
            <a:avLst/>
          </a:prstGeom>
          <a:noFill/>
        </p:spPr>
        <p:txBody>
          <a:bodyPr wrap="none" rtlCol="0">
            <a:spAutoFit/>
          </a:bodyPr>
          <a:lstStyle/>
          <a:p>
            <a:r>
              <a:rPr lang="en-US" altLang="zh-TW" sz="1200"/>
              <a:t>V</a:t>
            </a:r>
            <a:endParaRPr lang="zh-TW" altLang="en-US" sz="1200"/>
          </a:p>
        </p:txBody>
      </p:sp>
      <p:sp>
        <p:nvSpPr>
          <p:cNvPr id="251" name="文字方塊 250">
            <a:extLst>
              <a:ext uri="{FF2B5EF4-FFF2-40B4-BE49-F238E27FC236}">
                <a16:creationId xmlns:a16="http://schemas.microsoft.com/office/drawing/2014/main" id="{1FDDDCA6-EF4E-90E9-316E-C32896778BB1}"/>
              </a:ext>
            </a:extLst>
          </p:cNvPr>
          <p:cNvSpPr txBox="1"/>
          <p:nvPr/>
        </p:nvSpPr>
        <p:spPr>
          <a:xfrm>
            <a:off x="4932662" y="2331136"/>
            <a:ext cx="287258" cy="276999"/>
          </a:xfrm>
          <a:prstGeom prst="rect">
            <a:avLst/>
          </a:prstGeom>
          <a:noFill/>
        </p:spPr>
        <p:txBody>
          <a:bodyPr wrap="none" rtlCol="0">
            <a:spAutoFit/>
          </a:bodyPr>
          <a:lstStyle/>
          <a:p>
            <a:r>
              <a:rPr lang="en-US" altLang="zh-TW" sz="1200"/>
              <a:t>V</a:t>
            </a:r>
            <a:endParaRPr lang="zh-TW" altLang="en-US" sz="1200"/>
          </a:p>
        </p:txBody>
      </p:sp>
      <p:sp>
        <p:nvSpPr>
          <p:cNvPr id="253" name="矩形 252">
            <a:extLst>
              <a:ext uri="{FF2B5EF4-FFF2-40B4-BE49-F238E27FC236}">
                <a16:creationId xmlns:a16="http://schemas.microsoft.com/office/drawing/2014/main" id="{8D66FEA8-1557-673F-84C0-42CA58A30274}"/>
              </a:ext>
            </a:extLst>
          </p:cNvPr>
          <p:cNvSpPr/>
          <p:nvPr/>
        </p:nvSpPr>
        <p:spPr>
          <a:xfrm>
            <a:off x="2248429" y="2424295"/>
            <a:ext cx="1604139" cy="74258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solidFill>
                  <a:srgbClr val="FF0000"/>
                </a:solidFill>
              </a:rPr>
              <a:t>待確認</a:t>
            </a:r>
          </a:p>
        </p:txBody>
      </p:sp>
      <p:sp>
        <p:nvSpPr>
          <p:cNvPr id="255" name="文字方塊 254">
            <a:extLst>
              <a:ext uri="{FF2B5EF4-FFF2-40B4-BE49-F238E27FC236}">
                <a16:creationId xmlns:a16="http://schemas.microsoft.com/office/drawing/2014/main" id="{431615AF-4145-A388-760F-1DB878311808}"/>
              </a:ext>
            </a:extLst>
          </p:cNvPr>
          <p:cNvSpPr txBox="1"/>
          <p:nvPr/>
        </p:nvSpPr>
        <p:spPr>
          <a:xfrm>
            <a:off x="1018943" y="4019288"/>
            <a:ext cx="287258" cy="276999"/>
          </a:xfrm>
          <a:prstGeom prst="rect">
            <a:avLst/>
          </a:prstGeom>
          <a:noFill/>
        </p:spPr>
        <p:txBody>
          <a:bodyPr wrap="none" rtlCol="0">
            <a:spAutoFit/>
          </a:bodyPr>
          <a:lstStyle/>
          <a:p>
            <a:r>
              <a:rPr lang="en-US" altLang="zh-TW" sz="1200"/>
              <a:t>V</a:t>
            </a:r>
            <a:endParaRPr lang="zh-TW" altLang="en-US" sz="1200"/>
          </a:p>
        </p:txBody>
      </p:sp>
      <p:sp>
        <p:nvSpPr>
          <p:cNvPr id="257" name="文字方塊 256">
            <a:extLst>
              <a:ext uri="{FF2B5EF4-FFF2-40B4-BE49-F238E27FC236}">
                <a16:creationId xmlns:a16="http://schemas.microsoft.com/office/drawing/2014/main" id="{BF55EDF5-598D-C23D-5130-3E7AD07F80D2}"/>
              </a:ext>
            </a:extLst>
          </p:cNvPr>
          <p:cNvSpPr txBox="1"/>
          <p:nvPr/>
        </p:nvSpPr>
        <p:spPr>
          <a:xfrm>
            <a:off x="9499556" y="4683247"/>
            <a:ext cx="287258" cy="276999"/>
          </a:xfrm>
          <a:prstGeom prst="rect">
            <a:avLst/>
          </a:prstGeom>
          <a:noFill/>
        </p:spPr>
        <p:txBody>
          <a:bodyPr wrap="none" rtlCol="0">
            <a:spAutoFit/>
          </a:bodyPr>
          <a:lstStyle/>
          <a:p>
            <a:r>
              <a:rPr lang="en-US" altLang="zh-TW" sz="1200"/>
              <a:t>V</a:t>
            </a:r>
            <a:endParaRPr lang="zh-TW" altLang="en-US" sz="1200"/>
          </a:p>
        </p:txBody>
      </p:sp>
      <p:sp>
        <p:nvSpPr>
          <p:cNvPr id="259" name="文字方塊 258">
            <a:extLst>
              <a:ext uri="{FF2B5EF4-FFF2-40B4-BE49-F238E27FC236}">
                <a16:creationId xmlns:a16="http://schemas.microsoft.com/office/drawing/2014/main" id="{78F0AC41-7F26-E3BF-E31B-77EEAB6D6113}"/>
              </a:ext>
            </a:extLst>
          </p:cNvPr>
          <p:cNvSpPr txBox="1"/>
          <p:nvPr/>
        </p:nvSpPr>
        <p:spPr>
          <a:xfrm>
            <a:off x="5736319" y="2657086"/>
            <a:ext cx="287258" cy="276999"/>
          </a:xfrm>
          <a:prstGeom prst="rect">
            <a:avLst/>
          </a:prstGeom>
          <a:noFill/>
        </p:spPr>
        <p:txBody>
          <a:bodyPr wrap="none" rtlCol="0">
            <a:spAutoFit/>
          </a:bodyPr>
          <a:lstStyle/>
          <a:p>
            <a:r>
              <a:rPr lang="en-US" altLang="zh-TW" sz="1200"/>
              <a:t>V</a:t>
            </a:r>
            <a:endParaRPr lang="zh-TW" altLang="en-US" sz="1200"/>
          </a:p>
        </p:txBody>
      </p:sp>
      <p:sp>
        <p:nvSpPr>
          <p:cNvPr id="264" name="文字方塊 263">
            <a:extLst>
              <a:ext uri="{FF2B5EF4-FFF2-40B4-BE49-F238E27FC236}">
                <a16:creationId xmlns:a16="http://schemas.microsoft.com/office/drawing/2014/main" id="{A0E71779-734A-D7F0-8E08-ABB411C91E04}"/>
              </a:ext>
            </a:extLst>
          </p:cNvPr>
          <p:cNvSpPr txBox="1"/>
          <p:nvPr/>
        </p:nvSpPr>
        <p:spPr>
          <a:xfrm>
            <a:off x="6713252" y="2961108"/>
            <a:ext cx="287258" cy="276999"/>
          </a:xfrm>
          <a:prstGeom prst="rect">
            <a:avLst/>
          </a:prstGeom>
          <a:noFill/>
        </p:spPr>
        <p:txBody>
          <a:bodyPr wrap="none" rtlCol="0">
            <a:spAutoFit/>
          </a:bodyPr>
          <a:lstStyle/>
          <a:p>
            <a:r>
              <a:rPr lang="en-US" altLang="zh-TW" sz="1200"/>
              <a:t>V</a:t>
            </a:r>
            <a:endParaRPr lang="zh-TW" altLang="en-US" sz="1200"/>
          </a:p>
        </p:txBody>
      </p:sp>
      <p:sp>
        <p:nvSpPr>
          <p:cNvPr id="266" name="文字方塊 265">
            <a:extLst>
              <a:ext uri="{FF2B5EF4-FFF2-40B4-BE49-F238E27FC236}">
                <a16:creationId xmlns:a16="http://schemas.microsoft.com/office/drawing/2014/main" id="{118D1572-218D-86C0-DE47-5311E591F7C0}"/>
              </a:ext>
            </a:extLst>
          </p:cNvPr>
          <p:cNvSpPr txBox="1"/>
          <p:nvPr/>
        </p:nvSpPr>
        <p:spPr>
          <a:xfrm>
            <a:off x="7812471" y="2966752"/>
            <a:ext cx="287258" cy="276999"/>
          </a:xfrm>
          <a:prstGeom prst="rect">
            <a:avLst/>
          </a:prstGeom>
          <a:noFill/>
        </p:spPr>
        <p:txBody>
          <a:bodyPr wrap="none" rtlCol="0">
            <a:spAutoFit/>
          </a:bodyPr>
          <a:lstStyle/>
          <a:p>
            <a:r>
              <a:rPr lang="en-US" altLang="zh-TW" sz="1200"/>
              <a:t>V</a:t>
            </a:r>
            <a:endParaRPr lang="zh-TW" altLang="en-US" sz="1200"/>
          </a:p>
        </p:txBody>
      </p:sp>
      <p:sp>
        <p:nvSpPr>
          <p:cNvPr id="270" name="矩形 269">
            <a:extLst>
              <a:ext uri="{FF2B5EF4-FFF2-40B4-BE49-F238E27FC236}">
                <a16:creationId xmlns:a16="http://schemas.microsoft.com/office/drawing/2014/main" id="{6F027048-5AD4-6698-8D06-F5336DA60D3E}"/>
              </a:ext>
            </a:extLst>
          </p:cNvPr>
          <p:cNvSpPr/>
          <p:nvPr/>
        </p:nvSpPr>
        <p:spPr>
          <a:xfrm>
            <a:off x="8569546" y="2445815"/>
            <a:ext cx="563711" cy="277124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solidFill>
                  <a:srgbClr val="FF0000"/>
                </a:solidFill>
              </a:rPr>
              <a:t>待確認</a:t>
            </a:r>
          </a:p>
        </p:txBody>
      </p:sp>
      <p:sp>
        <p:nvSpPr>
          <p:cNvPr id="272" name="文字方塊 271">
            <a:extLst>
              <a:ext uri="{FF2B5EF4-FFF2-40B4-BE49-F238E27FC236}">
                <a16:creationId xmlns:a16="http://schemas.microsoft.com/office/drawing/2014/main" id="{C76F565F-6EDC-6B04-9D36-E178C464EA62}"/>
              </a:ext>
            </a:extLst>
          </p:cNvPr>
          <p:cNvSpPr txBox="1"/>
          <p:nvPr/>
        </p:nvSpPr>
        <p:spPr>
          <a:xfrm>
            <a:off x="10288706" y="3004356"/>
            <a:ext cx="287258" cy="276999"/>
          </a:xfrm>
          <a:prstGeom prst="rect">
            <a:avLst/>
          </a:prstGeom>
          <a:noFill/>
        </p:spPr>
        <p:txBody>
          <a:bodyPr wrap="none" rtlCol="0">
            <a:spAutoFit/>
          </a:bodyPr>
          <a:lstStyle/>
          <a:p>
            <a:r>
              <a:rPr lang="en-US" altLang="zh-TW" sz="1200"/>
              <a:t>V</a:t>
            </a:r>
            <a:endParaRPr lang="zh-TW" altLang="en-US" sz="1200"/>
          </a:p>
        </p:txBody>
      </p:sp>
      <p:sp>
        <p:nvSpPr>
          <p:cNvPr id="274" name="文字方塊 273">
            <a:extLst>
              <a:ext uri="{FF2B5EF4-FFF2-40B4-BE49-F238E27FC236}">
                <a16:creationId xmlns:a16="http://schemas.microsoft.com/office/drawing/2014/main" id="{2458F04F-997E-640B-8EEB-1E90F046CE3E}"/>
              </a:ext>
            </a:extLst>
          </p:cNvPr>
          <p:cNvSpPr txBox="1"/>
          <p:nvPr/>
        </p:nvSpPr>
        <p:spPr>
          <a:xfrm>
            <a:off x="9507715" y="3004355"/>
            <a:ext cx="287258" cy="276999"/>
          </a:xfrm>
          <a:prstGeom prst="rect">
            <a:avLst/>
          </a:prstGeom>
          <a:noFill/>
        </p:spPr>
        <p:txBody>
          <a:bodyPr wrap="none" rtlCol="0">
            <a:spAutoFit/>
          </a:bodyPr>
          <a:lstStyle/>
          <a:p>
            <a:r>
              <a:rPr lang="en-US" altLang="zh-TW" sz="1200"/>
              <a:t>V</a:t>
            </a:r>
            <a:endParaRPr lang="zh-TW" altLang="en-US" sz="1200"/>
          </a:p>
        </p:txBody>
      </p:sp>
      <p:sp>
        <p:nvSpPr>
          <p:cNvPr id="275" name="文字方塊 274">
            <a:extLst>
              <a:ext uri="{FF2B5EF4-FFF2-40B4-BE49-F238E27FC236}">
                <a16:creationId xmlns:a16="http://schemas.microsoft.com/office/drawing/2014/main" id="{BA688E9A-18FC-EA62-5CF4-88B09E969E57}"/>
              </a:ext>
            </a:extLst>
          </p:cNvPr>
          <p:cNvSpPr txBox="1"/>
          <p:nvPr/>
        </p:nvSpPr>
        <p:spPr>
          <a:xfrm>
            <a:off x="10258847" y="2319708"/>
            <a:ext cx="287258" cy="276999"/>
          </a:xfrm>
          <a:prstGeom prst="rect">
            <a:avLst/>
          </a:prstGeom>
          <a:noFill/>
        </p:spPr>
        <p:txBody>
          <a:bodyPr wrap="none" rtlCol="0">
            <a:spAutoFit/>
          </a:bodyPr>
          <a:lstStyle/>
          <a:p>
            <a:r>
              <a:rPr lang="en-US" altLang="zh-TW" sz="1200"/>
              <a:t>V</a:t>
            </a:r>
            <a:endParaRPr lang="zh-TW" altLang="en-US" sz="1200"/>
          </a:p>
        </p:txBody>
      </p:sp>
      <p:sp>
        <p:nvSpPr>
          <p:cNvPr id="277" name="文字方塊 276">
            <a:extLst>
              <a:ext uri="{FF2B5EF4-FFF2-40B4-BE49-F238E27FC236}">
                <a16:creationId xmlns:a16="http://schemas.microsoft.com/office/drawing/2014/main" id="{A8D30DA3-2A2F-04A6-B6EA-7E2FA3852EF7}"/>
              </a:ext>
            </a:extLst>
          </p:cNvPr>
          <p:cNvSpPr txBox="1"/>
          <p:nvPr/>
        </p:nvSpPr>
        <p:spPr>
          <a:xfrm>
            <a:off x="11304266" y="2657086"/>
            <a:ext cx="287258" cy="276999"/>
          </a:xfrm>
          <a:prstGeom prst="rect">
            <a:avLst/>
          </a:prstGeom>
          <a:noFill/>
        </p:spPr>
        <p:txBody>
          <a:bodyPr wrap="none" rtlCol="0">
            <a:spAutoFit/>
          </a:bodyPr>
          <a:lstStyle/>
          <a:p>
            <a:r>
              <a:rPr lang="en-US" altLang="zh-TW" sz="1200"/>
              <a:t>V</a:t>
            </a:r>
            <a:endParaRPr lang="zh-TW" altLang="en-US" sz="1200"/>
          </a:p>
        </p:txBody>
      </p:sp>
      <p:sp>
        <p:nvSpPr>
          <p:cNvPr id="279" name="矩形 278">
            <a:extLst>
              <a:ext uri="{FF2B5EF4-FFF2-40B4-BE49-F238E27FC236}">
                <a16:creationId xmlns:a16="http://schemas.microsoft.com/office/drawing/2014/main" id="{EF0E5A98-F74F-C3ED-6952-F7B6911176C5}"/>
              </a:ext>
            </a:extLst>
          </p:cNvPr>
          <p:cNvSpPr/>
          <p:nvPr/>
        </p:nvSpPr>
        <p:spPr>
          <a:xfrm>
            <a:off x="743978" y="3464825"/>
            <a:ext cx="3243374" cy="6929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b="1">
                <a:solidFill>
                  <a:schemeClr val="tx1"/>
                </a:solidFill>
              </a:rPr>
              <a:t>免評估及</a:t>
            </a:r>
            <a:r>
              <a:rPr lang="en-US" altLang="zh-TW" b="1">
                <a:solidFill>
                  <a:schemeClr val="tx1"/>
                </a:solidFill>
              </a:rPr>
              <a:t>PoC</a:t>
            </a:r>
          </a:p>
        </p:txBody>
      </p:sp>
      <p:sp>
        <p:nvSpPr>
          <p:cNvPr id="281" name="矩形 280">
            <a:extLst>
              <a:ext uri="{FF2B5EF4-FFF2-40B4-BE49-F238E27FC236}">
                <a16:creationId xmlns:a16="http://schemas.microsoft.com/office/drawing/2014/main" id="{8DC8F8A1-DDC1-8FC5-BBEB-6F6F9AF7A9F0}"/>
              </a:ext>
            </a:extLst>
          </p:cNvPr>
          <p:cNvSpPr/>
          <p:nvPr/>
        </p:nvSpPr>
        <p:spPr>
          <a:xfrm>
            <a:off x="4040478" y="2445814"/>
            <a:ext cx="563711" cy="2827045"/>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solidFill>
                  <a:srgbClr val="FF0000"/>
                </a:solidFill>
              </a:rPr>
              <a:t>待確認</a:t>
            </a:r>
          </a:p>
        </p:txBody>
      </p:sp>
      <p:sp>
        <p:nvSpPr>
          <p:cNvPr id="283" name="文字方塊 282">
            <a:extLst>
              <a:ext uri="{FF2B5EF4-FFF2-40B4-BE49-F238E27FC236}">
                <a16:creationId xmlns:a16="http://schemas.microsoft.com/office/drawing/2014/main" id="{94788483-7011-E64E-BD56-66C806213460}"/>
              </a:ext>
            </a:extLst>
          </p:cNvPr>
          <p:cNvSpPr txBox="1"/>
          <p:nvPr/>
        </p:nvSpPr>
        <p:spPr>
          <a:xfrm>
            <a:off x="4914823" y="3287384"/>
            <a:ext cx="287258" cy="276999"/>
          </a:xfrm>
          <a:prstGeom prst="rect">
            <a:avLst/>
          </a:prstGeom>
          <a:noFill/>
        </p:spPr>
        <p:txBody>
          <a:bodyPr wrap="none" rtlCol="0">
            <a:spAutoFit/>
          </a:bodyPr>
          <a:lstStyle/>
          <a:p>
            <a:r>
              <a:rPr lang="en-US" altLang="zh-TW" sz="1200"/>
              <a:t>V</a:t>
            </a:r>
            <a:endParaRPr lang="zh-TW" altLang="en-US" sz="1200"/>
          </a:p>
        </p:txBody>
      </p:sp>
      <p:sp>
        <p:nvSpPr>
          <p:cNvPr id="285" name="文字方塊 284">
            <a:extLst>
              <a:ext uri="{FF2B5EF4-FFF2-40B4-BE49-F238E27FC236}">
                <a16:creationId xmlns:a16="http://schemas.microsoft.com/office/drawing/2014/main" id="{2E977371-479F-A212-40AE-332AD172BADD}"/>
              </a:ext>
            </a:extLst>
          </p:cNvPr>
          <p:cNvSpPr txBox="1"/>
          <p:nvPr/>
        </p:nvSpPr>
        <p:spPr>
          <a:xfrm>
            <a:off x="5736319" y="3287383"/>
            <a:ext cx="287258" cy="276999"/>
          </a:xfrm>
          <a:prstGeom prst="rect">
            <a:avLst/>
          </a:prstGeom>
          <a:noFill/>
        </p:spPr>
        <p:txBody>
          <a:bodyPr wrap="none" rtlCol="0">
            <a:spAutoFit/>
          </a:bodyPr>
          <a:lstStyle/>
          <a:p>
            <a:r>
              <a:rPr lang="en-US" altLang="zh-TW" sz="1200"/>
              <a:t>V</a:t>
            </a:r>
            <a:endParaRPr lang="zh-TW" altLang="en-US" sz="1200"/>
          </a:p>
        </p:txBody>
      </p:sp>
      <p:sp>
        <p:nvSpPr>
          <p:cNvPr id="287" name="文字方塊 286">
            <a:extLst>
              <a:ext uri="{FF2B5EF4-FFF2-40B4-BE49-F238E27FC236}">
                <a16:creationId xmlns:a16="http://schemas.microsoft.com/office/drawing/2014/main" id="{1FFE8953-7F3A-1BF0-6318-1218E2D1A636}"/>
              </a:ext>
            </a:extLst>
          </p:cNvPr>
          <p:cNvSpPr txBox="1"/>
          <p:nvPr/>
        </p:nvSpPr>
        <p:spPr>
          <a:xfrm>
            <a:off x="11304266" y="3665784"/>
            <a:ext cx="287258" cy="276999"/>
          </a:xfrm>
          <a:prstGeom prst="rect">
            <a:avLst/>
          </a:prstGeom>
          <a:noFill/>
        </p:spPr>
        <p:txBody>
          <a:bodyPr wrap="none" rtlCol="0">
            <a:spAutoFit/>
          </a:bodyPr>
          <a:lstStyle/>
          <a:p>
            <a:r>
              <a:rPr lang="en-US" altLang="zh-TW" sz="1200"/>
              <a:t>V</a:t>
            </a:r>
            <a:endParaRPr lang="zh-TW" altLang="en-US" sz="1200"/>
          </a:p>
        </p:txBody>
      </p:sp>
      <p:sp>
        <p:nvSpPr>
          <p:cNvPr id="288" name="文字方塊 287">
            <a:extLst>
              <a:ext uri="{FF2B5EF4-FFF2-40B4-BE49-F238E27FC236}">
                <a16:creationId xmlns:a16="http://schemas.microsoft.com/office/drawing/2014/main" id="{163855DC-F394-9AF2-FD0C-6F973646AEF7}"/>
              </a:ext>
            </a:extLst>
          </p:cNvPr>
          <p:cNvSpPr txBox="1"/>
          <p:nvPr/>
        </p:nvSpPr>
        <p:spPr>
          <a:xfrm>
            <a:off x="6713535" y="4019287"/>
            <a:ext cx="287258" cy="276999"/>
          </a:xfrm>
          <a:prstGeom prst="rect">
            <a:avLst/>
          </a:prstGeom>
          <a:noFill/>
        </p:spPr>
        <p:txBody>
          <a:bodyPr wrap="none" rtlCol="0">
            <a:spAutoFit/>
          </a:bodyPr>
          <a:lstStyle/>
          <a:p>
            <a:r>
              <a:rPr lang="en-US" altLang="zh-TW" sz="1200"/>
              <a:t>V</a:t>
            </a:r>
            <a:endParaRPr lang="zh-TW" altLang="en-US" sz="1200"/>
          </a:p>
        </p:txBody>
      </p:sp>
      <p:sp>
        <p:nvSpPr>
          <p:cNvPr id="290" name="文字方塊 289">
            <a:extLst>
              <a:ext uri="{FF2B5EF4-FFF2-40B4-BE49-F238E27FC236}">
                <a16:creationId xmlns:a16="http://schemas.microsoft.com/office/drawing/2014/main" id="{30799BE8-46B3-B8A7-4817-BB8101D5D9E6}"/>
              </a:ext>
            </a:extLst>
          </p:cNvPr>
          <p:cNvSpPr txBox="1"/>
          <p:nvPr/>
        </p:nvSpPr>
        <p:spPr>
          <a:xfrm>
            <a:off x="7809080" y="4019287"/>
            <a:ext cx="287258" cy="276999"/>
          </a:xfrm>
          <a:prstGeom prst="rect">
            <a:avLst/>
          </a:prstGeom>
          <a:noFill/>
        </p:spPr>
        <p:txBody>
          <a:bodyPr wrap="none" rtlCol="0">
            <a:spAutoFit/>
          </a:bodyPr>
          <a:lstStyle/>
          <a:p>
            <a:r>
              <a:rPr lang="en-US" altLang="zh-TW" sz="1200"/>
              <a:t>V</a:t>
            </a:r>
            <a:endParaRPr lang="zh-TW" altLang="en-US" sz="1200"/>
          </a:p>
        </p:txBody>
      </p:sp>
      <p:sp>
        <p:nvSpPr>
          <p:cNvPr id="292" name="文字方塊 291">
            <a:extLst>
              <a:ext uri="{FF2B5EF4-FFF2-40B4-BE49-F238E27FC236}">
                <a16:creationId xmlns:a16="http://schemas.microsoft.com/office/drawing/2014/main" id="{F2AE9CF8-2EB8-44A9-BF0A-A0CB16FA28F2}"/>
              </a:ext>
            </a:extLst>
          </p:cNvPr>
          <p:cNvSpPr txBox="1"/>
          <p:nvPr/>
        </p:nvSpPr>
        <p:spPr>
          <a:xfrm>
            <a:off x="9499556" y="4019287"/>
            <a:ext cx="287258" cy="276999"/>
          </a:xfrm>
          <a:prstGeom prst="rect">
            <a:avLst/>
          </a:prstGeom>
          <a:noFill/>
        </p:spPr>
        <p:txBody>
          <a:bodyPr wrap="none" rtlCol="0">
            <a:spAutoFit/>
          </a:bodyPr>
          <a:lstStyle/>
          <a:p>
            <a:r>
              <a:rPr lang="en-US" altLang="zh-TW" sz="1200"/>
              <a:t>V</a:t>
            </a:r>
            <a:endParaRPr lang="zh-TW" altLang="en-US" sz="1200"/>
          </a:p>
        </p:txBody>
      </p:sp>
      <p:sp>
        <p:nvSpPr>
          <p:cNvPr id="294" name="文字方塊 293">
            <a:extLst>
              <a:ext uri="{FF2B5EF4-FFF2-40B4-BE49-F238E27FC236}">
                <a16:creationId xmlns:a16="http://schemas.microsoft.com/office/drawing/2014/main" id="{54E65BB0-A266-EFC2-FA6F-73EC62DC59F5}"/>
              </a:ext>
            </a:extLst>
          </p:cNvPr>
          <p:cNvSpPr txBox="1"/>
          <p:nvPr/>
        </p:nvSpPr>
        <p:spPr>
          <a:xfrm>
            <a:off x="10288706" y="3309734"/>
            <a:ext cx="287258" cy="276999"/>
          </a:xfrm>
          <a:prstGeom prst="rect">
            <a:avLst/>
          </a:prstGeom>
          <a:noFill/>
        </p:spPr>
        <p:txBody>
          <a:bodyPr wrap="none" rtlCol="0">
            <a:spAutoFit/>
          </a:bodyPr>
          <a:lstStyle/>
          <a:p>
            <a:r>
              <a:rPr lang="en-US" altLang="zh-TW" sz="1200"/>
              <a:t>V</a:t>
            </a:r>
            <a:endParaRPr lang="zh-TW" altLang="en-US" sz="1200"/>
          </a:p>
        </p:txBody>
      </p:sp>
      <p:sp>
        <p:nvSpPr>
          <p:cNvPr id="296" name="文字方塊 295">
            <a:extLst>
              <a:ext uri="{FF2B5EF4-FFF2-40B4-BE49-F238E27FC236}">
                <a16:creationId xmlns:a16="http://schemas.microsoft.com/office/drawing/2014/main" id="{19EA7B96-D6E7-73A1-9570-13B4FC958E24}"/>
              </a:ext>
            </a:extLst>
          </p:cNvPr>
          <p:cNvSpPr txBox="1"/>
          <p:nvPr/>
        </p:nvSpPr>
        <p:spPr>
          <a:xfrm>
            <a:off x="11304266" y="3281353"/>
            <a:ext cx="287258" cy="276999"/>
          </a:xfrm>
          <a:prstGeom prst="rect">
            <a:avLst/>
          </a:prstGeom>
          <a:noFill/>
        </p:spPr>
        <p:txBody>
          <a:bodyPr wrap="none" rtlCol="0">
            <a:spAutoFit/>
          </a:bodyPr>
          <a:lstStyle/>
          <a:p>
            <a:r>
              <a:rPr lang="en-US" altLang="zh-TW" sz="1200"/>
              <a:t>V</a:t>
            </a:r>
            <a:endParaRPr lang="zh-TW" altLang="en-US" sz="1200"/>
          </a:p>
        </p:txBody>
      </p:sp>
      <p:sp>
        <p:nvSpPr>
          <p:cNvPr id="298" name="矩形 297">
            <a:extLst>
              <a:ext uri="{FF2B5EF4-FFF2-40B4-BE49-F238E27FC236}">
                <a16:creationId xmlns:a16="http://schemas.microsoft.com/office/drawing/2014/main" id="{E218073D-4D41-A832-286D-609F43FAF305}"/>
              </a:ext>
            </a:extLst>
          </p:cNvPr>
          <p:cNvSpPr/>
          <p:nvPr/>
        </p:nvSpPr>
        <p:spPr>
          <a:xfrm>
            <a:off x="996023" y="4530277"/>
            <a:ext cx="2733822" cy="74258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solidFill>
                  <a:srgbClr val="FF0000"/>
                </a:solidFill>
              </a:rPr>
              <a:t>待確認</a:t>
            </a:r>
          </a:p>
        </p:txBody>
      </p:sp>
      <p:sp>
        <p:nvSpPr>
          <p:cNvPr id="300" name="矩形 299">
            <a:extLst>
              <a:ext uri="{FF2B5EF4-FFF2-40B4-BE49-F238E27FC236}">
                <a16:creationId xmlns:a16="http://schemas.microsoft.com/office/drawing/2014/main" id="{77E0CCC5-1761-BD57-9AF1-6A836FE8FDB8}"/>
              </a:ext>
            </a:extLst>
          </p:cNvPr>
          <p:cNvSpPr/>
          <p:nvPr/>
        </p:nvSpPr>
        <p:spPr>
          <a:xfrm>
            <a:off x="4882615" y="4474478"/>
            <a:ext cx="3451760" cy="74258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solidFill>
                  <a:srgbClr val="FF0000"/>
                </a:solidFill>
              </a:rPr>
              <a:t>待確認</a:t>
            </a:r>
          </a:p>
        </p:txBody>
      </p:sp>
      <p:sp>
        <p:nvSpPr>
          <p:cNvPr id="302" name="文字方塊 301">
            <a:extLst>
              <a:ext uri="{FF2B5EF4-FFF2-40B4-BE49-F238E27FC236}">
                <a16:creationId xmlns:a16="http://schemas.microsoft.com/office/drawing/2014/main" id="{56761B8C-0289-41AB-8CAB-A296074ACF91}"/>
              </a:ext>
            </a:extLst>
          </p:cNvPr>
          <p:cNvSpPr txBox="1"/>
          <p:nvPr/>
        </p:nvSpPr>
        <p:spPr>
          <a:xfrm>
            <a:off x="10288706" y="4724267"/>
            <a:ext cx="287258" cy="276999"/>
          </a:xfrm>
          <a:prstGeom prst="rect">
            <a:avLst/>
          </a:prstGeom>
          <a:noFill/>
        </p:spPr>
        <p:txBody>
          <a:bodyPr wrap="none" rtlCol="0">
            <a:spAutoFit/>
          </a:bodyPr>
          <a:lstStyle/>
          <a:p>
            <a:r>
              <a:rPr lang="en-US" altLang="zh-TW" sz="1200"/>
              <a:t>V</a:t>
            </a:r>
            <a:endParaRPr lang="zh-TW" altLang="en-US" sz="1200"/>
          </a:p>
        </p:txBody>
      </p:sp>
      <p:sp>
        <p:nvSpPr>
          <p:cNvPr id="303" name="文字方塊 302">
            <a:extLst>
              <a:ext uri="{FF2B5EF4-FFF2-40B4-BE49-F238E27FC236}">
                <a16:creationId xmlns:a16="http://schemas.microsoft.com/office/drawing/2014/main" id="{8DA15358-0F49-C75A-F8EA-4D097B0D55C4}"/>
              </a:ext>
            </a:extLst>
          </p:cNvPr>
          <p:cNvSpPr txBox="1"/>
          <p:nvPr/>
        </p:nvSpPr>
        <p:spPr>
          <a:xfrm>
            <a:off x="11304266" y="4698916"/>
            <a:ext cx="287258" cy="276999"/>
          </a:xfrm>
          <a:prstGeom prst="rect">
            <a:avLst/>
          </a:prstGeom>
          <a:noFill/>
        </p:spPr>
        <p:txBody>
          <a:bodyPr wrap="none" rtlCol="0">
            <a:spAutoFit/>
          </a:bodyPr>
          <a:lstStyle/>
          <a:p>
            <a:r>
              <a:rPr lang="en-US" altLang="zh-TW" sz="1200"/>
              <a:t>V</a:t>
            </a:r>
            <a:endParaRPr lang="zh-TW" altLang="en-US" sz="1200"/>
          </a:p>
        </p:txBody>
      </p:sp>
    </p:spTree>
    <p:extLst>
      <p:ext uri="{BB962C8B-B14F-4D97-AF65-F5344CB8AC3E}">
        <p14:creationId xmlns:p14="http://schemas.microsoft.com/office/powerpoint/2010/main" val="4147848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6D53E-71C2-6D53-FDFF-BCD8683AB99D}"/>
            </a:ext>
          </a:extLst>
        </p:cNvPr>
        <p:cNvGrpSpPr/>
        <p:nvPr/>
      </p:nvGrpSpPr>
      <p:grpSpPr>
        <a:xfrm>
          <a:off x="0" y="0"/>
          <a:ext cx="0" cy="0"/>
          <a:chOff x="0" y="0"/>
          <a:chExt cx="0" cy="0"/>
        </a:xfrm>
      </p:grpSpPr>
      <p:sp>
        <p:nvSpPr>
          <p:cNvPr id="435" name="Text 25">
            <a:extLst>
              <a:ext uri="{FF2B5EF4-FFF2-40B4-BE49-F238E27FC236}">
                <a16:creationId xmlns:a16="http://schemas.microsoft.com/office/drawing/2014/main" id="{1125911C-8E59-9A7F-6A9F-8C4D1DEFD7D0}"/>
              </a:ext>
            </a:extLst>
          </p:cNvPr>
          <p:cNvSpPr/>
          <p:nvPr/>
        </p:nvSpPr>
        <p:spPr>
          <a:xfrm>
            <a:off x="-2646656" y="1452015"/>
            <a:ext cx="2211568" cy="1133856"/>
          </a:xfrm>
          <a:prstGeom prst="rect">
            <a:avLst/>
          </a:prstGeom>
          <a:solidFill>
            <a:srgbClr val="FFF7E8"/>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對應工作
</a:t>
            </a:r>
            <a:r>
              <a:rPr lang="en-US" sz="670" dirty="0">
                <a:solidFill>
                  <a:srgbClr val="17384D"/>
                </a:solidFill>
                <a:latin typeface="Microsoft JhengHei" pitchFamily="34" charset="0"/>
                <a:ea typeface="Microsoft JhengHei" pitchFamily="34" charset="-122"/>
                <a:cs typeface="Microsoft JhengHei" pitchFamily="34" charset="-120"/>
              </a:rPr>
              <a:t>Vibe Coding</a:t>
            </a:r>
            <a:endParaRPr lang="en-US" sz="670" dirty="0"/>
          </a:p>
        </p:txBody>
      </p:sp>
      <p:sp>
        <p:nvSpPr>
          <p:cNvPr id="437" name="Text 26">
            <a:extLst>
              <a:ext uri="{FF2B5EF4-FFF2-40B4-BE49-F238E27FC236}">
                <a16:creationId xmlns:a16="http://schemas.microsoft.com/office/drawing/2014/main" id="{B8A65640-962D-E30C-D26E-B5B141FF4668}"/>
              </a:ext>
            </a:extLst>
          </p:cNvPr>
          <p:cNvSpPr/>
          <p:nvPr/>
        </p:nvSpPr>
        <p:spPr>
          <a:xfrm>
            <a:off x="-2646656" y="3290902"/>
            <a:ext cx="2211568" cy="1133856"/>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90" b="1" dirty="0">
                <a:solidFill>
                  <a:srgbClr val="07324D"/>
                </a:solidFill>
                <a:latin typeface="Microsoft JhengHei" pitchFamily="34" charset="0"/>
                <a:ea typeface="Microsoft JhengHei" pitchFamily="34" charset="-122"/>
                <a:cs typeface="Microsoft JhengHei" pitchFamily="34" charset="-120"/>
              </a:rPr>
              <a:t>Scope
</a:t>
            </a:r>
            <a:r>
              <a:rPr lang="en-US" sz="690" dirty="0">
                <a:solidFill>
                  <a:srgbClr val="17384D"/>
                </a:solidFill>
                <a:latin typeface="Microsoft JhengHei" pitchFamily="34" charset="0"/>
                <a:ea typeface="Microsoft JhengHei" pitchFamily="34" charset="-122"/>
                <a:cs typeface="Microsoft JhengHei" pitchFamily="34" charset="-120"/>
              </a:rPr>
              <a:t>建立業務、前緣與規劃單位由 Prototype / POC 到工程審查與正式上線的導入流程。</a:t>
            </a:r>
            <a:endParaRPr lang="en-US" sz="690" dirty="0"/>
          </a:p>
        </p:txBody>
      </p:sp>
      <p:sp>
        <p:nvSpPr>
          <p:cNvPr id="439" name="Text 27">
            <a:extLst>
              <a:ext uri="{FF2B5EF4-FFF2-40B4-BE49-F238E27FC236}">
                <a16:creationId xmlns:a16="http://schemas.microsoft.com/office/drawing/2014/main" id="{11AD3D3A-91C6-45A1-C184-1F3DD68FE8A8}"/>
              </a:ext>
            </a:extLst>
          </p:cNvPr>
          <p:cNvSpPr/>
          <p:nvPr/>
        </p:nvSpPr>
        <p:spPr>
          <a:xfrm>
            <a:off x="-2646656" y="4488766"/>
            <a:ext cx="2211568" cy="1713568"/>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預計產出
</a:t>
            </a:r>
            <a:r>
              <a:rPr lang="en-US" sz="670" dirty="0">
                <a:solidFill>
                  <a:srgbClr val="17384D"/>
                </a:solidFill>
                <a:latin typeface="Microsoft JhengHei" pitchFamily="34" charset="0"/>
                <a:ea typeface="Microsoft JhengHei" pitchFamily="34" charset="-122"/>
                <a:cs typeface="Microsoft JhengHei" pitchFamily="34" charset="-120"/>
              </a:rPr>
              <a:t>• Vibe Coding 整體流程</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Prototype / POC 作業指引</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工程 Review 檢核表</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上線作業規範</a:t>
            </a:r>
            <a:endParaRPr lang="en-US" sz="670" dirty="0"/>
          </a:p>
        </p:txBody>
      </p:sp>
      <p:pic>
        <p:nvPicPr>
          <p:cNvPr id="4" name="圖片 3">
            <a:extLst>
              <a:ext uri="{FF2B5EF4-FFF2-40B4-BE49-F238E27FC236}">
                <a16:creationId xmlns:a16="http://schemas.microsoft.com/office/drawing/2014/main" id="{8F78D6CC-CA82-F4EF-20CD-0B1320A02E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05233" y="717200"/>
            <a:ext cx="10116841" cy="5735025"/>
          </a:xfrm>
          <a:prstGeom prst="rect">
            <a:avLst/>
          </a:prstGeom>
        </p:spPr>
      </p:pic>
    </p:spTree>
    <p:extLst>
      <p:ext uri="{BB962C8B-B14F-4D97-AF65-F5344CB8AC3E}">
        <p14:creationId xmlns:p14="http://schemas.microsoft.com/office/powerpoint/2010/main" val="3861261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8DEA7-B197-06B3-ED8B-4F581CFF991E}"/>
            </a:ext>
          </a:extLst>
        </p:cNvPr>
        <p:cNvGrpSpPr/>
        <p:nvPr/>
      </p:nvGrpSpPr>
      <p:grpSpPr>
        <a:xfrm>
          <a:off x="0" y="0"/>
          <a:ext cx="0" cy="0"/>
          <a:chOff x="0" y="0"/>
          <a:chExt cx="0" cy="0"/>
        </a:xfrm>
      </p:grpSpPr>
      <p:sp>
        <p:nvSpPr>
          <p:cNvPr id="435" name="Text 25">
            <a:extLst>
              <a:ext uri="{FF2B5EF4-FFF2-40B4-BE49-F238E27FC236}">
                <a16:creationId xmlns:a16="http://schemas.microsoft.com/office/drawing/2014/main" id="{71D76110-B347-174C-7244-5FC1C4801122}"/>
              </a:ext>
            </a:extLst>
          </p:cNvPr>
          <p:cNvSpPr/>
          <p:nvPr/>
        </p:nvSpPr>
        <p:spPr>
          <a:xfrm>
            <a:off x="-2646656" y="1452015"/>
            <a:ext cx="2211568" cy="1133856"/>
          </a:xfrm>
          <a:prstGeom prst="rect">
            <a:avLst/>
          </a:prstGeom>
          <a:solidFill>
            <a:srgbClr val="FFF7E8"/>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對應工作
</a:t>
            </a:r>
            <a:r>
              <a:rPr lang="en-US" sz="670" dirty="0">
                <a:solidFill>
                  <a:srgbClr val="17384D"/>
                </a:solidFill>
                <a:latin typeface="Microsoft JhengHei" pitchFamily="34" charset="0"/>
                <a:ea typeface="Microsoft JhengHei" pitchFamily="34" charset="-122"/>
                <a:cs typeface="Microsoft JhengHei" pitchFamily="34" charset="-120"/>
              </a:rPr>
              <a:t>Vibe Coding</a:t>
            </a:r>
            <a:endParaRPr lang="en-US" sz="670" dirty="0"/>
          </a:p>
        </p:txBody>
      </p:sp>
      <p:sp>
        <p:nvSpPr>
          <p:cNvPr id="437" name="Text 26">
            <a:extLst>
              <a:ext uri="{FF2B5EF4-FFF2-40B4-BE49-F238E27FC236}">
                <a16:creationId xmlns:a16="http://schemas.microsoft.com/office/drawing/2014/main" id="{662AF04A-3468-B689-AC70-78EA157C7198}"/>
              </a:ext>
            </a:extLst>
          </p:cNvPr>
          <p:cNvSpPr/>
          <p:nvPr/>
        </p:nvSpPr>
        <p:spPr>
          <a:xfrm>
            <a:off x="-2646656" y="3290902"/>
            <a:ext cx="2211568" cy="1133856"/>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90" b="1" dirty="0">
                <a:solidFill>
                  <a:srgbClr val="07324D"/>
                </a:solidFill>
                <a:latin typeface="Microsoft JhengHei" pitchFamily="34" charset="0"/>
                <a:ea typeface="Microsoft JhengHei" pitchFamily="34" charset="-122"/>
                <a:cs typeface="Microsoft JhengHei" pitchFamily="34" charset="-120"/>
              </a:rPr>
              <a:t>Scope
</a:t>
            </a:r>
            <a:r>
              <a:rPr lang="en-US" sz="690" dirty="0">
                <a:solidFill>
                  <a:srgbClr val="17384D"/>
                </a:solidFill>
                <a:latin typeface="Microsoft JhengHei" pitchFamily="34" charset="0"/>
                <a:ea typeface="Microsoft JhengHei" pitchFamily="34" charset="-122"/>
                <a:cs typeface="Microsoft JhengHei" pitchFamily="34" charset="-120"/>
              </a:rPr>
              <a:t>建立業務、前緣與規劃單位由 Prototype / POC 到工程審查與正式上線的導入流程。</a:t>
            </a:r>
            <a:endParaRPr lang="en-US" sz="690" dirty="0"/>
          </a:p>
        </p:txBody>
      </p:sp>
      <p:sp>
        <p:nvSpPr>
          <p:cNvPr id="439" name="Text 27">
            <a:extLst>
              <a:ext uri="{FF2B5EF4-FFF2-40B4-BE49-F238E27FC236}">
                <a16:creationId xmlns:a16="http://schemas.microsoft.com/office/drawing/2014/main" id="{7A343A84-8580-4903-E316-0697DA4F01B2}"/>
              </a:ext>
            </a:extLst>
          </p:cNvPr>
          <p:cNvSpPr/>
          <p:nvPr/>
        </p:nvSpPr>
        <p:spPr>
          <a:xfrm>
            <a:off x="-2646656" y="4488766"/>
            <a:ext cx="2211568" cy="1713568"/>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預計產出
</a:t>
            </a:r>
            <a:r>
              <a:rPr lang="en-US" sz="670" dirty="0">
                <a:solidFill>
                  <a:srgbClr val="17384D"/>
                </a:solidFill>
                <a:latin typeface="Microsoft JhengHei" pitchFamily="34" charset="0"/>
                <a:ea typeface="Microsoft JhengHei" pitchFamily="34" charset="-122"/>
                <a:cs typeface="Microsoft JhengHei" pitchFamily="34" charset="-120"/>
              </a:rPr>
              <a:t>• Vibe Coding 整體流程</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Prototype / POC 作業指引</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工程 Review 檢核表</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上線作業規範</a:t>
            </a:r>
            <a:endParaRPr lang="en-US" sz="670" dirty="0"/>
          </a:p>
        </p:txBody>
      </p:sp>
      <p:pic>
        <p:nvPicPr>
          <p:cNvPr id="2" name="圖片 1">
            <a:extLst>
              <a:ext uri="{FF2B5EF4-FFF2-40B4-BE49-F238E27FC236}">
                <a16:creationId xmlns:a16="http://schemas.microsoft.com/office/drawing/2014/main" id="{77181A43-F8B9-D446-032D-906D98B86DE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40837" y="789893"/>
            <a:ext cx="10190374" cy="5143500"/>
          </a:xfrm>
          <a:prstGeom prst="rect">
            <a:avLst/>
          </a:prstGeom>
        </p:spPr>
      </p:pic>
      <p:sp>
        <p:nvSpPr>
          <p:cNvPr id="5" name="矩形 4">
            <a:extLst>
              <a:ext uri="{FF2B5EF4-FFF2-40B4-BE49-F238E27FC236}">
                <a16:creationId xmlns:a16="http://schemas.microsoft.com/office/drawing/2014/main" id="{361FBC29-20EA-794A-3DE5-E53BFE4AA215}"/>
              </a:ext>
            </a:extLst>
          </p:cNvPr>
          <p:cNvSpPr/>
          <p:nvPr/>
        </p:nvSpPr>
        <p:spPr>
          <a:xfrm>
            <a:off x="4222376" y="3944471"/>
            <a:ext cx="3433483" cy="182880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C59C217F-1FB0-0D65-3FD5-A999827D0DB5}"/>
              </a:ext>
            </a:extLst>
          </p:cNvPr>
          <p:cNvSpPr/>
          <p:nvPr/>
        </p:nvSpPr>
        <p:spPr>
          <a:xfrm>
            <a:off x="7655859" y="2115671"/>
            <a:ext cx="3433483" cy="182880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28DA35D8-3733-260F-5CB2-092F4F0D50F3}"/>
              </a:ext>
            </a:extLst>
          </p:cNvPr>
          <p:cNvSpPr/>
          <p:nvPr/>
        </p:nvSpPr>
        <p:spPr>
          <a:xfrm>
            <a:off x="764865" y="2115671"/>
            <a:ext cx="3433483" cy="182880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356953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12E9B-29A3-E82D-5DB5-8FF8A0DF6061}"/>
            </a:ext>
          </a:extLst>
        </p:cNvPr>
        <p:cNvGrpSpPr/>
        <p:nvPr/>
      </p:nvGrpSpPr>
      <p:grpSpPr>
        <a:xfrm>
          <a:off x="0" y="0"/>
          <a:ext cx="0" cy="0"/>
          <a:chOff x="0" y="0"/>
          <a:chExt cx="0" cy="0"/>
        </a:xfrm>
      </p:grpSpPr>
      <p:sp>
        <p:nvSpPr>
          <p:cNvPr id="435" name="Text 25">
            <a:extLst>
              <a:ext uri="{FF2B5EF4-FFF2-40B4-BE49-F238E27FC236}">
                <a16:creationId xmlns:a16="http://schemas.microsoft.com/office/drawing/2014/main" id="{47A1233E-1800-255D-CDAE-B8FB7CD8C91E}"/>
              </a:ext>
            </a:extLst>
          </p:cNvPr>
          <p:cNvSpPr/>
          <p:nvPr/>
        </p:nvSpPr>
        <p:spPr>
          <a:xfrm>
            <a:off x="-2646656" y="1452015"/>
            <a:ext cx="2211568" cy="1133856"/>
          </a:xfrm>
          <a:prstGeom prst="rect">
            <a:avLst/>
          </a:prstGeom>
          <a:solidFill>
            <a:srgbClr val="FFF7E8"/>
          </a:solidFill>
          <a:ln w="8890">
            <a:solidFill>
              <a:srgbClr val="D5E4EC"/>
            </a:solidFill>
          </a:ln>
        </p:spPr>
        <p:txBody>
          <a:bodyPr wrap="square" lIns="1016" tIns="1016" rIns="1016" bIns="1016" rtlCol="0" anchor="t">
            <a:normAutofit/>
          </a:bodyPr>
          <a:lstStyle/>
          <a:p>
            <a:pPr marL="0" indent="0">
              <a:buNone/>
            </a:pPr>
            <a:r>
              <a:rPr lang="en-US" sz="670" b="1">
                <a:solidFill>
                  <a:srgbClr val="07324D"/>
                </a:solidFill>
                <a:latin typeface="Microsoft JhengHei" pitchFamily="34" charset="0"/>
                <a:ea typeface="Microsoft JhengHei" pitchFamily="34" charset="-122"/>
                <a:cs typeface="Microsoft JhengHei" pitchFamily="34" charset="-120"/>
              </a:rPr>
              <a:t>對應工作
</a:t>
            </a:r>
            <a:r>
              <a:rPr lang="en-US" sz="670">
                <a:solidFill>
                  <a:srgbClr val="17384D"/>
                </a:solidFill>
                <a:latin typeface="Microsoft JhengHei" pitchFamily="34" charset="0"/>
                <a:ea typeface="Microsoft JhengHei" pitchFamily="34" charset="-122"/>
                <a:cs typeface="Microsoft JhengHei" pitchFamily="34" charset="-120"/>
              </a:rPr>
              <a:t>Vibe Coding</a:t>
            </a:r>
            <a:endParaRPr lang="en-US" sz="670"/>
          </a:p>
        </p:txBody>
      </p:sp>
      <p:sp>
        <p:nvSpPr>
          <p:cNvPr id="437" name="Text 26">
            <a:extLst>
              <a:ext uri="{FF2B5EF4-FFF2-40B4-BE49-F238E27FC236}">
                <a16:creationId xmlns:a16="http://schemas.microsoft.com/office/drawing/2014/main" id="{58AAC221-4DFF-36C8-5C01-83022D83798F}"/>
              </a:ext>
            </a:extLst>
          </p:cNvPr>
          <p:cNvSpPr/>
          <p:nvPr/>
        </p:nvSpPr>
        <p:spPr>
          <a:xfrm>
            <a:off x="-2646656" y="3290902"/>
            <a:ext cx="2211568" cy="1133856"/>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90" b="1">
                <a:solidFill>
                  <a:srgbClr val="07324D"/>
                </a:solidFill>
                <a:latin typeface="Microsoft JhengHei" pitchFamily="34" charset="0"/>
                <a:ea typeface="Microsoft JhengHei" pitchFamily="34" charset="-122"/>
                <a:cs typeface="Microsoft JhengHei" pitchFamily="34" charset="-120"/>
              </a:rPr>
              <a:t>Scope
</a:t>
            </a:r>
            <a:r>
              <a:rPr lang="en-US" sz="690">
                <a:solidFill>
                  <a:srgbClr val="17384D"/>
                </a:solidFill>
                <a:latin typeface="Microsoft JhengHei" pitchFamily="34" charset="0"/>
                <a:ea typeface="Microsoft JhengHei" pitchFamily="34" charset="-122"/>
                <a:cs typeface="Microsoft JhengHei" pitchFamily="34" charset="-120"/>
              </a:rPr>
              <a:t>建立業務、前緣與規劃單位由 Prototype / POC 到工程審查與正式上線的導入流程。</a:t>
            </a:r>
            <a:endParaRPr lang="en-US" sz="690"/>
          </a:p>
        </p:txBody>
      </p:sp>
      <p:sp>
        <p:nvSpPr>
          <p:cNvPr id="439" name="Text 27">
            <a:extLst>
              <a:ext uri="{FF2B5EF4-FFF2-40B4-BE49-F238E27FC236}">
                <a16:creationId xmlns:a16="http://schemas.microsoft.com/office/drawing/2014/main" id="{4FA3B1D4-0171-62DB-984E-75C3F006359C}"/>
              </a:ext>
            </a:extLst>
          </p:cNvPr>
          <p:cNvSpPr/>
          <p:nvPr/>
        </p:nvSpPr>
        <p:spPr>
          <a:xfrm>
            <a:off x="-2646656" y="4488766"/>
            <a:ext cx="2211568" cy="1713568"/>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70" b="1">
                <a:solidFill>
                  <a:srgbClr val="07324D"/>
                </a:solidFill>
                <a:latin typeface="Microsoft JhengHei" pitchFamily="34" charset="0"/>
                <a:ea typeface="Microsoft JhengHei" pitchFamily="34" charset="-122"/>
                <a:cs typeface="Microsoft JhengHei" pitchFamily="34" charset="-120"/>
              </a:rPr>
              <a:t>預計產出
</a:t>
            </a:r>
            <a:r>
              <a:rPr lang="en-US" sz="670">
                <a:solidFill>
                  <a:srgbClr val="17384D"/>
                </a:solidFill>
                <a:latin typeface="Microsoft JhengHei" pitchFamily="34" charset="0"/>
                <a:ea typeface="Microsoft JhengHei" pitchFamily="34" charset="-122"/>
                <a:cs typeface="Microsoft JhengHei" pitchFamily="34" charset="-120"/>
              </a:rPr>
              <a:t>• Vibe Coding 整體流程</a:t>
            </a:r>
            <a:endParaRPr lang="en-US" sz="670"/>
          </a:p>
          <a:p>
            <a:pPr marL="0" indent="0">
              <a:buNone/>
            </a:pPr>
            <a:r>
              <a:rPr lang="en-US" sz="670">
                <a:solidFill>
                  <a:srgbClr val="17384D"/>
                </a:solidFill>
                <a:latin typeface="Microsoft JhengHei" pitchFamily="34" charset="0"/>
                <a:ea typeface="Microsoft JhengHei" pitchFamily="34" charset="-122"/>
                <a:cs typeface="Microsoft JhengHei" pitchFamily="34" charset="-120"/>
              </a:rPr>
              <a:t>• Prototype / POC 作業指引</a:t>
            </a:r>
            <a:endParaRPr lang="en-US" sz="670"/>
          </a:p>
          <a:p>
            <a:pPr marL="0" indent="0">
              <a:buNone/>
            </a:pPr>
            <a:r>
              <a:rPr lang="en-US" sz="670">
                <a:solidFill>
                  <a:srgbClr val="17384D"/>
                </a:solidFill>
                <a:latin typeface="Microsoft JhengHei" pitchFamily="34" charset="0"/>
                <a:ea typeface="Microsoft JhengHei" pitchFamily="34" charset="-122"/>
                <a:cs typeface="Microsoft JhengHei" pitchFamily="34" charset="-120"/>
              </a:rPr>
              <a:t>• 工程 Review 檢核表</a:t>
            </a:r>
            <a:endParaRPr lang="en-US" sz="670"/>
          </a:p>
          <a:p>
            <a:pPr marL="0" indent="0">
              <a:buNone/>
            </a:pPr>
            <a:r>
              <a:rPr lang="en-US" sz="670">
                <a:solidFill>
                  <a:srgbClr val="17384D"/>
                </a:solidFill>
                <a:latin typeface="Microsoft JhengHei" pitchFamily="34" charset="0"/>
                <a:ea typeface="Microsoft JhengHei" pitchFamily="34" charset="-122"/>
                <a:cs typeface="Microsoft JhengHei" pitchFamily="34" charset="-120"/>
              </a:rPr>
              <a:t>• 上線作業規範</a:t>
            </a:r>
            <a:endParaRPr lang="en-US" sz="670"/>
          </a:p>
        </p:txBody>
      </p:sp>
      <p:pic>
        <p:nvPicPr>
          <p:cNvPr id="2" name="圖片 1">
            <a:extLst>
              <a:ext uri="{FF2B5EF4-FFF2-40B4-BE49-F238E27FC236}">
                <a16:creationId xmlns:a16="http://schemas.microsoft.com/office/drawing/2014/main" id="{F0A24751-92EE-176B-9B4E-102599472D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99024" y="520490"/>
            <a:ext cx="10337525" cy="5814858"/>
          </a:xfrm>
          <a:prstGeom prst="rect">
            <a:avLst/>
          </a:prstGeom>
        </p:spPr>
      </p:pic>
    </p:spTree>
    <p:extLst>
      <p:ext uri="{BB962C8B-B14F-4D97-AF65-F5344CB8AC3E}">
        <p14:creationId xmlns:p14="http://schemas.microsoft.com/office/powerpoint/2010/main" val="23920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8AC67-2E91-965F-2C48-1551C029B642}"/>
            </a:ext>
          </a:extLst>
        </p:cNvPr>
        <p:cNvGrpSpPr/>
        <p:nvPr/>
      </p:nvGrpSpPr>
      <p:grpSpPr>
        <a:xfrm>
          <a:off x="0" y="0"/>
          <a:ext cx="0" cy="0"/>
          <a:chOff x="0" y="0"/>
          <a:chExt cx="0" cy="0"/>
        </a:xfrm>
      </p:grpSpPr>
      <p:sp>
        <p:nvSpPr>
          <p:cNvPr id="435" name="Text 25">
            <a:extLst>
              <a:ext uri="{FF2B5EF4-FFF2-40B4-BE49-F238E27FC236}">
                <a16:creationId xmlns:a16="http://schemas.microsoft.com/office/drawing/2014/main" id="{BC49B1B8-84F7-1F40-1884-41E4EE7CD523}"/>
              </a:ext>
            </a:extLst>
          </p:cNvPr>
          <p:cNvSpPr/>
          <p:nvPr/>
        </p:nvSpPr>
        <p:spPr>
          <a:xfrm>
            <a:off x="-2646656" y="1452015"/>
            <a:ext cx="2211568" cy="1133856"/>
          </a:xfrm>
          <a:prstGeom prst="rect">
            <a:avLst/>
          </a:prstGeom>
          <a:solidFill>
            <a:srgbClr val="FFF7E8"/>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對應工作
</a:t>
            </a:r>
            <a:r>
              <a:rPr lang="en-US" sz="670" dirty="0">
                <a:solidFill>
                  <a:srgbClr val="17384D"/>
                </a:solidFill>
                <a:latin typeface="Microsoft JhengHei" pitchFamily="34" charset="0"/>
                <a:ea typeface="Microsoft JhengHei" pitchFamily="34" charset="-122"/>
                <a:cs typeface="Microsoft JhengHei" pitchFamily="34" charset="-120"/>
              </a:rPr>
              <a:t>Vibe Coding</a:t>
            </a:r>
            <a:endParaRPr lang="en-US" sz="670" dirty="0"/>
          </a:p>
        </p:txBody>
      </p:sp>
      <p:sp>
        <p:nvSpPr>
          <p:cNvPr id="437" name="Text 26">
            <a:extLst>
              <a:ext uri="{FF2B5EF4-FFF2-40B4-BE49-F238E27FC236}">
                <a16:creationId xmlns:a16="http://schemas.microsoft.com/office/drawing/2014/main" id="{1DC964C4-F6D5-6B87-28DF-A426A2FCC611}"/>
              </a:ext>
            </a:extLst>
          </p:cNvPr>
          <p:cNvSpPr/>
          <p:nvPr/>
        </p:nvSpPr>
        <p:spPr>
          <a:xfrm>
            <a:off x="-2646656" y="3290902"/>
            <a:ext cx="2211568" cy="1133856"/>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90" b="1" dirty="0">
                <a:solidFill>
                  <a:srgbClr val="07324D"/>
                </a:solidFill>
                <a:latin typeface="Microsoft JhengHei" pitchFamily="34" charset="0"/>
                <a:ea typeface="Microsoft JhengHei" pitchFamily="34" charset="-122"/>
                <a:cs typeface="Microsoft JhengHei" pitchFamily="34" charset="-120"/>
              </a:rPr>
              <a:t>Scope
</a:t>
            </a:r>
            <a:r>
              <a:rPr lang="en-US" sz="690" dirty="0">
                <a:solidFill>
                  <a:srgbClr val="17384D"/>
                </a:solidFill>
                <a:latin typeface="Microsoft JhengHei" pitchFamily="34" charset="0"/>
                <a:ea typeface="Microsoft JhengHei" pitchFamily="34" charset="-122"/>
                <a:cs typeface="Microsoft JhengHei" pitchFamily="34" charset="-120"/>
              </a:rPr>
              <a:t>建立業務、前緣與規劃單位由 Prototype / POC 到工程審查與正式上線的導入流程。</a:t>
            </a:r>
            <a:endParaRPr lang="en-US" sz="690" dirty="0"/>
          </a:p>
        </p:txBody>
      </p:sp>
      <p:sp>
        <p:nvSpPr>
          <p:cNvPr id="439" name="Text 27">
            <a:extLst>
              <a:ext uri="{FF2B5EF4-FFF2-40B4-BE49-F238E27FC236}">
                <a16:creationId xmlns:a16="http://schemas.microsoft.com/office/drawing/2014/main" id="{224C54E8-0A92-4AE9-678D-83C9A488BC7B}"/>
              </a:ext>
            </a:extLst>
          </p:cNvPr>
          <p:cNvSpPr/>
          <p:nvPr/>
        </p:nvSpPr>
        <p:spPr>
          <a:xfrm>
            <a:off x="-2646656" y="4488766"/>
            <a:ext cx="2211568" cy="1713568"/>
          </a:xfrm>
          <a:prstGeom prst="rect">
            <a:avLst/>
          </a:prstGeom>
          <a:solidFill>
            <a:srgbClr val="FFFFFF"/>
          </a:solidFill>
          <a:ln w="8890">
            <a:solidFill>
              <a:srgbClr val="D5E4EC"/>
            </a:solidFill>
          </a:ln>
        </p:spPr>
        <p:txBody>
          <a:bodyPr wrap="square" lIns="1016" tIns="1016" rIns="1016" bIns="1016" rtlCol="0" anchor="t">
            <a:normAutofit/>
          </a:bodyPr>
          <a:lstStyle/>
          <a:p>
            <a:pPr marL="0" indent="0">
              <a:buNone/>
            </a:pPr>
            <a:r>
              <a:rPr lang="en-US" sz="670" b="1" dirty="0">
                <a:solidFill>
                  <a:srgbClr val="07324D"/>
                </a:solidFill>
                <a:latin typeface="Microsoft JhengHei" pitchFamily="34" charset="0"/>
                <a:ea typeface="Microsoft JhengHei" pitchFamily="34" charset="-122"/>
                <a:cs typeface="Microsoft JhengHei" pitchFamily="34" charset="-120"/>
              </a:rPr>
              <a:t>預計產出
</a:t>
            </a:r>
            <a:r>
              <a:rPr lang="en-US" sz="670" dirty="0">
                <a:solidFill>
                  <a:srgbClr val="17384D"/>
                </a:solidFill>
                <a:latin typeface="Microsoft JhengHei" pitchFamily="34" charset="0"/>
                <a:ea typeface="Microsoft JhengHei" pitchFamily="34" charset="-122"/>
                <a:cs typeface="Microsoft JhengHei" pitchFamily="34" charset="-120"/>
              </a:rPr>
              <a:t>• Vibe Coding 整體流程</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Prototype / POC 作業指引</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工程 Review 檢核表</a:t>
            </a:r>
            <a:endParaRPr lang="en-US" sz="670" dirty="0"/>
          </a:p>
          <a:p>
            <a:pPr marL="0" indent="0">
              <a:buNone/>
            </a:pPr>
            <a:r>
              <a:rPr lang="en-US" sz="670" dirty="0">
                <a:solidFill>
                  <a:srgbClr val="17384D"/>
                </a:solidFill>
                <a:latin typeface="Microsoft JhengHei" pitchFamily="34" charset="0"/>
                <a:ea typeface="Microsoft JhengHei" pitchFamily="34" charset="-122"/>
                <a:cs typeface="Microsoft JhengHei" pitchFamily="34" charset="-120"/>
              </a:rPr>
              <a:t>• 上線作業規範</a:t>
            </a:r>
            <a:endParaRPr lang="en-US" sz="670" dirty="0"/>
          </a:p>
        </p:txBody>
      </p:sp>
      <p:pic>
        <p:nvPicPr>
          <p:cNvPr id="3" name="圖片 2">
            <a:extLst>
              <a:ext uri="{FF2B5EF4-FFF2-40B4-BE49-F238E27FC236}">
                <a16:creationId xmlns:a16="http://schemas.microsoft.com/office/drawing/2014/main" id="{3E49AA83-3F1D-8EB8-E797-823A0A16D5D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974077" y="273378"/>
            <a:ext cx="3088853" cy="7777112"/>
          </a:xfrm>
          <a:prstGeom prst="rect">
            <a:avLst/>
          </a:prstGeom>
        </p:spPr>
      </p:pic>
    </p:spTree>
    <p:extLst>
      <p:ext uri="{BB962C8B-B14F-4D97-AF65-F5344CB8AC3E}">
        <p14:creationId xmlns:p14="http://schemas.microsoft.com/office/powerpoint/2010/main" val="1910877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04811-6552-FD55-471A-7B2A5B0B926B}"/>
            </a:ext>
          </a:extLst>
        </p:cNvPr>
        <p:cNvGrpSpPr/>
        <p:nvPr/>
      </p:nvGrpSpPr>
      <p:grpSpPr>
        <a:xfrm>
          <a:off x="0" y="0"/>
          <a:ext cx="0" cy="0"/>
          <a:chOff x="0" y="0"/>
          <a:chExt cx="0" cy="0"/>
        </a:xfrm>
      </p:grpSpPr>
      <p:sp>
        <p:nvSpPr>
          <p:cNvPr id="44" name="Shape 28">
            <a:extLst>
              <a:ext uri="{FF2B5EF4-FFF2-40B4-BE49-F238E27FC236}">
                <a16:creationId xmlns:a16="http://schemas.microsoft.com/office/drawing/2014/main" id="{5624ACFF-EE47-0953-0C02-76A17DEC862A}"/>
              </a:ext>
            </a:extLst>
          </p:cNvPr>
          <p:cNvSpPr/>
          <p:nvPr/>
        </p:nvSpPr>
        <p:spPr>
          <a:xfrm>
            <a:off x="-2179383" y="6713135"/>
            <a:ext cx="11467745" cy="58347"/>
          </a:xfrm>
          <a:prstGeom prst="rect">
            <a:avLst/>
          </a:prstGeom>
          <a:solidFill>
            <a:srgbClr val="F7F1F9"/>
          </a:solidFill>
          <a:ln w="12700">
            <a:noFill/>
            <a:prstDash val="solid"/>
          </a:ln>
        </p:spPr>
        <p:txBody>
          <a:bodyPr/>
          <a:lstStyle/>
          <a:p>
            <a:endParaRPr lang="zh-TW" altLang="en-US"/>
          </a:p>
        </p:txBody>
      </p:sp>
      <p:sp>
        <p:nvSpPr>
          <p:cNvPr id="5" name="文字版面配置區 1">
            <a:extLst>
              <a:ext uri="{FF2B5EF4-FFF2-40B4-BE49-F238E27FC236}">
                <a16:creationId xmlns:a16="http://schemas.microsoft.com/office/drawing/2014/main" id="{09A0E20A-4590-A9BD-7CA6-CECF7CDD2E5D}"/>
              </a:ext>
            </a:extLst>
          </p:cNvPr>
          <p:cNvSpPr>
            <a:spLocks noGrp="1"/>
          </p:cNvSpPr>
          <p:nvPr>
            <p:ph type="body" sz="quarter" idx="21"/>
          </p:nvPr>
        </p:nvSpPr>
        <p:spPr>
          <a:xfrm>
            <a:off x="665940" y="-213225"/>
            <a:ext cx="8221501" cy="659975"/>
          </a:xfrm>
        </p:spPr>
        <p:txBody>
          <a:bodyPr/>
          <a:lstStyle/>
          <a:p>
            <a:r>
              <a:rPr lang="en-US" altLang="zh-TW" sz="2400" dirty="0"/>
              <a:t>【</a:t>
            </a:r>
            <a:r>
              <a:rPr lang="zh-TW" altLang="en-US" sz="2400" dirty="0"/>
              <a:t>結構化 </a:t>
            </a:r>
            <a:r>
              <a:rPr lang="en-US" altLang="zh-TW" sz="2400" dirty="0"/>
              <a:t>+</a:t>
            </a:r>
            <a:r>
              <a:rPr lang="zh-TW" altLang="en-US" sz="2400" dirty="0"/>
              <a:t>非結構化</a:t>
            </a:r>
            <a:r>
              <a:rPr lang="en-US" altLang="zh-TW" sz="2400" dirty="0"/>
              <a:t>】</a:t>
            </a:r>
            <a:r>
              <a:rPr lang="zh-TW" altLang="en-US" sz="2400" dirty="0"/>
              <a:t>知識檢索技術方案</a:t>
            </a:r>
          </a:p>
        </p:txBody>
      </p:sp>
      <p:sp>
        <p:nvSpPr>
          <p:cNvPr id="7" name="矩形 6">
            <a:extLst>
              <a:ext uri="{FF2B5EF4-FFF2-40B4-BE49-F238E27FC236}">
                <a16:creationId xmlns:a16="http://schemas.microsoft.com/office/drawing/2014/main" id="{94ADD49B-19D7-55ED-FD79-F30AF6CC8445}"/>
              </a:ext>
            </a:extLst>
          </p:cNvPr>
          <p:cNvSpPr/>
          <p:nvPr/>
        </p:nvSpPr>
        <p:spPr>
          <a:xfrm rot="10800000" flipV="1">
            <a:off x="795027" y="542559"/>
            <a:ext cx="10865004" cy="53730"/>
          </a:xfrm>
          <a:prstGeom prst="rect">
            <a:avLst/>
          </a:prstGeom>
          <a:gradFill>
            <a:gsLst>
              <a:gs pos="11000">
                <a:srgbClr val="00F9D3">
                  <a:alpha val="0"/>
                </a:srgbClr>
              </a:gs>
              <a:gs pos="39000">
                <a:srgbClr val="00F9D3"/>
              </a:gs>
              <a:gs pos="70000">
                <a:srgbClr val="00C3CD"/>
              </a:gs>
              <a:gs pos="100000">
                <a:srgbClr val="008FC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圖片 2">
            <a:extLst>
              <a:ext uri="{FF2B5EF4-FFF2-40B4-BE49-F238E27FC236}">
                <a16:creationId xmlns:a16="http://schemas.microsoft.com/office/drawing/2014/main" id="{660FFC8A-935B-8ACA-BD0A-CFE80D334C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2534" y="6826452"/>
            <a:ext cx="10287000" cy="6858000"/>
          </a:xfrm>
          <a:prstGeom prst="rect">
            <a:avLst/>
          </a:prstGeom>
        </p:spPr>
      </p:pic>
      <p:sp>
        <p:nvSpPr>
          <p:cNvPr id="4" name="文字方塊 3">
            <a:extLst>
              <a:ext uri="{FF2B5EF4-FFF2-40B4-BE49-F238E27FC236}">
                <a16:creationId xmlns:a16="http://schemas.microsoft.com/office/drawing/2014/main" id="{1B9567E9-997F-8996-8DC3-3A927FC67B3C}"/>
              </a:ext>
            </a:extLst>
          </p:cNvPr>
          <p:cNvSpPr txBox="1"/>
          <p:nvPr/>
        </p:nvSpPr>
        <p:spPr>
          <a:xfrm>
            <a:off x="12461910" y="3977243"/>
            <a:ext cx="10170160" cy="646331"/>
          </a:xfrm>
          <a:prstGeom prst="rect">
            <a:avLst/>
          </a:prstGeom>
          <a:noFill/>
        </p:spPr>
        <p:txBody>
          <a:bodyPr wrap="square" rtlCol="0">
            <a:spAutoFit/>
          </a:bodyPr>
          <a:lstStyle/>
          <a:p>
            <a:r>
              <a:rPr lang="zh-TW" altLang="en-US" dirty="0"/>
              <a:t>非結構化知識檢索以</a:t>
            </a:r>
            <a:r>
              <a:rPr lang="en-US" altLang="zh-TW" dirty="0"/>
              <a:t>「</a:t>
            </a:r>
            <a:r>
              <a:rPr lang="zh-TW" altLang="en-US" dirty="0"/>
              <a:t>找文件證據」為核心，結構化以</a:t>
            </a:r>
            <a:r>
              <a:rPr lang="en-US" altLang="zh-TW" dirty="0"/>
              <a:t>「</a:t>
            </a:r>
            <a:r>
              <a:rPr lang="zh-TW" altLang="en-US" dirty="0"/>
              <a:t>數據查找並計算資料」為核心，而</a:t>
            </a:r>
            <a:r>
              <a:rPr lang="en-US" altLang="zh-TW" dirty="0"/>
              <a:t>Hybrid </a:t>
            </a:r>
            <a:r>
              <a:rPr lang="zh-TW" altLang="en-US" dirty="0"/>
              <a:t>結合兩種能力提供更完整、可驗證的答案</a:t>
            </a:r>
          </a:p>
        </p:txBody>
      </p:sp>
      <p:grpSp>
        <p:nvGrpSpPr>
          <p:cNvPr id="1003" name="群組 1002">
            <a:extLst>
              <a:ext uri="{FF2B5EF4-FFF2-40B4-BE49-F238E27FC236}">
                <a16:creationId xmlns:a16="http://schemas.microsoft.com/office/drawing/2014/main" id="{9238CB6F-2B76-51E6-0FE2-221743BD0227}"/>
              </a:ext>
            </a:extLst>
          </p:cNvPr>
          <p:cNvGrpSpPr/>
          <p:nvPr/>
        </p:nvGrpSpPr>
        <p:grpSpPr>
          <a:xfrm>
            <a:off x="445008" y="651260"/>
            <a:ext cx="3102045" cy="5969837"/>
            <a:chOff x="508180" y="1362351"/>
            <a:chExt cx="3102045" cy="4651173"/>
          </a:xfrm>
        </p:grpSpPr>
        <p:sp>
          <p:nvSpPr>
            <p:cNvPr id="475" name="Shape 10">
              <a:extLst>
                <a:ext uri="{FF2B5EF4-FFF2-40B4-BE49-F238E27FC236}">
                  <a16:creationId xmlns:a16="http://schemas.microsoft.com/office/drawing/2014/main" id="{55BE0AE3-BE11-D692-BD72-A9496A3D6398}"/>
                </a:ext>
              </a:extLst>
            </p:cNvPr>
            <p:cNvSpPr/>
            <p:nvPr/>
          </p:nvSpPr>
          <p:spPr>
            <a:xfrm>
              <a:off x="508180" y="1403243"/>
              <a:ext cx="2984581" cy="4610281"/>
            </a:xfrm>
            <a:prstGeom prst="roundRect">
              <a:avLst>
                <a:gd name="adj" fmla="val 3591"/>
              </a:avLst>
            </a:prstGeom>
            <a:solidFill>
              <a:srgbClr val="EFF6FF"/>
            </a:solidFill>
            <a:ln w="12700">
              <a:solidFill>
                <a:srgbClr val="85B9FF"/>
              </a:solidFill>
              <a:prstDash val="solid"/>
            </a:ln>
          </p:spPr>
          <p:txBody>
            <a:bodyPr/>
            <a:lstStyle/>
            <a:p>
              <a:endParaRPr lang="zh-TW" altLang="en-US"/>
            </a:p>
          </p:txBody>
        </p:sp>
        <p:sp>
          <p:nvSpPr>
            <p:cNvPr id="10" name="Shape 51">
              <a:extLst>
                <a:ext uri="{FF2B5EF4-FFF2-40B4-BE49-F238E27FC236}">
                  <a16:creationId xmlns:a16="http://schemas.microsoft.com/office/drawing/2014/main" id="{4A6E8018-AA31-EC73-6A33-75A88007065F}"/>
                </a:ext>
              </a:extLst>
            </p:cNvPr>
            <p:cNvSpPr/>
            <p:nvPr/>
          </p:nvSpPr>
          <p:spPr>
            <a:xfrm>
              <a:off x="1141345" y="1602275"/>
              <a:ext cx="1803600" cy="296110"/>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使用者問題</a:t>
              </a:r>
            </a:p>
          </p:txBody>
        </p:sp>
        <p:sp>
          <p:nvSpPr>
            <p:cNvPr id="12" name="Shape 51">
              <a:extLst>
                <a:ext uri="{FF2B5EF4-FFF2-40B4-BE49-F238E27FC236}">
                  <a16:creationId xmlns:a16="http://schemas.microsoft.com/office/drawing/2014/main" id="{7E67E36D-7E9B-909F-98BA-3744936C878B}"/>
                </a:ext>
              </a:extLst>
            </p:cNvPr>
            <p:cNvSpPr/>
            <p:nvPr/>
          </p:nvSpPr>
          <p:spPr>
            <a:xfrm>
              <a:off x="1130623" y="2153573"/>
              <a:ext cx="1803600" cy="295200"/>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意圖理解</a:t>
              </a:r>
            </a:p>
          </p:txBody>
        </p:sp>
        <p:sp>
          <p:nvSpPr>
            <p:cNvPr id="14" name="Shape 51">
              <a:extLst>
                <a:ext uri="{FF2B5EF4-FFF2-40B4-BE49-F238E27FC236}">
                  <a16:creationId xmlns:a16="http://schemas.microsoft.com/office/drawing/2014/main" id="{93C5A785-6926-BE45-565C-EF7CABF629B3}"/>
                </a:ext>
              </a:extLst>
            </p:cNvPr>
            <p:cNvSpPr/>
            <p:nvPr/>
          </p:nvSpPr>
          <p:spPr>
            <a:xfrm>
              <a:off x="1130623" y="2689728"/>
              <a:ext cx="1803600" cy="295200"/>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問題改寫</a:t>
              </a:r>
            </a:p>
          </p:txBody>
        </p:sp>
        <p:sp>
          <p:nvSpPr>
            <p:cNvPr id="16" name="Shape 51">
              <a:extLst>
                <a:ext uri="{FF2B5EF4-FFF2-40B4-BE49-F238E27FC236}">
                  <a16:creationId xmlns:a16="http://schemas.microsoft.com/office/drawing/2014/main" id="{6409195E-EBC6-4AEB-79BB-CE81A0A5AF1E}"/>
                </a:ext>
              </a:extLst>
            </p:cNvPr>
            <p:cNvSpPr/>
            <p:nvPr/>
          </p:nvSpPr>
          <p:spPr>
            <a:xfrm>
              <a:off x="1141345" y="3170825"/>
              <a:ext cx="1803600" cy="295200"/>
            </a:xfrm>
            <a:prstGeom prst="roundRect">
              <a:avLst>
                <a:gd name="adj" fmla="val 17391"/>
              </a:avLst>
            </a:prstGeom>
            <a:solidFill>
              <a:srgbClr val="FFFFFF"/>
            </a:solidFill>
            <a:ln w="15240">
              <a:solidFill>
                <a:srgbClr val="2563EB"/>
              </a:solidFill>
              <a:prstDash val="solid"/>
            </a:ln>
          </p:spPr>
          <p:txBody>
            <a:bodyPr/>
            <a:lstStyle/>
            <a:p>
              <a:pPr algn="ctr"/>
              <a:r>
                <a:rPr lang="en-US" altLang="zh-TW" sz="1200" b="1">
                  <a:solidFill>
                    <a:schemeClr val="accent5"/>
                  </a:solidFill>
                </a:rPr>
                <a:t>Retrieval</a:t>
              </a:r>
              <a:endParaRPr lang="zh-TW" altLang="en-US" sz="1200" b="1">
                <a:solidFill>
                  <a:schemeClr val="accent5"/>
                </a:solidFill>
              </a:endParaRPr>
            </a:p>
          </p:txBody>
        </p:sp>
        <p:sp>
          <p:nvSpPr>
            <p:cNvPr id="18" name="Shape 51">
              <a:extLst>
                <a:ext uri="{FF2B5EF4-FFF2-40B4-BE49-F238E27FC236}">
                  <a16:creationId xmlns:a16="http://schemas.microsoft.com/office/drawing/2014/main" id="{BFA10B80-A9F5-56E6-9060-1DD3FB30F9A7}"/>
                </a:ext>
              </a:extLst>
            </p:cNvPr>
            <p:cNvSpPr/>
            <p:nvPr/>
          </p:nvSpPr>
          <p:spPr>
            <a:xfrm>
              <a:off x="1130623" y="3631151"/>
              <a:ext cx="1803600" cy="295200"/>
            </a:xfrm>
            <a:prstGeom prst="roundRect">
              <a:avLst>
                <a:gd name="adj" fmla="val 17391"/>
              </a:avLst>
            </a:prstGeom>
            <a:solidFill>
              <a:srgbClr val="FFFFFF"/>
            </a:solidFill>
            <a:ln w="15240">
              <a:solidFill>
                <a:srgbClr val="2563EB"/>
              </a:solidFill>
              <a:prstDash val="solid"/>
            </a:ln>
          </p:spPr>
          <p:txBody>
            <a:bodyPr/>
            <a:lstStyle/>
            <a:p>
              <a:pPr algn="ctr"/>
              <a:r>
                <a:rPr lang="en-US" altLang="zh-TW" sz="1200" b="1">
                  <a:solidFill>
                    <a:schemeClr val="accent5"/>
                  </a:solidFill>
                </a:rPr>
                <a:t>Reranking</a:t>
              </a:r>
              <a:endParaRPr lang="zh-TW" altLang="en-US" sz="1200" b="1">
                <a:solidFill>
                  <a:schemeClr val="accent5"/>
                </a:solidFill>
              </a:endParaRPr>
            </a:p>
          </p:txBody>
        </p:sp>
        <p:sp>
          <p:nvSpPr>
            <p:cNvPr id="20" name="Shape 51">
              <a:extLst>
                <a:ext uri="{FF2B5EF4-FFF2-40B4-BE49-F238E27FC236}">
                  <a16:creationId xmlns:a16="http://schemas.microsoft.com/office/drawing/2014/main" id="{4C0CEE6C-CCFE-B2FF-2558-C0FCF07BFA18}"/>
                </a:ext>
              </a:extLst>
            </p:cNvPr>
            <p:cNvSpPr/>
            <p:nvPr/>
          </p:nvSpPr>
          <p:spPr>
            <a:xfrm>
              <a:off x="1141345" y="4087450"/>
              <a:ext cx="1804656" cy="295200"/>
            </a:xfrm>
            <a:prstGeom prst="roundRect">
              <a:avLst>
                <a:gd name="adj" fmla="val 17391"/>
              </a:avLst>
            </a:prstGeom>
            <a:solidFill>
              <a:srgbClr val="FFFFFF"/>
            </a:solidFill>
            <a:ln w="15240">
              <a:solidFill>
                <a:srgbClr val="2563EB"/>
              </a:solidFill>
              <a:prstDash val="solid"/>
            </a:ln>
          </p:spPr>
          <p:txBody>
            <a:bodyPr/>
            <a:lstStyle/>
            <a:p>
              <a:pPr algn="ctr"/>
              <a:r>
                <a:rPr lang="en-US" altLang="zh-TW" sz="1200" b="1" err="1">
                  <a:solidFill>
                    <a:schemeClr val="accent5"/>
                  </a:solidFill>
                  <a:latin typeface="微軟正黑體" panose="020B0604030504040204" pitchFamily="34" charset="-120"/>
                </a:rPr>
                <a:t>ReAct</a:t>
              </a:r>
              <a:r>
                <a:rPr lang="en-US" altLang="zh-TW" sz="1200" b="1">
                  <a:solidFill>
                    <a:schemeClr val="accent5"/>
                  </a:solidFill>
                  <a:latin typeface="微軟正黑體" panose="020B0604030504040204" pitchFamily="34" charset="-120"/>
                </a:rPr>
                <a:t> &amp; Retry </a:t>
              </a:r>
              <a:endParaRPr lang="zh-TW" altLang="en-US" sz="1200">
                <a:solidFill>
                  <a:schemeClr val="accent5"/>
                </a:solidFill>
              </a:endParaRPr>
            </a:p>
          </p:txBody>
        </p:sp>
        <p:sp>
          <p:nvSpPr>
            <p:cNvPr id="22" name="Shape 51">
              <a:extLst>
                <a:ext uri="{FF2B5EF4-FFF2-40B4-BE49-F238E27FC236}">
                  <a16:creationId xmlns:a16="http://schemas.microsoft.com/office/drawing/2014/main" id="{34660EAD-310A-60BA-089A-981FDF954F7D}"/>
                </a:ext>
              </a:extLst>
            </p:cNvPr>
            <p:cNvSpPr/>
            <p:nvPr/>
          </p:nvSpPr>
          <p:spPr>
            <a:xfrm>
              <a:off x="1130623" y="4543436"/>
              <a:ext cx="1803600" cy="295200"/>
            </a:xfrm>
            <a:prstGeom prst="roundRect">
              <a:avLst>
                <a:gd name="adj" fmla="val 17391"/>
              </a:avLst>
            </a:prstGeom>
            <a:solidFill>
              <a:srgbClr val="FFFFFF"/>
            </a:solidFill>
            <a:ln w="15240">
              <a:solidFill>
                <a:srgbClr val="2563EB"/>
              </a:solidFill>
              <a:prstDash val="solid"/>
            </a:ln>
          </p:spPr>
          <p:txBody>
            <a:bodyPr/>
            <a:lstStyle/>
            <a:p>
              <a:pPr algn="ctr"/>
              <a:r>
                <a:rPr lang="zh-TW" altLang="en-US" sz="1200" b="1">
                  <a:solidFill>
                    <a:schemeClr val="accent5"/>
                  </a:solidFill>
                </a:rPr>
                <a:t>回覆生成 </a:t>
              </a:r>
            </a:p>
          </p:txBody>
        </p:sp>
        <p:sp>
          <p:nvSpPr>
            <p:cNvPr id="479" name="Shape 11">
              <a:extLst>
                <a:ext uri="{FF2B5EF4-FFF2-40B4-BE49-F238E27FC236}">
                  <a16:creationId xmlns:a16="http://schemas.microsoft.com/office/drawing/2014/main" id="{CD8DA3A3-A59F-3099-382B-AD7843848B60}"/>
                </a:ext>
              </a:extLst>
            </p:cNvPr>
            <p:cNvSpPr/>
            <p:nvPr/>
          </p:nvSpPr>
          <p:spPr>
            <a:xfrm>
              <a:off x="508180" y="1392619"/>
              <a:ext cx="2984580" cy="171776"/>
            </a:xfrm>
            <a:prstGeom prst="roundRect">
              <a:avLst>
                <a:gd name="adj" fmla="val 27083"/>
              </a:avLst>
            </a:prstGeom>
            <a:solidFill>
              <a:srgbClr val="2563EB"/>
            </a:solidFill>
            <a:ln w="12700">
              <a:solidFill>
                <a:srgbClr val="2563EB">
                  <a:alpha val="0"/>
                </a:srgbClr>
              </a:solidFill>
              <a:prstDash val="solid"/>
            </a:ln>
          </p:spPr>
          <p:txBody>
            <a:bodyPr/>
            <a:lstStyle/>
            <a:p>
              <a:endParaRPr lang="zh-TW" altLang="en-US"/>
            </a:p>
          </p:txBody>
        </p:sp>
        <p:sp>
          <p:nvSpPr>
            <p:cNvPr id="483" name="Text 4">
              <a:extLst>
                <a:ext uri="{FF2B5EF4-FFF2-40B4-BE49-F238E27FC236}">
                  <a16:creationId xmlns:a16="http://schemas.microsoft.com/office/drawing/2014/main" id="{ECBC5EB5-0062-4AA1-9677-7F89329D599A}"/>
                </a:ext>
              </a:extLst>
            </p:cNvPr>
            <p:cNvSpPr/>
            <p:nvPr/>
          </p:nvSpPr>
          <p:spPr>
            <a:xfrm>
              <a:off x="1141345" y="1362351"/>
              <a:ext cx="2468880" cy="246888"/>
            </a:xfrm>
            <a:prstGeom prst="rect">
              <a:avLst/>
            </a:prstGeom>
            <a:noFill/>
            <a:ln/>
          </p:spPr>
          <p:txBody>
            <a:bodyPr wrap="square" lIns="381" tIns="381" rIns="381" bIns="381" rtlCol="0" anchor="ctr">
              <a:noAutofit/>
            </a:bodyPr>
            <a:lstStyle/>
            <a:p>
              <a:pPr marL="0" indent="0" algn="l">
                <a:buNone/>
              </a:pPr>
              <a:r>
                <a:rPr lang="zh-TW" altLang="en-US" sz="1400" b="1">
                  <a:solidFill>
                    <a:srgbClr val="FFFFFF"/>
                  </a:solidFill>
                  <a:latin typeface="Microsoft JhengHei" pitchFamily="34" charset="0"/>
                  <a:ea typeface="Microsoft JhengHei" pitchFamily="34" charset="-122"/>
                </a:rPr>
                <a:t>非結構化知識檢索</a:t>
              </a:r>
              <a:endParaRPr lang="en-US" sz="1400"/>
            </a:p>
          </p:txBody>
        </p:sp>
        <p:sp>
          <p:nvSpPr>
            <p:cNvPr id="912" name="Shape 21">
              <a:extLst>
                <a:ext uri="{FF2B5EF4-FFF2-40B4-BE49-F238E27FC236}">
                  <a16:creationId xmlns:a16="http://schemas.microsoft.com/office/drawing/2014/main" id="{C5918FAC-193A-DFFB-DCE0-18B9713DEEFC}"/>
                </a:ext>
              </a:extLst>
            </p:cNvPr>
            <p:cNvSpPr/>
            <p:nvPr/>
          </p:nvSpPr>
          <p:spPr>
            <a:xfrm>
              <a:off x="1230470" y="1845737"/>
              <a:ext cx="180000" cy="180000"/>
            </a:xfrm>
            <a:prstGeom prst="ellipse">
              <a:avLst/>
            </a:prstGeom>
            <a:solidFill>
              <a:srgbClr val="2563EB"/>
            </a:solidFill>
            <a:ln w="12700">
              <a:solidFill>
                <a:srgbClr val="F59E0B">
                  <a:alpha val="0"/>
                </a:srgbClr>
              </a:solidFill>
              <a:prstDash val="solid"/>
            </a:ln>
          </p:spPr>
          <p:txBody>
            <a:bodyPr/>
            <a:lstStyle/>
            <a:p>
              <a:endParaRPr lang="zh-TW" altLang="en-US"/>
            </a:p>
          </p:txBody>
        </p:sp>
        <p:sp>
          <p:nvSpPr>
            <p:cNvPr id="916" name="Text 22">
              <a:extLst>
                <a:ext uri="{FF2B5EF4-FFF2-40B4-BE49-F238E27FC236}">
                  <a16:creationId xmlns:a16="http://schemas.microsoft.com/office/drawing/2014/main" id="{49823500-B6A1-CF87-ED29-F3A11998343C}"/>
                </a:ext>
              </a:extLst>
            </p:cNvPr>
            <p:cNvSpPr/>
            <p:nvPr/>
          </p:nvSpPr>
          <p:spPr>
            <a:xfrm>
              <a:off x="1214858" y="1838303"/>
              <a:ext cx="219456" cy="192024"/>
            </a:xfrm>
            <a:prstGeom prst="rect">
              <a:avLst/>
            </a:prstGeom>
            <a:noFill/>
            <a:ln/>
          </p:spPr>
          <p:txBody>
            <a:bodyPr wrap="square" lIns="0" tIns="0" rIns="0" bIns="0" rtlCol="0" anchor="ctr">
              <a:normAutofit/>
            </a:bodyPr>
            <a:lstStyle/>
            <a:p>
              <a:pPr marL="0" indent="0" algn="ctr">
                <a:buNone/>
              </a:pPr>
              <a:r>
                <a:rPr lang="en-US" sz="560" b="1">
                  <a:solidFill>
                    <a:srgbClr val="FFFFFF"/>
                  </a:solidFill>
                  <a:latin typeface="Microsoft JhengHei" pitchFamily="34" charset="0"/>
                  <a:ea typeface="Microsoft JhengHei" pitchFamily="34" charset="-122"/>
                  <a:cs typeface="Microsoft JhengHei" pitchFamily="34" charset="-120"/>
                </a:rPr>
                <a:t>1</a:t>
              </a:r>
              <a:endParaRPr lang="en-US" sz="560"/>
            </a:p>
          </p:txBody>
        </p:sp>
        <p:sp>
          <p:nvSpPr>
            <p:cNvPr id="918" name="Shape 21">
              <a:extLst>
                <a:ext uri="{FF2B5EF4-FFF2-40B4-BE49-F238E27FC236}">
                  <a16:creationId xmlns:a16="http://schemas.microsoft.com/office/drawing/2014/main" id="{826B58C9-5B95-CB26-A357-580F296DB642}"/>
                </a:ext>
              </a:extLst>
            </p:cNvPr>
            <p:cNvSpPr/>
            <p:nvPr/>
          </p:nvSpPr>
          <p:spPr>
            <a:xfrm>
              <a:off x="1229613" y="2281264"/>
              <a:ext cx="180000" cy="180000"/>
            </a:xfrm>
            <a:prstGeom prst="ellipse">
              <a:avLst/>
            </a:prstGeom>
            <a:solidFill>
              <a:srgbClr val="2563EB"/>
            </a:solidFill>
            <a:ln w="12700">
              <a:solidFill>
                <a:srgbClr val="F59E0B">
                  <a:alpha val="0"/>
                </a:srgbClr>
              </a:solidFill>
              <a:prstDash val="solid"/>
            </a:ln>
          </p:spPr>
          <p:txBody>
            <a:bodyPr/>
            <a:lstStyle/>
            <a:p>
              <a:endParaRPr lang="zh-TW" altLang="en-US"/>
            </a:p>
          </p:txBody>
        </p:sp>
        <p:sp>
          <p:nvSpPr>
            <p:cNvPr id="922" name="Text 22">
              <a:extLst>
                <a:ext uri="{FF2B5EF4-FFF2-40B4-BE49-F238E27FC236}">
                  <a16:creationId xmlns:a16="http://schemas.microsoft.com/office/drawing/2014/main" id="{35A9F080-28D7-7498-AF6E-BA9D5A48C417}"/>
                </a:ext>
              </a:extLst>
            </p:cNvPr>
            <p:cNvSpPr/>
            <p:nvPr/>
          </p:nvSpPr>
          <p:spPr>
            <a:xfrm>
              <a:off x="1214001" y="2273830"/>
              <a:ext cx="219456" cy="192024"/>
            </a:xfrm>
            <a:prstGeom prst="rect">
              <a:avLst/>
            </a:prstGeom>
            <a:noFill/>
            <a:ln/>
          </p:spPr>
          <p:txBody>
            <a:bodyPr wrap="square" lIns="0" tIns="0" rIns="0" bIns="0" rtlCol="0" anchor="ctr">
              <a:normAutofit/>
            </a:bodyPr>
            <a:lstStyle/>
            <a:p>
              <a:pPr marL="0" indent="0" algn="ctr">
                <a:buNone/>
              </a:pPr>
              <a:r>
                <a:rPr lang="en-US" altLang="zh-TW" sz="560">
                  <a:solidFill>
                    <a:schemeClr val="bg1"/>
                  </a:solidFill>
                </a:rPr>
                <a:t>2</a:t>
              </a:r>
              <a:endParaRPr lang="en-US" sz="560">
                <a:solidFill>
                  <a:schemeClr val="bg1"/>
                </a:solidFill>
              </a:endParaRPr>
            </a:p>
          </p:txBody>
        </p:sp>
        <p:sp>
          <p:nvSpPr>
            <p:cNvPr id="926" name="Shape 21">
              <a:extLst>
                <a:ext uri="{FF2B5EF4-FFF2-40B4-BE49-F238E27FC236}">
                  <a16:creationId xmlns:a16="http://schemas.microsoft.com/office/drawing/2014/main" id="{72362E09-E76B-4322-BF94-710C8CD65F1F}"/>
                </a:ext>
              </a:extLst>
            </p:cNvPr>
            <p:cNvSpPr/>
            <p:nvPr/>
          </p:nvSpPr>
          <p:spPr>
            <a:xfrm>
              <a:off x="1221378" y="2753607"/>
              <a:ext cx="180000" cy="180000"/>
            </a:xfrm>
            <a:prstGeom prst="ellipse">
              <a:avLst/>
            </a:prstGeom>
            <a:solidFill>
              <a:srgbClr val="2563EB"/>
            </a:solidFill>
            <a:ln w="12700">
              <a:solidFill>
                <a:srgbClr val="F59E0B">
                  <a:alpha val="0"/>
                </a:srgbClr>
              </a:solidFill>
              <a:prstDash val="solid"/>
            </a:ln>
          </p:spPr>
          <p:txBody>
            <a:bodyPr/>
            <a:lstStyle/>
            <a:p>
              <a:endParaRPr lang="zh-TW" altLang="en-US"/>
            </a:p>
          </p:txBody>
        </p:sp>
        <p:sp>
          <p:nvSpPr>
            <p:cNvPr id="930" name="Text 22">
              <a:extLst>
                <a:ext uri="{FF2B5EF4-FFF2-40B4-BE49-F238E27FC236}">
                  <a16:creationId xmlns:a16="http://schemas.microsoft.com/office/drawing/2014/main" id="{392BB03D-9733-F47E-7151-24729C3DC24C}"/>
                </a:ext>
              </a:extLst>
            </p:cNvPr>
            <p:cNvSpPr/>
            <p:nvPr/>
          </p:nvSpPr>
          <p:spPr>
            <a:xfrm>
              <a:off x="1205766" y="2746173"/>
              <a:ext cx="219456" cy="192024"/>
            </a:xfrm>
            <a:prstGeom prst="rect">
              <a:avLst/>
            </a:prstGeom>
            <a:noFill/>
            <a:ln/>
          </p:spPr>
          <p:txBody>
            <a:bodyPr wrap="square" lIns="0" tIns="0" rIns="0" bIns="0" rtlCol="0" anchor="ctr">
              <a:normAutofit/>
            </a:bodyPr>
            <a:lstStyle/>
            <a:p>
              <a:pPr marL="0" indent="0" algn="ctr">
                <a:buNone/>
              </a:pPr>
              <a:r>
                <a:rPr lang="en-US" altLang="zh-TW" sz="560" b="1">
                  <a:solidFill>
                    <a:srgbClr val="FFFFFF"/>
                  </a:solidFill>
                  <a:latin typeface="Microsoft JhengHei" pitchFamily="34" charset="0"/>
                  <a:ea typeface="Microsoft JhengHei" pitchFamily="34" charset="-122"/>
                  <a:cs typeface="Microsoft JhengHei" pitchFamily="34" charset="-120"/>
                </a:rPr>
                <a:t>3</a:t>
              </a:r>
              <a:endParaRPr lang="en-US" sz="560"/>
            </a:p>
          </p:txBody>
        </p:sp>
        <p:sp>
          <p:nvSpPr>
            <p:cNvPr id="934" name="Shape 21">
              <a:extLst>
                <a:ext uri="{FF2B5EF4-FFF2-40B4-BE49-F238E27FC236}">
                  <a16:creationId xmlns:a16="http://schemas.microsoft.com/office/drawing/2014/main" id="{9B98864B-C88A-BFA5-D3E4-25D5C4DC64B4}"/>
                </a:ext>
              </a:extLst>
            </p:cNvPr>
            <p:cNvSpPr/>
            <p:nvPr/>
          </p:nvSpPr>
          <p:spPr>
            <a:xfrm>
              <a:off x="1221378" y="3225194"/>
              <a:ext cx="180000" cy="180000"/>
            </a:xfrm>
            <a:prstGeom prst="ellipse">
              <a:avLst/>
            </a:prstGeom>
            <a:solidFill>
              <a:srgbClr val="2563EB"/>
            </a:solidFill>
            <a:ln w="12700">
              <a:solidFill>
                <a:srgbClr val="F59E0B">
                  <a:alpha val="0"/>
                </a:srgbClr>
              </a:solidFill>
              <a:prstDash val="solid"/>
            </a:ln>
          </p:spPr>
          <p:txBody>
            <a:bodyPr/>
            <a:lstStyle/>
            <a:p>
              <a:endParaRPr lang="zh-TW" altLang="en-US"/>
            </a:p>
          </p:txBody>
        </p:sp>
        <p:sp>
          <p:nvSpPr>
            <p:cNvPr id="939" name="Text 22">
              <a:extLst>
                <a:ext uri="{FF2B5EF4-FFF2-40B4-BE49-F238E27FC236}">
                  <a16:creationId xmlns:a16="http://schemas.microsoft.com/office/drawing/2014/main" id="{94DC8689-BF14-9392-914C-2F04AB671960}"/>
                </a:ext>
              </a:extLst>
            </p:cNvPr>
            <p:cNvSpPr/>
            <p:nvPr/>
          </p:nvSpPr>
          <p:spPr>
            <a:xfrm>
              <a:off x="1205766" y="3217760"/>
              <a:ext cx="219456" cy="192024"/>
            </a:xfrm>
            <a:prstGeom prst="rect">
              <a:avLst/>
            </a:prstGeom>
            <a:noFill/>
            <a:ln/>
          </p:spPr>
          <p:txBody>
            <a:bodyPr wrap="square" lIns="0" tIns="0" rIns="0" bIns="0" rtlCol="0" anchor="ctr">
              <a:normAutofit/>
            </a:bodyPr>
            <a:lstStyle/>
            <a:p>
              <a:pPr marL="0" indent="0" algn="ctr">
                <a:buNone/>
              </a:pPr>
              <a:r>
                <a:rPr lang="en-US" altLang="zh-TW" sz="560" b="1">
                  <a:solidFill>
                    <a:srgbClr val="FFFFFF"/>
                  </a:solidFill>
                  <a:latin typeface="Microsoft JhengHei" pitchFamily="34" charset="0"/>
                  <a:ea typeface="Microsoft JhengHei" pitchFamily="34" charset="-122"/>
                  <a:cs typeface="Microsoft JhengHei" pitchFamily="34" charset="-120"/>
                </a:rPr>
                <a:t>4</a:t>
              </a:r>
              <a:endParaRPr lang="en-US" sz="560"/>
            </a:p>
          </p:txBody>
        </p:sp>
        <p:sp>
          <p:nvSpPr>
            <p:cNvPr id="943" name="Shape 21">
              <a:extLst>
                <a:ext uri="{FF2B5EF4-FFF2-40B4-BE49-F238E27FC236}">
                  <a16:creationId xmlns:a16="http://schemas.microsoft.com/office/drawing/2014/main" id="{A14760AE-5FBA-C45F-7F7A-41E283E62D8A}"/>
                </a:ext>
              </a:extLst>
            </p:cNvPr>
            <p:cNvSpPr/>
            <p:nvPr/>
          </p:nvSpPr>
          <p:spPr>
            <a:xfrm>
              <a:off x="1221378" y="3688509"/>
              <a:ext cx="180000" cy="180000"/>
            </a:xfrm>
            <a:prstGeom prst="ellipse">
              <a:avLst/>
            </a:prstGeom>
            <a:solidFill>
              <a:srgbClr val="2563EB"/>
            </a:solidFill>
            <a:ln w="12700">
              <a:solidFill>
                <a:srgbClr val="F59E0B">
                  <a:alpha val="0"/>
                </a:srgbClr>
              </a:solidFill>
              <a:prstDash val="solid"/>
            </a:ln>
          </p:spPr>
          <p:txBody>
            <a:bodyPr/>
            <a:lstStyle/>
            <a:p>
              <a:endParaRPr lang="zh-TW" altLang="en-US"/>
            </a:p>
          </p:txBody>
        </p:sp>
        <p:sp>
          <p:nvSpPr>
            <p:cNvPr id="945" name="Text 22">
              <a:extLst>
                <a:ext uri="{FF2B5EF4-FFF2-40B4-BE49-F238E27FC236}">
                  <a16:creationId xmlns:a16="http://schemas.microsoft.com/office/drawing/2014/main" id="{965E8E34-1D78-E1AE-635A-7B7BF0CA00AF}"/>
                </a:ext>
              </a:extLst>
            </p:cNvPr>
            <p:cNvSpPr/>
            <p:nvPr/>
          </p:nvSpPr>
          <p:spPr>
            <a:xfrm>
              <a:off x="1205766" y="3681075"/>
              <a:ext cx="219456" cy="192024"/>
            </a:xfrm>
            <a:prstGeom prst="rect">
              <a:avLst/>
            </a:prstGeom>
            <a:noFill/>
            <a:ln/>
          </p:spPr>
          <p:txBody>
            <a:bodyPr wrap="square" lIns="0" tIns="0" rIns="0" bIns="0" rtlCol="0" anchor="ctr">
              <a:normAutofit/>
            </a:bodyPr>
            <a:lstStyle/>
            <a:p>
              <a:pPr marL="0" indent="0" algn="ctr">
                <a:buNone/>
              </a:pPr>
              <a:r>
                <a:rPr lang="en-US" altLang="zh-TW" sz="560" b="1">
                  <a:solidFill>
                    <a:srgbClr val="FFFFFF"/>
                  </a:solidFill>
                  <a:latin typeface="Microsoft JhengHei" pitchFamily="34" charset="0"/>
                  <a:ea typeface="Microsoft JhengHei" pitchFamily="34" charset="-122"/>
                  <a:cs typeface="Microsoft JhengHei" pitchFamily="34" charset="-120"/>
                </a:rPr>
                <a:t>5</a:t>
              </a:r>
              <a:endParaRPr lang="en-US" sz="560"/>
            </a:p>
          </p:txBody>
        </p:sp>
        <p:sp>
          <p:nvSpPr>
            <p:cNvPr id="949" name="Shape 21">
              <a:extLst>
                <a:ext uri="{FF2B5EF4-FFF2-40B4-BE49-F238E27FC236}">
                  <a16:creationId xmlns:a16="http://schemas.microsoft.com/office/drawing/2014/main" id="{E0277C86-C1B3-BE48-68A4-3BA568F54AD2}"/>
                </a:ext>
              </a:extLst>
            </p:cNvPr>
            <p:cNvSpPr/>
            <p:nvPr/>
          </p:nvSpPr>
          <p:spPr>
            <a:xfrm>
              <a:off x="1229613" y="4138881"/>
              <a:ext cx="180000" cy="180000"/>
            </a:xfrm>
            <a:prstGeom prst="ellipse">
              <a:avLst/>
            </a:prstGeom>
            <a:solidFill>
              <a:srgbClr val="2563EB"/>
            </a:solidFill>
            <a:ln w="12700">
              <a:solidFill>
                <a:srgbClr val="F59E0B">
                  <a:alpha val="0"/>
                </a:srgbClr>
              </a:solidFill>
              <a:prstDash val="solid"/>
            </a:ln>
          </p:spPr>
          <p:txBody>
            <a:bodyPr/>
            <a:lstStyle/>
            <a:p>
              <a:endParaRPr lang="zh-TW" altLang="en-US"/>
            </a:p>
          </p:txBody>
        </p:sp>
        <p:sp>
          <p:nvSpPr>
            <p:cNvPr id="953" name="Text 22">
              <a:extLst>
                <a:ext uri="{FF2B5EF4-FFF2-40B4-BE49-F238E27FC236}">
                  <a16:creationId xmlns:a16="http://schemas.microsoft.com/office/drawing/2014/main" id="{101B53C8-3E04-E29F-528C-37B1C1B4FE97}"/>
                </a:ext>
              </a:extLst>
            </p:cNvPr>
            <p:cNvSpPr/>
            <p:nvPr/>
          </p:nvSpPr>
          <p:spPr>
            <a:xfrm>
              <a:off x="1214001" y="4131447"/>
              <a:ext cx="219456" cy="192024"/>
            </a:xfrm>
            <a:prstGeom prst="rect">
              <a:avLst/>
            </a:prstGeom>
            <a:noFill/>
            <a:ln/>
          </p:spPr>
          <p:txBody>
            <a:bodyPr wrap="square" lIns="0" tIns="0" rIns="0" bIns="0" rtlCol="0" anchor="ctr">
              <a:normAutofit/>
            </a:bodyPr>
            <a:lstStyle/>
            <a:p>
              <a:pPr marL="0" indent="0" algn="ctr">
                <a:buNone/>
              </a:pPr>
              <a:r>
                <a:rPr lang="en-US" altLang="zh-TW" sz="560" b="1">
                  <a:solidFill>
                    <a:srgbClr val="FFFFFF"/>
                  </a:solidFill>
                  <a:latin typeface="Microsoft JhengHei" pitchFamily="34" charset="0"/>
                  <a:ea typeface="Microsoft JhengHei" pitchFamily="34" charset="-122"/>
                </a:rPr>
                <a:t>6</a:t>
              </a:r>
              <a:endParaRPr lang="en-US" sz="560"/>
            </a:p>
          </p:txBody>
        </p:sp>
        <p:sp>
          <p:nvSpPr>
            <p:cNvPr id="955" name="Shape 21">
              <a:extLst>
                <a:ext uri="{FF2B5EF4-FFF2-40B4-BE49-F238E27FC236}">
                  <a16:creationId xmlns:a16="http://schemas.microsoft.com/office/drawing/2014/main" id="{ABCA452B-24B6-22D8-5BAB-7E87ADE7B295}"/>
                </a:ext>
              </a:extLst>
            </p:cNvPr>
            <p:cNvSpPr/>
            <p:nvPr/>
          </p:nvSpPr>
          <p:spPr>
            <a:xfrm>
              <a:off x="1229613" y="4596418"/>
              <a:ext cx="180000" cy="180000"/>
            </a:xfrm>
            <a:prstGeom prst="ellipse">
              <a:avLst/>
            </a:prstGeom>
            <a:solidFill>
              <a:srgbClr val="2563EB"/>
            </a:solidFill>
            <a:ln w="12700">
              <a:solidFill>
                <a:srgbClr val="F59E0B">
                  <a:alpha val="0"/>
                </a:srgbClr>
              </a:solidFill>
              <a:prstDash val="solid"/>
            </a:ln>
          </p:spPr>
          <p:txBody>
            <a:bodyPr/>
            <a:lstStyle/>
            <a:p>
              <a:endParaRPr lang="zh-TW" altLang="en-US"/>
            </a:p>
          </p:txBody>
        </p:sp>
        <p:sp>
          <p:nvSpPr>
            <p:cNvPr id="958" name="Text 22">
              <a:extLst>
                <a:ext uri="{FF2B5EF4-FFF2-40B4-BE49-F238E27FC236}">
                  <a16:creationId xmlns:a16="http://schemas.microsoft.com/office/drawing/2014/main" id="{EEF052F1-9B52-2D75-EEE1-C5FF3A4833D9}"/>
                </a:ext>
              </a:extLst>
            </p:cNvPr>
            <p:cNvSpPr/>
            <p:nvPr/>
          </p:nvSpPr>
          <p:spPr>
            <a:xfrm>
              <a:off x="1214001" y="4588984"/>
              <a:ext cx="219456" cy="192024"/>
            </a:xfrm>
            <a:prstGeom prst="rect">
              <a:avLst/>
            </a:prstGeom>
            <a:noFill/>
            <a:ln/>
          </p:spPr>
          <p:txBody>
            <a:bodyPr wrap="square" lIns="0" tIns="0" rIns="0" bIns="0" rtlCol="0" anchor="ctr">
              <a:normAutofit/>
            </a:bodyPr>
            <a:lstStyle/>
            <a:p>
              <a:pPr marL="0" indent="0" algn="ctr">
                <a:buNone/>
              </a:pPr>
              <a:r>
                <a:rPr lang="en-US" altLang="zh-TW" sz="560" b="1">
                  <a:solidFill>
                    <a:srgbClr val="FFFFFF"/>
                  </a:solidFill>
                  <a:latin typeface="Microsoft JhengHei" pitchFamily="34" charset="0"/>
                  <a:ea typeface="Microsoft JhengHei" pitchFamily="34" charset="-122"/>
                </a:rPr>
                <a:t>7</a:t>
              </a:r>
              <a:endParaRPr lang="en-US" sz="560"/>
            </a:p>
          </p:txBody>
        </p:sp>
      </p:grpSp>
      <p:sp>
        <p:nvSpPr>
          <p:cNvPr id="499" name="Shape 2">
            <a:extLst>
              <a:ext uri="{FF2B5EF4-FFF2-40B4-BE49-F238E27FC236}">
                <a16:creationId xmlns:a16="http://schemas.microsoft.com/office/drawing/2014/main" id="{79EEAAFE-6A9B-2358-D4F4-D68E8623EF25}"/>
              </a:ext>
            </a:extLst>
          </p:cNvPr>
          <p:cNvSpPr/>
          <p:nvPr/>
        </p:nvSpPr>
        <p:spPr>
          <a:xfrm>
            <a:off x="3624647" y="715723"/>
            <a:ext cx="2984400" cy="5883003"/>
          </a:xfrm>
          <a:prstGeom prst="roundRect">
            <a:avLst>
              <a:gd name="adj" fmla="val 4514"/>
            </a:avLst>
          </a:prstGeom>
          <a:solidFill>
            <a:srgbClr val="ECFDF5"/>
          </a:solidFill>
          <a:ln w="12700">
            <a:solidFill>
              <a:srgbClr val="10B981"/>
            </a:solidFill>
            <a:prstDash val="solid"/>
          </a:ln>
        </p:spPr>
        <p:txBody>
          <a:bodyPr/>
          <a:lstStyle/>
          <a:p>
            <a:endParaRPr lang="zh-TW" altLang="en-US"/>
          </a:p>
        </p:txBody>
      </p:sp>
      <p:sp>
        <p:nvSpPr>
          <p:cNvPr id="30" name="Shape 46">
            <a:extLst>
              <a:ext uri="{FF2B5EF4-FFF2-40B4-BE49-F238E27FC236}">
                <a16:creationId xmlns:a16="http://schemas.microsoft.com/office/drawing/2014/main" id="{DFCF6654-3405-499E-9F1B-707E32F6C1EA}"/>
              </a:ext>
            </a:extLst>
          </p:cNvPr>
          <p:cNvSpPr/>
          <p:nvPr/>
        </p:nvSpPr>
        <p:spPr>
          <a:xfrm>
            <a:off x="4028429" y="1460284"/>
            <a:ext cx="2220163"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原始查詢解析與向量化</a:t>
            </a:r>
          </a:p>
        </p:txBody>
      </p:sp>
      <p:sp>
        <p:nvSpPr>
          <p:cNvPr id="32" name="Shape 46">
            <a:extLst>
              <a:ext uri="{FF2B5EF4-FFF2-40B4-BE49-F238E27FC236}">
                <a16:creationId xmlns:a16="http://schemas.microsoft.com/office/drawing/2014/main" id="{D55823F0-BC13-965D-1ECA-082A65205474}"/>
              </a:ext>
            </a:extLst>
          </p:cNvPr>
          <p:cNvSpPr/>
          <p:nvPr/>
        </p:nvSpPr>
        <p:spPr>
          <a:xfrm>
            <a:off x="4027392" y="1829464"/>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t>Schema Linking</a:t>
            </a:r>
            <a:endParaRPr lang="zh-TW" altLang="en-US" sz="1200" b="1"/>
          </a:p>
        </p:txBody>
      </p:sp>
      <p:sp>
        <p:nvSpPr>
          <p:cNvPr id="34" name="Shape 46">
            <a:extLst>
              <a:ext uri="{FF2B5EF4-FFF2-40B4-BE49-F238E27FC236}">
                <a16:creationId xmlns:a16="http://schemas.microsoft.com/office/drawing/2014/main" id="{24062F5F-5993-8B6B-B8AD-E1B2E73A18A4}"/>
              </a:ext>
            </a:extLst>
          </p:cNvPr>
          <p:cNvSpPr/>
          <p:nvPr/>
        </p:nvSpPr>
        <p:spPr>
          <a:xfrm>
            <a:off x="4027392" y="2204671"/>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業務規則與指標定義</a:t>
            </a:r>
          </a:p>
        </p:txBody>
      </p:sp>
      <p:sp>
        <p:nvSpPr>
          <p:cNvPr id="36" name="Shape 46">
            <a:extLst>
              <a:ext uri="{FF2B5EF4-FFF2-40B4-BE49-F238E27FC236}">
                <a16:creationId xmlns:a16="http://schemas.microsoft.com/office/drawing/2014/main" id="{E0EAF77D-2091-B83B-5A73-818FF713470B}"/>
              </a:ext>
            </a:extLst>
          </p:cNvPr>
          <p:cNvSpPr/>
          <p:nvPr/>
        </p:nvSpPr>
        <p:spPr>
          <a:xfrm>
            <a:off x="4006247" y="3316113"/>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latin typeface="+mj-lt"/>
                <a:ea typeface="+mj-ea"/>
              </a:rPr>
              <a:t>相似</a:t>
            </a:r>
            <a:r>
              <a:rPr lang="en-US" altLang="zh-TW" sz="1200" b="1">
                <a:latin typeface="+mj-lt"/>
                <a:ea typeface="+mj-ea"/>
              </a:rPr>
              <a:t>NL-SQL</a:t>
            </a:r>
            <a:r>
              <a:rPr lang="zh-TW" altLang="en-US" sz="1200" b="1">
                <a:latin typeface="+mj-lt"/>
                <a:ea typeface="+mj-ea"/>
              </a:rPr>
              <a:t>範例</a:t>
            </a:r>
          </a:p>
        </p:txBody>
      </p:sp>
      <p:sp>
        <p:nvSpPr>
          <p:cNvPr id="38" name="Shape 46">
            <a:extLst>
              <a:ext uri="{FF2B5EF4-FFF2-40B4-BE49-F238E27FC236}">
                <a16:creationId xmlns:a16="http://schemas.microsoft.com/office/drawing/2014/main" id="{95D344B0-37AE-CD1C-3D2D-BE0A7FEEB40D}"/>
              </a:ext>
            </a:extLst>
          </p:cNvPr>
          <p:cNvSpPr/>
          <p:nvPr/>
        </p:nvSpPr>
        <p:spPr>
          <a:xfrm>
            <a:off x="4028429" y="2574230"/>
            <a:ext cx="2220163"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SQL Reasoning Plan</a:t>
            </a:r>
            <a:endParaRPr lang="en-US" altLang="zh-TW" sz="1200" b="1"/>
          </a:p>
        </p:txBody>
      </p:sp>
      <p:sp>
        <p:nvSpPr>
          <p:cNvPr id="40" name="Shape 46">
            <a:extLst>
              <a:ext uri="{FF2B5EF4-FFF2-40B4-BE49-F238E27FC236}">
                <a16:creationId xmlns:a16="http://schemas.microsoft.com/office/drawing/2014/main" id="{FF27B22B-12CE-5E5D-E780-4D78F2ACA7FE}"/>
              </a:ext>
            </a:extLst>
          </p:cNvPr>
          <p:cNvSpPr/>
          <p:nvPr/>
        </p:nvSpPr>
        <p:spPr>
          <a:xfrm>
            <a:off x="4015036" y="2936024"/>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400" b="1">
                <a:solidFill>
                  <a:srgbClr val="1F2937"/>
                </a:solidFill>
                <a:latin typeface="Microsoft JhengHei" pitchFamily="34" charset="0"/>
                <a:ea typeface="Microsoft JhengHei" pitchFamily="34" charset="-122"/>
                <a:cs typeface="Microsoft JhengHei" pitchFamily="34" charset="-120"/>
              </a:rPr>
              <a:t>Text-to-SQL</a:t>
            </a:r>
            <a:endParaRPr lang="en-US" altLang="zh-TW" sz="1400" b="1"/>
          </a:p>
        </p:txBody>
      </p:sp>
      <p:sp>
        <p:nvSpPr>
          <p:cNvPr id="42" name="Shape 46">
            <a:extLst>
              <a:ext uri="{FF2B5EF4-FFF2-40B4-BE49-F238E27FC236}">
                <a16:creationId xmlns:a16="http://schemas.microsoft.com/office/drawing/2014/main" id="{CA8CBA91-27E6-D71B-8A46-8BEA6FCB92D1}"/>
              </a:ext>
            </a:extLst>
          </p:cNvPr>
          <p:cNvSpPr/>
          <p:nvPr/>
        </p:nvSpPr>
        <p:spPr>
          <a:xfrm>
            <a:off x="4006247" y="3667377"/>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SQL</a:t>
            </a:r>
            <a:r>
              <a:rPr lang="zh-TW" altLang="en-US" sz="1200" b="1">
                <a:solidFill>
                  <a:srgbClr val="1F2937"/>
                </a:solidFill>
                <a:latin typeface="Microsoft JhengHei" pitchFamily="34" charset="0"/>
                <a:ea typeface="Microsoft JhengHei" pitchFamily="34" charset="-122"/>
                <a:cs typeface="Microsoft JhengHei" pitchFamily="34" charset="-120"/>
              </a:rPr>
              <a:t>驗證與修正</a:t>
            </a:r>
            <a:endParaRPr lang="en-US" altLang="zh-TW" sz="1200" b="1"/>
          </a:p>
        </p:txBody>
      </p:sp>
      <p:sp>
        <p:nvSpPr>
          <p:cNvPr id="45" name="Shape 46">
            <a:extLst>
              <a:ext uri="{FF2B5EF4-FFF2-40B4-BE49-F238E27FC236}">
                <a16:creationId xmlns:a16="http://schemas.microsoft.com/office/drawing/2014/main" id="{25F1C427-5F7C-A8A0-DC47-A52205BE82C2}"/>
              </a:ext>
            </a:extLst>
          </p:cNvPr>
          <p:cNvSpPr/>
          <p:nvPr/>
        </p:nvSpPr>
        <p:spPr>
          <a:xfrm>
            <a:off x="4006247" y="4014630"/>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SQL</a:t>
            </a:r>
            <a:r>
              <a:rPr lang="zh-TW" altLang="en-US" sz="1200" b="1">
                <a:solidFill>
                  <a:srgbClr val="1F2937"/>
                </a:solidFill>
                <a:latin typeface="Microsoft JhengHei" pitchFamily="34" charset="0"/>
                <a:ea typeface="Microsoft JhengHei" pitchFamily="34" charset="-122"/>
                <a:cs typeface="Microsoft JhengHei" pitchFamily="34" charset="-120"/>
              </a:rPr>
              <a:t>執行</a:t>
            </a:r>
            <a:endParaRPr lang="en-US" altLang="zh-TW" sz="1200" b="1"/>
          </a:p>
        </p:txBody>
      </p:sp>
      <p:sp>
        <p:nvSpPr>
          <p:cNvPr id="47" name="Shape 46">
            <a:extLst>
              <a:ext uri="{FF2B5EF4-FFF2-40B4-BE49-F238E27FC236}">
                <a16:creationId xmlns:a16="http://schemas.microsoft.com/office/drawing/2014/main" id="{BC3F4D90-4E41-78FD-2C70-9AB7D9983200}"/>
              </a:ext>
            </a:extLst>
          </p:cNvPr>
          <p:cNvSpPr/>
          <p:nvPr/>
        </p:nvSpPr>
        <p:spPr>
          <a:xfrm>
            <a:off x="4006247" y="4361883"/>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分析與生成</a:t>
            </a:r>
            <a:endParaRPr lang="en-US" altLang="zh-TW" sz="1200" b="1"/>
          </a:p>
        </p:txBody>
      </p:sp>
      <p:sp>
        <p:nvSpPr>
          <p:cNvPr id="502" name="Shape 3">
            <a:extLst>
              <a:ext uri="{FF2B5EF4-FFF2-40B4-BE49-F238E27FC236}">
                <a16:creationId xmlns:a16="http://schemas.microsoft.com/office/drawing/2014/main" id="{F696B7B4-D450-FCF1-BF7C-E050A81D970F}"/>
              </a:ext>
            </a:extLst>
          </p:cNvPr>
          <p:cNvSpPr/>
          <p:nvPr/>
        </p:nvSpPr>
        <p:spPr>
          <a:xfrm>
            <a:off x="3624647" y="690110"/>
            <a:ext cx="2984400" cy="342000"/>
          </a:xfrm>
          <a:prstGeom prst="roundRect">
            <a:avLst>
              <a:gd name="adj" fmla="val 27083"/>
            </a:avLst>
          </a:prstGeom>
          <a:solidFill>
            <a:srgbClr val="10B981"/>
          </a:solidFill>
          <a:ln w="12700">
            <a:solidFill>
              <a:srgbClr val="F59E0B">
                <a:alpha val="0"/>
              </a:srgbClr>
            </a:solidFill>
            <a:prstDash val="solid"/>
          </a:ln>
        </p:spPr>
        <p:txBody>
          <a:bodyPr/>
          <a:lstStyle/>
          <a:p>
            <a:endParaRPr lang="zh-TW" altLang="en-US"/>
          </a:p>
        </p:txBody>
      </p:sp>
      <p:sp>
        <p:nvSpPr>
          <p:cNvPr id="903" name="Text 4">
            <a:extLst>
              <a:ext uri="{FF2B5EF4-FFF2-40B4-BE49-F238E27FC236}">
                <a16:creationId xmlns:a16="http://schemas.microsoft.com/office/drawing/2014/main" id="{10C44619-4ABC-BA61-84F5-241E606ECE52}"/>
              </a:ext>
            </a:extLst>
          </p:cNvPr>
          <p:cNvSpPr/>
          <p:nvPr/>
        </p:nvSpPr>
        <p:spPr>
          <a:xfrm>
            <a:off x="4349422" y="721122"/>
            <a:ext cx="2468880" cy="246888"/>
          </a:xfrm>
          <a:prstGeom prst="rect">
            <a:avLst/>
          </a:prstGeom>
          <a:noFill/>
          <a:ln/>
        </p:spPr>
        <p:txBody>
          <a:bodyPr wrap="square" lIns="381" tIns="381" rIns="381" bIns="381" rtlCol="0" anchor="ctr">
            <a:noAutofit/>
          </a:bodyPr>
          <a:lstStyle/>
          <a:p>
            <a:pPr marL="0" indent="0" algn="l">
              <a:buNone/>
            </a:pPr>
            <a:r>
              <a:rPr lang="zh-TW" altLang="en-US" sz="1400" b="1">
                <a:solidFill>
                  <a:srgbClr val="FFFFFF"/>
                </a:solidFill>
                <a:latin typeface="Microsoft JhengHei" pitchFamily="34" charset="0"/>
                <a:ea typeface="Microsoft JhengHei" pitchFamily="34" charset="-122"/>
              </a:rPr>
              <a:t>結構化知識檢索</a:t>
            </a:r>
            <a:endParaRPr lang="en-US" sz="1400"/>
          </a:p>
        </p:txBody>
      </p:sp>
      <p:sp>
        <p:nvSpPr>
          <p:cNvPr id="523" name="Shape 46">
            <a:extLst>
              <a:ext uri="{FF2B5EF4-FFF2-40B4-BE49-F238E27FC236}">
                <a16:creationId xmlns:a16="http://schemas.microsoft.com/office/drawing/2014/main" id="{F236DC46-E0E4-A164-98DD-DB63B1CEB7F4}"/>
              </a:ext>
            </a:extLst>
          </p:cNvPr>
          <p:cNvSpPr/>
          <p:nvPr/>
        </p:nvSpPr>
        <p:spPr>
          <a:xfrm>
            <a:off x="4006247" y="1095157"/>
            <a:ext cx="2221200" cy="2952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使用者問題</a:t>
            </a:r>
          </a:p>
        </p:txBody>
      </p:sp>
      <p:pic>
        <p:nvPicPr>
          <p:cNvPr id="525" name="圖片 524">
            <a:extLst>
              <a:ext uri="{FF2B5EF4-FFF2-40B4-BE49-F238E27FC236}">
                <a16:creationId xmlns:a16="http://schemas.microsoft.com/office/drawing/2014/main" id="{922DEE87-6B68-AC81-3ED9-672CE7754DD7}"/>
              </a:ext>
            </a:extLst>
          </p:cNvPr>
          <p:cNvPicPr>
            <a:picLocks noChangeAspect="1"/>
          </p:cNvPicPr>
          <p:nvPr/>
        </p:nvPicPr>
        <p:blipFill>
          <a:blip r:embed="rId3">
            <a:extLst>
              <a:ext uri="{28A0092B-C50C-407E-A947-70E740481C1C}">
                <a14:useLocalDpi xmlns:a14="http://schemas.microsoft.com/office/drawing/2010/main" val="0"/>
              </a:ext>
            </a:extLst>
          </a:blip>
          <a:srcRect l="1892" t="71207" r="3465" b="6681"/>
          <a:stretch>
            <a:fillRect/>
          </a:stretch>
        </p:blipFill>
        <p:spPr>
          <a:xfrm>
            <a:off x="445008" y="7457685"/>
            <a:ext cx="9735886" cy="1516465"/>
          </a:xfrm>
          <a:prstGeom prst="rect">
            <a:avLst/>
          </a:prstGeom>
        </p:spPr>
      </p:pic>
      <p:sp>
        <p:nvSpPr>
          <p:cNvPr id="508" name="Shape 14">
            <a:extLst>
              <a:ext uri="{FF2B5EF4-FFF2-40B4-BE49-F238E27FC236}">
                <a16:creationId xmlns:a16="http://schemas.microsoft.com/office/drawing/2014/main" id="{B15DB5F7-59BE-C8D4-4689-8E27C9EE72DB}"/>
              </a:ext>
            </a:extLst>
          </p:cNvPr>
          <p:cNvSpPr/>
          <p:nvPr/>
        </p:nvSpPr>
        <p:spPr>
          <a:xfrm>
            <a:off x="6736890" y="780458"/>
            <a:ext cx="4364956" cy="5840639"/>
          </a:xfrm>
          <a:prstGeom prst="roundRect">
            <a:avLst>
              <a:gd name="adj" fmla="val 5350"/>
            </a:avLst>
          </a:prstGeom>
          <a:solidFill>
            <a:srgbClr val="FFF9E9"/>
          </a:solidFill>
          <a:ln w="12700">
            <a:solidFill>
              <a:srgbClr val="F59E0B"/>
            </a:solidFill>
            <a:prstDash val="solid"/>
          </a:ln>
        </p:spPr>
        <p:txBody>
          <a:bodyPr/>
          <a:lstStyle/>
          <a:p>
            <a:endParaRPr lang="zh-TW" altLang="en-US"/>
          </a:p>
        </p:txBody>
      </p:sp>
      <p:sp>
        <p:nvSpPr>
          <p:cNvPr id="455" name="Shape 35">
            <a:extLst>
              <a:ext uri="{FF2B5EF4-FFF2-40B4-BE49-F238E27FC236}">
                <a16:creationId xmlns:a16="http://schemas.microsoft.com/office/drawing/2014/main" id="{D685E0D0-ADB5-FEA9-277A-EFE992244FBC}"/>
              </a:ext>
            </a:extLst>
          </p:cNvPr>
          <p:cNvSpPr/>
          <p:nvPr/>
        </p:nvSpPr>
        <p:spPr>
          <a:xfrm>
            <a:off x="7872803" y="1076773"/>
            <a:ext cx="22212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使用者問題</a:t>
            </a:r>
          </a:p>
          <a:p>
            <a:endParaRPr lang="zh-TW" altLang="en-US"/>
          </a:p>
        </p:txBody>
      </p:sp>
      <p:sp>
        <p:nvSpPr>
          <p:cNvPr id="459" name="Shape 35">
            <a:extLst>
              <a:ext uri="{FF2B5EF4-FFF2-40B4-BE49-F238E27FC236}">
                <a16:creationId xmlns:a16="http://schemas.microsoft.com/office/drawing/2014/main" id="{39B70F35-2151-96BB-E6D7-664C2E643429}"/>
              </a:ext>
            </a:extLst>
          </p:cNvPr>
          <p:cNvSpPr/>
          <p:nvPr/>
        </p:nvSpPr>
        <p:spPr>
          <a:xfrm>
            <a:off x="7865886" y="1456168"/>
            <a:ext cx="22212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任務拆解 </a:t>
            </a:r>
            <a:r>
              <a:rPr lang="en-US" altLang="zh-TW" sz="1200" b="1"/>
              <a:t>/ </a:t>
            </a:r>
            <a:r>
              <a:rPr lang="zh-TW" altLang="en-US" sz="1200" b="1"/>
              <a:t>規劃</a:t>
            </a:r>
          </a:p>
        </p:txBody>
      </p:sp>
      <p:sp>
        <p:nvSpPr>
          <p:cNvPr id="463" name="Shape 35">
            <a:extLst>
              <a:ext uri="{FF2B5EF4-FFF2-40B4-BE49-F238E27FC236}">
                <a16:creationId xmlns:a16="http://schemas.microsoft.com/office/drawing/2014/main" id="{F640CBA1-25DB-7E85-76BE-F95D1B35E0D4}"/>
              </a:ext>
            </a:extLst>
          </p:cNvPr>
          <p:cNvSpPr/>
          <p:nvPr/>
        </p:nvSpPr>
        <p:spPr>
          <a:xfrm>
            <a:off x="7826170" y="3895602"/>
            <a:ext cx="19836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證據融合</a:t>
            </a:r>
          </a:p>
        </p:txBody>
      </p:sp>
      <p:sp>
        <p:nvSpPr>
          <p:cNvPr id="467" name="Shape 35">
            <a:extLst>
              <a:ext uri="{FF2B5EF4-FFF2-40B4-BE49-F238E27FC236}">
                <a16:creationId xmlns:a16="http://schemas.microsoft.com/office/drawing/2014/main" id="{D5B17E77-C3CF-0022-3D4A-D38C5F01F564}"/>
              </a:ext>
            </a:extLst>
          </p:cNvPr>
          <p:cNvSpPr/>
          <p:nvPr/>
        </p:nvSpPr>
        <p:spPr>
          <a:xfrm>
            <a:off x="7826168" y="4249512"/>
            <a:ext cx="19836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跨來源推理與驗證</a:t>
            </a:r>
          </a:p>
        </p:txBody>
      </p:sp>
      <p:sp>
        <p:nvSpPr>
          <p:cNvPr id="471" name="Shape 35">
            <a:extLst>
              <a:ext uri="{FF2B5EF4-FFF2-40B4-BE49-F238E27FC236}">
                <a16:creationId xmlns:a16="http://schemas.microsoft.com/office/drawing/2014/main" id="{8A3DB127-5514-C462-F986-67A93A9C81CB}"/>
              </a:ext>
            </a:extLst>
          </p:cNvPr>
          <p:cNvSpPr/>
          <p:nvPr/>
        </p:nvSpPr>
        <p:spPr>
          <a:xfrm>
            <a:off x="7827355" y="4599322"/>
            <a:ext cx="1983600" cy="255600"/>
          </a:xfrm>
          <a:prstGeom prst="roundRect">
            <a:avLst>
              <a:gd name="adj" fmla="val 20513"/>
            </a:avLst>
          </a:prstGeom>
          <a:solidFill>
            <a:srgbClr val="FFFFFF"/>
          </a:solidFill>
          <a:ln w="15240">
            <a:solidFill>
              <a:srgbClr val="F59E0B"/>
            </a:solidFill>
            <a:prstDash val="solid"/>
          </a:ln>
        </p:spPr>
        <p:txBody>
          <a:bodyPr/>
          <a:lstStyle/>
          <a:p>
            <a:pPr algn="ctr"/>
            <a:r>
              <a:rPr lang="zh-TW" altLang="en-US" sz="1200" b="1"/>
              <a:t>最終答案 </a:t>
            </a:r>
          </a:p>
        </p:txBody>
      </p:sp>
      <p:sp>
        <p:nvSpPr>
          <p:cNvPr id="899" name="Shape 111">
            <a:extLst>
              <a:ext uri="{FF2B5EF4-FFF2-40B4-BE49-F238E27FC236}">
                <a16:creationId xmlns:a16="http://schemas.microsoft.com/office/drawing/2014/main" id="{032A55AD-08FC-D14C-3907-C1293A855445}"/>
              </a:ext>
            </a:extLst>
          </p:cNvPr>
          <p:cNvSpPr/>
          <p:nvPr/>
        </p:nvSpPr>
        <p:spPr>
          <a:xfrm>
            <a:off x="6736890" y="718047"/>
            <a:ext cx="4364956" cy="342000"/>
          </a:xfrm>
          <a:prstGeom prst="roundRect">
            <a:avLst>
              <a:gd name="adj" fmla="val 32143"/>
            </a:avLst>
          </a:prstGeom>
          <a:solidFill>
            <a:srgbClr val="F59E0B"/>
          </a:solidFill>
          <a:ln w="12700">
            <a:solidFill>
              <a:srgbClr val="8B5CF6">
                <a:alpha val="0"/>
              </a:srgbClr>
            </a:solidFill>
            <a:prstDash val="solid"/>
          </a:ln>
        </p:spPr>
        <p:txBody>
          <a:bodyPr/>
          <a:lstStyle/>
          <a:p>
            <a:endParaRPr lang="zh-TW" altLang="en-US"/>
          </a:p>
        </p:txBody>
      </p:sp>
      <p:sp>
        <p:nvSpPr>
          <p:cNvPr id="505" name="Text 4">
            <a:extLst>
              <a:ext uri="{FF2B5EF4-FFF2-40B4-BE49-F238E27FC236}">
                <a16:creationId xmlns:a16="http://schemas.microsoft.com/office/drawing/2014/main" id="{CD00FB43-30A8-F9B4-DFE7-58E618A237AE}"/>
              </a:ext>
            </a:extLst>
          </p:cNvPr>
          <p:cNvSpPr/>
          <p:nvPr/>
        </p:nvSpPr>
        <p:spPr>
          <a:xfrm>
            <a:off x="8181590" y="790589"/>
            <a:ext cx="2468880" cy="246888"/>
          </a:xfrm>
          <a:prstGeom prst="rect">
            <a:avLst/>
          </a:prstGeom>
          <a:noFill/>
          <a:ln/>
        </p:spPr>
        <p:txBody>
          <a:bodyPr wrap="square" lIns="381" tIns="381" rIns="381" bIns="381" rtlCol="0" anchor="ctr">
            <a:noAutofit/>
          </a:bodyPr>
          <a:lstStyle/>
          <a:p>
            <a:pPr marL="0" indent="0" algn="l">
              <a:buNone/>
            </a:pPr>
            <a:r>
              <a:rPr lang="en-US" altLang="zh-TW" sz="1400" b="1">
                <a:solidFill>
                  <a:srgbClr val="FFFFFF"/>
                </a:solidFill>
                <a:latin typeface="Microsoft JhengHei" pitchFamily="34" charset="0"/>
                <a:ea typeface="Microsoft JhengHei" pitchFamily="34" charset="-122"/>
              </a:rPr>
              <a:t>Hybrid </a:t>
            </a:r>
            <a:r>
              <a:rPr lang="zh-TW" altLang="en-US" sz="1400" b="1">
                <a:solidFill>
                  <a:srgbClr val="FFFFFF"/>
                </a:solidFill>
                <a:latin typeface="Microsoft JhengHei" pitchFamily="34" charset="0"/>
                <a:ea typeface="Microsoft JhengHei" pitchFamily="34" charset="-122"/>
              </a:rPr>
              <a:t>知識檢索</a:t>
            </a:r>
            <a:endParaRPr lang="en-US" sz="1400"/>
          </a:p>
        </p:txBody>
      </p:sp>
      <p:sp>
        <p:nvSpPr>
          <p:cNvPr id="529" name="Shape 10">
            <a:extLst>
              <a:ext uri="{FF2B5EF4-FFF2-40B4-BE49-F238E27FC236}">
                <a16:creationId xmlns:a16="http://schemas.microsoft.com/office/drawing/2014/main" id="{D8486EB2-DB1A-C66A-9EBB-D030BAD5800B}"/>
              </a:ext>
            </a:extLst>
          </p:cNvPr>
          <p:cNvSpPr/>
          <p:nvPr/>
        </p:nvSpPr>
        <p:spPr>
          <a:xfrm>
            <a:off x="6787403" y="1945254"/>
            <a:ext cx="2030565" cy="1772121"/>
          </a:xfrm>
          <a:prstGeom prst="roundRect">
            <a:avLst>
              <a:gd name="adj" fmla="val 3591"/>
            </a:avLst>
          </a:prstGeom>
          <a:solidFill>
            <a:srgbClr val="EFF6FF"/>
          </a:solidFill>
          <a:ln w="12700">
            <a:solidFill>
              <a:srgbClr val="EFF6FF"/>
            </a:solidFill>
            <a:prstDash val="solid"/>
          </a:ln>
        </p:spPr>
        <p:txBody>
          <a:bodyPr/>
          <a:lstStyle/>
          <a:p>
            <a:endParaRPr lang="zh-TW" altLang="en-US"/>
          </a:p>
        </p:txBody>
      </p:sp>
      <p:sp>
        <p:nvSpPr>
          <p:cNvPr id="53" name="Shape 51">
            <a:extLst>
              <a:ext uri="{FF2B5EF4-FFF2-40B4-BE49-F238E27FC236}">
                <a16:creationId xmlns:a16="http://schemas.microsoft.com/office/drawing/2014/main" id="{9210FE76-DE62-911A-9578-87D114E50BFE}"/>
              </a:ext>
            </a:extLst>
          </p:cNvPr>
          <p:cNvSpPr/>
          <p:nvPr/>
        </p:nvSpPr>
        <p:spPr>
          <a:xfrm>
            <a:off x="6922852" y="2008428"/>
            <a:ext cx="1742400" cy="295200"/>
          </a:xfrm>
          <a:prstGeom prst="roundRect">
            <a:avLst>
              <a:gd name="adj" fmla="val 17391"/>
            </a:avLst>
          </a:prstGeom>
          <a:solidFill>
            <a:srgbClr val="FFFFFF"/>
          </a:solidFill>
          <a:ln w="15240">
            <a:solidFill>
              <a:srgbClr val="729AF2"/>
            </a:solidFill>
            <a:prstDash val="solid"/>
          </a:ln>
        </p:spPr>
        <p:txBody>
          <a:bodyPr/>
          <a:lstStyle/>
          <a:p>
            <a:pPr algn="ctr"/>
            <a:r>
              <a:rPr lang="zh-TW" altLang="en-US" sz="1200" b="1"/>
              <a:t>問題改寫</a:t>
            </a:r>
          </a:p>
        </p:txBody>
      </p:sp>
      <p:sp>
        <p:nvSpPr>
          <p:cNvPr id="55" name="Shape 51">
            <a:extLst>
              <a:ext uri="{FF2B5EF4-FFF2-40B4-BE49-F238E27FC236}">
                <a16:creationId xmlns:a16="http://schemas.microsoft.com/office/drawing/2014/main" id="{FC778F3E-4FE0-AC57-30F0-CD57A7AA2BFF}"/>
              </a:ext>
            </a:extLst>
          </p:cNvPr>
          <p:cNvSpPr/>
          <p:nvPr/>
        </p:nvSpPr>
        <p:spPr>
          <a:xfrm>
            <a:off x="6922852" y="2446699"/>
            <a:ext cx="1742400" cy="295200"/>
          </a:xfrm>
          <a:prstGeom prst="roundRect">
            <a:avLst>
              <a:gd name="adj" fmla="val 17391"/>
            </a:avLst>
          </a:prstGeom>
          <a:solidFill>
            <a:srgbClr val="FFFFFF"/>
          </a:solidFill>
          <a:ln w="15240">
            <a:solidFill>
              <a:srgbClr val="729AF2"/>
            </a:solidFill>
            <a:prstDash val="solid"/>
          </a:ln>
        </p:spPr>
        <p:txBody>
          <a:bodyPr/>
          <a:lstStyle/>
          <a:p>
            <a:pPr algn="ctr"/>
            <a:r>
              <a:rPr lang="en-US" altLang="zh-TW" sz="1200" b="1"/>
              <a:t>Retrieval</a:t>
            </a:r>
            <a:endParaRPr lang="zh-TW" altLang="en-US" sz="1200" b="1"/>
          </a:p>
        </p:txBody>
      </p:sp>
      <p:sp>
        <p:nvSpPr>
          <p:cNvPr id="57" name="Shape 51">
            <a:extLst>
              <a:ext uri="{FF2B5EF4-FFF2-40B4-BE49-F238E27FC236}">
                <a16:creationId xmlns:a16="http://schemas.microsoft.com/office/drawing/2014/main" id="{B52DA092-0025-F8B5-87B8-CA0F03D08F1E}"/>
              </a:ext>
            </a:extLst>
          </p:cNvPr>
          <p:cNvSpPr/>
          <p:nvPr/>
        </p:nvSpPr>
        <p:spPr>
          <a:xfrm>
            <a:off x="6921900" y="2912545"/>
            <a:ext cx="1742400" cy="295200"/>
          </a:xfrm>
          <a:prstGeom prst="roundRect">
            <a:avLst>
              <a:gd name="adj" fmla="val 17391"/>
            </a:avLst>
          </a:prstGeom>
          <a:solidFill>
            <a:srgbClr val="FFFFFF"/>
          </a:solidFill>
          <a:ln w="15240">
            <a:solidFill>
              <a:srgbClr val="729AF2"/>
            </a:solidFill>
            <a:prstDash val="solid"/>
          </a:ln>
        </p:spPr>
        <p:txBody>
          <a:bodyPr/>
          <a:lstStyle/>
          <a:p>
            <a:pPr algn="ctr"/>
            <a:r>
              <a:rPr lang="en-US" altLang="zh-TW" sz="1200" b="1"/>
              <a:t>Reranking</a:t>
            </a:r>
            <a:endParaRPr lang="zh-TW" altLang="en-US" sz="1200" b="1"/>
          </a:p>
        </p:txBody>
      </p:sp>
      <p:sp>
        <p:nvSpPr>
          <p:cNvPr id="59" name="Shape 51">
            <a:extLst>
              <a:ext uri="{FF2B5EF4-FFF2-40B4-BE49-F238E27FC236}">
                <a16:creationId xmlns:a16="http://schemas.microsoft.com/office/drawing/2014/main" id="{2727A8EB-8BC1-BFF2-F5C4-DE5E60CDA1E3}"/>
              </a:ext>
            </a:extLst>
          </p:cNvPr>
          <p:cNvSpPr/>
          <p:nvPr/>
        </p:nvSpPr>
        <p:spPr>
          <a:xfrm>
            <a:off x="6922852" y="3378391"/>
            <a:ext cx="1741448" cy="295200"/>
          </a:xfrm>
          <a:prstGeom prst="roundRect">
            <a:avLst>
              <a:gd name="adj" fmla="val 17391"/>
            </a:avLst>
          </a:prstGeom>
          <a:solidFill>
            <a:srgbClr val="FFFFFF"/>
          </a:solidFill>
          <a:ln w="15240">
            <a:solidFill>
              <a:srgbClr val="729AF2"/>
            </a:solidFill>
            <a:prstDash val="solid"/>
          </a:ln>
        </p:spPr>
        <p:txBody>
          <a:bodyPr/>
          <a:lstStyle/>
          <a:p>
            <a:r>
              <a:rPr lang="zh-TW" altLang="en-US" sz="1200" b="1"/>
              <a:t>文件證據</a:t>
            </a:r>
            <a:r>
              <a:rPr lang="en-US" altLang="zh-TW" sz="1200" b="1"/>
              <a:t>(</a:t>
            </a:r>
            <a:r>
              <a:rPr lang="zh-TW" altLang="en-US" sz="1200" b="1"/>
              <a:t>段落 </a:t>
            </a:r>
            <a:r>
              <a:rPr lang="en-US" altLang="zh-TW" sz="1200" b="1"/>
              <a:t>/ </a:t>
            </a:r>
            <a:r>
              <a:rPr lang="zh-TW" altLang="en-US" sz="1200" b="1"/>
              <a:t>圖表</a:t>
            </a:r>
            <a:r>
              <a:rPr lang="en-US" altLang="zh-TW" sz="1200" b="1"/>
              <a:t>)</a:t>
            </a:r>
            <a:endParaRPr lang="zh-TW" altLang="en-US" sz="1200" b="1"/>
          </a:p>
        </p:txBody>
      </p:sp>
      <p:sp>
        <p:nvSpPr>
          <p:cNvPr id="531" name="Text 23">
            <a:extLst>
              <a:ext uri="{FF2B5EF4-FFF2-40B4-BE49-F238E27FC236}">
                <a16:creationId xmlns:a16="http://schemas.microsoft.com/office/drawing/2014/main" id="{6B5E1FE1-A3CC-436D-D3D5-E8049CDE8376}"/>
              </a:ext>
            </a:extLst>
          </p:cNvPr>
          <p:cNvSpPr/>
          <p:nvPr/>
        </p:nvSpPr>
        <p:spPr>
          <a:xfrm>
            <a:off x="6760019" y="2157285"/>
            <a:ext cx="181573" cy="64723"/>
          </a:xfrm>
          <a:prstGeom prst="rect">
            <a:avLst/>
          </a:prstGeom>
          <a:noFill/>
          <a:ln/>
        </p:spPr>
        <p:txBody>
          <a:bodyPr wrap="square" lIns="254" tIns="254" rIns="254" bIns="254" rtlCol="0" anchor="t">
            <a:noAutofit/>
          </a:bodyPr>
          <a:lstStyle/>
          <a:p>
            <a:r>
              <a:rPr lang="zh-TW" altLang="en-US" sz="1200" b="1">
                <a:solidFill>
                  <a:schemeClr val="accent5"/>
                </a:solidFill>
                <a:latin typeface="Microsoft JhengHei" pitchFamily="34" charset="0"/>
                <a:ea typeface="Microsoft JhengHei" pitchFamily="34" charset="-122"/>
                <a:cs typeface="Microsoft JhengHei" pitchFamily="34" charset="-120"/>
              </a:rPr>
              <a:t>文本檢索</a:t>
            </a:r>
          </a:p>
        </p:txBody>
      </p:sp>
      <p:sp>
        <p:nvSpPr>
          <p:cNvPr id="533" name="Shape 10">
            <a:extLst>
              <a:ext uri="{FF2B5EF4-FFF2-40B4-BE49-F238E27FC236}">
                <a16:creationId xmlns:a16="http://schemas.microsoft.com/office/drawing/2014/main" id="{E0EE6738-BBC4-8211-C58D-B75ED03DEDA0}"/>
              </a:ext>
            </a:extLst>
          </p:cNvPr>
          <p:cNvSpPr/>
          <p:nvPr/>
        </p:nvSpPr>
        <p:spPr>
          <a:xfrm>
            <a:off x="8966971" y="1945255"/>
            <a:ext cx="2094235" cy="1772120"/>
          </a:xfrm>
          <a:prstGeom prst="roundRect">
            <a:avLst>
              <a:gd name="adj" fmla="val 3591"/>
            </a:avLst>
          </a:prstGeom>
          <a:solidFill>
            <a:srgbClr val="ECFDF5"/>
          </a:solidFill>
          <a:ln w="12700">
            <a:solidFill>
              <a:srgbClr val="EFF6FF"/>
            </a:solidFill>
            <a:prstDash val="solid"/>
          </a:ln>
        </p:spPr>
        <p:txBody>
          <a:bodyPr/>
          <a:lstStyle/>
          <a:p>
            <a:endParaRPr lang="zh-TW" altLang="en-US"/>
          </a:p>
        </p:txBody>
      </p:sp>
      <p:sp>
        <p:nvSpPr>
          <p:cNvPr id="61" name="Shape 46">
            <a:extLst>
              <a:ext uri="{FF2B5EF4-FFF2-40B4-BE49-F238E27FC236}">
                <a16:creationId xmlns:a16="http://schemas.microsoft.com/office/drawing/2014/main" id="{853C37D2-D3FB-96FB-2651-2EA4D5A7792C}"/>
              </a:ext>
            </a:extLst>
          </p:cNvPr>
          <p:cNvSpPr/>
          <p:nvPr/>
        </p:nvSpPr>
        <p:spPr>
          <a:xfrm>
            <a:off x="9028923" y="1994596"/>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t>原始查詢解析與向量化</a:t>
            </a:r>
          </a:p>
        </p:txBody>
      </p:sp>
      <p:sp>
        <p:nvSpPr>
          <p:cNvPr id="63" name="Shape 46">
            <a:extLst>
              <a:ext uri="{FF2B5EF4-FFF2-40B4-BE49-F238E27FC236}">
                <a16:creationId xmlns:a16="http://schemas.microsoft.com/office/drawing/2014/main" id="{45F0922A-DB50-CF8C-895A-A8E17D91B7EA}"/>
              </a:ext>
            </a:extLst>
          </p:cNvPr>
          <p:cNvSpPr/>
          <p:nvPr/>
        </p:nvSpPr>
        <p:spPr>
          <a:xfrm>
            <a:off x="9028923" y="2353086"/>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t>Schema Linking</a:t>
            </a:r>
            <a:endParaRPr lang="zh-TW" altLang="en-US" sz="1200" b="1"/>
          </a:p>
        </p:txBody>
      </p:sp>
      <p:sp>
        <p:nvSpPr>
          <p:cNvPr id="449" name="Shape 46">
            <a:extLst>
              <a:ext uri="{FF2B5EF4-FFF2-40B4-BE49-F238E27FC236}">
                <a16:creationId xmlns:a16="http://schemas.microsoft.com/office/drawing/2014/main" id="{8E389298-7B4E-08D3-C976-E1A3439C6CC4}"/>
              </a:ext>
            </a:extLst>
          </p:cNvPr>
          <p:cNvSpPr/>
          <p:nvPr/>
        </p:nvSpPr>
        <p:spPr>
          <a:xfrm>
            <a:off x="9041903" y="2699402"/>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cs typeface="Microsoft JhengHei" pitchFamily="34" charset="-120"/>
              </a:rPr>
              <a:t>Text-to-SQL</a:t>
            </a:r>
            <a:endParaRPr lang="en-US" altLang="zh-TW" sz="1200" b="1"/>
          </a:p>
        </p:txBody>
      </p:sp>
      <p:sp>
        <p:nvSpPr>
          <p:cNvPr id="451" name="Shape 46">
            <a:extLst>
              <a:ext uri="{FF2B5EF4-FFF2-40B4-BE49-F238E27FC236}">
                <a16:creationId xmlns:a16="http://schemas.microsoft.com/office/drawing/2014/main" id="{A2B33A17-55A7-BE61-3BFE-B923EA558B4F}"/>
              </a:ext>
            </a:extLst>
          </p:cNvPr>
          <p:cNvSpPr/>
          <p:nvPr/>
        </p:nvSpPr>
        <p:spPr>
          <a:xfrm>
            <a:off x="9041903" y="3043513"/>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en-US" altLang="zh-TW" sz="1200" b="1">
                <a:solidFill>
                  <a:srgbClr val="1F2937"/>
                </a:solidFill>
                <a:latin typeface="Microsoft JhengHei" pitchFamily="34" charset="0"/>
                <a:ea typeface="Microsoft JhengHei" pitchFamily="34" charset="-122"/>
              </a:rPr>
              <a:t>SQL</a:t>
            </a:r>
            <a:r>
              <a:rPr lang="zh-TW" altLang="en-US" sz="1200" b="1">
                <a:solidFill>
                  <a:srgbClr val="1F2937"/>
                </a:solidFill>
                <a:latin typeface="Microsoft JhengHei" pitchFamily="34" charset="0"/>
                <a:ea typeface="Microsoft JhengHei" pitchFamily="34" charset="-122"/>
              </a:rPr>
              <a:t>驗證與執行</a:t>
            </a:r>
            <a:endParaRPr lang="en-US" altLang="zh-TW" sz="1200" b="1"/>
          </a:p>
        </p:txBody>
      </p:sp>
      <p:sp>
        <p:nvSpPr>
          <p:cNvPr id="453" name="Shape 46">
            <a:extLst>
              <a:ext uri="{FF2B5EF4-FFF2-40B4-BE49-F238E27FC236}">
                <a16:creationId xmlns:a16="http://schemas.microsoft.com/office/drawing/2014/main" id="{8700DEA5-ABA3-55E2-AC73-9E059347820E}"/>
              </a:ext>
            </a:extLst>
          </p:cNvPr>
          <p:cNvSpPr/>
          <p:nvPr/>
        </p:nvSpPr>
        <p:spPr>
          <a:xfrm>
            <a:off x="9045732" y="3382758"/>
            <a:ext cx="1852478" cy="255600"/>
          </a:xfrm>
          <a:prstGeom prst="roundRect">
            <a:avLst>
              <a:gd name="adj" fmla="val 18605"/>
            </a:avLst>
          </a:prstGeom>
          <a:solidFill>
            <a:srgbClr val="FFFFFF"/>
          </a:solidFill>
          <a:ln w="15240">
            <a:solidFill>
              <a:srgbClr val="10B981"/>
            </a:solidFill>
            <a:prstDash val="solid"/>
          </a:ln>
        </p:spPr>
        <p:txBody>
          <a:bodyPr/>
          <a:lstStyle/>
          <a:p>
            <a:pPr algn="ctr"/>
            <a:r>
              <a:rPr lang="zh-TW" altLang="en-US" sz="1200" b="1">
                <a:solidFill>
                  <a:srgbClr val="1F2937"/>
                </a:solidFill>
                <a:latin typeface="Microsoft JhengHei" pitchFamily="34" charset="0"/>
                <a:ea typeface="Microsoft JhengHei" pitchFamily="34" charset="-122"/>
              </a:rPr>
              <a:t>資料結果</a:t>
            </a:r>
            <a:r>
              <a:rPr lang="en-US" altLang="zh-TW" sz="1200" b="1">
                <a:solidFill>
                  <a:srgbClr val="1F2937"/>
                </a:solidFill>
                <a:latin typeface="Microsoft JhengHei" pitchFamily="34" charset="0"/>
                <a:ea typeface="Microsoft JhengHei" pitchFamily="34" charset="-122"/>
              </a:rPr>
              <a:t>(</a:t>
            </a:r>
            <a:r>
              <a:rPr lang="zh-TW" altLang="en-US" sz="1200" b="1">
                <a:solidFill>
                  <a:srgbClr val="1F2937"/>
                </a:solidFill>
                <a:latin typeface="Microsoft JhengHei" pitchFamily="34" charset="0"/>
                <a:ea typeface="Microsoft JhengHei" pitchFamily="34" charset="-122"/>
              </a:rPr>
              <a:t>數據 </a:t>
            </a:r>
            <a:r>
              <a:rPr lang="en-US" altLang="zh-TW" sz="1200" b="1">
                <a:solidFill>
                  <a:srgbClr val="1F2937"/>
                </a:solidFill>
                <a:latin typeface="Microsoft JhengHei" pitchFamily="34" charset="0"/>
                <a:ea typeface="Microsoft JhengHei" pitchFamily="34" charset="-122"/>
              </a:rPr>
              <a:t>/ </a:t>
            </a:r>
            <a:r>
              <a:rPr lang="zh-TW" altLang="en-US" sz="1200" b="1">
                <a:solidFill>
                  <a:srgbClr val="1F2937"/>
                </a:solidFill>
                <a:latin typeface="Microsoft JhengHei" pitchFamily="34" charset="0"/>
                <a:ea typeface="Microsoft JhengHei" pitchFamily="34" charset="-122"/>
              </a:rPr>
              <a:t>圖表</a:t>
            </a:r>
            <a:r>
              <a:rPr lang="en-US" altLang="zh-TW" sz="1200" b="1">
                <a:solidFill>
                  <a:srgbClr val="1F2937"/>
                </a:solidFill>
                <a:latin typeface="Microsoft JhengHei" pitchFamily="34" charset="0"/>
                <a:ea typeface="Microsoft JhengHei" pitchFamily="34" charset="-122"/>
              </a:rPr>
              <a:t>)</a:t>
            </a:r>
            <a:endParaRPr lang="en-US" altLang="zh-TW" sz="1200" b="1"/>
          </a:p>
        </p:txBody>
      </p:sp>
      <p:sp>
        <p:nvSpPr>
          <p:cNvPr id="541" name="Text 23">
            <a:extLst>
              <a:ext uri="{FF2B5EF4-FFF2-40B4-BE49-F238E27FC236}">
                <a16:creationId xmlns:a16="http://schemas.microsoft.com/office/drawing/2014/main" id="{00E9A0F2-4327-AC02-FC8A-C67CDACE03F8}"/>
              </a:ext>
            </a:extLst>
          </p:cNvPr>
          <p:cNvSpPr/>
          <p:nvPr/>
        </p:nvSpPr>
        <p:spPr>
          <a:xfrm>
            <a:off x="10912899" y="2079931"/>
            <a:ext cx="181573" cy="707418"/>
          </a:xfrm>
          <a:prstGeom prst="rect">
            <a:avLst/>
          </a:prstGeom>
          <a:noFill/>
          <a:ln/>
        </p:spPr>
        <p:txBody>
          <a:bodyPr wrap="square" lIns="254" tIns="254" rIns="254" bIns="254" rtlCol="0" anchor="t">
            <a:noAutofit/>
          </a:bodyPr>
          <a:lstStyle/>
          <a:p>
            <a:r>
              <a:rPr lang="zh-TW" altLang="en-US" sz="1200" b="1">
                <a:solidFill>
                  <a:schemeClr val="accent2">
                    <a:lumMod val="50000"/>
                  </a:schemeClr>
                </a:solidFill>
                <a:latin typeface="Microsoft JhengHei" pitchFamily="34" charset="0"/>
                <a:ea typeface="Microsoft JhengHei" pitchFamily="34" charset="-122"/>
                <a:cs typeface="Microsoft JhengHei" pitchFamily="34" charset="-120"/>
              </a:rPr>
              <a:t>數據查找</a:t>
            </a:r>
          </a:p>
        </p:txBody>
      </p:sp>
      <p:cxnSp>
        <p:nvCxnSpPr>
          <p:cNvPr id="545" name="直線單箭頭接點 544">
            <a:extLst>
              <a:ext uri="{FF2B5EF4-FFF2-40B4-BE49-F238E27FC236}">
                <a16:creationId xmlns:a16="http://schemas.microsoft.com/office/drawing/2014/main" id="{CE7AE411-923A-8531-A801-4A5F1D8D2074}"/>
              </a:ext>
            </a:extLst>
          </p:cNvPr>
          <p:cNvCxnSpPr>
            <a:stCxn id="455" idx="2"/>
            <a:endCxn id="459" idx="0"/>
          </p:cNvCxnSpPr>
          <p:nvPr/>
        </p:nvCxnSpPr>
        <p:spPr>
          <a:xfrm flipH="1">
            <a:off x="8976486" y="1332373"/>
            <a:ext cx="6917" cy="1237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9" name="接點: 肘形 548">
            <a:extLst>
              <a:ext uri="{FF2B5EF4-FFF2-40B4-BE49-F238E27FC236}">
                <a16:creationId xmlns:a16="http://schemas.microsoft.com/office/drawing/2014/main" id="{BC91FBFD-2F5B-716A-056A-B042303D5349}"/>
              </a:ext>
            </a:extLst>
          </p:cNvPr>
          <p:cNvCxnSpPr>
            <a:stCxn id="459" idx="2"/>
            <a:endCxn id="529" idx="0"/>
          </p:cNvCxnSpPr>
          <p:nvPr/>
        </p:nvCxnSpPr>
        <p:spPr>
          <a:xfrm rot="5400000">
            <a:off x="8272843" y="1241611"/>
            <a:ext cx="233486" cy="117380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55" name="接點: 肘形 554">
            <a:extLst>
              <a:ext uri="{FF2B5EF4-FFF2-40B4-BE49-F238E27FC236}">
                <a16:creationId xmlns:a16="http://schemas.microsoft.com/office/drawing/2014/main" id="{26C839DD-EBA7-A4DF-1E73-1920E993DA3F}"/>
              </a:ext>
            </a:extLst>
          </p:cNvPr>
          <p:cNvCxnSpPr>
            <a:cxnSpLocks/>
            <a:stCxn id="459" idx="2"/>
            <a:endCxn id="533" idx="0"/>
          </p:cNvCxnSpPr>
          <p:nvPr/>
        </p:nvCxnSpPr>
        <p:spPr>
          <a:xfrm rot="16200000" flipH="1">
            <a:off x="9378544" y="1309709"/>
            <a:ext cx="233487" cy="103760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63" name="接點: 肘形 562">
            <a:extLst>
              <a:ext uri="{FF2B5EF4-FFF2-40B4-BE49-F238E27FC236}">
                <a16:creationId xmlns:a16="http://schemas.microsoft.com/office/drawing/2014/main" id="{0A382F96-3C60-0AF1-0DB8-81FD7515B80C}"/>
              </a:ext>
            </a:extLst>
          </p:cNvPr>
          <p:cNvCxnSpPr>
            <a:stCxn id="529" idx="2"/>
            <a:endCxn id="463" idx="0"/>
          </p:cNvCxnSpPr>
          <p:nvPr/>
        </p:nvCxnSpPr>
        <p:spPr>
          <a:xfrm rot="16200000" flipH="1">
            <a:off x="8221215" y="3298846"/>
            <a:ext cx="178227" cy="101528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75" name="接點: 肘形 574">
            <a:extLst>
              <a:ext uri="{FF2B5EF4-FFF2-40B4-BE49-F238E27FC236}">
                <a16:creationId xmlns:a16="http://schemas.microsoft.com/office/drawing/2014/main" id="{96558464-FF26-2771-5020-4BBEAFB1B594}"/>
              </a:ext>
            </a:extLst>
          </p:cNvPr>
          <p:cNvCxnSpPr>
            <a:cxnSpLocks/>
            <a:stCxn id="533" idx="2"/>
            <a:endCxn id="463" idx="0"/>
          </p:cNvCxnSpPr>
          <p:nvPr/>
        </p:nvCxnSpPr>
        <p:spPr>
          <a:xfrm rot="5400000">
            <a:off x="9326917" y="3208429"/>
            <a:ext cx="178227" cy="119611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983" name="直線單箭頭接點 982">
            <a:extLst>
              <a:ext uri="{FF2B5EF4-FFF2-40B4-BE49-F238E27FC236}">
                <a16:creationId xmlns:a16="http://schemas.microsoft.com/office/drawing/2014/main" id="{254B8AFA-1D6A-AFB5-3406-09E40A302EE7}"/>
              </a:ext>
            </a:extLst>
          </p:cNvPr>
          <p:cNvCxnSpPr>
            <a:stCxn id="463" idx="2"/>
            <a:endCxn id="467" idx="0"/>
          </p:cNvCxnSpPr>
          <p:nvPr/>
        </p:nvCxnSpPr>
        <p:spPr>
          <a:xfrm flipH="1">
            <a:off x="8817968" y="4151202"/>
            <a:ext cx="2" cy="983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7" name="直線單箭頭接點 996">
            <a:extLst>
              <a:ext uri="{FF2B5EF4-FFF2-40B4-BE49-F238E27FC236}">
                <a16:creationId xmlns:a16="http://schemas.microsoft.com/office/drawing/2014/main" id="{C6E62046-509E-5686-A15A-F4F680F129C6}"/>
              </a:ext>
            </a:extLst>
          </p:cNvPr>
          <p:cNvCxnSpPr>
            <a:stCxn id="467" idx="2"/>
            <a:endCxn id="471" idx="0"/>
          </p:cNvCxnSpPr>
          <p:nvPr/>
        </p:nvCxnSpPr>
        <p:spPr>
          <a:xfrm>
            <a:off x="8817968" y="4505112"/>
            <a:ext cx="1187" cy="94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表格 1">
            <a:extLst>
              <a:ext uri="{FF2B5EF4-FFF2-40B4-BE49-F238E27FC236}">
                <a16:creationId xmlns:a16="http://schemas.microsoft.com/office/drawing/2014/main" id="{E5497772-9CC2-85BA-5341-9A87E1378E7C}"/>
              </a:ext>
            </a:extLst>
          </p:cNvPr>
          <p:cNvGraphicFramePr>
            <a:graphicFrameLocks noGrp="1"/>
          </p:cNvGraphicFramePr>
          <p:nvPr>
            <p:extLst>
              <p:ext uri="{D42A27DB-BD31-4B8C-83A1-F6EECF244321}">
                <p14:modId xmlns:p14="http://schemas.microsoft.com/office/powerpoint/2010/main" val="3756516848"/>
              </p:ext>
            </p:extLst>
          </p:nvPr>
        </p:nvGraphicFramePr>
        <p:xfrm>
          <a:off x="892796" y="6885890"/>
          <a:ext cx="8128000" cy="1356919"/>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074213432"/>
                    </a:ext>
                  </a:extLst>
                </a:gridCol>
                <a:gridCol w="2032000">
                  <a:extLst>
                    <a:ext uri="{9D8B030D-6E8A-4147-A177-3AD203B41FA5}">
                      <a16:colId xmlns:a16="http://schemas.microsoft.com/office/drawing/2014/main" val="29449462"/>
                    </a:ext>
                  </a:extLst>
                </a:gridCol>
                <a:gridCol w="2032000">
                  <a:extLst>
                    <a:ext uri="{9D8B030D-6E8A-4147-A177-3AD203B41FA5}">
                      <a16:colId xmlns:a16="http://schemas.microsoft.com/office/drawing/2014/main" val="2254775350"/>
                    </a:ext>
                  </a:extLst>
                </a:gridCol>
                <a:gridCol w="2032000">
                  <a:extLst>
                    <a:ext uri="{9D8B030D-6E8A-4147-A177-3AD203B41FA5}">
                      <a16:colId xmlns:a16="http://schemas.microsoft.com/office/drawing/2014/main" val="249556923"/>
                    </a:ext>
                  </a:extLst>
                </a:gridCol>
              </a:tblGrid>
              <a:tr h="167098">
                <a:tc>
                  <a:txBody>
                    <a:bodyPr/>
                    <a:lstStyle/>
                    <a:p>
                      <a:r>
                        <a:rPr lang="zh-TW" altLang="en-US" sz="800" dirty="0"/>
                        <a:t>關鍵差異比較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800" b="1" dirty="0">
                          <a:solidFill>
                            <a:srgbClr val="FFFFFF"/>
                          </a:solidFill>
                          <a:latin typeface="Microsoft JhengHei" pitchFamily="34" charset="0"/>
                          <a:ea typeface="Microsoft JhengHei" pitchFamily="34" charset="-122"/>
                        </a:rPr>
                        <a:t>非結構化知識檢索</a:t>
                      </a:r>
                      <a:endParaRPr lang="en-US" altLang="zh-TW"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800" b="1" dirty="0">
                          <a:solidFill>
                            <a:srgbClr val="FFFFFF"/>
                          </a:solidFill>
                          <a:latin typeface="Microsoft JhengHei" pitchFamily="34" charset="0"/>
                          <a:ea typeface="Microsoft JhengHei" pitchFamily="34" charset="-122"/>
                        </a:rPr>
                        <a:t>結構化知識檢索</a:t>
                      </a:r>
                      <a:endParaRPr lang="en-US" altLang="zh-TW"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800" b="1" dirty="0">
                          <a:solidFill>
                            <a:srgbClr val="FFFFFF"/>
                          </a:solidFill>
                          <a:latin typeface="Microsoft JhengHei" pitchFamily="34" charset="0"/>
                          <a:ea typeface="Microsoft JhengHei" pitchFamily="34" charset="-122"/>
                        </a:rPr>
                        <a:t>Hybrid </a:t>
                      </a:r>
                      <a:r>
                        <a:rPr lang="zh-TW" altLang="en-US" sz="800" b="1" dirty="0">
                          <a:solidFill>
                            <a:srgbClr val="FFFFFF"/>
                          </a:solidFill>
                          <a:latin typeface="Microsoft JhengHei" pitchFamily="34" charset="0"/>
                          <a:ea typeface="Microsoft JhengHei" pitchFamily="34" charset="-122"/>
                        </a:rPr>
                        <a:t>知識檢索</a:t>
                      </a:r>
                      <a:endParaRPr lang="en-US" altLang="zh-TW" sz="800" dirty="0"/>
                    </a:p>
                  </a:txBody>
                  <a:tcPr/>
                </a:tc>
                <a:extLst>
                  <a:ext uri="{0D108BD9-81ED-4DB2-BD59-A6C34878D82A}">
                    <a16:rowId xmlns:a16="http://schemas.microsoft.com/office/drawing/2014/main" val="2370527082"/>
                  </a:ext>
                </a:extLst>
              </a:tr>
              <a:tr h="166918">
                <a:tc>
                  <a:txBody>
                    <a:bodyPr/>
                    <a:lstStyle/>
                    <a:p>
                      <a:r>
                        <a:rPr lang="zh-TW" altLang="en-US" sz="800" dirty="0"/>
                        <a:t>比較項目</a:t>
                      </a:r>
                    </a:p>
                  </a:txBody>
                  <a:tcPr/>
                </a:tc>
                <a:tc>
                  <a:txBody>
                    <a:bodyPr/>
                    <a:lstStyle/>
                    <a:p>
                      <a:endParaRPr lang="zh-TW" altLang="en-US" sz="800"/>
                    </a:p>
                  </a:txBody>
                  <a:tcPr/>
                </a:tc>
                <a:tc>
                  <a:txBody>
                    <a:bodyPr/>
                    <a:lstStyle/>
                    <a:p>
                      <a:endParaRPr lang="zh-TW" altLang="en-US" sz="800" dirty="0"/>
                    </a:p>
                  </a:txBody>
                  <a:tcPr/>
                </a:tc>
                <a:tc>
                  <a:txBody>
                    <a:bodyPr/>
                    <a:lstStyle/>
                    <a:p>
                      <a:endParaRPr lang="zh-TW" altLang="en-US" sz="800" dirty="0"/>
                    </a:p>
                  </a:txBody>
                  <a:tcPr/>
                </a:tc>
                <a:extLst>
                  <a:ext uri="{0D108BD9-81ED-4DB2-BD59-A6C34878D82A}">
                    <a16:rowId xmlns:a16="http://schemas.microsoft.com/office/drawing/2014/main" val="2122588073"/>
                  </a:ext>
                </a:extLst>
              </a:tr>
              <a:tr h="166918">
                <a:tc>
                  <a:txBody>
                    <a:bodyPr/>
                    <a:lstStyle/>
                    <a:p>
                      <a:r>
                        <a:rPr lang="zh-TW" altLang="en-US" sz="800" dirty="0"/>
                        <a:t>主要資料來源</a:t>
                      </a:r>
                    </a:p>
                  </a:txBody>
                  <a:tcPr/>
                </a:tc>
                <a:tc>
                  <a:txBody>
                    <a:bodyPr/>
                    <a:lstStyle/>
                    <a:p>
                      <a:endParaRPr lang="zh-TW" altLang="en-US" sz="800"/>
                    </a:p>
                  </a:txBody>
                  <a:tcPr/>
                </a:tc>
                <a:tc>
                  <a:txBody>
                    <a:bodyPr/>
                    <a:lstStyle/>
                    <a:p>
                      <a:endParaRPr lang="zh-TW" altLang="en-US" sz="800" dirty="0"/>
                    </a:p>
                  </a:txBody>
                  <a:tcPr/>
                </a:tc>
                <a:tc>
                  <a:txBody>
                    <a:bodyPr/>
                    <a:lstStyle/>
                    <a:p>
                      <a:endParaRPr lang="zh-TW" altLang="en-US" sz="800" dirty="0"/>
                    </a:p>
                  </a:txBody>
                  <a:tcPr/>
                </a:tc>
                <a:extLst>
                  <a:ext uri="{0D108BD9-81ED-4DB2-BD59-A6C34878D82A}">
                    <a16:rowId xmlns:a16="http://schemas.microsoft.com/office/drawing/2014/main" val="905888775"/>
                  </a:ext>
                </a:extLst>
              </a:tr>
              <a:tr h="166918">
                <a:tc>
                  <a:txBody>
                    <a:bodyPr/>
                    <a:lstStyle/>
                    <a:p>
                      <a:r>
                        <a:rPr lang="zh-TW" altLang="en-US" sz="800" dirty="0"/>
                        <a:t>核心演算法</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dirty="0"/>
                    </a:p>
                  </a:txBody>
                  <a:tcPr/>
                </a:tc>
                <a:extLst>
                  <a:ext uri="{0D108BD9-81ED-4DB2-BD59-A6C34878D82A}">
                    <a16:rowId xmlns:a16="http://schemas.microsoft.com/office/drawing/2014/main" val="68578028"/>
                  </a:ext>
                </a:extLst>
              </a:tr>
              <a:tr h="166918">
                <a:tc>
                  <a:txBody>
                    <a:bodyPr/>
                    <a:lstStyle/>
                    <a:p>
                      <a:r>
                        <a:rPr lang="zh-TW" altLang="en-US" sz="800" dirty="0"/>
                        <a:t>輸出內容</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dirty="0"/>
                    </a:p>
                  </a:txBody>
                  <a:tcPr/>
                </a:tc>
                <a:extLst>
                  <a:ext uri="{0D108BD9-81ED-4DB2-BD59-A6C34878D82A}">
                    <a16:rowId xmlns:a16="http://schemas.microsoft.com/office/drawing/2014/main" val="4098257733"/>
                  </a:ext>
                </a:extLst>
              </a:tr>
              <a:tr h="290119">
                <a:tc>
                  <a:txBody>
                    <a:bodyPr/>
                    <a:lstStyle/>
                    <a:p>
                      <a:r>
                        <a:rPr lang="zh-TW" altLang="en-US" sz="800" dirty="0"/>
                        <a:t>適用題行</a:t>
                      </a:r>
                    </a:p>
                  </a:txBody>
                  <a:tcPr/>
                </a:tc>
                <a:tc>
                  <a:txBody>
                    <a:bodyPr/>
                    <a:lstStyle/>
                    <a:p>
                      <a:endParaRPr lang="zh-TW" altLang="en-US" sz="800"/>
                    </a:p>
                  </a:txBody>
                  <a:tcPr/>
                </a:tc>
                <a:tc>
                  <a:txBody>
                    <a:bodyPr/>
                    <a:lstStyle/>
                    <a:p>
                      <a:endParaRPr lang="zh-TW" altLang="en-US" sz="800"/>
                    </a:p>
                  </a:txBody>
                  <a:tcPr/>
                </a:tc>
                <a:tc>
                  <a:txBody>
                    <a:bodyPr/>
                    <a:lstStyle/>
                    <a:p>
                      <a:endParaRPr lang="zh-TW" altLang="en-US" sz="800" dirty="0"/>
                    </a:p>
                  </a:txBody>
                  <a:tcPr/>
                </a:tc>
                <a:extLst>
                  <a:ext uri="{0D108BD9-81ED-4DB2-BD59-A6C34878D82A}">
                    <a16:rowId xmlns:a16="http://schemas.microsoft.com/office/drawing/2014/main" val="1832045631"/>
                  </a:ext>
                </a:extLst>
              </a:tr>
            </a:tbl>
          </a:graphicData>
        </a:graphic>
      </p:graphicFrame>
    </p:spTree>
    <p:extLst>
      <p:ext uri="{BB962C8B-B14F-4D97-AF65-F5344CB8AC3E}">
        <p14:creationId xmlns:p14="http://schemas.microsoft.com/office/powerpoint/2010/main" val="2276463484"/>
      </p:ext>
    </p:extLst>
  </p:cSld>
  <p:clrMapOvr>
    <a:masterClrMapping/>
  </p:clrMapOvr>
</p:sld>
</file>

<file path=ppt/theme/theme1.xml><?xml version="1.0" encoding="utf-8"?>
<a:theme xmlns:a="http://schemas.openxmlformats.org/drawingml/2006/main" name="富邦A-25大樓-封面">
  <a:themeElements>
    <a:clrScheme name="FB2">
      <a:dk1>
        <a:srgbClr val="363636"/>
      </a:dk1>
      <a:lt1>
        <a:srgbClr val="FFFFFF"/>
      </a:lt1>
      <a:dk2>
        <a:srgbClr val="A2A2A2"/>
      </a:dk2>
      <a:lt2>
        <a:srgbClr val="EEECE1"/>
      </a:lt2>
      <a:accent1>
        <a:srgbClr val="0093C1"/>
      </a:accent1>
      <a:accent2>
        <a:srgbClr val="30DAA2"/>
      </a:accent2>
      <a:accent3>
        <a:srgbClr val="00A59B"/>
      </a:accent3>
      <a:accent4>
        <a:srgbClr val="00D4F0"/>
      </a:accent4>
      <a:accent5>
        <a:srgbClr val="014865"/>
      </a:accent5>
      <a:accent6>
        <a:srgbClr val="FFC94F"/>
      </a:accent6>
      <a:hlink>
        <a:srgbClr val="0070C0"/>
      </a:hlink>
      <a:folHlink>
        <a:srgbClr val="7030A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5980</TotalTime>
  <Words>3754</Words>
  <Application>Microsoft Macintosh PowerPoint</Application>
  <PresentationFormat>寬螢幕</PresentationFormat>
  <Paragraphs>708</Paragraphs>
  <Slides>17</Slides>
  <Notes>15</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17</vt:i4>
      </vt:variant>
    </vt:vector>
  </HeadingPairs>
  <TitlesOfParts>
    <vt:vector size="24" baseType="lpstr">
      <vt:lpstr>微軟正黑體</vt:lpstr>
      <vt:lpstr>微軟正黑體</vt:lpstr>
      <vt:lpstr>新細明體</vt:lpstr>
      <vt:lpstr>Aptos</vt:lpstr>
      <vt:lpstr>Arial</vt:lpstr>
      <vt:lpstr>roboto</vt:lpstr>
      <vt:lpstr>富邦A-25大樓-封面</vt:lpstr>
      <vt:lpstr>知識檢索技術梳理</vt:lpstr>
      <vt:lpstr>PowerPoint 簡報</vt:lpstr>
      <vt:lpstr>PowerPoint 簡報</vt:lpstr>
      <vt:lpstr>PowerPoint 簡報</vt:lpstr>
      <vt:lpstr>PowerPoint 簡報</vt:lpstr>
      <vt:lpstr>PowerPoint 簡報</vt:lpstr>
      <vt:lpstr>PowerPoint 簡報</vt:lpstr>
      <vt:lpstr>PowerPoint 簡報</vt:lpstr>
      <vt:lpstr>PowerPoint 簡報</vt:lpstr>
      <vt:lpstr>知識檢索需求分類</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何翰東</dc:creator>
  <cp:lastModifiedBy>銘益 劉</cp:lastModifiedBy>
  <cp:revision>433</cp:revision>
  <dcterms:created xsi:type="dcterms:W3CDTF">2026-07-29T03:01:57Z</dcterms:created>
  <dcterms:modified xsi:type="dcterms:W3CDTF">2026-08-13T07:43:06Z</dcterms:modified>
</cp:coreProperties>
</file>